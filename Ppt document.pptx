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6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9" r:id="rId2"/>
  </p:sldMasterIdLst>
  <p:notesMasterIdLst>
    <p:notesMasterId r:id="rId11"/>
  </p:notesMasterIdLst>
  <p:sldIdLst>
    <p:sldId id="2147473546" r:id="rId3"/>
    <p:sldId id="2147473569" r:id="rId4"/>
    <p:sldId id="2147473555" r:id="rId5"/>
    <p:sldId id="2147473556" r:id="rId6"/>
    <p:sldId id="2147473557" r:id="rId7"/>
    <p:sldId id="2147473576" r:id="rId8"/>
    <p:sldId id="2147473574" r:id="rId9"/>
    <p:sldId id="214747354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E799C2-DFAD-DF3F-DB9C-5978C80E14D1}" name="Chakrabarty, Debashis" initials="DC" userId="S::debchakrabarty@deloitte.com::36e5dad1-ec9b-4e38-b4c4-b83ce47b8606" providerId="AD"/>
  <p188:author id="{D3F675E4-D17F-2438-E9FD-D15CA14BD55E}" name="Gupta, Deepanshu" initials="DG" userId="S::deepangupta@deloitte.com::0d49317e-13b0-429f-91bf-958635c8bd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a:srgbClr val="0097A9"/>
    <a:srgbClr val="007CB0"/>
    <a:srgbClr val="0C8390"/>
    <a:srgbClr val="006D30"/>
    <a:srgbClr val="86BC25"/>
    <a:srgbClr val="009A44"/>
    <a:srgbClr val="63666A"/>
    <a:srgbClr val="00A3E0"/>
    <a:srgbClr val="E1F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9D4E2D-F66C-47D6-BEF5-C2F2C71A4537}" v="5" dt="2025-11-18T09:36:34.4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atipudi, Sunil Sanjeev" userId="10e0e29b-3cff-43be-89a8-2d5f68715228" providerId="ADAL" clId="{F19D4E2D-F66C-47D6-BEF5-C2F2C71A4537}"/>
    <pc:docChg chg="undo custSel delSld modSld modMainMaster">
      <pc:chgData name="Ambatipudi, Sunil Sanjeev" userId="10e0e29b-3cff-43be-89a8-2d5f68715228" providerId="ADAL" clId="{F19D4E2D-F66C-47D6-BEF5-C2F2C71A4537}" dt="2025-11-18T09:36:34.405" v="306"/>
      <pc:docMkLst>
        <pc:docMk/>
      </pc:docMkLst>
      <pc:sldChg chg="modSp">
        <pc:chgData name="Ambatipudi, Sunil Sanjeev" userId="10e0e29b-3cff-43be-89a8-2d5f68715228" providerId="ADAL" clId="{F19D4E2D-F66C-47D6-BEF5-C2F2C71A4537}" dt="2025-11-18T09:36:34.405" v="306"/>
        <pc:sldMkLst>
          <pc:docMk/>
          <pc:sldMk cId="2549841229" sldId="2147473546"/>
        </pc:sldMkLst>
        <pc:spChg chg="mod">
          <ac:chgData name="Ambatipudi, Sunil Sanjeev" userId="10e0e29b-3cff-43be-89a8-2d5f68715228" providerId="ADAL" clId="{F19D4E2D-F66C-47D6-BEF5-C2F2C71A4537}" dt="2025-11-18T09:36:34.405" v="306"/>
          <ac:spMkLst>
            <pc:docMk/>
            <pc:sldMk cId="2549841229" sldId="2147473546"/>
            <ac:spMk id="56" creationId="{D39D66AF-3E17-0749-F31C-1D2986006D36}"/>
          </ac:spMkLst>
        </pc:spChg>
      </pc:sldChg>
      <pc:sldChg chg="modSp mod">
        <pc:chgData name="Ambatipudi, Sunil Sanjeev" userId="10e0e29b-3cff-43be-89a8-2d5f68715228" providerId="ADAL" clId="{F19D4E2D-F66C-47D6-BEF5-C2F2C71A4537}" dt="2025-11-18T09:36:34.405" v="306"/>
        <pc:sldMkLst>
          <pc:docMk/>
          <pc:sldMk cId="1074440457" sldId="2147473556"/>
        </pc:sldMkLst>
        <pc:spChg chg="mod">
          <ac:chgData name="Ambatipudi, Sunil Sanjeev" userId="10e0e29b-3cff-43be-89a8-2d5f68715228" providerId="ADAL" clId="{F19D4E2D-F66C-47D6-BEF5-C2F2C71A4537}" dt="2025-11-18T09:35:29" v="268" actId="20577"/>
          <ac:spMkLst>
            <pc:docMk/>
            <pc:sldMk cId="1074440457" sldId="2147473556"/>
            <ac:spMk id="23" creationId="{EAF7BF52-7E11-116C-9365-8BD89DF048F6}"/>
          </ac:spMkLst>
        </pc:spChg>
        <pc:spChg chg="mod">
          <ac:chgData name="Ambatipudi, Sunil Sanjeev" userId="10e0e29b-3cff-43be-89a8-2d5f68715228" providerId="ADAL" clId="{F19D4E2D-F66C-47D6-BEF5-C2F2C71A4537}" dt="2025-11-18T09:36:34.405" v="306"/>
          <ac:spMkLst>
            <pc:docMk/>
            <pc:sldMk cId="1074440457" sldId="2147473556"/>
            <ac:spMk id="26" creationId="{D2839485-1498-2DF3-0963-5F37AD5BF8AA}"/>
          </ac:spMkLst>
        </pc:spChg>
        <pc:spChg chg="mod">
          <ac:chgData name="Ambatipudi, Sunil Sanjeev" userId="10e0e29b-3cff-43be-89a8-2d5f68715228" providerId="ADAL" clId="{F19D4E2D-F66C-47D6-BEF5-C2F2C71A4537}" dt="2025-11-18T09:36:34.405" v="306"/>
          <ac:spMkLst>
            <pc:docMk/>
            <pc:sldMk cId="1074440457" sldId="2147473556"/>
            <ac:spMk id="27" creationId="{AD0AFD8A-845B-4549-14B0-BC86F7160BD5}"/>
          </ac:spMkLst>
        </pc:spChg>
        <pc:spChg chg="mod">
          <ac:chgData name="Ambatipudi, Sunil Sanjeev" userId="10e0e29b-3cff-43be-89a8-2d5f68715228" providerId="ADAL" clId="{F19D4E2D-F66C-47D6-BEF5-C2F2C71A4537}" dt="2025-11-18T09:36:34.405" v="306"/>
          <ac:spMkLst>
            <pc:docMk/>
            <pc:sldMk cId="1074440457" sldId="2147473556"/>
            <ac:spMk id="139" creationId="{1BAC06AD-FEC6-3145-AC62-F5C50FA6B365}"/>
          </ac:spMkLst>
        </pc:spChg>
      </pc:sldChg>
      <pc:sldChg chg="modSp mod">
        <pc:chgData name="Ambatipudi, Sunil Sanjeev" userId="10e0e29b-3cff-43be-89a8-2d5f68715228" providerId="ADAL" clId="{F19D4E2D-F66C-47D6-BEF5-C2F2C71A4537}" dt="2025-11-18T09:35:58.233" v="305" actId="20577"/>
        <pc:sldMkLst>
          <pc:docMk/>
          <pc:sldMk cId="1266825786" sldId="2147473557"/>
        </pc:sldMkLst>
        <pc:spChg chg="mod">
          <ac:chgData name="Ambatipudi, Sunil Sanjeev" userId="10e0e29b-3cff-43be-89a8-2d5f68715228" providerId="ADAL" clId="{F19D4E2D-F66C-47D6-BEF5-C2F2C71A4537}" dt="2025-11-18T09:35:50.611" v="295" actId="20577"/>
          <ac:spMkLst>
            <pc:docMk/>
            <pc:sldMk cId="1266825786" sldId="2147473557"/>
            <ac:spMk id="24" creationId="{B457FE89-D72D-5070-0022-7960194880CE}"/>
          </ac:spMkLst>
        </pc:spChg>
        <pc:spChg chg="mod">
          <ac:chgData name="Ambatipudi, Sunil Sanjeev" userId="10e0e29b-3cff-43be-89a8-2d5f68715228" providerId="ADAL" clId="{F19D4E2D-F66C-47D6-BEF5-C2F2C71A4537}" dt="2025-11-18T09:35:58.233" v="305" actId="20577"/>
          <ac:spMkLst>
            <pc:docMk/>
            <pc:sldMk cId="1266825786" sldId="2147473557"/>
            <ac:spMk id="148" creationId="{B71CF946-6DD9-42B9-F993-3C97B68DCE6E}"/>
          </ac:spMkLst>
        </pc:spChg>
      </pc:sldChg>
      <pc:sldChg chg="del">
        <pc:chgData name="Ambatipudi, Sunil Sanjeev" userId="10e0e29b-3cff-43be-89a8-2d5f68715228" providerId="ADAL" clId="{F19D4E2D-F66C-47D6-BEF5-C2F2C71A4537}" dt="2025-11-18T09:32:27.722" v="10" actId="47"/>
        <pc:sldMkLst>
          <pc:docMk/>
          <pc:sldMk cId="2746703556" sldId="2147473565"/>
        </pc:sldMkLst>
      </pc:sldChg>
      <pc:sldChg chg="modSp mod">
        <pc:chgData name="Ambatipudi, Sunil Sanjeev" userId="10e0e29b-3cff-43be-89a8-2d5f68715228" providerId="ADAL" clId="{F19D4E2D-F66C-47D6-BEF5-C2F2C71A4537}" dt="2025-11-18T09:36:34.405" v="306"/>
        <pc:sldMkLst>
          <pc:docMk/>
          <pc:sldMk cId="2930720771" sldId="2147473569"/>
        </pc:sldMkLst>
        <pc:spChg chg="mod">
          <ac:chgData name="Ambatipudi, Sunil Sanjeev" userId="10e0e29b-3cff-43be-89a8-2d5f68715228" providerId="ADAL" clId="{F19D4E2D-F66C-47D6-BEF5-C2F2C71A4537}" dt="2025-11-18T09:32:35.171" v="23" actId="20577"/>
          <ac:spMkLst>
            <pc:docMk/>
            <pc:sldMk cId="2930720771" sldId="2147473569"/>
            <ac:spMk id="11" creationId="{2715C005-56FD-9440-D62E-0C14CC2E812D}"/>
          </ac:spMkLst>
        </pc:spChg>
        <pc:spChg chg="mod">
          <ac:chgData name="Ambatipudi, Sunil Sanjeev" userId="10e0e29b-3cff-43be-89a8-2d5f68715228" providerId="ADAL" clId="{F19D4E2D-F66C-47D6-BEF5-C2F2C71A4537}" dt="2025-11-18T09:35:11.641" v="229" actId="20577"/>
          <ac:spMkLst>
            <pc:docMk/>
            <pc:sldMk cId="2930720771" sldId="2147473569"/>
            <ac:spMk id="25" creationId="{F4CFD952-7E4E-C0F5-9133-65F9183F1230}"/>
          </ac:spMkLst>
        </pc:spChg>
        <pc:spChg chg="mod">
          <ac:chgData name="Ambatipudi, Sunil Sanjeev" userId="10e0e29b-3cff-43be-89a8-2d5f68715228" providerId="ADAL" clId="{F19D4E2D-F66C-47D6-BEF5-C2F2C71A4537}" dt="2025-11-18T09:33:27.824" v="108" actId="20577"/>
          <ac:spMkLst>
            <pc:docMk/>
            <pc:sldMk cId="2930720771" sldId="2147473569"/>
            <ac:spMk id="32" creationId="{82077BD3-0883-4BD9-357F-682427FDDD8E}"/>
          </ac:spMkLst>
        </pc:spChg>
        <pc:spChg chg="mod">
          <ac:chgData name="Ambatipudi, Sunil Sanjeev" userId="10e0e29b-3cff-43be-89a8-2d5f68715228" providerId="ADAL" clId="{F19D4E2D-F66C-47D6-BEF5-C2F2C71A4537}" dt="2025-11-18T09:33:40.274" v="117" actId="20577"/>
          <ac:spMkLst>
            <pc:docMk/>
            <pc:sldMk cId="2930720771" sldId="2147473569"/>
            <ac:spMk id="35" creationId="{0F1D72CD-9E0F-6B58-E127-3C193C41AD0A}"/>
          </ac:spMkLst>
        </pc:spChg>
        <pc:spChg chg="mod">
          <ac:chgData name="Ambatipudi, Sunil Sanjeev" userId="10e0e29b-3cff-43be-89a8-2d5f68715228" providerId="ADAL" clId="{F19D4E2D-F66C-47D6-BEF5-C2F2C71A4537}" dt="2025-11-18T09:33:48.504" v="128" actId="20577"/>
          <ac:spMkLst>
            <pc:docMk/>
            <pc:sldMk cId="2930720771" sldId="2147473569"/>
            <ac:spMk id="36" creationId="{A3B5BD98-25C8-11A5-B30D-EFEA98A9ED34}"/>
          </ac:spMkLst>
        </pc:spChg>
        <pc:spChg chg="mod">
          <ac:chgData name="Ambatipudi, Sunil Sanjeev" userId="10e0e29b-3cff-43be-89a8-2d5f68715228" providerId="ADAL" clId="{F19D4E2D-F66C-47D6-BEF5-C2F2C71A4537}" dt="2025-11-18T09:34:56.842" v="206" actId="20577"/>
          <ac:spMkLst>
            <pc:docMk/>
            <pc:sldMk cId="2930720771" sldId="2147473569"/>
            <ac:spMk id="41" creationId="{C048A549-CD21-33E4-263C-DD83F62F6860}"/>
          </ac:spMkLst>
        </pc:spChg>
        <pc:spChg chg="mod">
          <ac:chgData name="Ambatipudi, Sunil Sanjeev" userId="10e0e29b-3cff-43be-89a8-2d5f68715228" providerId="ADAL" clId="{F19D4E2D-F66C-47D6-BEF5-C2F2C71A4537}" dt="2025-11-18T09:36:34.405" v="306"/>
          <ac:spMkLst>
            <pc:docMk/>
            <pc:sldMk cId="2930720771" sldId="2147473569"/>
            <ac:spMk id="43" creationId="{BA402BAD-70CD-EA78-1B65-BC7DF76FC857}"/>
          </ac:spMkLst>
        </pc:spChg>
      </pc:sldChg>
      <pc:sldChg chg="modSp">
        <pc:chgData name="Ambatipudi, Sunil Sanjeev" userId="10e0e29b-3cff-43be-89a8-2d5f68715228" providerId="ADAL" clId="{F19D4E2D-F66C-47D6-BEF5-C2F2C71A4537}" dt="2025-11-18T09:36:34.405" v="306"/>
        <pc:sldMkLst>
          <pc:docMk/>
          <pc:sldMk cId="583120066" sldId="2147473574"/>
        </pc:sldMkLst>
        <pc:spChg chg="mod">
          <ac:chgData name="Ambatipudi, Sunil Sanjeev" userId="10e0e29b-3cff-43be-89a8-2d5f68715228" providerId="ADAL" clId="{F19D4E2D-F66C-47D6-BEF5-C2F2C71A4537}" dt="2025-11-18T09:36:34.405" v="306"/>
          <ac:spMkLst>
            <pc:docMk/>
            <pc:sldMk cId="583120066" sldId="2147473574"/>
            <ac:spMk id="13" creationId="{CEC04F75-F38F-9B77-0808-9E76A3C92FD3}"/>
          </ac:spMkLst>
        </pc:spChg>
        <pc:spChg chg="mod">
          <ac:chgData name="Ambatipudi, Sunil Sanjeev" userId="10e0e29b-3cff-43be-89a8-2d5f68715228" providerId="ADAL" clId="{F19D4E2D-F66C-47D6-BEF5-C2F2C71A4537}" dt="2025-11-18T09:36:34.405" v="306"/>
          <ac:spMkLst>
            <pc:docMk/>
            <pc:sldMk cId="583120066" sldId="2147473574"/>
            <ac:spMk id="36" creationId="{CB144B49-CD1F-8598-19EF-0F23E611C0FE}"/>
          </ac:spMkLst>
        </pc:spChg>
      </pc:sldChg>
      <pc:sldChg chg="del">
        <pc:chgData name="Ambatipudi, Sunil Sanjeev" userId="10e0e29b-3cff-43be-89a8-2d5f68715228" providerId="ADAL" clId="{F19D4E2D-F66C-47D6-BEF5-C2F2C71A4537}" dt="2025-11-18T09:35:17.621" v="230" actId="47"/>
        <pc:sldMkLst>
          <pc:docMk/>
          <pc:sldMk cId="1338522609" sldId="2147473589"/>
        </pc:sldMkLst>
      </pc:sldChg>
      <pc:sldMasterChg chg="delSp mod">
        <pc:chgData name="Ambatipudi, Sunil Sanjeev" userId="10e0e29b-3cff-43be-89a8-2d5f68715228" providerId="ADAL" clId="{F19D4E2D-F66C-47D6-BEF5-C2F2C71A4537}" dt="2025-11-18T09:29:04.744" v="0" actId="478"/>
        <pc:sldMasterMkLst>
          <pc:docMk/>
          <pc:sldMasterMk cId="3707247751" sldId="2147483663"/>
        </pc:sldMasterMkLst>
        <pc:spChg chg="del">
          <ac:chgData name="Ambatipudi, Sunil Sanjeev" userId="10e0e29b-3cff-43be-89a8-2d5f68715228" providerId="ADAL" clId="{F19D4E2D-F66C-47D6-BEF5-C2F2C71A4537}" dt="2025-11-18T09:29:04.744" v="0" actId="478"/>
          <ac:spMkLst>
            <pc:docMk/>
            <pc:sldMasterMk cId="3707247751" sldId="2147483663"/>
            <ac:spMk id="7" creationId="{D2069EBB-9260-307D-9CC6-9ED636F6E6DC}"/>
          </ac:spMkLst>
        </pc:spChg>
      </pc:sldMasterChg>
      <pc:sldMasterChg chg="delSp mod modSldLayout">
        <pc:chgData name="Ambatipudi, Sunil Sanjeev" userId="10e0e29b-3cff-43be-89a8-2d5f68715228" providerId="ADAL" clId="{F19D4E2D-F66C-47D6-BEF5-C2F2C71A4537}" dt="2025-11-18T09:29:50.233" v="9" actId="478"/>
        <pc:sldMasterMkLst>
          <pc:docMk/>
          <pc:sldMasterMk cId="4227150838" sldId="2147483679"/>
        </pc:sldMasterMkLst>
        <pc:spChg chg="del">
          <ac:chgData name="Ambatipudi, Sunil Sanjeev" userId="10e0e29b-3cff-43be-89a8-2d5f68715228" providerId="ADAL" clId="{F19D4E2D-F66C-47D6-BEF5-C2F2C71A4537}" dt="2025-11-18T09:29:10.247" v="1" actId="478"/>
          <ac:spMkLst>
            <pc:docMk/>
            <pc:sldMasterMk cId="4227150838" sldId="2147483679"/>
            <ac:spMk id="18" creationId="{00000000-0000-0000-0000-000000000000}"/>
          </ac:spMkLst>
        </pc:spChg>
        <pc:sldLayoutChg chg="delSp mod">
          <pc:chgData name="Ambatipudi, Sunil Sanjeev" userId="10e0e29b-3cff-43be-89a8-2d5f68715228" providerId="ADAL" clId="{F19D4E2D-F66C-47D6-BEF5-C2F2C71A4537}" dt="2025-11-18T09:29:18.713" v="3" actId="478"/>
          <pc:sldLayoutMkLst>
            <pc:docMk/>
            <pc:sldMasterMk cId="4227150838" sldId="2147483679"/>
            <pc:sldLayoutMk cId="1176789978" sldId="2147483680"/>
          </pc:sldLayoutMkLst>
          <pc:grpChg chg="del">
            <ac:chgData name="Ambatipudi, Sunil Sanjeev" userId="10e0e29b-3cff-43be-89a8-2d5f68715228" providerId="ADAL" clId="{F19D4E2D-F66C-47D6-BEF5-C2F2C71A4537}" dt="2025-11-18T09:29:15.285" v="2" actId="478"/>
            <ac:grpSpMkLst>
              <pc:docMk/>
              <pc:sldMasterMk cId="4227150838" sldId="2147483679"/>
              <pc:sldLayoutMk cId="1176789978" sldId="2147483680"/>
              <ac:grpSpMk id="21" creationId="{00000000-0000-0000-0000-000000000000}"/>
            </ac:grpSpMkLst>
          </pc:grpChg>
          <pc:picChg chg="del">
            <ac:chgData name="Ambatipudi, Sunil Sanjeev" userId="10e0e29b-3cff-43be-89a8-2d5f68715228" providerId="ADAL" clId="{F19D4E2D-F66C-47D6-BEF5-C2F2C71A4537}" dt="2025-11-18T09:29:18.713" v="3" actId="478"/>
            <ac:picMkLst>
              <pc:docMk/>
              <pc:sldMasterMk cId="4227150838" sldId="2147483679"/>
              <pc:sldLayoutMk cId="1176789978" sldId="2147483680"/>
              <ac:picMk id="22" creationId="{00000000-0000-0000-0000-000000000000}"/>
            </ac:picMkLst>
          </pc:picChg>
        </pc:sldLayoutChg>
        <pc:sldLayoutChg chg="delSp mod">
          <pc:chgData name="Ambatipudi, Sunil Sanjeev" userId="10e0e29b-3cff-43be-89a8-2d5f68715228" providerId="ADAL" clId="{F19D4E2D-F66C-47D6-BEF5-C2F2C71A4537}" dt="2025-11-18T09:29:24.116" v="5" actId="478"/>
          <pc:sldLayoutMkLst>
            <pc:docMk/>
            <pc:sldMasterMk cId="4227150838" sldId="2147483679"/>
            <pc:sldLayoutMk cId="2402991596" sldId="2147483681"/>
          </pc:sldLayoutMkLst>
          <pc:grpChg chg="del">
            <ac:chgData name="Ambatipudi, Sunil Sanjeev" userId="10e0e29b-3cff-43be-89a8-2d5f68715228" providerId="ADAL" clId="{F19D4E2D-F66C-47D6-BEF5-C2F2C71A4537}" dt="2025-11-18T09:29:21.679" v="4" actId="478"/>
            <ac:grpSpMkLst>
              <pc:docMk/>
              <pc:sldMasterMk cId="4227150838" sldId="2147483679"/>
              <pc:sldLayoutMk cId="2402991596" sldId="2147483681"/>
              <ac:grpSpMk id="7" creationId="{00000000-0000-0000-0000-000000000000}"/>
            </ac:grpSpMkLst>
          </pc:grpChg>
          <pc:picChg chg="del">
            <ac:chgData name="Ambatipudi, Sunil Sanjeev" userId="10e0e29b-3cff-43be-89a8-2d5f68715228" providerId="ADAL" clId="{F19D4E2D-F66C-47D6-BEF5-C2F2C71A4537}" dt="2025-11-18T09:29:24.116" v="5" actId="478"/>
            <ac:picMkLst>
              <pc:docMk/>
              <pc:sldMasterMk cId="4227150838" sldId="2147483679"/>
              <pc:sldLayoutMk cId="2402991596" sldId="2147483681"/>
              <ac:picMk id="19" creationId="{00000000-0000-0000-0000-000000000000}"/>
            </ac:picMkLst>
          </pc:picChg>
        </pc:sldLayoutChg>
        <pc:sldLayoutChg chg="delSp mod">
          <pc:chgData name="Ambatipudi, Sunil Sanjeev" userId="10e0e29b-3cff-43be-89a8-2d5f68715228" providerId="ADAL" clId="{F19D4E2D-F66C-47D6-BEF5-C2F2C71A4537}" dt="2025-11-18T09:29:41.417" v="7" actId="478"/>
          <pc:sldLayoutMkLst>
            <pc:docMk/>
            <pc:sldMasterMk cId="4227150838" sldId="2147483679"/>
            <pc:sldLayoutMk cId="959740003" sldId="2147483682"/>
          </pc:sldLayoutMkLst>
          <pc:grpChg chg="del">
            <ac:chgData name="Ambatipudi, Sunil Sanjeev" userId="10e0e29b-3cff-43be-89a8-2d5f68715228" providerId="ADAL" clId="{F19D4E2D-F66C-47D6-BEF5-C2F2C71A4537}" dt="2025-11-18T09:29:38.259" v="6" actId="478"/>
            <ac:grpSpMkLst>
              <pc:docMk/>
              <pc:sldMasterMk cId="4227150838" sldId="2147483679"/>
              <pc:sldLayoutMk cId="959740003" sldId="2147483682"/>
              <ac:grpSpMk id="21" creationId="{00000000-0000-0000-0000-000000000000}"/>
            </ac:grpSpMkLst>
          </pc:grpChg>
          <pc:picChg chg="del">
            <ac:chgData name="Ambatipudi, Sunil Sanjeev" userId="10e0e29b-3cff-43be-89a8-2d5f68715228" providerId="ADAL" clId="{F19D4E2D-F66C-47D6-BEF5-C2F2C71A4537}" dt="2025-11-18T09:29:41.417" v="7" actId="478"/>
            <ac:picMkLst>
              <pc:docMk/>
              <pc:sldMasterMk cId="4227150838" sldId="2147483679"/>
              <pc:sldLayoutMk cId="959740003" sldId="2147483682"/>
              <ac:picMk id="22" creationId="{00000000-0000-0000-0000-000000000000}"/>
            </ac:picMkLst>
          </pc:picChg>
        </pc:sldLayoutChg>
        <pc:sldLayoutChg chg="delSp mod">
          <pc:chgData name="Ambatipudi, Sunil Sanjeev" userId="10e0e29b-3cff-43be-89a8-2d5f68715228" providerId="ADAL" clId="{F19D4E2D-F66C-47D6-BEF5-C2F2C71A4537}" dt="2025-11-18T09:29:50.233" v="9" actId="478"/>
          <pc:sldLayoutMkLst>
            <pc:docMk/>
            <pc:sldMasterMk cId="4227150838" sldId="2147483679"/>
            <pc:sldLayoutMk cId="544545681" sldId="2147483683"/>
          </pc:sldLayoutMkLst>
          <pc:grpChg chg="del">
            <ac:chgData name="Ambatipudi, Sunil Sanjeev" userId="10e0e29b-3cff-43be-89a8-2d5f68715228" providerId="ADAL" clId="{F19D4E2D-F66C-47D6-BEF5-C2F2C71A4537}" dt="2025-11-18T09:29:46.762" v="8" actId="478"/>
            <ac:grpSpMkLst>
              <pc:docMk/>
              <pc:sldMasterMk cId="4227150838" sldId="2147483679"/>
              <pc:sldLayoutMk cId="544545681" sldId="2147483683"/>
              <ac:grpSpMk id="7" creationId="{00000000-0000-0000-0000-000000000000}"/>
            </ac:grpSpMkLst>
          </pc:grpChg>
          <pc:picChg chg="del">
            <ac:chgData name="Ambatipudi, Sunil Sanjeev" userId="10e0e29b-3cff-43be-89a8-2d5f68715228" providerId="ADAL" clId="{F19D4E2D-F66C-47D6-BEF5-C2F2C71A4537}" dt="2025-11-18T09:29:50.233" v="9" actId="478"/>
            <ac:picMkLst>
              <pc:docMk/>
              <pc:sldMasterMk cId="4227150838" sldId="2147483679"/>
              <pc:sldLayoutMk cId="544545681" sldId="2147483683"/>
              <ac:picMk id="19" creationId="{00000000-0000-0000-0000-000000000000}"/>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372F5B-7F62-4A20-90E0-8487ECA492FF}"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8407CF45-E96A-4B8F-AC29-8C91AC1BB7B6}">
      <dgm:prSet phldrT="[Text]"/>
      <dgm:spPr>
        <a:solidFill>
          <a:schemeClr val="accent1">
            <a:lumMod val="40000"/>
            <a:lumOff val="60000"/>
          </a:schemeClr>
        </a:solidFill>
      </dgm:spPr>
      <dgm:t>
        <a:bodyPr/>
        <a:lstStyle/>
        <a:p>
          <a:r>
            <a:rPr lang="en-US"/>
            <a:t> </a:t>
          </a:r>
        </a:p>
      </dgm:t>
    </dgm:pt>
    <dgm:pt modelId="{7915A308-0F24-42D0-822A-776CD9C329AD}" type="parTrans" cxnId="{9990A5A1-4F69-4A5E-8409-5E5434286163}">
      <dgm:prSet/>
      <dgm:spPr/>
      <dgm:t>
        <a:bodyPr/>
        <a:lstStyle/>
        <a:p>
          <a:endParaRPr lang="en-US"/>
        </a:p>
      </dgm:t>
    </dgm:pt>
    <dgm:pt modelId="{EE6ACD82-2735-4F12-8B41-D310AAED3CF4}" type="sibTrans" cxnId="{9990A5A1-4F69-4A5E-8409-5E5434286163}">
      <dgm:prSet/>
      <dgm:spPr>
        <a:solidFill>
          <a:schemeClr val="accent1">
            <a:lumMod val="40000"/>
            <a:lumOff val="60000"/>
          </a:schemeClr>
        </a:solidFill>
      </dgm:spPr>
      <dgm:t>
        <a:bodyPr/>
        <a:lstStyle/>
        <a:p>
          <a:endParaRPr lang="en-US"/>
        </a:p>
      </dgm:t>
    </dgm:pt>
    <dgm:pt modelId="{4CA9AD19-15B4-4947-9CE4-429D22C173A1}">
      <dgm:prSet/>
      <dgm:spPr/>
      <dgm:t>
        <a:bodyPr/>
        <a:lstStyle/>
        <a:p>
          <a:endParaRPr lang="en-US"/>
        </a:p>
      </dgm:t>
    </dgm:pt>
    <dgm:pt modelId="{F590A31C-B6AF-4472-AB6F-83A4BFD47BCB}" type="parTrans" cxnId="{16117204-0D5A-4B44-AAD3-AD9AE5212FDC}">
      <dgm:prSet/>
      <dgm:spPr/>
      <dgm:t>
        <a:bodyPr/>
        <a:lstStyle/>
        <a:p>
          <a:endParaRPr lang="en-US"/>
        </a:p>
      </dgm:t>
    </dgm:pt>
    <dgm:pt modelId="{5B746B21-301D-44A4-9702-7099C0714649}" type="sibTrans" cxnId="{16117204-0D5A-4B44-AAD3-AD9AE5212FDC}">
      <dgm:prSet/>
      <dgm:spPr>
        <a:solidFill>
          <a:schemeClr val="accent1">
            <a:lumMod val="20000"/>
            <a:lumOff val="80000"/>
          </a:schemeClr>
        </a:solidFill>
      </dgm:spPr>
      <dgm:t>
        <a:bodyPr/>
        <a:lstStyle/>
        <a:p>
          <a:endParaRPr lang="en-US"/>
        </a:p>
      </dgm:t>
    </dgm:pt>
    <dgm:pt modelId="{F3EFA9E2-3973-424E-B3E5-9497AA4EED22}">
      <dgm:prSet/>
      <dgm:spPr/>
      <dgm:t>
        <a:bodyPr/>
        <a:lstStyle/>
        <a:p>
          <a:endParaRPr lang="en-US"/>
        </a:p>
      </dgm:t>
    </dgm:pt>
    <dgm:pt modelId="{9E1D4664-63F3-47A3-9D2C-2702C5EDED0D}" type="parTrans" cxnId="{27469FB5-9D7A-474A-B115-6C603114954F}">
      <dgm:prSet/>
      <dgm:spPr/>
      <dgm:t>
        <a:bodyPr/>
        <a:lstStyle/>
        <a:p>
          <a:endParaRPr lang="en-US"/>
        </a:p>
      </dgm:t>
    </dgm:pt>
    <dgm:pt modelId="{971CD707-A8F2-493E-88D9-BDDD2EFFE83C}" type="sibTrans" cxnId="{27469FB5-9D7A-474A-B115-6C603114954F}">
      <dgm:prSet/>
      <dgm:spPr/>
      <dgm:t>
        <a:bodyPr/>
        <a:lstStyle/>
        <a:p>
          <a:endParaRPr lang="en-US"/>
        </a:p>
      </dgm:t>
    </dgm:pt>
    <dgm:pt modelId="{34B17AAF-0903-412C-8CA4-3293C3F7D280}" type="pres">
      <dgm:prSet presAssocID="{0D372F5B-7F62-4A20-90E0-8487ECA492FF}" presName="Name0" presStyleCnt="0">
        <dgm:presLayoutVars>
          <dgm:chMax/>
          <dgm:chPref/>
          <dgm:dir/>
          <dgm:animLvl val="lvl"/>
        </dgm:presLayoutVars>
      </dgm:prSet>
      <dgm:spPr/>
    </dgm:pt>
    <dgm:pt modelId="{75D1BE47-86F2-406B-9A09-8704790399A0}" type="pres">
      <dgm:prSet presAssocID="{8407CF45-E96A-4B8F-AC29-8C91AC1BB7B6}" presName="composite" presStyleCnt="0"/>
      <dgm:spPr/>
    </dgm:pt>
    <dgm:pt modelId="{FB425C74-DC83-4998-B34D-7DAC3AB369F8}" type="pres">
      <dgm:prSet presAssocID="{8407CF45-E96A-4B8F-AC29-8C91AC1BB7B6}" presName="Parent1" presStyleLbl="node1" presStyleIdx="0" presStyleCnt="6" custLinFactNeighborY="0">
        <dgm:presLayoutVars>
          <dgm:chMax val="1"/>
          <dgm:chPref val="1"/>
          <dgm:bulletEnabled val="1"/>
        </dgm:presLayoutVars>
      </dgm:prSet>
      <dgm:spPr/>
    </dgm:pt>
    <dgm:pt modelId="{7046B30B-0653-4AFC-8098-8762F63972A4}" type="pres">
      <dgm:prSet presAssocID="{8407CF45-E96A-4B8F-AC29-8C91AC1BB7B6}" presName="Childtext1" presStyleLbl="revTx" presStyleIdx="0" presStyleCnt="3">
        <dgm:presLayoutVars>
          <dgm:chMax val="0"/>
          <dgm:chPref val="0"/>
          <dgm:bulletEnabled val="1"/>
        </dgm:presLayoutVars>
      </dgm:prSet>
      <dgm:spPr/>
    </dgm:pt>
    <dgm:pt modelId="{3BC5E7E4-8D15-4FE5-8CEB-5171CF1A0B48}" type="pres">
      <dgm:prSet presAssocID="{8407CF45-E96A-4B8F-AC29-8C91AC1BB7B6}" presName="BalanceSpacing" presStyleCnt="0"/>
      <dgm:spPr/>
    </dgm:pt>
    <dgm:pt modelId="{E9FF2AD4-92D1-4698-80E2-0886056A2725}" type="pres">
      <dgm:prSet presAssocID="{8407CF45-E96A-4B8F-AC29-8C91AC1BB7B6}" presName="BalanceSpacing1" presStyleCnt="0"/>
      <dgm:spPr/>
    </dgm:pt>
    <dgm:pt modelId="{B16D6A96-B9AE-4678-A2FD-50B3A37DEB31}" type="pres">
      <dgm:prSet presAssocID="{EE6ACD82-2735-4F12-8B41-D310AAED3CF4}" presName="Accent1Text" presStyleLbl="node1" presStyleIdx="1" presStyleCnt="6" custLinFactNeighborX="598" custLinFactNeighborY="1989"/>
      <dgm:spPr/>
    </dgm:pt>
    <dgm:pt modelId="{A9089CFF-EDAA-4D9D-9242-775839A33731}" type="pres">
      <dgm:prSet presAssocID="{EE6ACD82-2735-4F12-8B41-D310AAED3CF4}" presName="spaceBetweenRectangles" presStyleCnt="0"/>
      <dgm:spPr/>
    </dgm:pt>
    <dgm:pt modelId="{87B31F69-2FE9-48CB-83D6-C845D49C8EEF}" type="pres">
      <dgm:prSet presAssocID="{4CA9AD19-15B4-4947-9CE4-429D22C173A1}" presName="composite" presStyleCnt="0"/>
      <dgm:spPr/>
    </dgm:pt>
    <dgm:pt modelId="{A7A3D1B1-7BDC-416F-A982-5A54988BA72F}" type="pres">
      <dgm:prSet presAssocID="{4CA9AD19-15B4-4947-9CE4-429D22C173A1}" presName="Parent1" presStyleLbl="node1" presStyleIdx="2" presStyleCnt="6" custLinFactNeighborX="-96481" custLinFactNeighborY="-5180">
        <dgm:presLayoutVars>
          <dgm:chMax val="1"/>
          <dgm:chPref val="1"/>
          <dgm:bulletEnabled val="1"/>
        </dgm:presLayoutVars>
      </dgm:prSet>
      <dgm:spPr/>
    </dgm:pt>
    <dgm:pt modelId="{708A74DF-1CD1-445E-B2AC-D5A19C3FED6E}" type="pres">
      <dgm:prSet presAssocID="{4CA9AD19-15B4-4947-9CE4-429D22C173A1}" presName="Childtext1" presStyleLbl="revTx" presStyleIdx="1" presStyleCnt="3" custScaleY="92373">
        <dgm:presLayoutVars>
          <dgm:chMax val="0"/>
          <dgm:chPref val="0"/>
          <dgm:bulletEnabled val="1"/>
        </dgm:presLayoutVars>
      </dgm:prSet>
      <dgm:spPr>
        <a:noFill/>
      </dgm:spPr>
    </dgm:pt>
    <dgm:pt modelId="{ABF7AFF9-151E-4C89-A2AA-6BE3643CEF9A}" type="pres">
      <dgm:prSet presAssocID="{4CA9AD19-15B4-4947-9CE4-429D22C173A1}" presName="BalanceSpacing" presStyleCnt="0"/>
      <dgm:spPr/>
    </dgm:pt>
    <dgm:pt modelId="{0259A1C6-AFF5-4BB4-B14A-0690777C565A}" type="pres">
      <dgm:prSet presAssocID="{4CA9AD19-15B4-4947-9CE4-429D22C173A1}" presName="BalanceSpacing1" presStyleCnt="0"/>
      <dgm:spPr/>
    </dgm:pt>
    <dgm:pt modelId="{842A60DE-9250-45C4-9595-AC6F94C9A628}" type="pres">
      <dgm:prSet presAssocID="{5B746B21-301D-44A4-9702-7099C0714649}" presName="Accent1Text" presStyleLbl="node1" presStyleIdx="3" presStyleCnt="6" custLinFactNeighborX="834" custLinFactNeighborY="271"/>
      <dgm:spPr/>
    </dgm:pt>
    <dgm:pt modelId="{75B785B5-0AE4-4CAE-9AE5-4B557FA7D2BC}" type="pres">
      <dgm:prSet presAssocID="{5B746B21-301D-44A4-9702-7099C0714649}" presName="spaceBetweenRectangles" presStyleCnt="0"/>
      <dgm:spPr/>
    </dgm:pt>
    <dgm:pt modelId="{4C2EB0CA-72BE-4954-B78D-47AE2AF0ED8B}" type="pres">
      <dgm:prSet presAssocID="{F3EFA9E2-3973-424E-B3E5-9497AA4EED22}" presName="composite" presStyleCnt="0"/>
      <dgm:spPr/>
    </dgm:pt>
    <dgm:pt modelId="{BBBB957B-369A-446C-ADEB-CB015778CAC9}" type="pres">
      <dgm:prSet presAssocID="{F3EFA9E2-3973-424E-B3E5-9497AA4EED22}" presName="Parent1" presStyleLbl="node1" presStyleIdx="4" presStyleCnt="6" custLinFactNeighborX="15637" custLinFactNeighborY="-5576">
        <dgm:presLayoutVars>
          <dgm:chMax val="1"/>
          <dgm:chPref val="1"/>
          <dgm:bulletEnabled val="1"/>
        </dgm:presLayoutVars>
      </dgm:prSet>
      <dgm:spPr/>
    </dgm:pt>
    <dgm:pt modelId="{39E0BC23-E67C-424F-B375-8B082338B338}" type="pres">
      <dgm:prSet presAssocID="{F3EFA9E2-3973-424E-B3E5-9497AA4EED22}" presName="Childtext1" presStyleLbl="revTx" presStyleIdx="2" presStyleCnt="3">
        <dgm:presLayoutVars>
          <dgm:chMax val="0"/>
          <dgm:chPref val="0"/>
          <dgm:bulletEnabled val="1"/>
        </dgm:presLayoutVars>
      </dgm:prSet>
      <dgm:spPr/>
    </dgm:pt>
    <dgm:pt modelId="{D0FBE36C-AFE2-42DA-8B60-D90CBEB652D2}" type="pres">
      <dgm:prSet presAssocID="{F3EFA9E2-3973-424E-B3E5-9497AA4EED22}" presName="BalanceSpacing" presStyleCnt="0"/>
      <dgm:spPr/>
    </dgm:pt>
    <dgm:pt modelId="{B6D816B4-ABAE-4DAB-BF0B-AD2EB6D1A2EC}" type="pres">
      <dgm:prSet presAssocID="{F3EFA9E2-3973-424E-B3E5-9497AA4EED22}" presName="BalanceSpacing1" presStyleCnt="0"/>
      <dgm:spPr/>
    </dgm:pt>
    <dgm:pt modelId="{951DA61F-B3AA-4AFD-9AB9-6C4EE6C008B5}" type="pres">
      <dgm:prSet presAssocID="{971CD707-A8F2-493E-88D9-BDDD2EFFE83C}" presName="Accent1Text" presStyleLbl="node1" presStyleIdx="5" presStyleCnt="6" custLinFactNeighborX="834" custLinFactNeighborY="271"/>
      <dgm:spPr/>
    </dgm:pt>
  </dgm:ptLst>
  <dgm:cxnLst>
    <dgm:cxn modelId="{16117204-0D5A-4B44-AAD3-AD9AE5212FDC}" srcId="{0D372F5B-7F62-4A20-90E0-8487ECA492FF}" destId="{4CA9AD19-15B4-4947-9CE4-429D22C173A1}" srcOrd="1" destOrd="0" parTransId="{F590A31C-B6AF-4472-AB6F-83A4BFD47BCB}" sibTransId="{5B746B21-301D-44A4-9702-7099C0714649}"/>
    <dgm:cxn modelId="{300D3736-B4A0-4849-A70C-DBC42748C6E9}" type="presOf" srcId="{8407CF45-E96A-4B8F-AC29-8C91AC1BB7B6}" destId="{FB425C74-DC83-4998-B34D-7DAC3AB369F8}" srcOrd="0" destOrd="0" presId="urn:microsoft.com/office/officeart/2008/layout/AlternatingHexagons"/>
    <dgm:cxn modelId="{BBF8A170-9AF7-4696-9F9F-6608B82DDE35}" type="presOf" srcId="{971CD707-A8F2-493E-88D9-BDDD2EFFE83C}" destId="{951DA61F-B3AA-4AFD-9AB9-6C4EE6C008B5}" srcOrd="0" destOrd="0" presId="urn:microsoft.com/office/officeart/2008/layout/AlternatingHexagons"/>
    <dgm:cxn modelId="{A3F38271-9C9F-4C9B-8A06-96C3DD31124C}" type="presOf" srcId="{4CA9AD19-15B4-4947-9CE4-429D22C173A1}" destId="{A7A3D1B1-7BDC-416F-A982-5A54988BA72F}" srcOrd="0" destOrd="0" presId="urn:microsoft.com/office/officeart/2008/layout/AlternatingHexagons"/>
    <dgm:cxn modelId="{DFAA6F73-9AAD-4CF0-B247-B1DE8CF9BD20}" type="presOf" srcId="{0D372F5B-7F62-4A20-90E0-8487ECA492FF}" destId="{34B17AAF-0903-412C-8CA4-3293C3F7D280}" srcOrd="0" destOrd="0" presId="urn:microsoft.com/office/officeart/2008/layout/AlternatingHexagons"/>
    <dgm:cxn modelId="{00DA8595-8F10-472F-AE27-193DABED18B9}" type="presOf" srcId="{5B746B21-301D-44A4-9702-7099C0714649}" destId="{842A60DE-9250-45C4-9595-AC6F94C9A628}" srcOrd="0" destOrd="0" presId="urn:microsoft.com/office/officeart/2008/layout/AlternatingHexagons"/>
    <dgm:cxn modelId="{EF0E5A98-C5E9-47C4-9692-5C5B293E7789}" type="presOf" srcId="{EE6ACD82-2735-4F12-8B41-D310AAED3CF4}" destId="{B16D6A96-B9AE-4678-A2FD-50B3A37DEB31}" srcOrd="0" destOrd="0" presId="urn:microsoft.com/office/officeart/2008/layout/AlternatingHexagons"/>
    <dgm:cxn modelId="{997E66A1-7EE6-44E6-884F-8B7FC5A4723A}" type="presOf" srcId="{F3EFA9E2-3973-424E-B3E5-9497AA4EED22}" destId="{BBBB957B-369A-446C-ADEB-CB015778CAC9}" srcOrd="0" destOrd="0" presId="urn:microsoft.com/office/officeart/2008/layout/AlternatingHexagons"/>
    <dgm:cxn modelId="{9990A5A1-4F69-4A5E-8409-5E5434286163}" srcId="{0D372F5B-7F62-4A20-90E0-8487ECA492FF}" destId="{8407CF45-E96A-4B8F-AC29-8C91AC1BB7B6}" srcOrd="0" destOrd="0" parTransId="{7915A308-0F24-42D0-822A-776CD9C329AD}" sibTransId="{EE6ACD82-2735-4F12-8B41-D310AAED3CF4}"/>
    <dgm:cxn modelId="{27469FB5-9D7A-474A-B115-6C603114954F}" srcId="{0D372F5B-7F62-4A20-90E0-8487ECA492FF}" destId="{F3EFA9E2-3973-424E-B3E5-9497AA4EED22}" srcOrd="2" destOrd="0" parTransId="{9E1D4664-63F3-47A3-9D2C-2702C5EDED0D}" sibTransId="{971CD707-A8F2-493E-88D9-BDDD2EFFE83C}"/>
    <dgm:cxn modelId="{7626FA59-841E-4A6A-B8A4-DEADD37900B6}" type="presParOf" srcId="{34B17AAF-0903-412C-8CA4-3293C3F7D280}" destId="{75D1BE47-86F2-406B-9A09-8704790399A0}" srcOrd="0" destOrd="0" presId="urn:microsoft.com/office/officeart/2008/layout/AlternatingHexagons"/>
    <dgm:cxn modelId="{003407D1-3498-40CB-9A18-2D0716839B60}" type="presParOf" srcId="{75D1BE47-86F2-406B-9A09-8704790399A0}" destId="{FB425C74-DC83-4998-B34D-7DAC3AB369F8}" srcOrd="0" destOrd="0" presId="urn:microsoft.com/office/officeart/2008/layout/AlternatingHexagons"/>
    <dgm:cxn modelId="{DBF433DC-3537-49EB-B622-A3D218EE2FD2}" type="presParOf" srcId="{75D1BE47-86F2-406B-9A09-8704790399A0}" destId="{7046B30B-0653-4AFC-8098-8762F63972A4}" srcOrd="1" destOrd="0" presId="urn:microsoft.com/office/officeart/2008/layout/AlternatingHexagons"/>
    <dgm:cxn modelId="{A907C6CE-397C-485E-AE60-8C15D5336D80}" type="presParOf" srcId="{75D1BE47-86F2-406B-9A09-8704790399A0}" destId="{3BC5E7E4-8D15-4FE5-8CEB-5171CF1A0B48}" srcOrd="2" destOrd="0" presId="urn:microsoft.com/office/officeart/2008/layout/AlternatingHexagons"/>
    <dgm:cxn modelId="{DF79343C-5CAC-4A87-9EC5-976129B32CDA}" type="presParOf" srcId="{75D1BE47-86F2-406B-9A09-8704790399A0}" destId="{E9FF2AD4-92D1-4698-80E2-0886056A2725}" srcOrd="3" destOrd="0" presId="urn:microsoft.com/office/officeart/2008/layout/AlternatingHexagons"/>
    <dgm:cxn modelId="{782C3193-F259-4805-A59B-EABB11A851BA}" type="presParOf" srcId="{75D1BE47-86F2-406B-9A09-8704790399A0}" destId="{B16D6A96-B9AE-4678-A2FD-50B3A37DEB31}" srcOrd="4" destOrd="0" presId="urn:microsoft.com/office/officeart/2008/layout/AlternatingHexagons"/>
    <dgm:cxn modelId="{ADD8B669-4AC1-45D1-ADC5-0C1B9C218416}" type="presParOf" srcId="{34B17AAF-0903-412C-8CA4-3293C3F7D280}" destId="{A9089CFF-EDAA-4D9D-9242-775839A33731}" srcOrd="1" destOrd="0" presId="urn:microsoft.com/office/officeart/2008/layout/AlternatingHexagons"/>
    <dgm:cxn modelId="{D8329629-BBE4-486D-B73B-60468C95727D}" type="presParOf" srcId="{34B17AAF-0903-412C-8CA4-3293C3F7D280}" destId="{87B31F69-2FE9-48CB-83D6-C845D49C8EEF}" srcOrd="2" destOrd="0" presId="urn:microsoft.com/office/officeart/2008/layout/AlternatingHexagons"/>
    <dgm:cxn modelId="{843039B5-10D8-4E59-A48B-B6A1AC22DDBA}" type="presParOf" srcId="{87B31F69-2FE9-48CB-83D6-C845D49C8EEF}" destId="{A7A3D1B1-7BDC-416F-A982-5A54988BA72F}" srcOrd="0" destOrd="0" presId="urn:microsoft.com/office/officeart/2008/layout/AlternatingHexagons"/>
    <dgm:cxn modelId="{8DB0F1B7-BE40-47F7-899E-8F801EECD11F}" type="presParOf" srcId="{87B31F69-2FE9-48CB-83D6-C845D49C8EEF}" destId="{708A74DF-1CD1-445E-B2AC-D5A19C3FED6E}" srcOrd="1" destOrd="0" presId="urn:microsoft.com/office/officeart/2008/layout/AlternatingHexagons"/>
    <dgm:cxn modelId="{3359AB9B-A019-4146-8760-8EE74F2EA689}" type="presParOf" srcId="{87B31F69-2FE9-48CB-83D6-C845D49C8EEF}" destId="{ABF7AFF9-151E-4C89-A2AA-6BE3643CEF9A}" srcOrd="2" destOrd="0" presId="urn:microsoft.com/office/officeart/2008/layout/AlternatingHexagons"/>
    <dgm:cxn modelId="{52057CB9-22CB-4C2B-8FB9-74F201F71B0A}" type="presParOf" srcId="{87B31F69-2FE9-48CB-83D6-C845D49C8EEF}" destId="{0259A1C6-AFF5-4BB4-B14A-0690777C565A}" srcOrd="3" destOrd="0" presId="urn:microsoft.com/office/officeart/2008/layout/AlternatingHexagons"/>
    <dgm:cxn modelId="{5E2BFB1A-C33C-4637-9416-2460A2D28AE8}" type="presParOf" srcId="{87B31F69-2FE9-48CB-83D6-C845D49C8EEF}" destId="{842A60DE-9250-45C4-9595-AC6F94C9A628}" srcOrd="4" destOrd="0" presId="urn:microsoft.com/office/officeart/2008/layout/AlternatingHexagons"/>
    <dgm:cxn modelId="{5116F868-03AC-4E9A-87F2-66FA0184ECE8}" type="presParOf" srcId="{34B17AAF-0903-412C-8CA4-3293C3F7D280}" destId="{75B785B5-0AE4-4CAE-9AE5-4B557FA7D2BC}" srcOrd="3" destOrd="0" presId="urn:microsoft.com/office/officeart/2008/layout/AlternatingHexagons"/>
    <dgm:cxn modelId="{1B660DE8-F2F6-4EDB-A311-8CF9E2863CC4}" type="presParOf" srcId="{34B17AAF-0903-412C-8CA4-3293C3F7D280}" destId="{4C2EB0CA-72BE-4954-B78D-47AE2AF0ED8B}" srcOrd="4" destOrd="0" presId="urn:microsoft.com/office/officeart/2008/layout/AlternatingHexagons"/>
    <dgm:cxn modelId="{22F3E95D-C5AB-4C44-BF31-49FC42456DCC}" type="presParOf" srcId="{4C2EB0CA-72BE-4954-B78D-47AE2AF0ED8B}" destId="{BBBB957B-369A-446C-ADEB-CB015778CAC9}" srcOrd="0" destOrd="0" presId="urn:microsoft.com/office/officeart/2008/layout/AlternatingHexagons"/>
    <dgm:cxn modelId="{5BD3A819-8FC6-449D-B5A6-AEC58275F708}" type="presParOf" srcId="{4C2EB0CA-72BE-4954-B78D-47AE2AF0ED8B}" destId="{39E0BC23-E67C-424F-B375-8B082338B338}" srcOrd="1" destOrd="0" presId="urn:microsoft.com/office/officeart/2008/layout/AlternatingHexagons"/>
    <dgm:cxn modelId="{5DE883A5-2B63-4C79-AA6F-86F10191CCDD}" type="presParOf" srcId="{4C2EB0CA-72BE-4954-B78D-47AE2AF0ED8B}" destId="{D0FBE36C-AFE2-42DA-8B60-D90CBEB652D2}" srcOrd="2" destOrd="0" presId="urn:microsoft.com/office/officeart/2008/layout/AlternatingHexagons"/>
    <dgm:cxn modelId="{8E6830BA-CE60-4106-836B-F8CC6D144503}" type="presParOf" srcId="{4C2EB0CA-72BE-4954-B78D-47AE2AF0ED8B}" destId="{B6D816B4-ABAE-4DAB-BF0B-AD2EB6D1A2EC}" srcOrd="3" destOrd="0" presId="urn:microsoft.com/office/officeart/2008/layout/AlternatingHexagons"/>
    <dgm:cxn modelId="{59A476AF-1366-4271-9AD5-1DEFB8FFC654}" type="presParOf" srcId="{4C2EB0CA-72BE-4954-B78D-47AE2AF0ED8B}" destId="{951DA61F-B3AA-4AFD-9AB9-6C4EE6C008B5}" srcOrd="4" destOrd="0" presId="urn:microsoft.com/office/officeart/2008/layout/AlternatingHexagons"/>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372F5B-7F62-4A20-90E0-8487ECA492FF}"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8407CF45-E96A-4B8F-AC29-8C91AC1BB7B6}">
      <dgm:prSet phldrT="[Text]"/>
      <dgm:spPr>
        <a:solidFill>
          <a:schemeClr val="accent1">
            <a:lumMod val="40000"/>
            <a:lumOff val="60000"/>
          </a:schemeClr>
        </a:solidFill>
      </dgm:spPr>
      <dgm:t>
        <a:bodyPr/>
        <a:lstStyle/>
        <a:p>
          <a:r>
            <a:rPr lang="en-US"/>
            <a:t> </a:t>
          </a:r>
        </a:p>
      </dgm:t>
    </dgm:pt>
    <dgm:pt modelId="{7915A308-0F24-42D0-822A-776CD9C329AD}" type="parTrans" cxnId="{9990A5A1-4F69-4A5E-8409-5E5434286163}">
      <dgm:prSet/>
      <dgm:spPr/>
      <dgm:t>
        <a:bodyPr/>
        <a:lstStyle/>
        <a:p>
          <a:endParaRPr lang="en-US"/>
        </a:p>
      </dgm:t>
    </dgm:pt>
    <dgm:pt modelId="{EE6ACD82-2735-4F12-8B41-D310AAED3CF4}" type="sibTrans" cxnId="{9990A5A1-4F69-4A5E-8409-5E5434286163}">
      <dgm:prSet/>
      <dgm:spPr>
        <a:solidFill>
          <a:schemeClr val="accent1">
            <a:lumMod val="40000"/>
            <a:lumOff val="60000"/>
          </a:schemeClr>
        </a:solidFill>
      </dgm:spPr>
      <dgm:t>
        <a:bodyPr/>
        <a:lstStyle/>
        <a:p>
          <a:endParaRPr lang="en-US"/>
        </a:p>
      </dgm:t>
    </dgm:pt>
    <dgm:pt modelId="{4CA9AD19-15B4-4947-9CE4-429D22C173A1}">
      <dgm:prSet/>
      <dgm:spPr/>
      <dgm:t>
        <a:bodyPr/>
        <a:lstStyle/>
        <a:p>
          <a:endParaRPr lang="en-US"/>
        </a:p>
      </dgm:t>
    </dgm:pt>
    <dgm:pt modelId="{F590A31C-B6AF-4472-AB6F-83A4BFD47BCB}" type="parTrans" cxnId="{16117204-0D5A-4B44-AAD3-AD9AE5212FDC}">
      <dgm:prSet/>
      <dgm:spPr/>
      <dgm:t>
        <a:bodyPr/>
        <a:lstStyle/>
        <a:p>
          <a:endParaRPr lang="en-US"/>
        </a:p>
      </dgm:t>
    </dgm:pt>
    <dgm:pt modelId="{5B746B21-301D-44A4-9702-7099C0714649}" type="sibTrans" cxnId="{16117204-0D5A-4B44-AAD3-AD9AE5212FDC}">
      <dgm:prSet/>
      <dgm:spPr>
        <a:solidFill>
          <a:schemeClr val="accent1">
            <a:lumMod val="20000"/>
            <a:lumOff val="80000"/>
          </a:schemeClr>
        </a:solidFill>
      </dgm:spPr>
      <dgm:t>
        <a:bodyPr/>
        <a:lstStyle/>
        <a:p>
          <a:endParaRPr lang="en-US"/>
        </a:p>
      </dgm:t>
    </dgm:pt>
    <dgm:pt modelId="{F3EFA9E2-3973-424E-B3E5-9497AA4EED22}">
      <dgm:prSet/>
      <dgm:spPr/>
      <dgm:t>
        <a:bodyPr/>
        <a:lstStyle/>
        <a:p>
          <a:endParaRPr lang="en-US"/>
        </a:p>
      </dgm:t>
    </dgm:pt>
    <dgm:pt modelId="{9E1D4664-63F3-47A3-9D2C-2702C5EDED0D}" type="parTrans" cxnId="{27469FB5-9D7A-474A-B115-6C603114954F}">
      <dgm:prSet/>
      <dgm:spPr/>
      <dgm:t>
        <a:bodyPr/>
        <a:lstStyle/>
        <a:p>
          <a:endParaRPr lang="en-US"/>
        </a:p>
      </dgm:t>
    </dgm:pt>
    <dgm:pt modelId="{971CD707-A8F2-493E-88D9-BDDD2EFFE83C}" type="sibTrans" cxnId="{27469FB5-9D7A-474A-B115-6C603114954F}">
      <dgm:prSet/>
      <dgm:spPr/>
      <dgm:t>
        <a:bodyPr/>
        <a:lstStyle/>
        <a:p>
          <a:endParaRPr lang="en-US"/>
        </a:p>
      </dgm:t>
    </dgm:pt>
    <dgm:pt modelId="{34B17AAF-0903-412C-8CA4-3293C3F7D280}" type="pres">
      <dgm:prSet presAssocID="{0D372F5B-7F62-4A20-90E0-8487ECA492FF}" presName="Name0" presStyleCnt="0">
        <dgm:presLayoutVars>
          <dgm:chMax/>
          <dgm:chPref/>
          <dgm:dir/>
          <dgm:animLvl val="lvl"/>
        </dgm:presLayoutVars>
      </dgm:prSet>
      <dgm:spPr/>
    </dgm:pt>
    <dgm:pt modelId="{75D1BE47-86F2-406B-9A09-8704790399A0}" type="pres">
      <dgm:prSet presAssocID="{8407CF45-E96A-4B8F-AC29-8C91AC1BB7B6}" presName="composite" presStyleCnt="0"/>
      <dgm:spPr/>
    </dgm:pt>
    <dgm:pt modelId="{FB425C74-DC83-4998-B34D-7DAC3AB369F8}" type="pres">
      <dgm:prSet presAssocID="{8407CF45-E96A-4B8F-AC29-8C91AC1BB7B6}" presName="Parent1" presStyleLbl="node1" presStyleIdx="0" presStyleCnt="6" custLinFactNeighborY="0">
        <dgm:presLayoutVars>
          <dgm:chMax val="1"/>
          <dgm:chPref val="1"/>
          <dgm:bulletEnabled val="1"/>
        </dgm:presLayoutVars>
      </dgm:prSet>
      <dgm:spPr/>
    </dgm:pt>
    <dgm:pt modelId="{7046B30B-0653-4AFC-8098-8762F63972A4}" type="pres">
      <dgm:prSet presAssocID="{8407CF45-E96A-4B8F-AC29-8C91AC1BB7B6}" presName="Childtext1" presStyleLbl="revTx" presStyleIdx="0" presStyleCnt="3">
        <dgm:presLayoutVars>
          <dgm:chMax val="0"/>
          <dgm:chPref val="0"/>
          <dgm:bulletEnabled val="1"/>
        </dgm:presLayoutVars>
      </dgm:prSet>
      <dgm:spPr/>
    </dgm:pt>
    <dgm:pt modelId="{3BC5E7E4-8D15-4FE5-8CEB-5171CF1A0B48}" type="pres">
      <dgm:prSet presAssocID="{8407CF45-E96A-4B8F-AC29-8C91AC1BB7B6}" presName="BalanceSpacing" presStyleCnt="0"/>
      <dgm:spPr/>
    </dgm:pt>
    <dgm:pt modelId="{E9FF2AD4-92D1-4698-80E2-0886056A2725}" type="pres">
      <dgm:prSet presAssocID="{8407CF45-E96A-4B8F-AC29-8C91AC1BB7B6}" presName="BalanceSpacing1" presStyleCnt="0"/>
      <dgm:spPr/>
    </dgm:pt>
    <dgm:pt modelId="{B16D6A96-B9AE-4678-A2FD-50B3A37DEB31}" type="pres">
      <dgm:prSet presAssocID="{EE6ACD82-2735-4F12-8B41-D310AAED3CF4}" presName="Accent1Text" presStyleLbl="node1" presStyleIdx="1" presStyleCnt="6" custLinFactNeighborX="598" custLinFactNeighborY="1989"/>
      <dgm:spPr/>
    </dgm:pt>
    <dgm:pt modelId="{A9089CFF-EDAA-4D9D-9242-775839A33731}" type="pres">
      <dgm:prSet presAssocID="{EE6ACD82-2735-4F12-8B41-D310AAED3CF4}" presName="spaceBetweenRectangles" presStyleCnt="0"/>
      <dgm:spPr/>
    </dgm:pt>
    <dgm:pt modelId="{87B31F69-2FE9-48CB-83D6-C845D49C8EEF}" type="pres">
      <dgm:prSet presAssocID="{4CA9AD19-15B4-4947-9CE4-429D22C173A1}" presName="composite" presStyleCnt="0"/>
      <dgm:spPr/>
    </dgm:pt>
    <dgm:pt modelId="{A7A3D1B1-7BDC-416F-A982-5A54988BA72F}" type="pres">
      <dgm:prSet presAssocID="{4CA9AD19-15B4-4947-9CE4-429D22C173A1}" presName="Parent1" presStyleLbl="node1" presStyleIdx="2" presStyleCnt="6" custLinFactNeighborX="-96481" custLinFactNeighborY="-5180">
        <dgm:presLayoutVars>
          <dgm:chMax val="1"/>
          <dgm:chPref val="1"/>
          <dgm:bulletEnabled val="1"/>
        </dgm:presLayoutVars>
      </dgm:prSet>
      <dgm:spPr/>
    </dgm:pt>
    <dgm:pt modelId="{708A74DF-1CD1-445E-B2AC-D5A19C3FED6E}" type="pres">
      <dgm:prSet presAssocID="{4CA9AD19-15B4-4947-9CE4-429D22C173A1}" presName="Childtext1" presStyleLbl="revTx" presStyleIdx="1" presStyleCnt="3" custScaleY="92373">
        <dgm:presLayoutVars>
          <dgm:chMax val="0"/>
          <dgm:chPref val="0"/>
          <dgm:bulletEnabled val="1"/>
        </dgm:presLayoutVars>
      </dgm:prSet>
      <dgm:spPr>
        <a:noFill/>
      </dgm:spPr>
    </dgm:pt>
    <dgm:pt modelId="{ABF7AFF9-151E-4C89-A2AA-6BE3643CEF9A}" type="pres">
      <dgm:prSet presAssocID="{4CA9AD19-15B4-4947-9CE4-429D22C173A1}" presName="BalanceSpacing" presStyleCnt="0"/>
      <dgm:spPr/>
    </dgm:pt>
    <dgm:pt modelId="{0259A1C6-AFF5-4BB4-B14A-0690777C565A}" type="pres">
      <dgm:prSet presAssocID="{4CA9AD19-15B4-4947-9CE4-429D22C173A1}" presName="BalanceSpacing1" presStyleCnt="0"/>
      <dgm:spPr/>
    </dgm:pt>
    <dgm:pt modelId="{842A60DE-9250-45C4-9595-AC6F94C9A628}" type="pres">
      <dgm:prSet presAssocID="{5B746B21-301D-44A4-9702-7099C0714649}" presName="Accent1Text" presStyleLbl="node1" presStyleIdx="3" presStyleCnt="6" custLinFactNeighborX="834" custLinFactNeighborY="271"/>
      <dgm:spPr/>
    </dgm:pt>
    <dgm:pt modelId="{75B785B5-0AE4-4CAE-9AE5-4B557FA7D2BC}" type="pres">
      <dgm:prSet presAssocID="{5B746B21-301D-44A4-9702-7099C0714649}" presName="spaceBetweenRectangles" presStyleCnt="0"/>
      <dgm:spPr/>
    </dgm:pt>
    <dgm:pt modelId="{4C2EB0CA-72BE-4954-B78D-47AE2AF0ED8B}" type="pres">
      <dgm:prSet presAssocID="{F3EFA9E2-3973-424E-B3E5-9497AA4EED22}" presName="composite" presStyleCnt="0"/>
      <dgm:spPr/>
    </dgm:pt>
    <dgm:pt modelId="{BBBB957B-369A-446C-ADEB-CB015778CAC9}" type="pres">
      <dgm:prSet presAssocID="{F3EFA9E2-3973-424E-B3E5-9497AA4EED22}" presName="Parent1" presStyleLbl="node1" presStyleIdx="4" presStyleCnt="6" custLinFactNeighborX="15637" custLinFactNeighborY="-5576">
        <dgm:presLayoutVars>
          <dgm:chMax val="1"/>
          <dgm:chPref val="1"/>
          <dgm:bulletEnabled val="1"/>
        </dgm:presLayoutVars>
      </dgm:prSet>
      <dgm:spPr/>
    </dgm:pt>
    <dgm:pt modelId="{39E0BC23-E67C-424F-B375-8B082338B338}" type="pres">
      <dgm:prSet presAssocID="{F3EFA9E2-3973-424E-B3E5-9497AA4EED22}" presName="Childtext1" presStyleLbl="revTx" presStyleIdx="2" presStyleCnt="3">
        <dgm:presLayoutVars>
          <dgm:chMax val="0"/>
          <dgm:chPref val="0"/>
          <dgm:bulletEnabled val="1"/>
        </dgm:presLayoutVars>
      </dgm:prSet>
      <dgm:spPr/>
    </dgm:pt>
    <dgm:pt modelId="{D0FBE36C-AFE2-42DA-8B60-D90CBEB652D2}" type="pres">
      <dgm:prSet presAssocID="{F3EFA9E2-3973-424E-B3E5-9497AA4EED22}" presName="BalanceSpacing" presStyleCnt="0"/>
      <dgm:spPr/>
    </dgm:pt>
    <dgm:pt modelId="{B6D816B4-ABAE-4DAB-BF0B-AD2EB6D1A2EC}" type="pres">
      <dgm:prSet presAssocID="{F3EFA9E2-3973-424E-B3E5-9497AA4EED22}" presName="BalanceSpacing1" presStyleCnt="0"/>
      <dgm:spPr/>
    </dgm:pt>
    <dgm:pt modelId="{951DA61F-B3AA-4AFD-9AB9-6C4EE6C008B5}" type="pres">
      <dgm:prSet presAssocID="{971CD707-A8F2-493E-88D9-BDDD2EFFE83C}" presName="Accent1Text" presStyleLbl="node1" presStyleIdx="5" presStyleCnt="6" custLinFactNeighborX="834" custLinFactNeighborY="271"/>
      <dgm:spPr/>
    </dgm:pt>
  </dgm:ptLst>
  <dgm:cxnLst>
    <dgm:cxn modelId="{16117204-0D5A-4B44-AAD3-AD9AE5212FDC}" srcId="{0D372F5B-7F62-4A20-90E0-8487ECA492FF}" destId="{4CA9AD19-15B4-4947-9CE4-429D22C173A1}" srcOrd="1" destOrd="0" parTransId="{F590A31C-B6AF-4472-AB6F-83A4BFD47BCB}" sibTransId="{5B746B21-301D-44A4-9702-7099C0714649}"/>
    <dgm:cxn modelId="{300D3736-B4A0-4849-A70C-DBC42748C6E9}" type="presOf" srcId="{8407CF45-E96A-4B8F-AC29-8C91AC1BB7B6}" destId="{FB425C74-DC83-4998-B34D-7DAC3AB369F8}" srcOrd="0" destOrd="0" presId="urn:microsoft.com/office/officeart/2008/layout/AlternatingHexagons"/>
    <dgm:cxn modelId="{BBF8A170-9AF7-4696-9F9F-6608B82DDE35}" type="presOf" srcId="{971CD707-A8F2-493E-88D9-BDDD2EFFE83C}" destId="{951DA61F-B3AA-4AFD-9AB9-6C4EE6C008B5}" srcOrd="0" destOrd="0" presId="urn:microsoft.com/office/officeart/2008/layout/AlternatingHexagons"/>
    <dgm:cxn modelId="{A3F38271-9C9F-4C9B-8A06-96C3DD31124C}" type="presOf" srcId="{4CA9AD19-15B4-4947-9CE4-429D22C173A1}" destId="{A7A3D1B1-7BDC-416F-A982-5A54988BA72F}" srcOrd="0" destOrd="0" presId="urn:microsoft.com/office/officeart/2008/layout/AlternatingHexagons"/>
    <dgm:cxn modelId="{DFAA6F73-9AAD-4CF0-B247-B1DE8CF9BD20}" type="presOf" srcId="{0D372F5B-7F62-4A20-90E0-8487ECA492FF}" destId="{34B17AAF-0903-412C-8CA4-3293C3F7D280}" srcOrd="0" destOrd="0" presId="urn:microsoft.com/office/officeart/2008/layout/AlternatingHexagons"/>
    <dgm:cxn modelId="{00DA8595-8F10-472F-AE27-193DABED18B9}" type="presOf" srcId="{5B746B21-301D-44A4-9702-7099C0714649}" destId="{842A60DE-9250-45C4-9595-AC6F94C9A628}" srcOrd="0" destOrd="0" presId="urn:microsoft.com/office/officeart/2008/layout/AlternatingHexagons"/>
    <dgm:cxn modelId="{EF0E5A98-C5E9-47C4-9692-5C5B293E7789}" type="presOf" srcId="{EE6ACD82-2735-4F12-8B41-D310AAED3CF4}" destId="{B16D6A96-B9AE-4678-A2FD-50B3A37DEB31}" srcOrd="0" destOrd="0" presId="urn:microsoft.com/office/officeart/2008/layout/AlternatingHexagons"/>
    <dgm:cxn modelId="{997E66A1-7EE6-44E6-884F-8B7FC5A4723A}" type="presOf" srcId="{F3EFA9E2-3973-424E-B3E5-9497AA4EED22}" destId="{BBBB957B-369A-446C-ADEB-CB015778CAC9}" srcOrd="0" destOrd="0" presId="urn:microsoft.com/office/officeart/2008/layout/AlternatingHexagons"/>
    <dgm:cxn modelId="{9990A5A1-4F69-4A5E-8409-5E5434286163}" srcId="{0D372F5B-7F62-4A20-90E0-8487ECA492FF}" destId="{8407CF45-E96A-4B8F-AC29-8C91AC1BB7B6}" srcOrd="0" destOrd="0" parTransId="{7915A308-0F24-42D0-822A-776CD9C329AD}" sibTransId="{EE6ACD82-2735-4F12-8B41-D310AAED3CF4}"/>
    <dgm:cxn modelId="{27469FB5-9D7A-474A-B115-6C603114954F}" srcId="{0D372F5B-7F62-4A20-90E0-8487ECA492FF}" destId="{F3EFA9E2-3973-424E-B3E5-9497AA4EED22}" srcOrd="2" destOrd="0" parTransId="{9E1D4664-63F3-47A3-9D2C-2702C5EDED0D}" sibTransId="{971CD707-A8F2-493E-88D9-BDDD2EFFE83C}"/>
    <dgm:cxn modelId="{7626FA59-841E-4A6A-B8A4-DEADD37900B6}" type="presParOf" srcId="{34B17AAF-0903-412C-8CA4-3293C3F7D280}" destId="{75D1BE47-86F2-406B-9A09-8704790399A0}" srcOrd="0" destOrd="0" presId="urn:microsoft.com/office/officeart/2008/layout/AlternatingHexagons"/>
    <dgm:cxn modelId="{003407D1-3498-40CB-9A18-2D0716839B60}" type="presParOf" srcId="{75D1BE47-86F2-406B-9A09-8704790399A0}" destId="{FB425C74-DC83-4998-B34D-7DAC3AB369F8}" srcOrd="0" destOrd="0" presId="urn:microsoft.com/office/officeart/2008/layout/AlternatingHexagons"/>
    <dgm:cxn modelId="{DBF433DC-3537-49EB-B622-A3D218EE2FD2}" type="presParOf" srcId="{75D1BE47-86F2-406B-9A09-8704790399A0}" destId="{7046B30B-0653-4AFC-8098-8762F63972A4}" srcOrd="1" destOrd="0" presId="urn:microsoft.com/office/officeart/2008/layout/AlternatingHexagons"/>
    <dgm:cxn modelId="{A907C6CE-397C-485E-AE60-8C15D5336D80}" type="presParOf" srcId="{75D1BE47-86F2-406B-9A09-8704790399A0}" destId="{3BC5E7E4-8D15-4FE5-8CEB-5171CF1A0B48}" srcOrd="2" destOrd="0" presId="urn:microsoft.com/office/officeart/2008/layout/AlternatingHexagons"/>
    <dgm:cxn modelId="{DF79343C-5CAC-4A87-9EC5-976129B32CDA}" type="presParOf" srcId="{75D1BE47-86F2-406B-9A09-8704790399A0}" destId="{E9FF2AD4-92D1-4698-80E2-0886056A2725}" srcOrd="3" destOrd="0" presId="urn:microsoft.com/office/officeart/2008/layout/AlternatingHexagons"/>
    <dgm:cxn modelId="{782C3193-F259-4805-A59B-EABB11A851BA}" type="presParOf" srcId="{75D1BE47-86F2-406B-9A09-8704790399A0}" destId="{B16D6A96-B9AE-4678-A2FD-50B3A37DEB31}" srcOrd="4" destOrd="0" presId="urn:microsoft.com/office/officeart/2008/layout/AlternatingHexagons"/>
    <dgm:cxn modelId="{ADD8B669-4AC1-45D1-ADC5-0C1B9C218416}" type="presParOf" srcId="{34B17AAF-0903-412C-8CA4-3293C3F7D280}" destId="{A9089CFF-EDAA-4D9D-9242-775839A33731}" srcOrd="1" destOrd="0" presId="urn:microsoft.com/office/officeart/2008/layout/AlternatingHexagons"/>
    <dgm:cxn modelId="{D8329629-BBE4-486D-B73B-60468C95727D}" type="presParOf" srcId="{34B17AAF-0903-412C-8CA4-3293C3F7D280}" destId="{87B31F69-2FE9-48CB-83D6-C845D49C8EEF}" srcOrd="2" destOrd="0" presId="urn:microsoft.com/office/officeart/2008/layout/AlternatingHexagons"/>
    <dgm:cxn modelId="{843039B5-10D8-4E59-A48B-B6A1AC22DDBA}" type="presParOf" srcId="{87B31F69-2FE9-48CB-83D6-C845D49C8EEF}" destId="{A7A3D1B1-7BDC-416F-A982-5A54988BA72F}" srcOrd="0" destOrd="0" presId="urn:microsoft.com/office/officeart/2008/layout/AlternatingHexagons"/>
    <dgm:cxn modelId="{8DB0F1B7-BE40-47F7-899E-8F801EECD11F}" type="presParOf" srcId="{87B31F69-2FE9-48CB-83D6-C845D49C8EEF}" destId="{708A74DF-1CD1-445E-B2AC-D5A19C3FED6E}" srcOrd="1" destOrd="0" presId="urn:microsoft.com/office/officeart/2008/layout/AlternatingHexagons"/>
    <dgm:cxn modelId="{3359AB9B-A019-4146-8760-8EE74F2EA689}" type="presParOf" srcId="{87B31F69-2FE9-48CB-83D6-C845D49C8EEF}" destId="{ABF7AFF9-151E-4C89-A2AA-6BE3643CEF9A}" srcOrd="2" destOrd="0" presId="urn:microsoft.com/office/officeart/2008/layout/AlternatingHexagons"/>
    <dgm:cxn modelId="{52057CB9-22CB-4C2B-8FB9-74F201F71B0A}" type="presParOf" srcId="{87B31F69-2FE9-48CB-83D6-C845D49C8EEF}" destId="{0259A1C6-AFF5-4BB4-B14A-0690777C565A}" srcOrd="3" destOrd="0" presId="urn:microsoft.com/office/officeart/2008/layout/AlternatingHexagons"/>
    <dgm:cxn modelId="{5E2BFB1A-C33C-4637-9416-2460A2D28AE8}" type="presParOf" srcId="{87B31F69-2FE9-48CB-83D6-C845D49C8EEF}" destId="{842A60DE-9250-45C4-9595-AC6F94C9A628}" srcOrd="4" destOrd="0" presId="urn:microsoft.com/office/officeart/2008/layout/AlternatingHexagons"/>
    <dgm:cxn modelId="{5116F868-03AC-4E9A-87F2-66FA0184ECE8}" type="presParOf" srcId="{34B17AAF-0903-412C-8CA4-3293C3F7D280}" destId="{75B785B5-0AE4-4CAE-9AE5-4B557FA7D2BC}" srcOrd="3" destOrd="0" presId="urn:microsoft.com/office/officeart/2008/layout/AlternatingHexagons"/>
    <dgm:cxn modelId="{1B660DE8-F2F6-4EDB-A311-8CF9E2863CC4}" type="presParOf" srcId="{34B17AAF-0903-412C-8CA4-3293C3F7D280}" destId="{4C2EB0CA-72BE-4954-B78D-47AE2AF0ED8B}" srcOrd="4" destOrd="0" presId="urn:microsoft.com/office/officeart/2008/layout/AlternatingHexagons"/>
    <dgm:cxn modelId="{22F3E95D-C5AB-4C44-BF31-49FC42456DCC}" type="presParOf" srcId="{4C2EB0CA-72BE-4954-B78D-47AE2AF0ED8B}" destId="{BBBB957B-369A-446C-ADEB-CB015778CAC9}" srcOrd="0" destOrd="0" presId="urn:microsoft.com/office/officeart/2008/layout/AlternatingHexagons"/>
    <dgm:cxn modelId="{5BD3A819-8FC6-449D-B5A6-AEC58275F708}" type="presParOf" srcId="{4C2EB0CA-72BE-4954-B78D-47AE2AF0ED8B}" destId="{39E0BC23-E67C-424F-B375-8B082338B338}" srcOrd="1" destOrd="0" presId="urn:microsoft.com/office/officeart/2008/layout/AlternatingHexagons"/>
    <dgm:cxn modelId="{5DE883A5-2B63-4C79-AA6F-86F10191CCDD}" type="presParOf" srcId="{4C2EB0CA-72BE-4954-B78D-47AE2AF0ED8B}" destId="{D0FBE36C-AFE2-42DA-8B60-D90CBEB652D2}" srcOrd="2" destOrd="0" presId="urn:microsoft.com/office/officeart/2008/layout/AlternatingHexagons"/>
    <dgm:cxn modelId="{8E6830BA-CE60-4106-836B-F8CC6D144503}" type="presParOf" srcId="{4C2EB0CA-72BE-4954-B78D-47AE2AF0ED8B}" destId="{B6D816B4-ABAE-4DAB-BF0B-AD2EB6D1A2EC}" srcOrd="3" destOrd="0" presId="urn:microsoft.com/office/officeart/2008/layout/AlternatingHexagons"/>
    <dgm:cxn modelId="{59A476AF-1366-4271-9AD5-1DEFB8FFC654}" type="presParOf" srcId="{4C2EB0CA-72BE-4954-B78D-47AE2AF0ED8B}" destId="{951DA61F-B3AA-4AFD-9AB9-6C4EE6C008B5}" srcOrd="4" destOrd="0" presId="urn:microsoft.com/office/officeart/2008/layout/AlternatingHexagons"/>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25C74-DC83-4998-B34D-7DAC3AB369F8}">
      <dsp:nvSpPr>
        <dsp:cNvPr id="0" name=""/>
        <dsp:cNvSpPr/>
      </dsp:nvSpPr>
      <dsp:spPr>
        <a:xfrm rot="5400000">
          <a:off x="208030" y="320751"/>
          <a:ext cx="136470" cy="118729"/>
        </a:xfrm>
        <a:prstGeom prst="hexagon">
          <a:avLst>
            <a:gd name="adj" fmla="val 25000"/>
            <a:gd name="vf" fmla="val 115470"/>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t> </a:t>
          </a:r>
        </a:p>
      </dsp:txBody>
      <dsp:txXfrm rot="-5400000">
        <a:off x="235402" y="333148"/>
        <a:ext cx="81725" cy="93936"/>
      </dsp:txXfrm>
    </dsp:sp>
    <dsp:sp modelId="{7046B30B-0653-4AFC-8098-8762F63972A4}">
      <dsp:nvSpPr>
        <dsp:cNvPr id="0" name=""/>
        <dsp:cNvSpPr/>
      </dsp:nvSpPr>
      <dsp:spPr>
        <a:xfrm>
          <a:off x="339233" y="339175"/>
          <a:ext cx="152301" cy="81882"/>
        </a:xfrm>
        <a:prstGeom prst="rect">
          <a:avLst/>
        </a:prstGeom>
        <a:noFill/>
        <a:ln>
          <a:noFill/>
        </a:ln>
        <a:effectLst/>
      </dsp:spPr>
      <dsp:style>
        <a:lnRef idx="0">
          <a:scrgbClr r="0" g="0" b="0"/>
        </a:lnRef>
        <a:fillRef idx="0">
          <a:scrgbClr r="0" g="0" b="0"/>
        </a:fillRef>
        <a:effectRef idx="0">
          <a:scrgbClr r="0" g="0" b="0"/>
        </a:effectRef>
        <a:fontRef idx="minor"/>
      </dsp:style>
    </dsp:sp>
    <dsp:sp modelId="{B16D6A96-B9AE-4678-A2FD-50B3A37DEB31}">
      <dsp:nvSpPr>
        <dsp:cNvPr id="0" name=""/>
        <dsp:cNvSpPr/>
      </dsp:nvSpPr>
      <dsp:spPr>
        <a:xfrm rot="5400000">
          <a:off x="80512" y="323466"/>
          <a:ext cx="136470" cy="118729"/>
        </a:xfrm>
        <a:prstGeom prst="hexagon">
          <a:avLst>
            <a:gd name="adj" fmla="val 25000"/>
            <a:gd name="vf" fmla="val 115470"/>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107884" y="335863"/>
        <a:ext cx="81725" cy="93936"/>
      </dsp:txXfrm>
    </dsp:sp>
    <dsp:sp modelId="{A7A3D1B1-7BDC-416F-A982-5A54988BA72F}">
      <dsp:nvSpPr>
        <dsp:cNvPr id="0" name=""/>
        <dsp:cNvSpPr/>
      </dsp:nvSpPr>
      <dsp:spPr>
        <a:xfrm rot="5400000">
          <a:off x="29119" y="429519"/>
          <a:ext cx="136470" cy="118729"/>
        </a:xfrm>
        <a:prstGeom prst="hexagon">
          <a:avLst>
            <a:gd name="adj" fmla="val 2500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5400000">
        <a:off x="56491" y="441916"/>
        <a:ext cx="81725" cy="93936"/>
      </dsp:txXfrm>
    </dsp:sp>
    <dsp:sp modelId="{708A74DF-1CD1-445E-B2AC-D5A19C3FED6E}">
      <dsp:nvSpPr>
        <dsp:cNvPr id="0" name=""/>
        <dsp:cNvSpPr/>
      </dsp:nvSpPr>
      <dsp:spPr>
        <a:xfrm>
          <a:off x="240" y="458134"/>
          <a:ext cx="147388" cy="75637"/>
        </a:xfrm>
        <a:prstGeom prst="rect">
          <a:avLst/>
        </a:prstGeom>
        <a:noFill/>
        <a:ln>
          <a:noFill/>
        </a:ln>
        <a:effectLst/>
      </dsp:spPr>
      <dsp:style>
        <a:lnRef idx="0">
          <a:scrgbClr r="0" g="0" b="0"/>
        </a:lnRef>
        <a:fillRef idx="0">
          <a:scrgbClr r="0" g="0" b="0"/>
        </a:fillRef>
        <a:effectRef idx="0">
          <a:scrgbClr r="0" g="0" b="0"/>
        </a:effectRef>
        <a:fontRef idx="minor"/>
      </dsp:style>
    </dsp:sp>
    <dsp:sp modelId="{842A60DE-9250-45C4-9595-AC6F94C9A628}">
      <dsp:nvSpPr>
        <dsp:cNvPr id="0" name=""/>
        <dsp:cNvSpPr/>
      </dsp:nvSpPr>
      <dsp:spPr>
        <a:xfrm rot="5400000">
          <a:off x="272889" y="436958"/>
          <a:ext cx="136470" cy="118729"/>
        </a:xfrm>
        <a:prstGeom prst="hexagon">
          <a:avLst>
            <a:gd name="adj" fmla="val 25000"/>
            <a:gd name="vf" fmla="val 115470"/>
          </a:avLst>
        </a:prstGeom>
        <a:solidFill>
          <a:schemeClr val="accent1">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300261" y="449355"/>
        <a:ext cx="81725" cy="93936"/>
      </dsp:txXfrm>
    </dsp:sp>
    <dsp:sp modelId="{BBBB957B-369A-446C-ADEB-CB015778CAC9}">
      <dsp:nvSpPr>
        <dsp:cNvPr id="0" name=""/>
        <dsp:cNvSpPr/>
      </dsp:nvSpPr>
      <dsp:spPr>
        <a:xfrm rot="5400000">
          <a:off x="226596" y="544814"/>
          <a:ext cx="136470" cy="118729"/>
        </a:xfrm>
        <a:prstGeom prst="hexagon">
          <a:avLst>
            <a:gd name="adj" fmla="val 2500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5400000">
        <a:off x="253968" y="557211"/>
        <a:ext cx="81725" cy="93936"/>
      </dsp:txXfrm>
    </dsp:sp>
    <dsp:sp modelId="{39E0BC23-E67C-424F-B375-8B082338B338}">
      <dsp:nvSpPr>
        <dsp:cNvPr id="0" name=""/>
        <dsp:cNvSpPr/>
      </dsp:nvSpPr>
      <dsp:spPr>
        <a:xfrm>
          <a:off x="339233" y="570848"/>
          <a:ext cx="152301" cy="81882"/>
        </a:xfrm>
        <a:prstGeom prst="rect">
          <a:avLst/>
        </a:prstGeom>
        <a:noFill/>
        <a:ln>
          <a:noFill/>
        </a:ln>
        <a:effectLst/>
      </dsp:spPr>
      <dsp:style>
        <a:lnRef idx="0">
          <a:scrgbClr r="0" g="0" b="0"/>
        </a:lnRef>
        <a:fillRef idx="0">
          <a:scrgbClr r="0" g="0" b="0"/>
        </a:fillRef>
        <a:effectRef idx="0">
          <a:scrgbClr r="0" g="0" b="0"/>
        </a:effectRef>
        <a:fontRef idx="minor"/>
      </dsp:style>
    </dsp:sp>
    <dsp:sp modelId="{951DA61F-B3AA-4AFD-9AB9-6C4EE6C008B5}">
      <dsp:nvSpPr>
        <dsp:cNvPr id="0" name=""/>
        <dsp:cNvSpPr/>
      </dsp:nvSpPr>
      <dsp:spPr>
        <a:xfrm rot="5400000">
          <a:off x="80792" y="552794"/>
          <a:ext cx="136470" cy="118729"/>
        </a:xfrm>
        <a:prstGeom prst="hexagon">
          <a:avLst>
            <a:gd name="adj" fmla="val 2500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108164" y="565191"/>
        <a:ext cx="81725" cy="939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25C74-DC83-4998-B34D-7DAC3AB369F8}">
      <dsp:nvSpPr>
        <dsp:cNvPr id="0" name=""/>
        <dsp:cNvSpPr/>
      </dsp:nvSpPr>
      <dsp:spPr>
        <a:xfrm rot="5400000">
          <a:off x="188290" y="242450"/>
          <a:ext cx="123520" cy="107463"/>
        </a:xfrm>
        <a:prstGeom prst="hexagon">
          <a:avLst>
            <a:gd name="adj" fmla="val 25000"/>
            <a:gd name="vf" fmla="val 115470"/>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t> </a:t>
          </a:r>
        </a:p>
      </dsp:txBody>
      <dsp:txXfrm rot="-5400000">
        <a:off x="213064" y="253671"/>
        <a:ext cx="73971" cy="85022"/>
      </dsp:txXfrm>
    </dsp:sp>
    <dsp:sp modelId="{7046B30B-0653-4AFC-8098-8762F63972A4}">
      <dsp:nvSpPr>
        <dsp:cNvPr id="0" name=""/>
        <dsp:cNvSpPr/>
      </dsp:nvSpPr>
      <dsp:spPr>
        <a:xfrm>
          <a:off x="307043" y="259125"/>
          <a:ext cx="137849" cy="74112"/>
        </a:xfrm>
        <a:prstGeom prst="rect">
          <a:avLst/>
        </a:prstGeom>
        <a:noFill/>
        <a:ln>
          <a:noFill/>
        </a:ln>
        <a:effectLst/>
      </dsp:spPr>
      <dsp:style>
        <a:lnRef idx="0">
          <a:scrgbClr r="0" g="0" b="0"/>
        </a:lnRef>
        <a:fillRef idx="0">
          <a:scrgbClr r="0" g="0" b="0"/>
        </a:fillRef>
        <a:effectRef idx="0">
          <a:scrgbClr r="0" g="0" b="0"/>
        </a:effectRef>
        <a:fontRef idx="minor"/>
      </dsp:style>
    </dsp:sp>
    <dsp:sp modelId="{B16D6A96-B9AE-4678-A2FD-50B3A37DEB31}">
      <dsp:nvSpPr>
        <dsp:cNvPr id="0" name=""/>
        <dsp:cNvSpPr/>
      </dsp:nvSpPr>
      <dsp:spPr>
        <a:xfrm rot="5400000">
          <a:off x="72872" y="244907"/>
          <a:ext cx="123520" cy="107463"/>
        </a:xfrm>
        <a:prstGeom prst="hexagon">
          <a:avLst>
            <a:gd name="adj" fmla="val 25000"/>
            <a:gd name="vf" fmla="val 115470"/>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7646" y="256128"/>
        <a:ext cx="73971" cy="85022"/>
      </dsp:txXfrm>
    </dsp:sp>
    <dsp:sp modelId="{A7A3D1B1-7BDC-416F-A982-5A54988BA72F}">
      <dsp:nvSpPr>
        <dsp:cNvPr id="0" name=""/>
        <dsp:cNvSpPr/>
      </dsp:nvSpPr>
      <dsp:spPr>
        <a:xfrm rot="5400000">
          <a:off x="26356" y="340896"/>
          <a:ext cx="123520" cy="107463"/>
        </a:xfrm>
        <a:prstGeom prst="hexagon">
          <a:avLst>
            <a:gd name="adj" fmla="val 2500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5400000">
        <a:off x="51130" y="352117"/>
        <a:ext cx="73971" cy="85022"/>
      </dsp:txXfrm>
    </dsp:sp>
    <dsp:sp modelId="{708A74DF-1CD1-445E-B2AC-D5A19C3FED6E}">
      <dsp:nvSpPr>
        <dsp:cNvPr id="0" name=""/>
        <dsp:cNvSpPr/>
      </dsp:nvSpPr>
      <dsp:spPr>
        <a:xfrm>
          <a:off x="217" y="366796"/>
          <a:ext cx="133402" cy="68459"/>
        </a:xfrm>
        <a:prstGeom prst="rect">
          <a:avLst/>
        </a:prstGeom>
        <a:noFill/>
        <a:ln>
          <a:noFill/>
        </a:ln>
        <a:effectLst/>
      </dsp:spPr>
      <dsp:style>
        <a:lnRef idx="0">
          <a:scrgbClr r="0" g="0" b="0"/>
        </a:lnRef>
        <a:fillRef idx="0">
          <a:scrgbClr r="0" g="0" b="0"/>
        </a:fillRef>
        <a:effectRef idx="0">
          <a:scrgbClr r="0" g="0" b="0"/>
        </a:effectRef>
        <a:fontRef idx="minor"/>
      </dsp:style>
    </dsp:sp>
    <dsp:sp modelId="{842A60DE-9250-45C4-9595-AC6F94C9A628}">
      <dsp:nvSpPr>
        <dsp:cNvPr id="0" name=""/>
        <dsp:cNvSpPr/>
      </dsp:nvSpPr>
      <dsp:spPr>
        <a:xfrm rot="5400000">
          <a:off x="246994" y="347629"/>
          <a:ext cx="123520" cy="107463"/>
        </a:xfrm>
        <a:prstGeom prst="hexagon">
          <a:avLst>
            <a:gd name="adj" fmla="val 25000"/>
            <a:gd name="vf" fmla="val 115470"/>
          </a:avLst>
        </a:prstGeom>
        <a:solidFill>
          <a:schemeClr val="accent1">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271768" y="358850"/>
        <a:ext cx="73971" cy="85022"/>
      </dsp:txXfrm>
    </dsp:sp>
    <dsp:sp modelId="{BBBB957B-369A-446C-ADEB-CB015778CAC9}">
      <dsp:nvSpPr>
        <dsp:cNvPr id="0" name=""/>
        <dsp:cNvSpPr/>
      </dsp:nvSpPr>
      <dsp:spPr>
        <a:xfrm rot="5400000">
          <a:off x="205094" y="445251"/>
          <a:ext cx="123520" cy="107463"/>
        </a:xfrm>
        <a:prstGeom prst="hexagon">
          <a:avLst>
            <a:gd name="adj" fmla="val 2500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5400000">
        <a:off x="229868" y="456472"/>
        <a:ext cx="73971" cy="85022"/>
      </dsp:txXfrm>
    </dsp:sp>
    <dsp:sp modelId="{39E0BC23-E67C-424F-B375-8B082338B338}">
      <dsp:nvSpPr>
        <dsp:cNvPr id="0" name=""/>
        <dsp:cNvSpPr/>
      </dsp:nvSpPr>
      <dsp:spPr>
        <a:xfrm>
          <a:off x="307043" y="468814"/>
          <a:ext cx="137849" cy="74112"/>
        </a:xfrm>
        <a:prstGeom prst="rect">
          <a:avLst/>
        </a:prstGeom>
        <a:noFill/>
        <a:ln>
          <a:noFill/>
        </a:ln>
        <a:effectLst/>
      </dsp:spPr>
      <dsp:style>
        <a:lnRef idx="0">
          <a:scrgbClr r="0" g="0" b="0"/>
        </a:lnRef>
        <a:fillRef idx="0">
          <a:scrgbClr r="0" g="0" b="0"/>
        </a:fillRef>
        <a:effectRef idx="0">
          <a:scrgbClr r="0" g="0" b="0"/>
        </a:effectRef>
        <a:fontRef idx="minor"/>
      </dsp:style>
    </dsp:sp>
    <dsp:sp modelId="{951DA61F-B3AA-4AFD-9AB9-6C4EE6C008B5}">
      <dsp:nvSpPr>
        <dsp:cNvPr id="0" name=""/>
        <dsp:cNvSpPr/>
      </dsp:nvSpPr>
      <dsp:spPr>
        <a:xfrm rot="5400000">
          <a:off x="73126" y="452474"/>
          <a:ext cx="123520" cy="107463"/>
        </a:xfrm>
        <a:prstGeom prst="hexagon">
          <a:avLst>
            <a:gd name="adj" fmla="val 2500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7900" y="463695"/>
        <a:ext cx="73971" cy="85022"/>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AE4996-1C8A-4A6B-9CAD-7FD21AFFE8B6}" type="datetimeFigureOut">
              <a:rPr lang="en-IN" smtClean="0"/>
              <a:t>18-11-2025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38D7D-ACC0-4B9F-B965-C0B791970C05}" type="slidenum">
              <a:rPr lang="en-IN" smtClean="0"/>
              <a:t>‹#›</a:t>
            </a:fld>
            <a:endParaRPr lang="en-IN"/>
          </a:p>
        </p:txBody>
      </p:sp>
    </p:spTree>
    <p:extLst>
      <p:ext uri="{BB962C8B-B14F-4D97-AF65-F5344CB8AC3E}">
        <p14:creationId xmlns:p14="http://schemas.microsoft.com/office/powerpoint/2010/main" val="92321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3.emf"/><Relationship Id="rId4" Type="http://schemas.openxmlformats.org/officeDocument/2006/relationships/oleObject" Target="../embeddings/oleObject7.bin"/></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emf"/><Relationship Id="rId4" Type="http://schemas.openxmlformats.org/officeDocument/2006/relationships/oleObject" Target="../embeddings/oleObject9.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emf"/><Relationship Id="rId4" Type="http://schemas.openxmlformats.org/officeDocument/2006/relationships/oleObject" Target="../embeddings/oleObject12.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3.emf"/><Relationship Id="rId4" Type="http://schemas.openxmlformats.org/officeDocument/2006/relationships/oleObject" Target="../embeddings/oleObject13.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3.emf"/><Relationship Id="rId4" Type="http://schemas.openxmlformats.org/officeDocument/2006/relationships/oleObject" Target="../embeddings/oleObject14.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emf"/><Relationship Id="rId4" Type="http://schemas.openxmlformats.org/officeDocument/2006/relationships/oleObject" Target="../embeddings/oleObject15.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emf"/><Relationship Id="rId4" Type="http://schemas.openxmlformats.org/officeDocument/2006/relationships/oleObject" Target="../embeddings/oleObject16.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oleObject" Target="../embeddings/oleObject17.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3.emf"/><Relationship Id="rId4" Type="http://schemas.openxmlformats.org/officeDocument/2006/relationships/oleObject" Target="../embeddings/oleObject18.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3.emf"/><Relationship Id="rId4" Type="http://schemas.openxmlformats.org/officeDocument/2006/relationships/oleObject" Target="../embeddings/oleObject19.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3.emf"/><Relationship Id="rId4" Type="http://schemas.openxmlformats.org/officeDocument/2006/relationships/oleObject" Target="../embeddings/oleObject20.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3.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3.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3.emf"/><Relationship Id="rId4" Type="http://schemas.openxmlformats.org/officeDocument/2006/relationships/oleObject" Target="../embeddings/oleObject23.bin"/></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3.emf"/><Relationship Id="rId4" Type="http://schemas.openxmlformats.org/officeDocument/2006/relationships/oleObject" Target="../embeddings/oleObject24.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3.emf"/><Relationship Id="rId4" Type="http://schemas.openxmlformats.org/officeDocument/2006/relationships/oleObject" Target="../embeddings/oleObject25.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3.emf"/><Relationship Id="rId4" Type="http://schemas.openxmlformats.org/officeDocument/2006/relationships/oleObject" Target="../embeddings/oleObject26.bin"/></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3.emf"/><Relationship Id="rId4" Type="http://schemas.openxmlformats.org/officeDocument/2006/relationships/oleObject" Target="../embeddings/oleObject27.bin"/></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28.bin"/></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3.emf"/><Relationship Id="rId4" Type="http://schemas.openxmlformats.org/officeDocument/2006/relationships/oleObject" Target="../embeddings/oleObject29.bin"/></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3.emf"/><Relationship Id="rId4" Type="http://schemas.openxmlformats.org/officeDocument/2006/relationships/oleObject" Target="../embeddings/oleObject30.bin"/></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3.emf"/><Relationship Id="rId4" Type="http://schemas.openxmlformats.org/officeDocument/2006/relationships/oleObject" Target="../embeddings/oleObject31.bin"/></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2.xml"/><Relationship Id="rId1" Type="http://schemas.openxmlformats.org/officeDocument/2006/relationships/tags" Target="../tags/tag60.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3CC2E-FE6F-B45D-DBAD-8A759CDC9D3D}"/>
              </a:ext>
            </a:extLst>
          </p:cNvPr>
          <p:cNvSpPr>
            <a:spLocks noGrp="1"/>
          </p:cNvSpPr>
          <p:nvPr>
            <p:ph type="dt" sz="half" idx="10"/>
          </p:nvPr>
        </p:nvSpPr>
        <p:spPr>
          <a:xfrm>
            <a:off x="838200" y="6356350"/>
            <a:ext cx="2743200" cy="365125"/>
          </a:xfrm>
          <a:prstGeom prst="rect">
            <a:avLst/>
          </a:prstGeom>
        </p:spPr>
        <p:txBody>
          <a:bodyPr/>
          <a:lstStyle/>
          <a:p>
            <a:fld id="{F33E12A3-D36B-49D5-8DCD-46C8ADC1E372}" type="datetimeFigureOut">
              <a:rPr lang="en-IN" smtClean="0"/>
              <a:t>18-11-2025</a:t>
            </a:fld>
            <a:endParaRPr lang="en-IN"/>
          </a:p>
        </p:txBody>
      </p:sp>
      <p:sp>
        <p:nvSpPr>
          <p:cNvPr id="3" name="Footer Placeholder 2">
            <a:extLst>
              <a:ext uri="{FF2B5EF4-FFF2-40B4-BE49-F238E27FC236}">
                <a16:creationId xmlns:a16="http://schemas.microsoft.com/office/drawing/2014/main" id="{8286CDC3-4752-56B3-6827-59355C92AD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F43C3F-97DD-DAC8-8E2F-8722B5A7DA50}"/>
              </a:ext>
            </a:extLst>
          </p:cNvPr>
          <p:cNvSpPr>
            <a:spLocks noGrp="1"/>
          </p:cNvSpPr>
          <p:nvPr>
            <p:ph type="sldNum" sz="quarter" idx="12"/>
          </p:nvPr>
        </p:nvSpPr>
        <p:spPr/>
        <p:txBody>
          <a:bodyPr/>
          <a:lstStyle/>
          <a:p>
            <a:fld id="{812098A8-8827-420C-8657-4C3FF8E997CF}" type="slidenum">
              <a:rPr lang="en-IN" smtClean="0"/>
              <a:t>‹#›</a:t>
            </a:fld>
            <a:endParaRPr lang="en-IN"/>
          </a:p>
        </p:txBody>
      </p:sp>
    </p:spTree>
    <p:extLst>
      <p:ext uri="{BB962C8B-B14F-4D97-AF65-F5344CB8AC3E}">
        <p14:creationId xmlns:p14="http://schemas.microsoft.com/office/powerpoint/2010/main" val="4107710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ubhead, Breadcrumb">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469900" y="351128"/>
            <a:ext cx="11252200" cy="173038"/>
          </a:xfrm>
        </p:spPr>
        <p:txBody>
          <a:bodyPr anchor="b"/>
          <a:lstStyle>
            <a:lvl1pPr>
              <a:defRPr sz="900" b="1" cap="all" baseline="0">
                <a:solidFill>
                  <a:schemeClr val="bg1">
                    <a:lumMod val="65000"/>
                  </a:schemeClr>
                </a:solidFill>
              </a:defRPr>
            </a:lvl1pPr>
          </a:lstStyle>
          <a:p>
            <a:pPr lvl="0"/>
            <a:r>
              <a:rPr lang="en-US"/>
              <a:t>CLICK TO EDIT BREADCRUMB</a:t>
            </a:r>
          </a:p>
        </p:txBody>
      </p:sp>
      <p:sp>
        <p:nvSpPr>
          <p:cNvPr id="6" name="Text Placeholder 8">
            <a:extLst>
              <a:ext uri="{FF2B5EF4-FFF2-40B4-BE49-F238E27FC236}">
                <a16:creationId xmlns:a16="http://schemas.microsoft.com/office/drawing/2014/main" id="{97460AE7-C41F-B742-A869-5900E2154F01}"/>
              </a:ext>
            </a:extLst>
          </p:cNvPr>
          <p:cNvSpPr>
            <a:spLocks noGrp="1"/>
          </p:cNvSpPr>
          <p:nvPr>
            <p:ph type="body" sz="quarter" idx="14"/>
          </p:nvPr>
        </p:nvSpPr>
        <p:spPr>
          <a:xfrm>
            <a:off x="469900" y="1056705"/>
            <a:ext cx="11252200" cy="392111"/>
          </a:xfrm>
        </p:spPr>
        <p:txBody>
          <a:bodyPr vert="horz" lIns="0" tIns="0" rIns="0" bIns="0" rtlCol="0">
            <a:noAutofit/>
          </a:bodyPr>
          <a:lstStyle>
            <a:lvl1pPr marL="0" indent="0">
              <a:buNone/>
              <a:defRPr lang="en-US"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Edit Master text styles</a:t>
            </a:r>
          </a:p>
        </p:txBody>
      </p:sp>
      <p:sp>
        <p:nvSpPr>
          <p:cNvPr id="2" name="Title 1">
            <a:extLst>
              <a:ext uri="{FF2B5EF4-FFF2-40B4-BE49-F238E27FC236}">
                <a16:creationId xmlns:a16="http://schemas.microsoft.com/office/drawing/2014/main" id="{37BC4F21-2CD2-3348-8807-9BA6F256509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9501876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2119" y="1590"/>
                        <a:ext cx="2116" cy="1587"/>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950" b="1">
                <a:solidFill>
                  <a:schemeClr val="bg1"/>
                </a:solidFill>
              </a:defRPr>
            </a:lvl1pPr>
            <a:lvl2pPr marL="0" marR="0" indent="0" algn="l" defTabSz="990570" rtl="0" eaLnBrk="1" fontAlgn="auto" latinLnBrk="0" hangingPunct="1">
              <a:lnSpc>
                <a:spcPct val="100000"/>
              </a:lnSpc>
              <a:spcBef>
                <a:spcPts val="0"/>
              </a:spcBef>
              <a:spcAft>
                <a:spcPts val="0"/>
              </a:spcAft>
              <a:buClrTx/>
              <a:buSzPct val="100000"/>
              <a:buFont typeface="Arial"/>
              <a:buNone/>
              <a:tabLst/>
              <a:defRPr sz="1733" b="0">
                <a:solidFill>
                  <a:schemeClr val="bg1"/>
                </a:solidFill>
              </a:defRPr>
            </a:lvl2pPr>
            <a:lvl3pPr marL="0" indent="0" algn="l">
              <a:spcAft>
                <a:spcPts val="0"/>
              </a:spcAft>
              <a:buNone/>
              <a:defRPr sz="1733">
                <a:solidFill>
                  <a:schemeClr val="bg1"/>
                </a:solidFill>
              </a:defRPr>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a:t>Click to edit Master title style</a:t>
            </a:r>
          </a:p>
          <a:p>
            <a:pPr marL="0" marR="0" lvl="1" indent="0" algn="l" defTabSz="990570"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1767899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1950" b="1">
                <a:solidFill>
                  <a:schemeClr val="tx1"/>
                </a:solidFill>
              </a:defRPr>
            </a:lvl1pPr>
            <a:lvl2pPr marL="0" indent="0" algn="l">
              <a:buNone/>
              <a:defRPr sz="1733" b="0"/>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40299159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4"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955" y="1589"/>
                        <a:ext cx="1953" cy="1587"/>
                      </a:xfrm>
                      <a:prstGeom prst="rect">
                        <a:avLst/>
                      </a:prstGeom>
                    </p:spPr>
                  </p:pic>
                </p:oleObj>
              </mc:Fallback>
            </mc:AlternateContent>
          </a:graphicData>
        </a:graphic>
      </p:graphicFrame>
      <p:sp>
        <p:nvSpPr>
          <p:cNvPr id="6" name="Rectangle 5"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ts val="4550"/>
              </a:lnSpc>
              <a:spcBef>
                <a:spcPct val="0"/>
              </a:spcBef>
              <a:spcAft>
                <a:spcPct val="0"/>
              </a:spcAft>
              <a:buFont typeface="Wingdings 2" pitchFamily="18" charset="2"/>
              <a:buNone/>
            </a:pPr>
            <a:endParaRPr lang="en-US" sz="3900" b="0" i="0" baseline="0">
              <a:solidFill>
                <a:schemeClr val="bg1"/>
              </a:solidFill>
              <a:latin typeface="Verdana" panose="020B0604030504040204" pitchFamily="34" charset="0"/>
              <a:sym typeface="Verdana" panose="020B0604030504040204" pitchFamily="34" charset="0"/>
            </a:endParaRPr>
          </a:p>
        </p:txBody>
      </p:sp>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550"/>
              </a:lnSpc>
              <a:defRPr sz="39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733">
                <a:solidFill>
                  <a:schemeClr val="bg1"/>
                </a:solidFill>
              </a:defRPr>
            </a:lvl1pPr>
            <a:lvl2pPr marL="495285" indent="0" algn="ctr">
              <a:buNone/>
              <a:defRPr sz="2167"/>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a:t>Click to edit Master subtitle style</a:t>
            </a:r>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9597400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6" name="Rectangle 5"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ts val="4550"/>
              </a:lnSpc>
              <a:spcBef>
                <a:spcPct val="0"/>
              </a:spcBef>
              <a:spcAft>
                <a:spcPct val="0"/>
              </a:spcAft>
              <a:buFont typeface="Wingdings 2" pitchFamily="18" charset="2"/>
              <a:buNone/>
            </a:pPr>
            <a:endParaRPr lang="en-US" sz="3900" b="0" i="0" baseline="0">
              <a:solidFill>
                <a:schemeClr val="bg1"/>
              </a:solidFill>
              <a:latin typeface="Verdana" panose="020B0604030504040204" pitchFamily="34" charset="0"/>
              <a:sym typeface="Verdana" panose="020B0604030504040204" pitchFamily="34" charset="0"/>
            </a:endParaRPr>
          </a:p>
        </p:txBody>
      </p:sp>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550"/>
              </a:lnSpc>
              <a:defRPr sz="39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1733">
                <a:solidFill>
                  <a:schemeClr val="tx1"/>
                </a:solidFill>
              </a:defRPr>
            </a:lvl1pPr>
            <a:lvl2pPr marL="495285" indent="0" algn="ctr">
              <a:buNone/>
              <a:defRPr sz="2167"/>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noProof="0"/>
              <a:t>Click to edit Master subtitle style</a:t>
            </a:r>
          </a:p>
        </p:txBody>
      </p:sp>
      <p:sp>
        <p:nvSpPr>
          <p:cNvPr id="5" name="Text Placeholder 4"/>
          <p:cNvSpPr>
            <a:spLocks noGrp="1"/>
          </p:cNvSpPr>
          <p:nvPr>
            <p:ph type="body" sz="quarter" idx="10"/>
          </p:nvPr>
        </p:nvSpPr>
        <p:spPr>
          <a:xfrm>
            <a:off x="501651" y="6381750"/>
            <a:ext cx="5594350" cy="298450"/>
          </a:xfrm>
          <a:prstGeom prst="rect">
            <a:avLst/>
          </a:prstGeom>
        </p:spPr>
        <p:txBody>
          <a:bodyPr/>
          <a:lstStyle>
            <a:lvl1pPr>
              <a:spcAft>
                <a:spcPts val="0"/>
              </a:spcAft>
              <a:defRPr sz="108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54454568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5" name="Rectangle 4"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95000"/>
              </a:lnSpc>
              <a:spcBef>
                <a:spcPct val="0"/>
              </a:spcBef>
              <a:spcAft>
                <a:spcPct val="0"/>
              </a:spcAft>
              <a:buFont typeface="Wingdings 2" pitchFamily="18" charset="2"/>
              <a:buNone/>
            </a:pPr>
            <a:endParaRPr lang="en-US" sz="3850" b="1" i="0" baseline="0">
              <a:solidFill>
                <a:schemeClr val="bg1"/>
              </a:solidFill>
              <a:latin typeface="Verdana" panose="020B0604030504040204" pitchFamily="34" charset="0"/>
              <a:sym typeface="Verdana" panose="020B0604030504040204" pitchFamily="34" charset="0"/>
            </a:endParaRPr>
          </a:p>
        </p:txBody>
      </p:sp>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a:solidFill>
                  <a:schemeClr val="bg1"/>
                </a:solidFill>
              </a:rPr>
              <a:t>© 2024 Deloitte Touche Tohmatsu India LLP</a:t>
            </a:r>
          </a:p>
        </p:txBody>
      </p:sp>
      <p:sp>
        <p:nvSpPr>
          <p:cNvPr id="11" name="TextBox 10"/>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a:solidFill>
                <a:schemeClr val="bg1"/>
              </a:solidFill>
            </a:endParaRPr>
          </a:p>
        </p:txBody>
      </p:sp>
    </p:spTree>
    <p:extLst>
      <p:ext uri="{BB962C8B-B14F-4D97-AF65-F5344CB8AC3E}">
        <p14:creationId xmlns:p14="http://schemas.microsoft.com/office/powerpoint/2010/main" val="30903312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5" name="Rectangle 4"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95000"/>
              </a:lnSpc>
              <a:spcBef>
                <a:spcPct val="0"/>
              </a:spcBef>
              <a:spcAft>
                <a:spcPct val="0"/>
              </a:spcAft>
              <a:buFont typeface="Wingdings 2" pitchFamily="18" charset="2"/>
              <a:buNone/>
            </a:pPr>
            <a:endParaRPr lang="en-US" sz="3850" b="1" i="0" baseline="0">
              <a:solidFill>
                <a:schemeClr val="bg1"/>
              </a:solidFill>
              <a:latin typeface="Verdana" panose="020B0604030504040204" pitchFamily="34" charset="0"/>
              <a:sym typeface="Verdana" panose="020B0604030504040204" pitchFamily="34" charset="0"/>
            </a:endParaRPr>
          </a:p>
        </p:txBody>
      </p:sp>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tx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3126136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4" name="Text Placeholder 3"/>
          <p:cNvSpPr>
            <a:spLocks noGrp="1"/>
          </p:cNvSpPr>
          <p:nvPr>
            <p:ph type="body" sz="quarter" idx="10"/>
          </p:nvPr>
        </p:nvSpPr>
        <p:spPr>
          <a:xfrm>
            <a:off x="501650" y="1628776"/>
            <a:ext cx="9277349" cy="4752975"/>
          </a:xfrm>
          <a:prstGeom prst="rect">
            <a:avLst/>
          </a:prstGeom>
        </p:spPr>
        <p:txBody>
          <a:bodyPr>
            <a:noAutofit/>
          </a:bodyPr>
          <a:lstStyle>
            <a:lvl1pPr>
              <a:spcBef>
                <a:spcPts val="3900"/>
              </a:spcBef>
              <a:defRPr sz="3033">
                <a:solidFill>
                  <a:schemeClr val="tx1"/>
                </a:solidFill>
              </a:defRPr>
            </a:lvl1pPr>
            <a:lvl2pPr marL="495285" indent="-495285">
              <a:defRPr sz="3250">
                <a:solidFill>
                  <a:schemeClr val="bg2"/>
                </a:solidFill>
              </a:defRPr>
            </a:lvl2pPr>
            <a:lvl3pPr>
              <a:defRPr sz="3250">
                <a:solidFill>
                  <a:schemeClr val="bg2"/>
                </a:solidFill>
              </a:defRPr>
            </a:lvl3pPr>
            <a:lvl4pPr>
              <a:defRPr sz="3250">
                <a:solidFill>
                  <a:schemeClr val="bg2"/>
                </a:solidFill>
              </a:defRPr>
            </a:lvl4pPr>
            <a:lvl5pPr>
              <a:defRPr sz="325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252732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0" y="1665289"/>
            <a:ext cx="9277349" cy="4716463"/>
          </a:xfrm>
          <a:prstGeom prst="rect">
            <a:avLst/>
          </a:prstGeom>
        </p:spPr>
        <p:txBody>
          <a:bodyPr/>
          <a:lstStyle>
            <a:lvl1pPr>
              <a:tabLst>
                <a:tab pos="7289973" algn="r"/>
              </a:tabLst>
              <a:defRPr/>
            </a:lvl1pPr>
            <a:lvl2pPr>
              <a:tabLst>
                <a:tab pos="7289973" algn="r"/>
              </a:tabLst>
              <a:defRPr/>
            </a:lvl2pPr>
            <a:lvl3pPr>
              <a:tabLst>
                <a:tab pos="7289973" algn="r"/>
              </a:tabLst>
              <a:defRPr/>
            </a:lvl3pPr>
            <a:lvl4pPr>
              <a:tabLst>
                <a:tab pos="7289973" algn="r"/>
              </a:tabLst>
              <a:defRPr/>
            </a:lvl4pPr>
            <a:lvl5pPr>
              <a:tabLst>
                <a:tab pos="5448132" algn="r"/>
              </a:tabLst>
              <a:defRPr baseline="0"/>
            </a:lvl5pPr>
            <a:lvl6pPr>
              <a:tabLst>
                <a:tab pos="7289973" algn="r"/>
              </a:tabLst>
              <a:defRPr/>
            </a:lvl6pPr>
            <a:lvl7pPr>
              <a:tabLst>
                <a:tab pos="7289973" algn="r"/>
              </a:tabLst>
              <a:defRPr/>
            </a:lvl7pPr>
            <a:lvl8pPr>
              <a:tabLst>
                <a:tab pos="7289973" algn="r"/>
              </a:tabLst>
              <a:defRPr/>
            </a:lvl8pPr>
            <a:lvl9pPr>
              <a:tabLst>
                <a:tab pos="728997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1"/>
            <a:ext cx="11180233"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6713095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7010031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1"/>
            <a:ext cx="11188700" cy="698500"/>
          </a:xfrm>
        </p:spPr>
        <p:txBody>
          <a:bodyPr/>
          <a:lstStyle/>
          <a:p>
            <a:r>
              <a:rPr lang="en-US" noProof="0"/>
              <a:t>Click to edit Master title style</a:t>
            </a:r>
          </a:p>
        </p:txBody>
      </p:sp>
      <p:sp>
        <p:nvSpPr>
          <p:cNvPr id="14" name="Text Placeholder 18"/>
          <p:cNvSpPr>
            <a:spLocks noGrp="1"/>
          </p:cNvSpPr>
          <p:nvPr>
            <p:ph idx="1"/>
          </p:nvPr>
        </p:nvSpPr>
        <p:spPr>
          <a:xfrm>
            <a:off x="501651" y="1665289"/>
            <a:ext cx="11165417"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5408894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665290"/>
            <a:ext cx="11165417"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1741396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7" cy="4678986"/>
          </a:xfrm>
          <a:prstGeom prst="rect">
            <a:avLst/>
          </a:prstGeom>
        </p:spPr>
        <p:txBody>
          <a:bodyPr vert="horz" lIns="0" tIns="0" rIns="0" bIns="0" rtlCol="0">
            <a:noAutofit/>
          </a:bodyPr>
          <a:lstStyle>
            <a:lvl1pPr>
              <a:defRPr sz="1733"/>
            </a:lvl1pPr>
            <a:lvl2pPr>
              <a:defRPr sz="1733"/>
            </a:lvl2pPr>
            <a:lvl3pPr>
              <a:defRPr sz="1733"/>
            </a:lvl3pPr>
            <a:lvl4pPr>
              <a:defRPr sz="1733"/>
            </a:lvl4pPr>
            <a:lvl5pPr>
              <a:defRPr sz="1733"/>
            </a:lvl5pPr>
            <a:lvl6pPr>
              <a:defRPr sz="1733"/>
            </a:lvl6pPr>
            <a:lvl7pPr>
              <a:defRPr sz="1733"/>
            </a:lvl7pPr>
            <a:lvl8pPr>
              <a:defRPr sz="1733"/>
            </a:lvl8pPr>
            <a:lvl9pPr>
              <a:defRPr sz="17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3407843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2" y="2052001"/>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2" y="6121015"/>
            <a:ext cx="11188700" cy="260737"/>
          </a:xfrm>
        </p:spPr>
        <p:txBody>
          <a:bodyPr>
            <a:noAutofit/>
          </a:bodyPr>
          <a:lstStyle>
            <a:lvl1pPr>
              <a:spcAft>
                <a:spcPts val="0"/>
              </a:spcAft>
              <a:defRPr sz="975"/>
            </a:lvl1pPr>
          </a:lstStyle>
          <a:p>
            <a:pPr lvl="0"/>
            <a:r>
              <a:rPr lang="en-US" noProof="0"/>
              <a:t>Click to edit Master text styles</a:t>
            </a:r>
          </a:p>
        </p:txBody>
      </p:sp>
    </p:spTree>
    <p:extLst>
      <p:ext uri="{BB962C8B-B14F-4D97-AF65-F5344CB8AC3E}">
        <p14:creationId xmlns:p14="http://schemas.microsoft.com/office/powerpoint/2010/main" val="398735997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5" name="Text Placeholder 8"/>
          <p:cNvSpPr>
            <a:spLocks noGrp="1"/>
          </p:cNvSpPr>
          <p:nvPr>
            <p:ph type="body" sz="quarter" idx="13" hasCustomPrompt="1"/>
          </p:nvPr>
        </p:nvSpPr>
        <p:spPr>
          <a:xfrm>
            <a:off x="501652"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50"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5"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6"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50" y="6121015"/>
            <a:ext cx="11165419" cy="260737"/>
          </a:xfrm>
        </p:spPr>
        <p:txBody>
          <a:bodyPr>
            <a:noAutofit/>
          </a:bodyPr>
          <a:lstStyle>
            <a:lvl1pPr>
              <a:spcAft>
                <a:spcPts val="0"/>
              </a:spcAft>
              <a:defRPr sz="975"/>
            </a:lvl1pPr>
          </a:lstStyle>
          <a:p>
            <a:pPr lvl="0"/>
            <a:r>
              <a:rPr lang="en-US" noProof="0"/>
              <a:t>Click to edit Master text styles</a:t>
            </a:r>
          </a:p>
        </p:txBody>
      </p:sp>
    </p:spTree>
    <p:extLst>
      <p:ext uri="{BB962C8B-B14F-4D97-AF65-F5344CB8AC3E}">
        <p14:creationId xmlns:p14="http://schemas.microsoft.com/office/powerpoint/2010/main" val="290418293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1" y="317501"/>
            <a:ext cx="1120267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1" y="651600"/>
            <a:ext cx="1120267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90"/>
            <a:ext cx="5305579" cy="4716461"/>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8" y="1665290"/>
            <a:ext cx="5322782" cy="4716461"/>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4018996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1" y="1665290"/>
            <a:ext cx="5305580" cy="4716461"/>
          </a:xfrm>
          <a:prstGeom prst="rect">
            <a:avLst/>
          </a:prstGeom>
        </p:spPr>
        <p:txBody>
          <a:bodyPr>
            <a:noAutofit/>
          </a:bodyPr>
          <a:lstStyle>
            <a:lvl1pPr>
              <a:tabLst>
                <a:tab pos="5448132" algn="r"/>
              </a:tabLst>
              <a:defRPr sz="1733"/>
            </a:lvl1pPr>
            <a:lvl2pPr>
              <a:tabLst>
                <a:tab pos="5448132" algn="r"/>
              </a:tabLst>
              <a:defRPr sz="1733"/>
            </a:lvl2pPr>
            <a:lvl3pPr>
              <a:tabLst>
                <a:tab pos="5448132" algn="r"/>
              </a:tabLst>
              <a:defRPr sz="1733"/>
            </a:lvl3pPr>
            <a:lvl4pPr>
              <a:tabLst>
                <a:tab pos="5448132" algn="r"/>
              </a:tabLst>
              <a:defRPr sz="1733"/>
            </a:lvl4pPr>
            <a:lvl5pPr>
              <a:tabLst>
                <a:tab pos="5448132" algn="r"/>
              </a:tabLst>
              <a:defRPr baseline="0"/>
            </a:lvl5pPr>
            <a:lvl6pPr>
              <a:defRPr sz="1733"/>
            </a:lvl6pPr>
            <a:lvl7pPr>
              <a:defRPr sz="1733"/>
            </a:lvl7pPr>
            <a:lvl8pPr>
              <a:defRPr sz="1733"/>
            </a:lvl8pPr>
            <a:lvl9pPr>
              <a:defRPr sz="17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90"/>
            <a:ext cx="5306351" cy="4716461"/>
          </a:xfrm>
          <a:prstGeom prst="rect">
            <a:avLst/>
          </a:prstGeom>
        </p:spPr>
        <p:txBody>
          <a:bodyPr>
            <a:noAutofit/>
          </a:bodyPr>
          <a:lstStyle>
            <a:lvl1pPr>
              <a:tabLst>
                <a:tab pos="5448132" algn="r"/>
              </a:tabLst>
              <a:defRPr sz="1733"/>
            </a:lvl1pPr>
            <a:lvl2pPr>
              <a:tabLst>
                <a:tab pos="5448132" algn="r"/>
              </a:tabLst>
              <a:defRPr sz="1733"/>
            </a:lvl2pPr>
            <a:lvl3pPr>
              <a:tabLst>
                <a:tab pos="5448132" algn="r"/>
              </a:tabLst>
              <a:defRPr sz="1733"/>
            </a:lvl3pPr>
            <a:lvl4pPr>
              <a:tabLst>
                <a:tab pos="5448132" algn="r"/>
              </a:tabLst>
              <a:defRPr sz="1733"/>
            </a:lvl4pPr>
            <a:lvl5pPr>
              <a:tabLst>
                <a:tab pos="5448132" algn="r"/>
              </a:tabLst>
              <a:defRPr baseline="0"/>
            </a:lvl5pPr>
            <a:lvl6pPr>
              <a:defRPr sz="1733"/>
            </a:lvl6pPr>
            <a:lvl7pPr>
              <a:defRPr sz="1733"/>
            </a:lvl7pPr>
            <a:lvl8pPr>
              <a:defRPr sz="1733"/>
            </a:lvl8pPr>
            <a:lvl9pPr>
              <a:defRPr sz="17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4182780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0" name="Content Placeholder 3"/>
          <p:cNvSpPr>
            <a:spLocks noGrp="1"/>
          </p:cNvSpPr>
          <p:nvPr>
            <p:ph sz="quarter" idx="10"/>
          </p:nvPr>
        </p:nvSpPr>
        <p:spPr>
          <a:xfrm>
            <a:off x="501651" y="1665290"/>
            <a:ext cx="5355166" cy="4455725"/>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5"/>
            <a:ext cx="11188700" cy="260737"/>
          </a:xfrm>
        </p:spPr>
        <p:txBody>
          <a:bodyPr>
            <a:normAutofit/>
          </a:bodyPr>
          <a:lstStyle>
            <a:lvl1pPr>
              <a:spcAft>
                <a:spcPts val="0"/>
              </a:spcAft>
              <a:defRPr sz="975"/>
            </a:lvl1pPr>
          </a:lstStyle>
          <a:p>
            <a:pPr lvl="0"/>
            <a:r>
              <a:rPr lang="en-US" noProof="0"/>
              <a:t>Click to edit Master text styles</a:t>
            </a:r>
          </a:p>
        </p:txBody>
      </p:sp>
    </p:spTree>
    <p:extLst>
      <p:ext uri="{BB962C8B-B14F-4D97-AF65-F5344CB8AC3E}">
        <p14:creationId xmlns:p14="http://schemas.microsoft.com/office/powerpoint/2010/main" val="19373653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3" name="Chart Placeholder 2"/>
          <p:cNvSpPr>
            <a:spLocks noGrp="1"/>
          </p:cNvSpPr>
          <p:nvPr>
            <p:ph type="chart" sz="quarter" idx="21"/>
          </p:nvPr>
        </p:nvSpPr>
        <p:spPr>
          <a:xfrm>
            <a:off x="6341221" y="2125013"/>
            <a:ext cx="5349130"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30"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0" y="6121015"/>
            <a:ext cx="11165419" cy="260737"/>
          </a:xfrm>
        </p:spPr>
        <p:txBody>
          <a:bodyPr>
            <a:normAutofit/>
          </a:bodyPr>
          <a:lstStyle>
            <a:lvl1pPr>
              <a:spcAft>
                <a:spcPts val="0"/>
              </a:spcAft>
              <a:defRPr sz="975"/>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2" cy="3996000"/>
          </a:xfrm>
        </p:spPr>
        <p:txBody>
          <a:bodyPr/>
          <a:lstStyle/>
          <a:p>
            <a:r>
              <a:rPr lang="en-US" noProof="0"/>
              <a:t>Click icon to add chart</a:t>
            </a:r>
          </a:p>
        </p:txBody>
      </p:sp>
      <p:sp>
        <p:nvSpPr>
          <p:cNvPr id="12" name="Text Placeholder 5"/>
          <p:cNvSpPr>
            <a:spLocks noGrp="1"/>
          </p:cNvSpPr>
          <p:nvPr>
            <p:ph type="body" sz="quarter" idx="25"/>
          </p:nvPr>
        </p:nvSpPr>
        <p:spPr>
          <a:xfrm>
            <a:off x="501649" y="1665288"/>
            <a:ext cx="5339065" cy="420687"/>
          </a:xfrm>
        </p:spPr>
        <p:txBody>
          <a:bodyPr/>
          <a:lstStyle/>
          <a:p>
            <a:pPr lvl="0"/>
            <a:r>
              <a:rPr lang="en-US" noProof="0"/>
              <a:t>Click to edit Master text styles</a:t>
            </a:r>
          </a:p>
        </p:txBody>
      </p:sp>
    </p:spTree>
    <p:extLst>
      <p:ext uri="{BB962C8B-B14F-4D97-AF65-F5344CB8AC3E}">
        <p14:creationId xmlns:p14="http://schemas.microsoft.com/office/powerpoint/2010/main" val="111897163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0" y="1700215"/>
            <a:ext cx="6240000" cy="4681537"/>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58552167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448132" algn="r"/>
              </a:tabLst>
              <a:defRPr sz="2600">
                <a:solidFill>
                  <a:schemeClr val="accent3"/>
                </a:solidFill>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2" y="1665288"/>
            <a:ext cx="6506348" cy="4716462"/>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5104912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8" name="Rectangle 7"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0"/>
            <a:ext cx="11188700"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1" y="3124201"/>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70"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91094" indent="-191094">
              <a:spcAft>
                <a:spcPts val="0"/>
              </a:spcAft>
              <a:buFont typeface="Arial" panose="020B0604020202020204" pitchFamily="34" charset="0"/>
              <a:buChar char="•"/>
              <a:defRPr/>
            </a:lvl4pPr>
            <a:lvl5pPr marL="386088" indent="-191094">
              <a:spcAft>
                <a:spcPts val="0"/>
              </a:spcAft>
              <a:defRPr baseline="0"/>
            </a:lvl5pPr>
            <a:lvl6pPr marL="386088" indent="-191094">
              <a:spcAft>
                <a:spcPts val="0"/>
              </a:spcAft>
              <a:buFont typeface="Verdana" panose="020B0604030504040204" pitchFamily="34" charset="0"/>
              <a:buChar char="−"/>
              <a:defRPr/>
            </a:lvl6pPr>
            <a:lvl7pPr marL="386088" indent="-191094">
              <a:spcAft>
                <a:spcPts val="0"/>
              </a:spcAft>
              <a:defRPr/>
            </a:lvl7pPr>
            <a:lvl8pPr marL="386088" indent="-191094">
              <a:spcAft>
                <a:spcPts val="0"/>
              </a:spcAft>
              <a:defRPr/>
            </a:lvl8pPr>
            <a:lvl9pPr marL="386088" indent="-1910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49" y="651600"/>
            <a:ext cx="11188702"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244120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2" name="Rectangle 11"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0"/>
            <a:ext cx="11188700" cy="334100"/>
          </a:xfrm>
        </p:spPr>
        <p:txBody>
          <a:bodyPr/>
          <a:lstStyle/>
          <a:p>
            <a:r>
              <a:rPr lang="en-US" noProof="0"/>
              <a:t>Click to edit Master title style</a:t>
            </a:r>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5" name="Rectangle 4"/>
          <p:cNvSpPr/>
          <p:nvPr userDrawn="1"/>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7" name="Rectangle 6"/>
          <p:cNvSpPr/>
          <p:nvPr userDrawn="1"/>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233941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7" name="Rectangle 6"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2" y="1700215"/>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5"/>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4" y="1700215"/>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1"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2614687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26558174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0" name="Rectangle 9"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8" name="Text Placeholder 8"/>
          <p:cNvSpPr>
            <a:spLocks noGrp="1"/>
          </p:cNvSpPr>
          <p:nvPr>
            <p:ph type="body" sz="quarter" idx="17"/>
          </p:nvPr>
        </p:nvSpPr>
        <p:spPr>
          <a:xfrm>
            <a:off x="504000" y="1857892"/>
            <a:ext cx="5466825"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6" y="1857892"/>
            <a:ext cx="5444156"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p>
        </p:txBody>
      </p:sp>
      <p:sp>
        <p:nvSpPr>
          <p:cNvPr id="4" name="Rectangle 3"/>
          <p:cNvSpPr/>
          <p:nvPr userDrawn="1"/>
        </p:nvSpPr>
        <p:spPr>
          <a:xfrm>
            <a:off x="504000" y="1705378"/>
            <a:ext cx="5466825"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a:solidFill>
                <a:schemeClr val="bg1"/>
              </a:solidFill>
            </a:endParaRPr>
          </a:p>
        </p:txBody>
      </p:sp>
      <p:sp>
        <p:nvSpPr>
          <p:cNvPr id="5" name="Rectangle 4"/>
          <p:cNvSpPr/>
          <p:nvPr userDrawn="1"/>
        </p:nvSpPr>
        <p:spPr>
          <a:xfrm>
            <a:off x="6246194"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a:solidFill>
                <a:schemeClr val="bg1"/>
              </a:solidFill>
            </a:endParaRPr>
          </a:p>
        </p:txBody>
      </p:sp>
      <p:sp>
        <p:nvSpPr>
          <p:cNvPr id="6" name="Picture Placeholder 29"/>
          <p:cNvSpPr>
            <a:spLocks noGrp="1"/>
          </p:cNvSpPr>
          <p:nvPr>
            <p:ph type="pic" sz="quarter" idx="19" hasCustomPrompt="1"/>
          </p:nvPr>
        </p:nvSpPr>
        <p:spPr>
          <a:xfrm>
            <a:off x="4769492" y="1863918"/>
            <a:ext cx="1210207"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a:solidFill>
                  <a:schemeClr val="bg1"/>
                </a:solidFill>
              </a:rPr>
              <a:t>Co-brand</a:t>
            </a:r>
            <a:br>
              <a:rPr lang="en-US" sz="1300" noProof="0">
                <a:solidFill>
                  <a:schemeClr val="bg1"/>
                </a:solidFill>
              </a:rPr>
            </a:br>
            <a:r>
              <a:rPr lang="en-US" sz="13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4"/>
            <a:ext cx="1244161"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a:solidFill>
                  <a:schemeClr val="bg1"/>
                </a:solidFill>
              </a:rPr>
              <a:t>Co-brand</a:t>
            </a:r>
            <a:br>
              <a:rPr lang="en-US" sz="1300" noProof="0">
                <a:solidFill>
                  <a:schemeClr val="bg1"/>
                </a:solidFill>
              </a:rPr>
            </a:br>
            <a:r>
              <a:rPr lang="en-US" sz="13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19690794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6" name="Rectangle 5"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8" name="Text Placeholder 8"/>
          <p:cNvSpPr>
            <a:spLocks noGrp="1"/>
          </p:cNvSpPr>
          <p:nvPr>
            <p:ph type="body" sz="quarter" idx="17"/>
          </p:nvPr>
        </p:nvSpPr>
        <p:spPr>
          <a:xfrm>
            <a:off x="504000" y="1857892"/>
            <a:ext cx="5468942"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6" y="1857892"/>
            <a:ext cx="5454668"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p>
        </p:txBody>
      </p:sp>
      <p:sp>
        <p:nvSpPr>
          <p:cNvPr id="4" name="Rectangle 3"/>
          <p:cNvSpPr/>
          <p:nvPr userDrawn="1"/>
        </p:nvSpPr>
        <p:spPr>
          <a:xfrm>
            <a:off x="504000" y="1705378"/>
            <a:ext cx="5466825"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a:solidFill>
                <a:schemeClr val="bg1"/>
              </a:solidFill>
            </a:endParaRPr>
          </a:p>
        </p:txBody>
      </p:sp>
      <p:sp>
        <p:nvSpPr>
          <p:cNvPr id="5" name="Rectangle 4"/>
          <p:cNvSpPr/>
          <p:nvPr userDrawn="1"/>
        </p:nvSpPr>
        <p:spPr>
          <a:xfrm>
            <a:off x="6246194"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a:solidFill>
                <a:schemeClr val="bg1"/>
              </a:solidFill>
            </a:endParaRPr>
          </a:p>
        </p:txBody>
      </p:sp>
      <p:sp>
        <p:nvSpPr>
          <p:cNvPr id="7" name="Picture Placeholder 29"/>
          <p:cNvSpPr>
            <a:spLocks noGrp="1"/>
          </p:cNvSpPr>
          <p:nvPr>
            <p:ph type="pic" sz="quarter" idx="20" hasCustomPrompt="1"/>
          </p:nvPr>
        </p:nvSpPr>
        <p:spPr>
          <a:xfrm>
            <a:off x="10424617" y="1857894"/>
            <a:ext cx="1244161"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a:solidFill>
                  <a:schemeClr val="bg1"/>
                </a:solidFill>
              </a:rPr>
              <a:t>Co-brand</a:t>
            </a:r>
            <a:br>
              <a:rPr lang="en-US" sz="1300" noProof="0">
                <a:solidFill>
                  <a:schemeClr val="bg1"/>
                </a:solidFill>
              </a:rPr>
            </a:br>
            <a:r>
              <a:rPr lang="en-US" sz="1300" noProof="0">
                <a:solidFill>
                  <a:schemeClr val="bg1"/>
                </a:solidFill>
              </a:rPr>
              <a:t>Logo</a:t>
            </a:r>
          </a:p>
          <a:p>
            <a:endParaRPr lang="en-US" noProof="0"/>
          </a:p>
        </p:txBody>
      </p:sp>
      <p:sp>
        <p:nvSpPr>
          <p:cNvPr id="10" name="Text Placeholder 8"/>
          <p:cNvSpPr>
            <a:spLocks noGrp="1"/>
          </p:cNvSpPr>
          <p:nvPr>
            <p:ph type="body" sz="quarter" idx="22"/>
          </p:nvPr>
        </p:nvSpPr>
        <p:spPr>
          <a:xfrm>
            <a:off x="504000" y="4249682"/>
            <a:ext cx="5466825"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5" y="4249682"/>
            <a:ext cx="5452959" cy="1695450"/>
          </a:xfrm>
        </p:spPr>
        <p:txBody>
          <a:bodyPr/>
          <a:lstStyle>
            <a:lvl1pPr>
              <a:spcAft>
                <a:spcPts val="1083"/>
              </a:spcAft>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83"/>
              </a:spcAft>
            </a:pPr>
            <a:endParaRPr lang="en-US" sz="1192" noProof="0">
              <a:solidFill>
                <a:schemeClr val="bg1"/>
              </a:solidFill>
            </a:endParaRPr>
          </a:p>
        </p:txBody>
      </p:sp>
      <p:sp>
        <p:nvSpPr>
          <p:cNvPr id="14" name="Picture Placeholder 29"/>
          <p:cNvSpPr>
            <a:spLocks noGrp="1"/>
          </p:cNvSpPr>
          <p:nvPr>
            <p:ph type="pic" sz="quarter" idx="24" hasCustomPrompt="1"/>
          </p:nvPr>
        </p:nvSpPr>
        <p:spPr>
          <a:xfrm>
            <a:off x="4754494" y="4255708"/>
            <a:ext cx="1239381"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a:solidFill>
                  <a:schemeClr val="bg1"/>
                </a:solidFill>
              </a:rPr>
              <a:t>Co-brand</a:t>
            </a:r>
            <a:br>
              <a:rPr lang="en-US" sz="1300" noProof="0">
                <a:solidFill>
                  <a:schemeClr val="bg1"/>
                </a:solidFill>
              </a:rPr>
            </a:br>
            <a:r>
              <a:rPr lang="en-US" sz="13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8" y="4249684"/>
            <a:ext cx="1244160"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a:solidFill>
                  <a:schemeClr val="bg1"/>
                </a:solidFill>
              </a:rPr>
              <a:t>Co-brand</a:t>
            </a:r>
            <a:br>
              <a:rPr lang="en-US" sz="1300" noProof="0">
                <a:solidFill>
                  <a:schemeClr val="bg1"/>
                </a:solidFill>
              </a:rPr>
            </a:br>
            <a:r>
              <a:rPr lang="en-US" sz="13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0"/>
            <a:ext cx="11197502"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2" y="1863918"/>
            <a:ext cx="1210207" cy="549275"/>
          </a:xfrm>
        </p:spPr>
        <p:txBody>
          <a:bodyPr/>
          <a:lstStyle>
            <a:lvl1pPr marL="0" marR="0" indent="0" algn="l" defTabSz="990570" rtl="0" eaLnBrk="1" fontAlgn="auto" latinLnBrk="0" hangingPunct="1">
              <a:lnSpc>
                <a:spcPct val="100000"/>
              </a:lnSpc>
              <a:spcBef>
                <a:spcPts val="0"/>
              </a:spcBef>
              <a:spcAft>
                <a:spcPts val="1083"/>
              </a:spcAft>
              <a:buClrTx/>
              <a:buSzTx/>
              <a:buFont typeface="Arial" panose="020B0604020202020204" pitchFamily="34" charset="0"/>
              <a:buNone/>
              <a:tabLst/>
              <a:defRPr sz="975"/>
            </a:lvl1pPr>
          </a:lstStyle>
          <a:p>
            <a:pPr>
              <a:spcBef>
                <a:spcPct val="0"/>
              </a:spcBef>
            </a:pPr>
            <a:r>
              <a:rPr lang="en-US" sz="1300" noProof="0">
                <a:solidFill>
                  <a:schemeClr val="bg1"/>
                </a:solidFill>
              </a:rPr>
              <a:t>Co-brand</a:t>
            </a:r>
            <a:br>
              <a:rPr lang="en-US" sz="1300" noProof="0">
                <a:solidFill>
                  <a:schemeClr val="bg1"/>
                </a:solidFill>
              </a:rPr>
            </a:br>
            <a:r>
              <a:rPr lang="en-US" sz="1300" noProof="0">
                <a:solidFill>
                  <a:schemeClr val="bg1"/>
                </a:solidFill>
              </a:rPr>
              <a:t>Logo</a:t>
            </a:r>
          </a:p>
          <a:p>
            <a:endParaRPr lang="en-US" noProof="0"/>
          </a:p>
        </p:txBody>
      </p:sp>
    </p:spTree>
    <p:extLst>
      <p:ext uri="{BB962C8B-B14F-4D97-AF65-F5344CB8AC3E}">
        <p14:creationId xmlns:p14="http://schemas.microsoft.com/office/powerpoint/2010/main" val="394242213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1" name="Rectangle 10"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5" name="Rectangle 4"/>
          <p:cNvSpPr/>
          <p:nvPr userDrawn="1"/>
        </p:nvSpPr>
        <p:spPr>
          <a:xfrm>
            <a:off x="504000" y="1700215"/>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6" name="Rectangle 5"/>
          <p:cNvSpPr/>
          <p:nvPr userDrawn="1"/>
        </p:nvSpPr>
        <p:spPr>
          <a:xfrm>
            <a:off x="8115300" y="1705968"/>
            <a:ext cx="3583854"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92" noProof="0">
              <a:solidFill>
                <a:schemeClr val="bg1"/>
              </a:solidFill>
            </a:endParaRPr>
          </a:p>
        </p:txBody>
      </p:sp>
      <p:sp>
        <p:nvSpPr>
          <p:cNvPr id="7" name="Text Placeholder 8"/>
          <p:cNvSpPr>
            <a:spLocks noGrp="1"/>
          </p:cNvSpPr>
          <p:nvPr>
            <p:ph type="body" sz="quarter" idx="17"/>
          </p:nvPr>
        </p:nvSpPr>
        <p:spPr>
          <a:xfrm>
            <a:off x="4325713" y="1851441"/>
            <a:ext cx="3540577" cy="3845754"/>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1" y="651600"/>
            <a:ext cx="1116235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63821526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9" name="Rectangle 8"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3"/>
            <a:ext cx="11188700"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83"/>
              </a:spcAft>
              <a:defRPr/>
            </a:lvl2pPr>
            <a:lvl3pPr marL="0" indent="0">
              <a:spcAft>
                <a:spcPts val="1083"/>
              </a:spcAft>
              <a:buNone/>
              <a:defRPr/>
            </a:lvl3pPr>
            <a:lvl4pPr marL="191094" indent="-191094">
              <a:spcAft>
                <a:spcPts val="1083"/>
              </a:spcAft>
              <a:buFont typeface="Arial" panose="020B0604020202020204" pitchFamily="34" charset="0"/>
              <a:buChar char="•"/>
              <a:defRPr/>
            </a:lvl4pPr>
            <a:lvl5pPr marL="386088" indent="-191094">
              <a:spcAft>
                <a:spcPts val="1083"/>
              </a:spcAft>
              <a:defRPr baseline="0"/>
            </a:lvl5pPr>
            <a:lvl6pPr marL="386088" indent="-191094">
              <a:spcAft>
                <a:spcPts val="1083"/>
              </a:spcAft>
              <a:buFont typeface="Verdana" panose="020B0604030504040204" pitchFamily="34" charset="0"/>
              <a:buChar char="−"/>
              <a:defRPr/>
            </a:lvl6pPr>
            <a:lvl7pPr marL="386088" indent="-191094">
              <a:spcAft>
                <a:spcPts val="1083"/>
              </a:spcAft>
              <a:defRPr/>
            </a:lvl7pPr>
            <a:lvl8pPr marL="386088" indent="-191094">
              <a:spcAft>
                <a:spcPts val="1083"/>
              </a:spcAft>
              <a:defRPr/>
            </a:lvl8pPr>
            <a:lvl9pPr marL="386088" indent="-191094">
              <a:spcAft>
                <a:spcPts val="108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82569232"/>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8"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91277633"/>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45128451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Tree>
    <p:extLst>
      <p:ext uri="{BB962C8B-B14F-4D97-AF65-F5344CB8AC3E}">
        <p14:creationId xmlns:p14="http://schemas.microsoft.com/office/powerpoint/2010/main" val="8618510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 Type="http://schemas.openxmlformats.org/officeDocument/2006/relationships/slideLayout" Target="../slideLayouts/slideLayout5.xml"/><Relationship Id="rId21" Type="http://schemas.openxmlformats.org/officeDocument/2006/relationships/slideLayout" Target="../slideLayouts/slideLayout23.xml"/><Relationship Id="rId34" Type="http://schemas.openxmlformats.org/officeDocument/2006/relationships/tags" Target="../tags/tag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33" Type="http://schemas.openxmlformats.org/officeDocument/2006/relationships/tags" Target="../tags/tag1.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29" Type="http://schemas.openxmlformats.org/officeDocument/2006/relationships/slideLayout" Target="../slideLayouts/slideLayout31.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32" Type="http://schemas.openxmlformats.org/officeDocument/2006/relationships/theme" Target="../theme/theme2.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36" Type="http://schemas.openxmlformats.org/officeDocument/2006/relationships/image" Target="../media/image1.emf"/><Relationship Id="rId10" Type="http://schemas.openxmlformats.org/officeDocument/2006/relationships/slideLayout" Target="../slideLayouts/slideLayout12.xml"/><Relationship Id="rId19" Type="http://schemas.openxmlformats.org/officeDocument/2006/relationships/slideLayout" Target="../slideLayouts/slideLayout21.xml"/><Relationship Id="rId31" Type="http://schemas.openxmlformats.org/officeDocument/2006/relationships/slideLayout" Target="../slideLayouts/slideLayout33.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 Id="rId30" Type="http://schemas.openxmlformats.org/officeDocument/2006/relationships/slideLayout" Target="../slideLayouts/slideLayout32.xml"/><Relationship Id="rId35" Type="http://schemas.openxmlformats.org/officeDocument/2006/relationships/oleObject" Target="../embeddings/oleObject1.bin"/><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8B0F8-FF10-1FF9-90AB-1420A7FDBD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5920A4-C468-A5B2-9722-A944AF2F9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FE45A3C6-180F-598B-5527-1C67D3E24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E060466-0C09-5510-B4EA-047773BD23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2098A8-8827-420C-8657-4C3FF8E997CF}" type="slidenum">
              <a:rPr lang="en-IN" smtClean="0"/>
              <a:t>‹#›</a:t>
            </a:fld>
            <a:endParaRPr lang="en-IN"/>
          </a:p>
        </p:txBody>
      </p:sp>
    </p:spTree>
    <p:extLst>
      <p:ext uri="{BB962C8B-B14F-4D97-AF65-F5344CB8AC3E}">
        <p14:creationId xmlns:p14="http://schemas.microsoft.com/office/powerpoint/2010/main" val="3707247751"/>
      </p:ext>
    </p:extLst>
  </p:cSld>
  <p:clrMap bg1="lt1" tx1="dk1" bg2="lt2" tx2="dk2" accent1="accent1" accent2="accent2" accent3="accent3" accent4="accent4" accent5="accent5" accent6="accent6" hlink="hlink" folHlink="folHlink"/>
  <p:sldLayoutIdLst>
    <p:sldLayoutId id="2147483670" r:id="rId1"/>
    <p:sldLayoutId id="214748367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3"/>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9" y="1590"/>
                        <a:ext cx="2116" cy="1587"/>
                      </a:xfrm>
                      <a:prstGeom prst="rect">
                        <a:avLst/>
                      </a:prstGeom>
                    </p:spPr>
                  </p:pic>
                </p:oleObj>
              </mc:Fallback>
            </mc:AlternateContent>
          </a:graphicData>
        </a:graphic>
      </p:graphicFrame>
      <p:sp>
        <p:nvSpPr>
          <p:cNvPr id="5" name="Rectangle 4" hidden="1"/>
          <p:cNvSpPr/>
          <p:nvPr userDrawn="1">
            <p:custDataLst>
              <p:tags r:id="rId34"/>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2" y="317501"/>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1"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tx1"/>
                </a:solidFill>
              </a:rPr>
              <a:pPr marL="0" indent="0" algn="r">
                <a:spcBef>
                  <a:spcPts val="650"/>
                </a:spcBef>
                <a:buSzPct val="100000"/>
                <a:buFont typeface="Arial"/>
                <a:buNone/>
              </a:pPr>
              <a:t>‹#›</a:t>
            </a:fld>
            <a:endParaRPr lang="en-US" sz="704" noProof="0">
              <a:solidFill>
                <a:schemeClr val="tx1"/>
              </a:solidFill>
            </a:endParaRPr>
          </a:p>
        </p:txBody>
      </p:sp>
      <p:sp>
        <p:nvSpPr>
          <p:cNvPr id="8" name="Rectangle 7">
            <a:extLst>
              <a:ext uri="{FF2B5EF4-FFF2-40B4-BE49-F238E27FC236}">
                <a16:creationId xmlns:a16="http://schemas.microsoft.com/office/drawing/2014/main" id="{56A8C064-09C6-4EB1-948A-B28DB1CB1E30}"/>
              </a:ext>
            </a:extLst>
          </p:cNvPr>
          <p:cNvSpPr/>
          <p:nvPr userDrawn="1"/>
        </p:nvSpPr>
        <p:spPr bwMode="gray">
          <a:xfrm>
            <a:off x="-508000" y="2242508"/>
            <a:ext cx="304800" cy="862853"/>
          </a:xfrm>
          <a:prstGeom prst="rect">
            <a:avLst/>
          </a:prstGeom>
          <a:solidFill>
            <a:srgbClr val="00206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9" name="Rectangle 8">
            <a:extLst>
              <a:ext uri="{FF2B5EF4-FFF2-40B4-BE49-F238E27FC236}">
                <a16:creationId xmlns:a16="http://schemas.microsoft.com/office/drawing/2014/main" id="{DF3E3145-732E-4BF5-9CE2-3556BFEA4A2A}"/>
              </a:ext>
            </a:extLst>
          </p:cNvPr>
          <p:cNvSpPr/>
          <p:nvPr userDrawn="1"/>
        </p:nvSpPr>
        <p:spPr bwMode="gray">
          <a:xfrm>
            <a:off x="-508000" y="3225836"/>
            <a:ext cx="304800" cy="862853"/>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10" name="Rectangle 9">
            <a:extLst>
              <a:ext uri="{FF2B5EF4-FFF2-40B4-BE49-F238E27FC236}">
                <a16:creationId xmlns:a16="http://schemas.microsoft.com/office/drawing/2014/main" id="{36641EF3-1434-4461-B94F-AD6E880AEFB1}"/>
              </a:ext>
            </a:extLst>
          </p:cNvPr>
          <p:cNvSpPr/>
          <p:nvPr userDrawn="1"/>
        </p:nvSpPr>
        <p:spPr bwMode="gray">
          <a:xfrm>
            <a:off x="-508000" y="4225440"/>
            <a:ext cx="304800" cy="862853"/>
          </a:xfrm>
          <a:prstGeom prst="rect">
            <a:avLst/>
          </a:prstGeom>
          <a:solidFill>
            <a:srgbClr val="7FCBD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11" name="Rectangle 10">
            <a:extLst>
              <a:ext uri="{FF2B5EF4-FFF2-40B4-BE49-F238E27FC236}">
                <a16:creationId xmlns:a16="http://schemas.microsoft.com/office/drawing/2014/main" id="{20B907DE-17F3-4D0A-9D55-E22429628725}"/>
              </a:ext>
            </a:extLst>
          </p:cNvPr>
          <p:cNvSpPr/>
          <p:nvPr userDrawn="1"/>
        </p:nvSpPr>
        <p:spPr bwMode="gray">
          <a:xfrm>
            <a:off x="-508000" y="5225044"/>
            <a:ext cx="304800" cy="862853"/>
          </a:xfrm>
          <a:prstGeom prst="rect">
            <a:avLst/>
          </a:prstGeom>
          <a:solidFill>
            <a:srgbClr val="99CC3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Tree>
    <p:extLst>
      <p:ext uri="{BB962C8B-B14F-4D97-AF65-F5344CB8AC3E}">
        <p14:creationId xmlns:p14="http://schemas.microsoft.com/office/powerpoint/2010/main" val="422715083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 id="2147483705" r:id="rId26"/>
    <p:sldLayoutId id="2147483706" r:id="rId27"/>
    <p:sldLayoutId id="2147483707" r:id="rId28"/>
    <p:sldLayoutId id="2147483708" r:id="rId29"/>
    <p:sldLayoutId id="2147483709" r:id="rId30"/>
    <p:sldLayoutId id="2147483710" r:id="rId31"/>
  </p:sldLayoutIdLst>
  <p:transition>
    <p:fade/>
  </p:transition>
  <p:hf hdr="0" dt="0"/>
  <p:txStyles>
    <p:titleStyle>
      <a:lvl1pPr algn="l" defTabSz="990570" rtl="0" eaLnBrk="1" latinLnBrk="0" hangingPunct="1">
        <a:spcBef>
          <a:spcPct val="0"/>
        </a:spcBef>
        <a:buNone/>
        <a:defRPr sz="2000" kern="1200">
          <a:solidFill>
            <a:schemeClr val="tx1"/>
          </a:solidFill>
          <a:latin typeface="+mj-lt"/>
          <a:ea typeface="+mj-ea"/>
          <a:cs typeface="+mj-cs"/>
        </a:defRPr>
      </a:lvl1pPr>
    </p:titleStyle>
    <p:body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p:bodyStyle>
    <p:otherStyle>
      <a:defPPr>
        <a:defRPr lang="en-US"/>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3">
          <p15:clr>
            <a:srgbClr val="F26B43"/>
          </p15:clr>
        </p15:guide>
        <p15:guide id="2" orient="horz" pos="2160">
          <p15:clr>
            <a:srgbClr val="F26B43"/>
          </p15:clr>
        </p15:guide>
        <p15:guide id="3" orient="horz" pos="4020">
          <p15:clr>
            <a:srgbClr val="F26B43"/>
          </p15:clr>
        </p15:guide>
        <p15:guide id="4" pos="316">
          <p15:clr>
            <a:srgbClr val="F26B43"/>
          </p15:clr>
        </p15:guide>
        <p15:guide id="5" pos="7364">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4961">
          <p15:clr>
            <a:srgbClr val="F26B43"/>
          </p15:clr>
        </p15:guide>
        <p15:guide id="11" orient="horz" pos="236">
          <p15:clr>
            <a:srgbClr val="F26B43"/>
          </p15:clr>
        </p15:guide>
        <p15:guide id="12" pos="1362">
          <p15:clr>
            <a:srgbClr val="F26B43"/>
          </p15:clr>
        </p15:guide>
        <p15:guide id="13" pos="1516">
          <p15:clr>
            <a:srgbClr val="F26B43"/>
          </p15:clr>
        </p15:guide>
        <p15:guide id="14" pos="2560">
          <p15:clr>
            <a:srgbClr val="F26B43"/>
          </p15:clr>
        </p15:guide>
        <p15:guide id="15" pos="2710">
          <p15:clr>
            <a:srgbClr val="F26B43"/>
          </p15:clr>
        </p15:guide>
        <p15:guide id="16" pos="6160">
          <p15:clr>
            <a:srgbClr val="F26B43"/>
          </p15:clr>
        </p15:guide>
        <p15:guide id="17" pos="3764">
          <p15:clr>
            <a:srgbClr val="F26B43"/>
          </p15:clr>
        </p15:guide>
        <p15:guide id="18" pos="3916">
          <p15:clr>
            <a:srgbClr val="F26B43"/>
          </p15:clr>
        </p15:guide>
        <p15:guide id="19" pos="3840">
          <p15:clr>
            <a:srgbClr val="F26B43"/>
          </p15:clr>
        </p15:guide>
        <p15:guide id="20" pos="6313">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diagramQuickStyle" Target="../diagrams/quickStyle2.xml"/><Relationship Id="rId3" Type="http://schemas.openxmlformats.org/officeDocument/2006/relationships/image" Target="../media/image13.png"/><Relationship Id="rId7" Type="http://schemas.openxmlformats.org/officeDocument/2006/relationships/diagramLayout" Target="../diagrams/layout1.xml"/><Relationship Id="rId12" Type="http://schemas.openxmlformats.org/officeDocument/2006/relationships/diagramLayout" Target="../diagrams/layout2.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diagramData" Target="../diagrams/data2.xml"/><Relationship Id="rId5" Type="http://schemas.openxmlformats.org/officeDocument/2006/relationships/image" Target="../media/image15.png"/><Relationship Id="rId15" Type="http://schemas.microsoft.com/office/2007/relationships/diagramDrawing" Target="../diagrams/drawing2.xml"/><Relationship Id="rId10" Type="http://schemas.microsoft.com/office/2007/relationships/diagramDrawing" Target="../diagrams/drawing1.xml"/><Relationship Id="rId4" Type="http://schemas.openxmlformats.org/officeDocument/2006/relationships/image" Target="../media/image14.png"/><Relationship Id="rId9" Type="http://schemas.openxmlformats.org/officeDocument/2006/relationships/diagramColors" Target="../diagrams/colors1.xml"/><Relationship Id="rId14" Type="http://schemas.openxmlformats.org/officeDocument/2006/relationships/diagramColors" Target="../diagrams/colors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3.xml"/><Relationship Id="rId1" Type="http://schemas.openxmlformats.org/officeDocument/2006/relationships/tags" Target="../tags/tag61.xml"/><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Introduction</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56" name="Content Placeholder 2">
            <a:extLst>
              <a:ext uri="{FF2B5EF4-FFF2-40B4-BE49-F238E27FC236}">
                <a16:creationId xmlns:a16="http://schemas.microsoft.com/office/drawing/2014/main" id="{D39D66AF-3E17-0749-F31C-1D2986006D36}"/>
              </a:ext>
            </a:extLst>
          </p:cNvPr>
          <p:cNvSpPr txBox="1">
            <a:spLocks/>
          </p:cNvSpPr>
          <p:nvPr/>
        </p:nvSpPr>
        <p:spPr>
          <a:xfrm>
            <a:off x="518160" y="825793"/>
            <a:ext cx="6095999" cy="537180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600" b="1" dirty="0">
                <a:latin typeface="Calibri" panose="020F0502020204030204" pitchFamily="34" charset="0"/>
                <a:ea typeface="Calibri" panose="020F0502020204030204" pitchFamily="34" charset="0"/>
                <a:cs typeface="Calibri" panose="020F0502020204030204" pitchFamily="34" charset="0"/>
              </a:rPr>
              <a:t>An Analytics COE of an organization helps to drive and accelerate the design and execution of Analytics &amp; AI capabilities to showcase measurable value and business impact. It also enables streamlined delivery of Analytics capabilities to conceptualize, build, and deliver robust Analytics products to meet the needs of the business.</a:t>
            </a:r>
          </a:p>
          <a:p>
            <a:pPr>
              <a:lnSpc>
                <a:spcPct val="100000"/>
              </a:lnSpc>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sz="1600" b="1" dirty="0">
                <a:latin typeface="Calibri" panose="020F0502020204030204" pitchFamily="34" charset="0"/>
                <a:ea typeface="Calibri" panose="020F0502020204030204" pitchFamily="34" charset="0"/>
                <a:cs typeface="Calibri" panose="020F0502020204030204" pitchFamily="34" charset="0"/>
              </a:rPr>
              <a:t>ABC Corp’s Analytics Center of Excellence (ACOE) drives innovation in data management, analysis and reporting. Its overarching goal is to enable data-driven decision making, focus on time-to-value, and maximize benefits that various platforms, knowledge and solutions can bring.</a:t>
            </a:r>
          </a:p>
          <a:p>
            <a:pPr>
              <a:lnSpc>
                <a:spcPct val="100000"/>
              </a:lnSpc>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US" sz="1600" b="1" dirty="0">
                <a:latin typeface="Calibri" panose="020F0502020204030204" pitchFamily="34" charset="0"/>
                <a:ea typeface="Calibri" panose="020F0502020204030204" pitchFamily="34" charset="0"/>
                <a:cs typeface="Calibri" panose="020F0502020204030204" pitchFamily="34" charset="0"/>
              </a:rPr>
              <a:t>Building a mature data and analytics setup is a necessary step to achieve the goals of business. Leveraging data as a strategic asset will increase the effectiveness, facilitate oversight, and promote transparency.</a:t>
            </a:r>
            <a:endParaRPr lang="en-US" sz="1600" b="1" dirty="0">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pic>
        <p:nvPicPr>
          <p:cNvPr id="57" name="Picture 56" descr="A group of people sitting at a table&#10;&#10;AI-generated content may be incorrect.">
            <a:extLst>
              <a:ext uri="{FF2B5EF4-FFF2-40B4-BE49-F238E27FC236}">
                <a16:creationId xmlns:a16="http://schemas.microsoft.com/office/drawing/2014/main" id="{F6F6E752-5DC3-7BDC-8A8B-98EB33916E58}"/>
              </a:ext>
            </a:extLst>
          </p:cNvPr>
          <p:cNvPicPr>
            <a:picLocks noChangeAspect="1"/>
          </p:cNvPicPr>
          <p:nvPr/>
        </p:nvPicPr>
        <p:blipFill rotWithShape="1">
          <a:blip r:embed="rId2" cstate="screen">
            <a:extLst>
              <a:ext uri="{28A0092B-C50C-407E-A947-70E740481C1C}">
                <a14:useLocalDpi xmlns:a14="http://schemas.microsoft.com/office/drawing/2010/main" val="0"/>
              </a:ext>
            </a:extLst>
          </a:blip>
          <a:stretch/>
        </p:blipFill>
        <p:spPr>
          <a:xfrm>
            <a:off x="7808969" y="356557"/>
            <a:ext cx="2255470" cy="2784532"/>
          </a:xfrm>
          <a:prstGeom prst="rect">
            <a:avLst/>
          </a:prstGeom>
        </p:spPr>
      </p:pic>
      <p:pic>
        <p:nvPicPr>
          <p:cNvPr id="58" name="Picture 57" descr="A group of people discussing a report&#10;&#10;AI-generated content may be incorrect.">
            <a:extLst>
              <a:ext uri="{FF2B5EF4-FFF2-40B4-BE49-F238E27FC236}">
                <a16:creationId xmlns:a16="http://schemas.microsoft.com/office/drawing/2014/main" id="{CB5F85CA-2952-A78E-E654-B3A6E1373FD7}"/>
              </a:ext>
            </a:extLst>
          </p:cNvPr>
          <p:cNvPicPr>
            <a:picLocks noChangeAspect="1"/>
          </p:cNvPicPr>
          <p:nvPr/>
        </p:nvPicPr>
        <p:blipFill rotWithShape="1">
          <a:blip r:embed="rId3" cstate="print">
            <a:extLst>
              <a:ext uri="{28A0092B-C50C-407E-A947-70E740481C1C}">
                <a14:useLocalDpi xmlns:a14="http://schemas.microsoft.com/office/drawing/2010/main" val="0"/>
              </a:ext>
            </a:extLst>
          </a:blip>
          <a:stretch/>
        </p:blipFill>
        <p:spPr>
          <a:xfrm>
            <a:off x="8677632" y="3716911"/>
            <a:ext cx="3305080" cy="2784532"/>
          </a:xfrm>
          <a:prstGeom prst="rect">
            <a:avLst/>
          </a:prstGeom>
        </p:spPr>
      </p:pic>
    </p:spTree>
    <p:extLst>
      <p:ext uri="{BB962C8B-B14F-4D97-AF65-F5344CB8AC3E}">
        <p14:creationId xmlns:p14="http://schemas.microsoft.com/office/powerpoint/2010/main" val="254984122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ACOE Governance Structure</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646FDF51-0387-F8B9-50E4-59989530A8AF}"/>
              </a:ext>
            </a:extLst>
          </p:cNvPr>
          <p:cNvSpPr/>
          <p:nvPr/>
        </p:nvSpPr>
        <p:spPr>
          <a:xfrm>
            <a:off x="2841305" y="1487869"/>
            <a:ext cx="531048" cy="533437"/>
          </a:xfrm>
          <a:prstGeom prst="ellipse">
            <a:avLst/>
          </a:prstGeom>
          <a:solidFill>
            <a:schemeClr val="tx1">
              <a:lumMod val="50000"/>
              <a:lumOff val="50000"/>
            </a:scheme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CE8BBBC5-994F-5797-697D-8E0A7D93FAAD}"/>
              </a:ext>
            </a:extLst>
          </p:cNvPr>
          <p:cNvGrpSpPr/>
          <p:nvPr/>
        </p:nvGrpSpPr>
        <p:grpSpPr>
          <a:xfrm>
            <a:off x="2841305" y="4030271"/>
            <a:ext cx="531048" cy="533437"/>
            <a:chOff x="1027658" y="3407775"/>
            <a:chExt cx="531048" cy="533437"/>
          </a:xfrm>
          <a:solidFill>
            <a:schemeClr val="tx1">
              <a:lumMod val="50000"/>
              <a:lumOff val="50000"/>
            </a:schemeClr>
          </a:solidFill>
        </p:grpSpPr>
        <p:sp>
          <p:nvSpPr>
            <p:cNvPr id="5" name="Oval 4">
              <a:extLst>
                <a:ext uri="{FF2B5EF4-FFF2-40B4-BE49-F238E27FC236}">
                  <a16:creationId xmlns:a16="http://schemas.microsoft.com/office/drawing/2014/main" id="{756B2903-2FF6-5F37-4FF7-38AE01DF0E96}"/>
                </a:ext>
              </a:extLst>
            </p:cNvPr>
            <p:cNvSpPr/>
            <p:nvPr/>
          </p:nvSpPr>
          <p:spPr>
            <a:xfrm>
              <a:off x="1027658" y="3407775"/>
              <a:ext cx="531048" cy="533437"/>
            </a:xfrm>
            <a:prstGeom prst="ellipse">
              <a:avLst/>
            </a:prstGeom>
            <a:grpFill/>
            <a:ln w="9525">
              <a:solidFill>
                <a:schemeClr val="bg1"/>
              </a:solidFill>
            </a:ln>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Graphic 5" descr="City outline">
              <a:extLst>
                <a:ext uri="{FF2B5EF4-FFF2-40B4-BE49-F238E27FC236}">
                  <a16:creationId xmlns:a16="http://schemas.microsoft.com/office/drawing/2014/main" id="{61B1842B-622A-3B20-D3AC-ADF9A6FD66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4998" y="3459311"/>
              <a:ext cx="420624" cy="420624"/>
            </a:xfrm>
            <a:prstGeom prst="rect">
              <a:avLst/>
            </a:prstGeom>
          </p:spPr>
        </p:pic>
      </p:grpSp>
      <p:sp>
        <p:nvSpPr>
          <p:cNvPr id="7" name="Oval 6">
            <a:extLst>
              <a:ext uri="{FF2B5EF4-FFF2-40B4-BE49-F238E27FC236}">
                <a16:creationId xmlns:a16="http://schemas.microsoft.com/office/drawing/2014/main" id="{E7AAFBEB-8589-B113-1B9D-8D7FD08004EE}"/>
              </a:ext>
            </a:extLst>
          </p:cNvPr>
          <p:cNvSpPr/>
          <p:nvPr/>
        </p:nvSpPr>
        <p:spPr>
          <a:xfrm>
            <a:off x="2841305" y="2742854"/>
            <a:ext cx="531048" cy="533437"/>
          </a:xfrm>
          <a:prstGeom prst="ellipse">
            <a:avLst/>
          </a:prstGeom>
          <a:solidFill>
            <a:schemeClr val="tx1">
              <a:lumMod val="50000"/>
              <a:lumOff val="50000"/>
            </a:scheme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 name="Freeform 806">
            <a:extLst>
              <a:ext uri="{FF2B5EF4-FFF2-40B4-BE49-F238E27FC236}">
                <a16:creationId xmlns:a16="http://schemas.microsoft.com/office/drawing/2014/main" id="{52F77291-6F0B-0C94-FBB9-0730C6304409}"/>
              </a:ext>
            </a:extLst>
          </p:cNvPr>
          <p:cNvSpPr>
            <a:spLocks noChangeAspect="1" noEditPoints="1"/>
          </p:cNvSpPr>
          <p:nvPr/>
        </p:nvSpPr>
        <p:spPr bwMode="auto">
          <a:xfrm>
            <a:off x="2846164" y="5301472"/>
            <a:ext cx="531048" cy="531048"/>
          </a:xfrm>
          <a:custGeom>
            <a:avLst/>
            <a:gdLst>
              <a:gd name="T0" fmla="*/ 275 w 512"/>
              <a:gd name="T1" fmla="*/ 288 h 512"/>
              <a:gd name="T2" fmla="*/ 254 w 512"/>
              <a:gd name="T3" fmla="*/ 202 h 512"/>
              <a:gd name="T4" fmla="*/ 256 w 512"/>
              <a:gd name="T5" fmla="*/ 138 h 512"/>
              <a:gd name="T6" fmla="*/ 256 w 512"/>
              <a:gd name="T7" fmla="*/ 117 h 512"/>
              <a:gd name="T8" fmla="*/ 256 w 512"/>
              <a:gd name="T9" fmla="*/ 138 h 512"/>
              <a:gd name="T10" fmla="*/ 160 w 512"/>
              <a:gd name="T11" fmla="*/ 128 h 512"/>
              <a:gd name="T12" fmla="*/ 138 w 512"/>
              <a:gd name="T13" fmla="*/ 128 h 512"/>
              <a:gd name="T14" fmla="*/ 147 w 512"/>
              <a:gd name="T15" fmla="*/ 202 h 512"/>
              <a:gd name="T16" fmla="*/ 168 w 512"/>
              <a:gd name="T17" fmla="*/ 288 h 512"/>
              <a:gd name="T18" fmla="*/ 147 w 512"/>
              <a:gd name="T19" fmla="*/ 202 h 512"/>
              <a:gd name="T20" fmla="*/ 384 w 512"/>
              <a:gd name="T21" fmla="*/ 266 h 512"/>
              <a:gd name="T22" fmla="*/ 341 w 512"/>
              <a:gd name="T23" fmla="*/ 202 h 512"/>
              <a:gd name="T24" fmla="*/ 362 w 512"/>
              <a:gd name="T25" fmla="*/ 138 h 512"/>
              <a:gd name="T26" fmla="*/ 362 w 512"/>
              <a:gd name="T27" fmla="*/ 117 h 512"/>
              <a:gd name="T28" fmla="*/ 362 w 512"/>
              <a:gd name="T29" fmla="*/ 138 h 512"/>
              <a:gd name="T30" fmla="*/ 256 w 512"/>
              <a:gd name="T31" fmla="*/ 512 h 512"/>
              <a:gd name="T32" fmla="*/ 256 w 512"/>
              <a:gd name="T33" fmla="*/ 0 h 512"/>
              <a:gd name="T34" fmla="*/ 330 w 512"/>
              <a:gd name="T35" fmla="*/ 128 h 512"/>
              <a:gd name="T36" fmla="*/ 394 w 512"/>
              <a:gd name="T37" fmla="*/ 128 h 512"/>
              <a:gd name="T38" fmla="*/ 330 w 512"/>
              <a:gd name="T39" fmla="*/ 128 h 512"/>
              <a:gd name="T40" fmla="*/ 256 w 512"/>
              <a:gd name="T41" fmla="*/ 160 h 512"/>
              <a:gd name="T42" fmla="*/ 256 w 512"/>
              <a:gd name="T43" fmla="*/ 96 h 512"/>
              <a:gd name="T44" fmla="*/ 117 w 512"/>
              <a:gd name="T45" fmla="*/ 128 h 512"/>
              <a:gd name="T46" fmla="*/ 181 w 512"/>
              <a:gd name="T47" fmla="*/ 128 h 512"/>
              <a:gd name="T48" fmla="*/ 117 w 512"/>
              <a:gd name="T49" fmla="*/ 128 h 512"/>
              <a:gd name="T50" fmla="*/ 170 w 512"/>
              <a:gd name="T51" fmla="*/ 190 h 512"/>
              <a:gd name="T52" fmla="*/ 138 w 512"/>
              <a:gd name="T53" fmla="*/ 181 h 512"/>
              <a:gd name="T54" fmla="*/ 107 w 512"/>
              <a:gd name="T55" fmla="*/ 296 h 512"/>
              <a:gd name="T56" fmla="*/ 117 w 512"/>
              <a:gd name="T57" fmla="*/ 309 h 512"/>
              <a:gd name="T58" fmla="*/ 128 w 512"/>
              <a:gd name="T59" fmla="*/ 394 h 512"/>
              <a:gd name="T60" fmla="*/ 138 w 512"/>
              <a:gd name="T61" fmla="*/ 309 h 512"/>
              <a:gd name="T62" fmla="*/ 160 w 512"/>
              <a:gd name="T63" fmla="*/ 384 h 512"/>
              <a:gd name="T64" fmla="*/ 181 w 512"/>
              <a:gd name="T65" fmla="*/ 384 h 512"/>
              <a:gd name="T66" fmla="*/ 189 w 512"/>
              <a:gd name="T67" fmla="*/ 305 h 512"/>
              <a:gd name="T68" fmla="*/ 298 w 512"/>
              <a:gd name="T69" fmla="*/ 296 h 512"/>
              <a:gd name="T70" fmla="*/ 266 w 512"/>
              <a:gd name="T71" fmla="*/ 181 h 512"/>
              <a:gd name="T72" fmla="*/ 235 w 512"/>
              <a:gd name="T73" fmla="*/ 190 h 512"/>
              <a:gd name="T74" fmla="*/ 215 w 512"/>
              <a:gd name="T75" fmla="*/ 305 h 512"/>
              <a:gd name="T76" fmla="*/ 224 w 512"/>
              <a:gd name="T77" fmla="*/ 384 h 512"/>
              <a:gd name="T78" fmla="*/ 245 w 512"/>
              <a:gd name="T79" fmla="*/ 384 h 512"/>
              <a:gd name="T80" fmla="*/ 266 w 512"/>
              <a:gd name="T81" fmla="*/ 309 h 512"/>
              <a:gd name="T82" fmla="*/ 277 w 512"/>
              <a:gd name="T83" fmla="*/ 394 h 512"/>
              <a:gd name="T84" fmla="*/ 288 w 512"/>
              <a:gd name="T85" fmla="*/ 309 h 512"/>
              <a:gd name="T86" fmla="*/ 298 w 512"/>
              <a:gd name="T87" fmla="*/ 296 h 512"/>
              <a:gd name="T88" fmla="*/ 394 w 512"/>
              <a:gd name="T89" fmla="*/ 181 h 512"/>
              <a:gd name="T90" fmla="*/ 320 w 512"/>
              <a:gd name="T91" fmla="*/ 192 h 512"/>
              <a:gd name="T92" fmla="*/ 330 w 512"/>
              <a:gd name="T93" fmla="*/ 288 h 512"/>
              <a:gd name="T94" fmla="*/ 341 w 512"/>
              <a:gd name="T95" fmla="*/ 394 h 512"/>
              <a:gd name="T96" fmla="*/ 352 w 512"/>
              <a:gd name="T97" fmla="*/ 288 h 512"/>
              <a:gd name="T98" fmla="*/ 373 w 512"/>
              <a:gd name="T99" fmla="*/ 384 h 512"/>
              <a:gd name="T100" fmla="*/ 394 w 512"/>
              <a:gd name="T101" fmla="*/ 384 h 512"/>
              <a:gd name="T102" fmla="*/ 405 w 512"/>
              <a:gd name="T103"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58" y="202"/>
                </a:moveTo>
                <a:cubicBezTo>
                  <a:pt x="275" y="288"/>
                  <a:pt x="275" y="288"/>
                  <a:pt x="275" y="288"/>
                </a:cubicBezTo>
                <a:cubicBezTo>
                  <a:pt x="237" y="288"/>
                  <a:pt x="237" y="288"/>
                  <a:pt x="237" y="288"/>
                </a:cubicBezTo>
                <a:cubicBezTo>
                  <a:pt x="254" y="202"/>
                  <a:pt x="254" y="202"/>
                  <a:pt x="254" y="202"/>
                </a:cubicBezTo>
                <a:lnTo>
                  <a:pt x="258" y="202"/>
                </a:lnTo>
                <a:close/>
                <a:moveTo>
                  <a:pt x="256" y="138"/>
                </a:moveTo>
                <a:cubicBezTo>
                  <a:pt x="262" y="138"/>
                  <a:pt x="266" y="134"/>
                  <a:pt x="266" y="128"/>
                </a:cubicBezTo>
                <a:cubicBezTo>
                  <a:pt x="266" y="122"/>
                  <a:pt x="262" y="117"/>
                  <a:pt x="256" y="117"/>
                </a:cubicBezTo>
                <a:cubicBezTo>
                  <a:pt x="250" y="117"/>
                  <a:pt x="245" y="122"/>
                  <a:pt x="245" y="128"/>
                </a:cubicBezTo>
                <a:cubicBezTo>
                  <a:pt x="245" y="134"/>
                  <a:pt x="250" y="138"/>
                  <a:pt x="256" y="138"/>
                </a:cubicBezTo>
                <a:close/>
                <a:moveTo>
                  <a:pt x="149" y="138"/>
                </a:moveTo>
                <a:cubicBezTo>
                  <a:pt x="155" y="138"/>
                  <a:pt x="160" y="134"/>
                  <a:pt x="160" y="128"/>
                </a:cubicBezTo>
                <a:cubicBezTo>
                  <a:pt x="160" y="122"/>
                  <a:pt x="155" y="117"/>
                  <a:pt x="149" y="117"/>
                </a:cubicBezTo>
                <a:cubicBezTo>
                  <a:pt x="143" y="117"/>
                  <a:pt x="138" y="122"/>
                  <a:pt x="138" y="128"/>
                </a:cubicBezTo>
                <a:cubicBezTo>
                  <a:pt x="138" y="134"/>
                  <a:pt x="143" y="138"/>
                  <a:pt x="149" y="138"/>
                </a:cubicBezTo>
                <a:close/>
                <a:moveTo>
                  <a:pt x="147" y="202"/>
                </a:moveTo>
                <a:cubicBezTo>
                  <a:pt x="130" y="288"/>
                  <a:pt x="130" y="288"/>
                  <a:pt x="130" y="288"/>
                </a:cubicBezTo>
                <a:cubicBezTo>
                  <a:pt x="168" y="288"/>
                  <a:pt x="168" y="288"/>
                  <a:pt x="168" y="288"/>
                </a:cubicBezTo>
                <a:cubicBezTo>
                  <a:pt x="151" y="202"/>
                  <a:pt x="151" y="202"/>
                  <a:pt x="151" y="202"/>
                </a:cubicBezTo>
                <a:lnTo>
                  <a:pt x="147" y="202"/>
                </a:lnTo>
                <a:close/>
                <a:moveTo>
                  <a:pt x="341" y="266"/>
                </a:moveTo>
                <a:cubicBezTo>
                  <a:pt x="384" y="266"/>
                  <a:pt x="384" y="266"/>
                  <a:pt x="384" y="266"/>
                </a:cubicBezTo>
                <a:cubicBezTo>
                  <a:pt x="384" y="202"/>
                  <a:pt x="384" y="202"/>
                  <a:pt x="384" y="202"/>
                </a:cubicBezTo>
                <a:cubicBezTo>
                  <a:pt x="341" y="202"/>
                  <a:pt x="341" y="202"/>
                  <a:pt x="341" y="202"/>
                </a:cubicBezTo>
                <a:lnTo>
                  <a:pt x="341" y="266"/>
                </a:lnTo>
                <a:close/>
                <a:moveTo>
                  <a:pt x="362" y="138"/>
                </a:moveTo>
                <a:cubicBezTo>
                  <a:pt x="368" y="138"/>
                  <a:pt x="373" y="134"/>
                  <a:pt x="373" y="128"/>
                </a:cubicBezTo>
                <a:cubicBezTo>
                  <a:pt x="373" y="122"/>
                  <a:pt x="368" y="117"/>
                  <a:pt x="362" y="117"/>
                </a:cubicBezTo>
                <a:cubicBezTo>
                  <a:pt x="356" y="117"/>
                  <a:pt x="352" y="122"/>
                  <a:pt x="352" y="128"/>
                </a:cubicBezTo>
                <a:cubicBezTo>
                  <a:pt x="352" y="134"/>
                  <a:pt x="356" y="138"/>
                  <a:pt x="362"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128"/>
                </a:moveTo>
                <a:cubicBezTo>
                  <a:pt x="330" y="145"/>
                  <a:pt x="345" y="160"/>
                  <a:pt x="362" y="160"/>
                </a:cubicBezTo>
                <a:cubicBezTo>
                  <a:pt x="380" y="160"/>
                  <a:pt x="394" y="145"/>
                  <a:pt x="394" y="128"/>
                </a:cubicBezTo>
                <a:cubicBezTo>
                  <a:pt x="394" y="110"/>
                  <a:pt x="380" y="96"/>
                  <a:pt x="362" y="96"/>
                </a:cubicBezTo>
                <a:cubicBezTo>
                  <a:pt x="345" y="96"/>
                  <a:pt x="330" y="110"/>
                  <a:pt x="330" y="128"/>
                </a:cubicBezTo>
                <a:close/>
                <a:moveTo>
                  <a:pt x="224" y="128"/>
                </a:moveTo>
                <a:cubicBezTo>
                  <a:pt x="224" y="145"/>
                  <a:pt x="238" y="160"/>
                  <a:pt x="256" y="160"/>
                </a:cubicBezTo>
                <a:cubicBezTo>
                  <a:pt x="273" y="160"/>
                  <a:pt x="288" y="145"/>
                  <a:pt x="288" y="128"/>
                </a:cubicBezTo>
                <a:cubicBezTo>
                  <a:pt x="288" y="110"/>
                  <a:pt x="273" y="96"/>
                  <a:pt x="256" y="96"/>
                </a:cubicBezTo>
                <a:cubicBezTo>
                  <a:pt x="238" y="96"/>
                  <a:pt x="224" y="110"/>
                  <a:pt x="224" y="128"/>
                </a:cubicBezTo>
                <a:close/>
                <a:moveTo>
                  <a:pt x="117" y="128"/>
                </a:moveTo>
                <a:cubicBezTo>
                  <a:pt x="117" y="145"/>
                  <a:pt x="131" y="160"/>
                  <a:pt x="149" y="160"/>
                </a:cubicBezTo>
                <a:cubicBezTo>
                  <a:pt x="167" y="160"/>
                  <a:pt x="181" y="145"/>
                  <a:pt x="181" y="128"/>
                </a:cubicBezTo>
                <a:cubicBezTo>
                  <a:pt x="181" y="110"/>
                  <a:pt x="167" y="96"/>
                  <a:pt x="149" y="96"/>
                </a:cubicBezTo>
                <a:cubicBezTo>
                  <a:pt x="131" y="96"/>
                  <a:pt x="117" y="110"/>
                  <a:pt x="117" y="128"/>
                </a:cubicBezTo>
                <a:close/>
                <a:moveTo>
                  <a:pt x="191" y="296"/>
                </a:moveTo>
                <a:cubicBezTo>
                  <a:pt x="170" y="190"/>
                  <a:pt x="170" y="190"/>
                  <a:pt x="170" y="190"/>
                </a:cubicBezTo>
                <a:cubicBezTo>
                  <a:pt x="169" y="185"/>
                  <a:pt x="165" y="181"/>
                  <a:pt x="160" y="181"/>
                </a:cubicBezTo>
                <a:cubicBezTo>
                  <a:pt x="138" y="181"/>
                  <a:pt x="138" y="181"/>
                  <a:pt x="138" y="181"/>
                </a:cubicBezTo>
                <a:cubicBezTo>
                  <a:pt x="133" y="181"/>
                  <a:pt x="129" y="185"/>
                  <a:pt x="128" y="190"/>
                </a:cubicBezTo>
                <a:cubicBezTo>
                  <a:pt x="107" y="296"/>
                  <a:pt x="107" y="296"/>
                  <a:pt x="107" y="296"/>
                </a:cubicBezTo>
                <a:cubicBezTo>
                  <a:pt x="106" y="299"/>
                  <a:pt x="107" y="303"/>
                  <a:pt x="109" y="305"/>
                </a:cubicBezTo>
                <a:cubicBezTo>
                  <a:pt x="111" y="308"/>
                  <a:pt x="114" y="309"/>
                  <a:pt x="117" y="309"/>
                </a:cubicBezTo>
                <a:cubicBezTo>
                  <a:pt x="117" y="384"/>
                  <a:pt x="117" y="384"/>
                  <a:pt x="117" y="384"/>
                </a:cubicBezTo>
                <a:cubicBezTo>
                  <a:pt x="117" y="390"/>
                  <a:pt x="122" y="394"/>
                  <a:pt x="128" y="394"/>
                </a:cubicBezTo>
                <a:cubicBezTo>
                  <a:pt x="134" y="394"/>
                  <a:pt x="138" y="390"/>
                  <a:pt x="138" y="384"/>
                </a:cubicBezTo>
                <a:cubicBezTo>
                  <a:pt x="138" y="309"/>
                  <a:pt x="138" y="309"/>
                  <a:pt x="138" y="309"/>
                </a:cubicBezTo>
                <a:cubicBezTo>
                  <a:pt x="160" y="309"/>
                  <a:pt x="160" y="309"/>
                  <a:pt x="160" y="309"/>
                </a:cubicBezTo>
                <a:cubicBezTo>
                  <a:pt x="160" y="384"/>
                  <a:pt x="160" y="384"/>
                  <a:pt x="160" y="384"/>
                </a:cubicBezTo>
                <a:cubicBezTo>
                  <a:pt x="160" y="390"/>
                  <a:pt x="164" y="394"/>
                  <a:pt x="170" y="394"/>
                </a:cubicBezTo>
                <a:cubicBezTo>
                  <a:pt x="176" y="394"/>
                  <a:pt x="181" y="390"/>
                  <a:pt x="181" y="384"/>
                </a:cubicBezTo>
                <a:cubicBezTo>
                  <a:pt x="181" y="309"/>
                  <a:pt x="181" y="309"/>
                  <a:pt x="181" y="309"/>
                </a:cubicBezTo>
                <a:cubicBezTo>
                  <a:pt x="184" y="309"/>
                  <a:pt x="187" y="308"/>
                  <a:pt x="189" y="305"/>
                </a:cubicBezTo>
                <a:cubicBezTo>
                  <a:pt x="191" y="303"/>
                  <a:pt x="192" y="299"/>
                  <a:pt x="191" y="296"/>
                </a:cubicBezTo>
                <a:close/>
                <a:moveTo>
                  <a:pt x="298" y="296"/>
                </a:moveTo>
                <a:cubicBezTo>
                  <a:pt x="277" y="190"/>
                  <a:pt x="277" y="190"/>
                  <a:pt x="277" y="190"/>
                </a:cubicBezTo>
                <a:cubicBezTo>
                  <a:pt x="276" y="185"/>
                  <a:pt x="271" y="181"/>
                  <a:pt x="266" y="181"/>
                </a:cubicBezTo>
                <a:cubicBezTo>
                  <a:pt x="245" y="181"/>
                  <a:pt x="245" y="181"/>
                  <a:pt x="245" y="181"/>
                </a:cubicBezTo>
                <a:cubicBezTo>
                  <a:pt x="240" y="181"/>
                  <a:pt x="236" y="185"/>
                  <a:pt x="235" y="190"/>
                </a:cubicBezTo>
                <a:cubicBezTo>
                  <a:pt x="213" y="296"/>
                  <a:pt x="213" y="296"/>
                  <a:pt x="213" y="296"/>
                </a:cubicBezTo>
                <a:cubicBezTo>
                  <a:pt x="213" y="299"/>
                  <a:pt x="213" y="303"/>
                  <a:pt x="215" y="305"/>
                </a:cubicBezTo>
                <a:cubicBezTo>
                  <a:pt x="217" y="308"/>
                  <a:pt x="220" y="309"/>
                  <a:pt x="224" y="309"/>
                </a:cubicBezTo>
                <a:cubicBezTo>
                  <a:pt x="224" y="384"/>
                  <a:pt x="224" y="384"/>
                  <a:pt x="224" y="384"/>
                </a:cubicBezTo>
                <a:cubicBezTo>
                  <a:pt x="224" y="390"/>
                  <a:pt x="228" y="394"/>
                  <a:pt x="234" y="394"/>
                </a:cubicBezTo>
                <a:cubicBezTo>
                  <a:pt x="240" y="394"/>
                  <a:pt x="245" y="390"/>
                  <a:pt x="245" y="384"/>
                </a:cubicBezTo>
                <a:cubicBezTo>
                  <a:pt x="245" y="309"/>
                  <a:pt x="245" y="309"/>
                  <a:pt x="245" y="309"/>
                </a:cubicBezTo>
                <a:cubicBezTo>
                  <a:pt x="266" y="309"/>
                  <a:pt x="266" y="309"/>
                  <a:pt x="266" y="309"/>
                </a:cubicBezTo>
                <a:cubicBezTo>
                  <a:pt x="266" y="384"/>
                  <a:pt x="266" y="384"/>
                  <a:pt x="266" y="384"/>
                </a:cubicBezTo>
                <a:cubicBezTo>
                  <a:pt x="266" y="390"/>
                  <a:pt x="271" y="394"/>
                  <a:pt x="277" y="394"/>
                </a:cubicBezTo>
                <a:cubicBezTo>
                  <a:pt x="283" y="394"/>
                  <a:pt x="288" y="390"/>
                  <a:pt x="288" y="384"/>
                </a:cubicBezTo>
                <a:cubicBezTo>
                  <a:pt x="288" y="309"/>
                  <a:pt x="288" y="309"/>
                  <a:pt x="288" y="309"/>
                </a:cubicBezTo>
                <a:cubicBezTo>
                  <a:pt x="291" y="309"/>
                  <a:pt x="294" y="308"/>
                  <a:pt x="296" y="305"/>
                </a:cubicBezTo>
                <a:cubicBezTo>
                  <a:pt x="298" y="303"/>
                  <a:pt x="299" y="299"/>
                  <a:pt x="298" y="296"/>
                </a:cubicBezTo>
                <a:close/>
                <a:moveTo>
                  <a:pt x="405" y="192"/>
                </a:moveTo>
                <a:cubicBezTo>
                  <a:pt x="405" y="186"/>
                  <a:pt x="400" y="181"/>
                  <a:pt x="394" y="181"/>
                </a:cubicBezTo>
                <a:cubicBezTo>
                  <a:pt x="330" y="181"/>
                  <a:pt x="330" y="181"/>
                  <a:pt x="330" y="181"/>
                </a:cubicBezTo>
                <a:cubicBezTo>
                  <a:pt x="324" y="181"/>
                  <a:pt x="320" y="186"/>
                  <a:pt x="320" y="192"/>
                </a:cubicBezTo>
                <a:cubicBezTo>
                  <a:pt x="320" y="277"/>
                  <a:pt x="320" y="277"/>
                  <a:pt x="320" y="277"/>
                </a:cubicBezTo>
                <a:cubicBezTo>
                  <a:pt x="320" y="283"/>
                  <a:pt x="324" y="288"/>
                  <a:pt x="330" y="288"/>
                </a:cubicBezTo>
                <a:cubicBezTo>
                  <a:pt x="330" y="384"/>
                  <a:pt x="330" y="384"/>
                  <a:pt x="330" y="384"/>
                </a:cubicBezTo>
                <a:cubicBezTo>
                  <a:pt x="330" y="390"/>
                  <a:pt x="335" y="394"/>
                  <a:pt x="341" y="394"/>
                </a:cubicBezTo>
                <a:cubicBezTo>
                  <a:pt x="347" y="394"/>
                  <a:pt x="352" y="390"/>
                  <a:pt x="352" y="384"/>
                </a:cubicBezTo>
                <a:cubicBezTo>
                  <a:pt x="352" y="288"/>
                  <a:pt x="352" y="288"/>
                  <a:pt x="352" y="288"/>
                </a:cubicBezTo>
                <a:cubicBezTo>
                  <a:pt x="373" y="288"/>
                  <a:pt x="373" y="288"/>
                  <a:pt x="373" y="288"/>
                </a:cubicBezTo>
                <a:cubicBezTo>
                  <a:pt x="373" y="384"/>
                  <a:pt x="373" y="384"/>
                  <a:pt x="373" y="384"/>
                </a:cubicBezTo>
                <a:cubicBezTo>
                  <a:pt x="373" y="390"/>
                  <a:pt x="378" y="394"/>
                  <a:pt x="384" y="394"/>
                </a:cubicBezTo>
                <a:cubicBezTo>
                  <a:pt x="390" y="394"/>
                  <a:pt x="394" y="390"/>
                  <a:pt x="394" y="384"/>
                </a:cubicBezTo>
                <a:cubicBezTo>
                  <a:pt x="394" y="288"/>
                  <a:pt x="394" y="288"/>
                  <a:pt x="394" y="288"/>
                </a:cubicBezTo>
                <a:cubicBezTo>
                  <a:pt x="400" y="288"/>
                  <a:pt x="405" y="283"/>
                  <a:pt x="405" y="277"/>
                </a:cubicBezTo>
                <a:lnTo>
                  <a:pt x="405" y="192"/>
                </a:ln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9" name="Graphic 8" descr="Meeting outline">
            <a:extLst>
              <a:ext uri="{FF2B5EF4-FFF2-40B4-BE49-F238E27FC236}">
                <a16:creationId xmlns:a16="http://schemas.microsoft.com/office/drawing/2014/main" id="{A599287D-2B15-F87F-D109-DEEC547918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11536" y="2792516"/>
            <a:ext cx="406644" cy="406644"/>
          </a:xfrm>
          <a:prstGeom prst="rect">
            <a:avLst/>
          </a:prstGeom>
        </p:spPr>
      </p:pic>
      <p:pic>
        <p:nvPicPr>
          <p:cNvPr id="10" name="Graphic 9" descr="Loan outline">
            <a:extLst>
              <a:ext uri="{FF2B5EF4-FFF2-40B4-BE49-F238E27FC236}">
                <a16:creationId xmlns:a16="http://schemas.microsoft.com/office/drawing/2014/main" id="{CEE9F540-4B86-5A1D-5CA0-8BD77C7A0113}"/>
              </a:ext>
            </a:extLst>
          </p:cNvPr>
          <p:cNvPicPr preferRelativeResize="0">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89815" y="1545540"/>
            <a:ext cx="450086" cy="450086"/>
          </a:xfrm>
          <a:prstGeom prst="rect">
            <a:avLst/>
          </a:prstGeom>
        </p:spPr>
      </p:pic>
      <p:sp>
        <p:nvSpPr>
          <p:cNvPr id="11" name="TextBox 10">
            <a:extLst>
              <a:ext uri="{FF2B5EF4-FFF2-40B4-BE49-F238E27FC236}">
                <a16:creationId xmlns:a16="http://schemas.microsoft.com/office/drawing/2014/main" id="{2715C005-56FD-9440-D62E-0C14CC2E812D}"/>
              </a:ext>
            </a:extLst>
          </p:cNvPr>
          <p:cNvSpPr txBox="1"/>
          <p:nvPr/>
        </p:nvSpPr>
        <p:spPr>
          <a:xfrm>
            <a:off x="2375885" y="2080120"/>
            <a:ext cx="1446143" cy="246221"/>
          </a:xfrm>
          <a:prstGeom prst="rect">
            <a:avLst/>
          </a:prstGeom>
          <a:noFill/>
        </p:spPr>
        <p:txBody>
          <a:bodyPr wrap="square">
            <a:spAutoFit/>
          </a:bodyPr>
          <a:lstStyle/>
          <a:p>
            <a:pPr algn="ctr"/>
            <a:r>
              <a:rPr lang="en-US" sz="1000" b="1" dirty="0">
                <a:latin typeface="Calibri" panose="020F0502020204030204" pitchFamily="34" charset="0"/>
                <a:ea typeface="Calibri" panose="020F0502020204030204" pitchFamily="34" charset="0"/>
                <a:cs typeface="Calibri" panose="020F0502020204030204" pitchFamily="34" charset="0"/>
              </a:rPr>
              <a:t>Executive Sponsor </a:t>
            </a:r>
            <a:endParaRPr lang="en-US" sz="10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0B21C2F1-2C12-F5DC-BE76-F4765877CFFC}"/>
              </a:ext>
            </a:extLst>
          </p:cNvPr>
          <p:cNvSpPr txBox="1"/>
          <p:nvPr/>
        </p:nvSpPr>
        <p:spPr>
          <a:xfrm>
            <a:off x="2400465" y="3327576"/>
            <a:ext cx="1446143" cy="246221"/>
          </a:xfrm>
          <a:prstGeom prst="rect">
            <a:avLst/>
          </a:prstGeom>
          <a:noFill/>
        </p:spPr>
        <p:txBody>
          <a:bodyPr wrap="square">
            <a:spAutoFit/>
          </a:bodyPr>
          <a:lstStyle/>
          <a:p>
            <a:pPr algn="ctr"/>
            <a:r>
              <a:rPr lang="en-US" sz="1000" b="1" dirty="0">
                <a:latin typeface="Calibri" panose="020F0502020204030204" pitchFamily="34" charset="0"/>
                <a:ea typeface="Calibri" panose="020F0502020204030204" pitchFamily="34" charset="0"/>
                <a:cs typeface="Calibri" panose="020F0502020204030204" pitchFamily="34" charset="0"/>
              </a:rPr>
              <a:t>Steering Committee</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3AB3F3-2D7A-391D-BF9E-F50536BBB006}"/>
              </a:ext>
            </a:extLst>
          </p:cNvPr>
          <p:cNvSpPr txBox="1"/>
          <p:nvPr/>
        </p:nvSpPr>
        <p:spPr>
          <a:xfrm>
            <a:off x="2400465" y="4604015"/>
            <a:ext cx="1446143" cy="246221"/>
          </a:xfrm>
          <a:prstGeom prst="rect">
            <a:avLst/>
          </a:prstGeom>
          <a:noFill/>
        </p:spPr>
        <p:txBody>
          <a:bodyPr wrap="square" lIns="91440" tIns="45720" rIns="91440" bIns="45720" anchor="t">
            <a:spAutoFit/>
          </a:bodyPr>
          <a:lstStyle/>
          <a:p>
            <a:pPr algn="ctr"/>
            <a:r>
              <a:rPr lang="en-US" sz="1000" b="1" dirty="0">
                <a:latin typeface="Calibri" panose="020F0502020204030204" pitchFamily="34" charset="0"/>
                <a:ea typeface="Calibri" panose="020F0502020204030204" pitchFamily="34" charset="0"/>
                <a:cs typeface="Calibri" panose="020F0502020204030204" pitchFamily="34" charset="0"/>
              </a:rPr>
              <a:t>Governance Council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14966B59-FC0C-AFB5-2E69-279D476E1759}"/>
              </a:ext>
            </a:extLst>
          </p:cNvPr>
          <p:cNvSpPr txBox="1"/>
          <p:nvPr/>
        </p:nvSpPr>
        <p:spPr>
          <a:xfrm>
            <a:off x="2400465" y="5862598"/>
            <a:ext cx="1446143" cy="246221"/>
          </a:xfrm>
          <a:prstGeom prst="rect">
            <a:avLst/>
          </a:prstGeom>
          <a:noFill/>
        </p:spPr>
        <p:txBody>
          <a:bodyPr wrap="square">
            <a:spAutoFit/>
          </a:bodyPr>
          <a:lstStyle/>
          <a:p>
            <a:pPr algn="ctr"/>
            <a:r>
              <a:rPr lang="en-US" sz="1000" b="1" dirty="0" err="1">
                <a:latin typeface="Calibri" panose="020F0502020204030204" pitchFamily="34" charset="0"/>
                <a:ea typeface="Calibri" panose="020F0502020204030204" pitchFamily="34" charset="0"/>
                <a:cs typeface="Calibri" panose="020F0502020204030204" pitchFamily="34" charset="0"/>
              </a:rPr>
              <a:t>CoE</a:t>
            </a:r>
            <a:r>
              <a:rPr lang="en-US" sz="1000" b="1" dirty="0">
                <a:latin typeface="Calibri" panose="020F0502020204030204" pitchFamily="34" charset="0"/>
                <a:ea typeface="Calibri" panose="020F0502020204030204" pitchFamily="34" charset="0"/>
                <a:cs typeface="Calibri" panose="020F0502020204030204" pitchFamily="34" charset="0"/>
              </a:rPr>
              <a:t> Working Groups</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69DB74C8-BF17-BE03-0A78-D4B61D75DAA8}"/>
              </a:ext>
            </a:extLst>
          </p:cNvPr>
          <p:cNvSpPr txBox="1"/>
          <p:nvPr/>
        </p:nvSpPr>
        <p:spPr>
          <a:xfrm>
            <a:off x="594730" y="1675566"/>
            <a:ext cx="185967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Provides strategic direction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and support</a:t>
            </a:r>
            <a:endParaRPr lang="en-US" sz="100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CDEE033-291F-CE5B-8F7A-614F83C8002F}"/>
              </a:ext>
            </a:extLst>
          </p:cNvPr>
          <p:cNvSpPr txBox="1"/>
          <p:nvPr/>
        </p:nvSpPr>
        <p:spPr>
          <a:xfrm>
            <a:off x="586357" y="2771470"/>
            <a:ext cx="1860746"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prstClr val="black"/>
                </a:solidFill>
                <a:latin typeface="Calibri" panose="020F0502020204030204" pitchFamily="34" charset="0"/>
                <a:ea typeface="Calibri" panose="020F0502020204030204" pitchFamily="34" charset="0"/>
                <a:cs typeface="Calibri" panose="020F0502020204030204" pitchFamily="34" charset="0"/>
              </a:rPr>
              <a:t>Defines priorities, promotes alignment, approves key governance strategies and initiatives, resolves escalated issues</a:t>
            </a:r>
          </a:p>
        </p:txBody>
      </p:sp>
      <p:sp>
        <p:nvSpPr>
          <p:cNvPr id="17" name="TextBox 16">
            <a:extLst>
              <a:ext uri="{FF2B5EF4-FFF2-40B4-BE49-F238E27FC236}">
                <a16:creationId xmlns:a16="http://schemas.microsoft.com/office/drawing/2014/main" id="{680A1CBC-0332-7211-1858-50CB83E89831}"/>
              </a:ext>
            </a:extLst>
          </p:cNvPr>
          <p:cNvSpPr txBox="1"/>
          <p:nvPr/>
        </p:nvSpPr>
        <p:spPr>
          <a:xfrm>
            <a:off x="594730" y="4071544"/>
            <a:ext cx="1789528" cy="861774"/>
          </a:xfrm>
          <a:prstGeom prst="rect">
            <a:avLst/>
          </a:prstGeom>
          <a:noFill/>
        </p:spPr>
        <p:txBody>
          <a:bodyPr wrap="square">
            <a:spAutoFit/>
          </a:bodyPr>
          <a:lstStyle/>
          <a:p>
            <a:r>
              <a:rPr lang="en-US" sz="1000">
                <a:solidFill>
                  <a:prstClr val="black"/>
                </a:solidFill>
                <a:latin typeface="Calibri" panose="020F0502020204030204" pitchFamily="34" charset="0"/>
                <a:ea typeface="Calibri" panose="020F0502020204030204" pitchFamily="34" charset="0"/>
                <a:cs typeface="Calibri" panose="020F0502020204030204" pitchFamily="34" charset="0"/>
              </a:rPr>
              <a:t>Executes against priorities, strategies, roadmaps, scope, budget, schedule, continuous improvement within the domain</a:t>
            </a:r>
          </a:p>
        </p:txBody>
      </p:sp>
      <p:sp>
        <p:nvSpPr>
          <p:cNvPr id="18" name="TextBox 17">
            <a:extLst>
              <a:ext uri="{FF2B5EF4-FFF2-40B4-BE49-F238E27FC236}">
                <a16:creationId xmlns:a16="http://schemas.microsoft.com/office/drawing/2014/main" id="{A7473ADD-E129-22A5-05E8-95BB4A239AE1}"/>
              </a:ext>
            </a:extLst>
          </p:cNvPr>
          <p:cNvSpPr txBox="1"/>
          <p:nvPr/>
        </p:nvSpPr>
        <p:spPr>
          <a:xfrm>
            <a:off x="586357" y="5371618"/>
            <a:ext cx="1860746"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Empowered to make of rulings and escalate complex, high-risk options</a:t>
            </a:r>
            <a:endParaRPr lang="en-US" sz="10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Arrow: Up-Down 18">
            <a:extLst>
              <a:ext uri="{FF2B5EF4-FFF2-40B4-BE49-F238E27FC236}">
                <a16:creationId xmlns:a16="http://schemas.microsoft.com/office/drawing/2014/main" id="{D19C2BE9-4BDB-6A63-A1D8-10245F2D48F3}"/>
              </a:ext>
            </a:extLst>
          </p:cNvPr>
          <p:cNvSpPr/>
          <p:nvPr/>
        </p:nvSpPr>
        <p:spPr>
          <a:xfrm>
            <a:off x="3069138" y="5029411"/>
            <a:ext cx="91440" cy="196882"/>
          </a:xfrm>
          <a:prstGeom prst="upDownArrow">
            <a:avLst/>
          </a:prstGeom>
          <a:solidFill>
            <a:srgbClr val="5F656A">
              <a:alpha val="70000"/>
            </a:srgb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25000" lnSpcReduction="20000"/>
          </a:bodyPr>
          <a:lstStyle/>
          <a:p>
            <a:pPr algn="ct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Arrow: Up-Down 19">
            <a:extLst>
              <a:ext uri="{FF2B5EF4-FFF2-40B4-BE49-F238E27FC236}">
                <a16:creationId xmlns:a16="http://schemas.microsoft.com/office/drawing/2014/main" id="{9688128E-BBFB-3959-DD28-420FE17F1AB1}"/>
              </a:ext>
            </a:extLst>
          </p:cNvPr>
          <p:cNvSpPr/>
          <p:nvPr/>
        </p:nvSpPr>
        <p:spPr>
          <a:xfrm>
            <a:off x="3077816" y="3748895"/>
            <a:ext cx="91440" cy="196882"/>
          </a:xfrm>
          <a:prstGeom prst="upDownArrow">
            <a:avLst/>
          </a:prstGeom>
          <a:solidFill>
            <a:srgbClr val="5F656A">
              <a:alpha val="70000"/>
            </a:srgb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25000" lnSpcReduction="20000"/>
          </a:bodyPr>
          <a:lstStyle/>
          <a:p>
            <a:pPr algn="ct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Arrow: Up-Down 20">
            <a:extLst>
              <a:ext uri="{FF2B5EF4-FFF2-40B4-BE49-F238E27FC236}">
                <a16:creationId xmlns:a16="http://schemas.microsoft.com/office/drawing/2014/main" id="{7CC72ECB-96E4-1768-4068-7F3A66673F01}"/>
              </a:ext>
            </a:extLst>
          </p:cNvPr>
          <p:cNvSpPr/>
          <p:nvPr/>
        </p:nvSpPr>
        <p:spPr>
          <a:xfrm>
            <a:off x="3069138" y="2480230"/>
            <a:ext cx="91440" cy="196882"/>
          </a:xfrm>
          <a:prstGeom prst="upDownArrow">
            <a:avLst/>
          </a:prstGeom>
          <a:solidFill>
            <a:srgbClr val="5F656A">
              <a:alpha val="70000"/>
            </a:srgb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25000" lnSpcReduction="20000"/>
          </a:bodyPr>
          <a:lstStyle/>
          <a:p>
            <a:pPr algn="ct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Freeform 324">
            <a:extLst>
              <a:ext uri="{FF2B5EF4-FFF2-40B4-BE49-F238E27FC236}">
                <a16:creationId xmlns:a16="http://schemas.microsoft.com/office/drawing/2014/main" id="{451553D3-430B-7A1A-8258-D2C892DB6E7C}"/>
              </a:ext>
            </a:extLst>
          </p:cNvPr>
          <p:cNvSpPr>
            <a:spLocks noChangeAspect="1" noEditPoints="1"/>
          </p:cNvSpPr>
          <p:nvPr/>
        </p:nvSpPr>
        <p:spPr bwMode="auto">
          <a:xfrm>
            <a:off x="5345959" y="5317950"/>
            <a:ext cx="533437" cy="533437"/>
          </a:xfrm>
          <a:custGeom>
            <a:avLst/>
            <a:gdLst>
              <a:gd name="T0" fmla="*/ 264 w 512"/>
              <a:gd name="T1" fmla="*/ 120 h 512"/>
              <a:gd name="T2" fmla="*/ 343 w 512"/>
              <a:gd name="T3" fmla="*/ 151 h 512"/>
              <a:gd name="T4" fmla="*/ 341 w 512"/>
              <a:gd name="T5" fmla="*/ 156 h 512"/>
              <a:gd name="T6" fmla="*/ 331 w 512"/>
              <a:gd name="T7" fmla="*/ 161 h 512"/>
              <a:gd name="T8" fmla="*/ 326 w 512"/>
              <a:gd name="T9" fmla="*/ 167 h 512"/>
              <a:gd name="T10" fmla="*/ 291 w 512"/>
              <a:gd name="T11" fmla="*/ 256 h 512"/>
              <a:gd name="T12" fmla="*/ 294 w 512"/>
              <a:gd name="T13" fmla="*/ 268 h 512"/>
              <a:gd name="T14" fmla="*/ 315 w 512"/>
              <a:gd name="T15" fmla="*/ 285 h 512"/>
              <a:gd name="T16" fmla="*/ 306 w 512"/>
              <a:gd name="T17" fmla="*/ 308 h 512"/>
              <a:gd name="T18" fmla="*/ 186 w 512"/>
              <a:gd name="T19" fmla="*/ 262 h 512"/>
              <a:gd name="T20" fmla="*/ 195 w 512"/>
              <a:gd name="T21" fmla="*/ 239 h 512"/>
              <a:gd name="T22" fmla="*/ 221 w 512"/>
              <a:gd name="T23" fmla="*/ 240 h 512"/>
              <a:gd name="T24" fmla="*/ 232 w 512"/>
              <a:gd name="T25" fmla="*/ 233 h 512"/>
              <a:gd name="T26" fmla="*/ 266 w 512"/>
              <a:gd name="T27" fmla="*/ 144 h 512"/>
              <a:gd name="T28" fmla="*/ 266 w 512"/>
              <a:gd name="T29" fmla="*/ 136 h 512"/>
              <a:gd name="T30" fmla="*/ 261 w 512"/>
              <a:gd name="T31" fmla="*/ 126 h 512"/>
              <a:gd name="T32" fmla="*/ 264 w 512"/>
              <a:gd name="T33" fmla="*/ 120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361 w 512"/>
              <a:gd name="T45" fmla="*/ 134 h 512"/>
              <a:gd name="T46" fmla="*/ 261 w 512"/>
              <a:gd name="T47" fmla="*/ 96 h 512"/>
              <a:gd name="T48" fmla="*/ 247 w 512"/>
              <a:gd name="T49" fmla="*/ 102 h 512"/>
              <a:gd name="T50" fmla="*/ 240 w 512"/>
              <a:gd name="T51" fmla="*/ 122 h 512"/>
              <a:gd name="T52" fmla="*/ 240 w 512"/>
              <a:gd name="T53" fmla="*/ 131 h 512"/>
              <a:gd name="T54" fmla="*/ 244 w 512"/>
              <a:gd name="T55" fmla="*/ 140 h 512"/>
              <a:gd name="T56" fmla="*/ 214 w 512"/>
              <a:gd name="T57" fmla="*/ 219 h 512"/>
              <a:gd name="T58" fmla="*/ 188 w 512"/>
              <a:gd name="T59" fmla="*/ 218 h 512"/>
              <a:gd name="T60" fmla="*/ 178 w 512"/>
              <a:gd name="T61" fmla="*/ 224 h 512"/>
              <a:gd name="T62" fmla="*/ 163 w 512"/>
              <a:gd name="T63" fmla="*/ 264 h 512"/>
              <a:gd name="T64" fmla="*/ 163 w 512"/>
              <a:gd name="T65" fmla="*/ 272 h 512"/>
              <a:gd name="T66" fmla="*/ 169 w 512"/>
              <a:gd name="T67" fmla="*/ 278 h 512"/>
              <a:gd name="T68" fmla="*/ 229 w 512"/>
              <a:gd name="T69" fmla="*/ 301 h 512"/>
              <a:gd name="T70" fmla="*/ 194 w 512"/>
              <a:gd name="T71" fmla="*/ 391 h 512"/>
              <a:gd name="T72" fmla="*/ 200 w 512"/>
              <a:gd name="T73" fmla="*/ 404 h 512"/>
              <a:gd name="T74" fmla="*/ 204 w 512"/>
              <a:gd name="T75" fmla="*/ 405 h 512"/>
              <a:gd name="T76" fmla="*/ 214 w 512"/>
              <a:gd name="T77" fmla="*/ 398 h 512"/>
              <a:gd name="T78" fmla="*/ 248 w 512"/>
              <a:gd name="T79" fmla="*/ 308 h 512"/>
              <a:gd name="T80" fmla="*/ 308 w 512"/>
              <a:gd name="T81" fmla="*/ 331 h 512"/>
              <a:gd name="T82" fmla="*/ 312 w 512"/>
              <a:gd name="T83" fmla="*/ 332 h 512"/>
              <a:gd name="T84" fmla="*/ 322 w 512"/>
              <a:gd name="T85" fmla="*/ 325 h 512"/>
              <a:gd name="T86" fmla="*/ 337 w 512"/>
              <a:gd name="T87" fmla="*/ 285 h 512"/>
              <a:gd name="T88" fmla="*/ 334 w 512"/>
              <a:gd name="T89" fmla="*/ 273 h 512"/>
              <a:gd name="T90" fmla="*/ 314 w 512"/>
              <a:gd name="T91" fmla="*/ 257 h 512"/>
              <a:gd name="T92" fmla="*/ 344 w 512"/>
              <a:gd name="T93" fmla="*/ 178 h 512"/>
              <a:gd name="T94" fmla="*/ 354 w 512"/>
              <a:gd name="T95" fmla="*/ 174 h 512"/>
              <a:gd name="T96" fmla="*/ 359 w 512"/>
              <a:gd name="T97" fmla="*/ 168 h 512"/>
              <a:gd name="T98" fmla="*/ 367 w 512"/>
              <a:gd name="T99" fmla="*/ 148 h 512"/>
              <a:gd name="T100" fmla="*/ 361 w 512"/>
              <a:gd name="T101" fmla="*/ 13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12" h="512">
                <a:moveTo>
                  <a:pt x="264" y="120"/>
                </a:moveTo>
                <a:cubicBezTo>
                  <a:pt x="343" y="151"/>
                  <a:pt x="343" y="151"/>
                  <a:pt x="343" y="151"/>
                </a:cubicBezTo>
                <a:cubicBezTo>
                  <a:pt x="341" y="156"/>
                  <a:pt x="341" y="156"/>
                  <a:pt x="341" y="156"/>
                </a:cubicBezTo>
                <a:cubicBezTo>
                  <a:pt x="331" y="161"/>
                  <a:pt x="331" y="161"/>
                  <a:pt x="331" y="161"/>
                </a:cubicBezTo>
                <a:cubicBezTo>
                  <a:pt x="329" y="162"/>
                  <a:pt x="327" y="164"/>
                  <a:pt x="326" y="167"/>
                </a:cubicBezTo>
                <a:cubicBezTo>
                  <a:pt x="291" y="256"/>
                  <a:pt x="291" y="256"/>
                  <a:pt x="291" y="256"/>
                </a:cubicBezTo>
                <a:cubicBezTo>
                  <a:pt x="290" y="261"/>
                  <a:pt x="291" y="266"/>
                  <a:pt x="294" y="268"/>
                </a:cubicBezTo>
                <a:cubicBezTo>
                  <a:pt x="315" y="285"/>
                  <a:pt x="315" y="285"/>
                  <a:pt x="315" y="285"/>
                </a:cubicBezTo>
                <a:cubicBezTo>
                  <a:pt x="306" y="308"/>
                  <a:pt x="306" y="308"/>
                  <a:pt x="306" y="308"/>
                </a:cubicBezTo>
                <a:cubicBezTo>
                  <a:pt x="186" y="262"/>
                  <a:pt x="186" y="262"/>
                  <a:pt x="186" y="262"/>
                </a:cubicBezTo>
                <a:cubicBezTo>
                  <a:pt x="195" y="239"/>
                  <a:pt x="195" y="239"/>
                  <a:pt x="195" y="239"/>
                </a:cubicBezTo>
                <a:cubicBezTo>
                  <a:pt x="221" y="240"/>
                  <a:pt x="221" y="240"/>
                  <a:pt x="221" y="240"/>
                </a:cubicBezTo>
                <a:cubicBezTo>
                  <a:pt x="226" y="241"/>
                  <a:pt x="230" y="238"/>
                  <a:pt x="232" y="233"/>
                </a:cubicBezTo>
                <a:cubicBezTo>
                  <a:pt x="266" y="144"/>
                  <a:pt x="266" y="144"/>
                  <a:pt x="266" y="144"/>
                </a:cubicBezTo>
                <a:cubicBezTo>
                  <a:pt x="267" y="141"/>
                  <a:pt x="267" y="138"/>
                  <a:pt x="266" y="136"/>
                </a:cubicBezTo>
                <a:cubicBezTo>
                  <a:pt x="261" y="126"/>
                  <a:pt x="261" y="126"/>
                  <a:pt x="261" y="126"/>
                </a:cubicBezTo>
                <a:lnTo>
                  <a:pt x="264" y="12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61" y="134"/>
                </a:moveTo>
                <a:cubicBezTo>
                  <a:pt x="261" y="96"/>
                  <a:pt x="261" y="96"/>
                  <a:pt x="261" y="96"/>
                </a:cubicBezTo>
                <a:cubicBezTo>
                  <a:pt x="256" y="94"/>
                  <a:pt x="250" y="97"/>
                  <a:pt x="247" y="102"/>
                </a:cubicBezTo>
                <a:cubicBezTo>
                  <a:pt x="240" y="122"/>
                  <a:pt x="240" y="122"/>
                  <a:pt x="240" y="122"/>
                </a:cubicBezTo>
                <a:cubicBezTo>
                  <a:pt x="239" y="125"/>
                  <a:pt x="239" y="128"/>
                  <a:pt x="240" y="131"/>
                </a:cubicBezTo>
                <a:cubicBezTo>
                  <a:pt x="244" y="140"/>
                  <a:pt x="244" y="140"/>
                  <a:pt x="244" y="140"/>
                </a:cubicBezTo>
                <a:cubicBezTo>
                  <a:pt x="214" y="219"/>
                  <a:pt x="214" y="219"/>
                  <a:pt x="214" y="219"/>
                </a:cubicBezTo>
                <a:cubicBezTo>
                  <a:pt x="188" y="218"/>
                  <a:pt x="188" y="218"/>
                  <a:pt x="188" y="218"/>
                </a:cubicBezTo>
                <a:cubicBezTo>
                  <a:pt x="184" y="217"/>
                  <a:pt x="180" y="220"/>
                  <a:pt x="178" y="224"/>
                </a:cubicBezTo>
                <a:cubicBezTo>
                  <a:pt x="163" y="264"/>
                  <a:pt x="163" y="264"/>
                  <a:pt x="163" y="264"/>
                </a:cubicBezTo>
                <a:cubicBezTo>
                  <a:pt x="162" y="267"/>
                  <a:pt x="162" y="270"/>
                  <a:pt x="163" y="272"/>
                </a:cubicBezTo>
                <a:cubicBezTo>
                  <a:pt x="164" y="275"/>
                  <a:pt x="166" y="277"/>
                  <a:pt x="169" y="278"/>
                </a:cubicBezTo>
                <a:cubicBezTo>
                  <a:pt x="229" y="301"/>
                  <a:pt x="229" y="301"/>
                  <a:pt x="229" y="301"/>
                </a:cubicBezTo>
                <a:cubicBezTo>
                  <a:pt x="194" y="391"/>
                  <a:pt x="194" y="391"/>
                  <a:pt x="194" y="391"/>
                </a:cubicBezTo>
                <a:cubicBezTo>
                  <a:pt x="192" y="396"/>
                  <a:pt x="195" y="402"/>
                  <a:pt x="200" y="404"/>
                </a:cubicBezTo>
                <a:cubicBezTo>
                  <a:pt x="202" y="405"/>
                  <a:pt x="203" y="405"/>
                  <a:pt x="204" y="405"/>
                </a:cubicBezTo>
                <a:cubicBezTo>
                  <a:pt x="208" y="405"/>
                  <a:pt x="212" y="402"/>
                  <a:pt x="214" y="398"/>
                </a:cubicBezTo>
                <a:cubicBezTo>
                  <a:pt x="248" y="308"/>
                  <a:pt x="248" y="308"/>
                  <a:pt x="248" y="308"/>
                </a:cubicBezTo>
                <a:cubicBezTo>
                  <a:pt x="308" y="331"/>
                  <a:pt x="308" y="331"/>
                  <a:pt x="308" y="331"/>
                </a:cubicBezTo>
                <a:cubicBezTo>
                  <a:pt x="309" y="332"/>
                  <a:pt x="311" y="332"/>
                  <a:pt x="312" y="332"/>
                </a:cubicBezTo>
                <a:cubicBezTo>
                  <a:pt x="316" y="332"/>
                  <a:pt x="320" y="329"/>
                  <a:pt x="322" y="325"/>
                </a:cubicBezTo>
                <a:cubicBezTo>
                  <a:pt x="337" y="285"/>
                  <a:pt x="337" y="285"/>
                  <a:pt x="337" y="285"/>
                </a:cubicBezTo>
                <a:cubicBezTo>
                  <a:pt x="339" y="281"/>
                  <a:pt x="338" y="276"/>
                  <a:pt x="334" y="273"/>
                </a:cubicBezTo>
                <a:cubicBezTo>
                  <a:pt x="314" y="257"/>
                  <a:pt x="314" y="257"/>
                  <a:pt x="314" y="257"/>
                </a:cubicBezTo>
                <a:cubicBezTo>
                  <a:pt x="344" y="178"/>
                  <a:pt x="344" y="178"/>
                  <a:pt x="344" y="178"/>
                </a:cubicBezTo>
                <a:cubicBezTo>
                  <a:pt x="354" y="174"/>
                  <a:pt x="354" y="174"/>
                  <a:pt x="354" y="174"/>
                </a:cubicBezTo>
                <a:cubicBezTo>
                  <a:pt x="356" y="173"/>
                  <a:pt x="358" y="171"/>
                  <a:pt x="359" y="168"/>
                </a:cubicBezTo>
                <a:cubicBezTo>
                  <a:pt x="367" y="148"/>
                  <a:pt x="367" y="148"/>
                  <a:pt x="367" y="148"/>
                </a:cubicBezTo>
                <a:cubicBezTo>
                  <a:pt x="369" y="143"/>
                  <a:pt x="366" y="137"/>
                  <a:pt x="361" y="134"/>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3" name="Freeform 538">
            <a:extLst>
              <a:ext uri="{FF2B5EF4-FFF2-40B4-BE49-F238E27FC236}">
                <a16:creationId xmlns:a16="http://schemas.microsoft.com/office/drawing/2014/main" id="{E0F90527-8366-ECAA-B68A-923630BA0F5A}"/>
              </a:ext>
            </a:extLst>
          </p:cNvPr>
          <p:cNvSpPr>
            <a:spLocks noChangeAspect="1" noEditPoints="1"/>
          </p:cNvSpPr>
          <p:nvPr/>
        </p:nvSpPr>
        <p:spPr bwMode="auto">
          <a:xfrm>
            <a:off x="5345959" y="4029041"/>
            <a:ext cx="531048" cy="531048"/>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523C63F8-D558-6329-C9C2-10D1A5A3509A}"/>
              </a:ext>
            </a:extLst>
          </p:cNvPr>
          <p:cNvSpPr txBox="1"/>
          <p:nvPr/>
        </p:nvSpPr>
        <p:spPr>
          <a:xfrm>
            <a:off x="4886022" y="4598421"/>
            <a:ext cx="1446143" cy="400110"/>
          </a:xfrm>
          <a:prstGeom prst="rect">
            <a:avLst/>
          </a:prstGeom>
          <a:noFill/>
        </p:spPr>
        <p:txBody>
          <a:bodyPr wrap="square">
            <a:spAutoFit/>
          </a:bodyPr>
          <a:lstStyle/>
          <a:p>
            <a:pPr algn="ctr"/>
            <a:r>
              <a:rPr lang="en-US" sz="1000" b="1">
                <a:latin typeface="Calibri" panose="020F0502020204030204" pitchFamily="34" charset="0"/>
                <a:ea typeface="Calibri" panose="020F0502020204030204" pitchFamily="34" charset="0"/>
                <a:cs typeface="Calibri" panose="020F0502020204030204" pitchFamily="34" charset="0"/>
              </a:rPr>
              <a:t>Business Process Owners</a:t>
            </a:r>
            <a:endParaRPr lang="en-US" sz="100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F4CFD952-7E4E-C0F5-9133-65F9183F1230}"/>
              </a:ext>
            </a:extLst>
          </p:cNvPr>
          <p:cNvSpPr txBox="1"/>
          <p:nvPr/>
        </p:nvSpPr>
        <p:spPr>
          <a:xfrm>
            <a:off x="4888739" y="5895521"/>
            <a:ext cx="1446143" cy="553998"/>
          </a:xfrm>
          <a:prstGeom prst="rect">
            <a:avLst/>
          </a:prstGeom>
          <a:noFill/>
        </p:spPr>
        <p:txBody>
          <a:bodyPr wrap="square">
            <a:spAutoFit/>
          </a:bodyPr>
          <a:lstStyle/>
          <a:p>
            <a:pPr algn="ctr"/>
            <a:r>
              <a:rPr lang="en-US" sz="1000" b="1" dirty="0">
                <a:latin typeface="Calibri" panose="020F0502020204030204" pitchFamily="34" charset="0"/>
                <a:ea typeface="Calibri" panose="020F0502020204030204" pitchFamily="34" charset="0"/>
                <a:cs typeface="Calibri" panose="020F0502020204030204" pitchFamily="34" charset="0"/>
              </a:rPr>
              <a:t>Lead Architect / Reviewer</a:t>
            </a:r>
          </a:p>
          <a:p>
            <a:pPr algn="ctr"/>
            <a:r>
              <a:rPr lang="en-US" sz="1000" b="1" dirty="0">
                <a:solidFill>
                  <a:srgbClr val="00B050"/>
                </a:solidFill>
                <a:latin typeface="Calibri" panose="020F0502020204030204" pitchFamily="34" charset="0"/>
                <a:ea typeface="Calibri" panose="020F0502020204030204" pitchFamily="34" charset="0"/>
                <a:cs typeface="Calibri" panose="020F0502020204030204" pitchFamily="34" charset="0"/>
              </a:rPr>
              <a:t>(Deepak)</a:t>
            </a:r>
            <a:endParaRPr lang="en-US" sz="10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Arrow: Left-Right 25">
            <a:extLst>
              <a:ext uri="{FF2B5EF4-FFF2-40B4-BE49-F238E27FC236}">
                <a16:creationId xmlns:a16="http://schemas.microsoft.com/office/drawing/2014/main" id="{5ECB1D01-C19F-460B-106E-A9E3B09BC498}"/>
              </a:ext>
            </a:extLst>
          </p:cNvPr>
          <p:cNvSpPr/>
          <p:nvPr/>
        </p:nvSpPr>
        <p:spPr>
          <a:xfrm>
            <a:off x="3481682" y="4259399"/>
            <a:ext cx="1737360" cy="91440"/>
          </a:xfrm>
          <a:prstGeom prst="leftRightArrow">
            <a:avLst/>
          </a:prstGeom>
          <a:solidFill>
            <a:srgbClr val="5F656A">
              <a:alpha val="70000"/>
            </a:srgb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25000" lnSpcReduction="20000"/>
          </a:bodyPr>
          <a:lstStyle/>
          <a:p>
            <a:pPr algn="ct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7" name="Arrow: Left-Right 26">
            <a:extLst>
              <a:ext uri="{FF2B5EF4-FFF2-40B4-BE49-F238E27FC236}">
                <a16:creationId xmlns:a16="http://schemas.microsoft.com/office/drawing/2014/main" id="{82D29F67-21B0-FD7E-5D8B-AB08F9285488}"/>
              </a:ext>
            </a:extLst>
          </p:cNvPr>
          <p:cNvSpPr/>
          <p:nvPr/>
        </p:nvSpPr>
        <p:spPr>
          <a:xfrm>
            <a:off x="3481682" y="5538948"/>
            <a:ext cx="1737360" cy="91440"/>
          </a:xfrm>
          <a:prstGeom prst="leftRightArrow">
            <a:avLst/>
          </a:prstGeom>
          <a:solidFill>
            <a:srgbClr val="5F656A">
              <a:alpha val="70000"/>
            </a:srgb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25000" lnSpcReduction="20000"/>
          </a:bodyPr>
          <a:lstStyle/>
          <a:p>
            <a:pPr algn="ct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Arrow: Left-Right 27">
            <a:extLst>
              <a:ext uri="{FF2B5EF4-FFF2-40B4-BE49-F238E27FC236}">
                <a16:creationId xmlns:a16="http://schemas.microsoft.com/office/drawing/2014/main" id="{9A64844B-6B0D-C252-52AE-9C826DAD4DF9}"/>
              </a:ext>
            </a:extLst>
          </p:cNvPr>
          <p:cNvSpPr/>
          <p:nvPr/>
        </p:nvSpPr>
        <p:spPr>
          <a:xfrm rot="1640695">
            <a:off x="3395397" y="4857834"/>
            <a:ext cx="1920240" cy="91440"/>
          </a:xfrm>
          <a:prstGeom prst="leftRightArrow">
            <a:avLst/>
          </a:prstGeom>
          <a:solidFill>
            <a:srgbClr val="5F656A">
              <a:alpha val="70000"/>
            </a:srgbClr>
          </a:solidFill>
        </p:spPr>
        <p:txBody>
          <a:bodyPr rot="0" spcFirstLastPara="0" vertOverflow="overflow" horzOverflow="overflow" vert="horz" wrap="square" lIns="91440" tIns="91440" rIns="91440" bIns="91440" numCol="1" spcCol="0" rtlCol="0" fromWordArt="0" anchor="ctr" anchorCtr="0" forceAA="0" compatLnSpc="1">
            <a:prstTxWarp prst="textNoShape">
              <a:avLst/>
            </a:prstTxWarp>
            <a:normAutofit fontScale="25000" lnSpcReduction="20000"/>
          </a:bodyPr>
          <a:lstStyle/>
          <a:p>
            <a:pPr algn="ct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F397B9E4-26E8-B222-3ED1-FD9D4545E026}"/>
              </a:ext>
            </a:extLst>
          </p:cNvPr>
          <p:cNvSpPr txBox="1"/>
          <p:nvPr/>
        </p:nvSpPr>
        <p:spPr>
          <a:xfrm>
            <a:off x="6276068" y="3905456"/>
            <a:ext cx="1871649" cy="707886"/>
          </a:xfrm>
          <a:prstGeom prst="rect">
            <a:avLst/>
          </a:prstGeom>
          <a:noFill/>
        </p:spPr>
        <p:txBody>
          <a:bodyPr wrap="square">
            <a:spAutoFit/>
          </a:bodyPr>
          <a:lstStyle/>
          <a:p>
            <a:r>
              <a:rPr lang="en-US" sz="1000">
                <a:solidFill>
                  <a:prstClr val="black"/>
                </a:solidFill>
                <a:latin typeface="Calibri" panose="020F0502020204030204" pitchFamily="34" charset="0"/>
                <a:ea typeface="Calibri" panose="020F0502020204030204" pitchFamily="34" charset="0"/>
                <a:cs typeface="Calibri" panose="020F0502020204030204" pitchFamily="34" charset="0"/>
              </a:rPr>
              <a:t>Experts in process with knowledge about potential changes in processes and technology</a:t>
            </a:r>
          </a:p>
        </p:txBody>
      </p:sp>
      <p:sp>
        <p:nvSpPr>
          <p:cNvPr id="30" name="TextBox 29">
            <a:extLst>
              <a:ext uri="{FF2B5EF4-FFF2-40B4-BE49-F238E27FC236}">
                <a16:creationId xmlns:a16="http://schemas.microsoft.com/office/drawing/2014/main" id="{8C289640-C0EC-5C57-988E-D499F0A13106}"/>
              </a:ext>
            </a:extLst>
          </p:cNvPr>
          <p:cNvSpPr txBox="1"/>
          <p:nvPr/>
        </p:nvSpPr>
        <p:spPr>
          <a:xfrm>
            <a:off x="6292286" y="5233742"/>
            <a:ext cx="1871649"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prstClr val="black"/>
                </a:solidFill>
                <a:latin typeface="Calibri" panose="020F0502020204030204" pitchFamily="34" charset="0"/>
                <a:ea typeface="Calibri" panose="020F0502020204030204" pitchFamily="34" charset="0"/>
                <a:cs typeface="Calibri" panose="020F0502020204030204" pitchFamily="34" charset="0"/>
              </a:rPr>
              <a:t>Establishes technical standards and decisions, upgrades / patches mechanism, change control</a:t>
            </a:r>
          </a:p>
        </p:txBody>
      </p:sp>
      <p:sp>
        <p:nvSpPr>
          <p:cNvPr id="32" name="Rectangle 31">
            <a:extLst>
              <a:ext uri="{FF2B5EF4-FFF2-40B4-BE49-F238E27FC236}">
                <a16:creationId xmlns:a16="http://schemas.microsoft.com/office/drawing/2014/main" id="{82077BD3-0883-4BD9-357F-682427FDDD8E}"/>
              </a:ext>
            </a:extLst>
          </p:cNvPr>
          <p:cNvSpPr/>
          <p:nvPr/>
        </p:nvSpPr>
        <p:spPr>
          <a:xfrm>
            <a:off x="4184212" y="2572111"/>
            <a:ext cx="3027680" cy="874923"/>
          </a:xfrm>
          <a:prstGeom prst="rect">
            <a:avLst/>
          </a:prstGeom>
          <a:noFill/>
          <a:ln>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latin typeface="Calibri" panose="020F0502020204030204" pitchFamily="34" charset="0"/>
                <a:ea typeface="Calibri" panose="020F0502020204030204" pitchFamily="34" charset="0"/>
                <a:cs typeface="Calibri" panose="020F0502020204030204" pitchFamily="34" charset="0"/>
              </a:rPr>
              <a:t>Arjun, Krishna</a:t>
            </a: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Bheema, Vashisht, Dasharath and </a:t>
            </a:r>
            <a:r>
              <a:rPr lang="en-US" sz="1200" b="1" dirty="0" err="1">
                <a:solidFill>
                  <a:srgbClr val="00B050"/>
                </a:solidFill>
                <a:latin typeface="Calibri" panose="020F0502020204030204" pitchFamily="34" charset="0"/>
                <a:ea typeface="Calibri" panose="020F0502020204030204" pitchFamily="34" charset="0"/>
                <a:cs typeface="Calibri" panose="020F0502020204030204" pitchFamily="34" charset="0"/>
              </a:rPr>
              <a:t>Vengamamba</a:t>
            </a:r>
            <a:endParaRPr lang="en-IN"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cxnSp>
        <p:nvCxnSpPr>
          <p:cNvPr id="34" name="Straight Arrow Connector 33">
            <a:extLst>
              <a:ext uri="{FF2B5EF4-FFF2-40B4-BE49-F238E27FC236}">
                <a16:creationId xmlns:a16="http://schemas.microsoft.com/office/drawing/2014/main" id="{59AF2873-94A1-CD90-5331-03EF6332A092}"/>
              </a:ext>
            </a:extLst>
          </p:cNvPr>
          <p:cNvCxnSpPr>
            <a:cxnSpLocks/>
            <a:stCxn id="7" idx="6"/>
            <a:endCxn id="32" idx="1"/>
          </p:cNvCxnSpPr>
          <p:nvPr/>
        </p:nvCxnSpPr>
        <p:spPr>
          <a:xfrm>
            <a:off x="3372353" y="3009573"/>
            <a:ext cx="811859" cy="0"/>
          </a:xfrm>
          <a:prstGeom prst="straightConnector1">
            <a:avLst/>
          </a:prstGeom>
          <a:ln>
            <a:solidFill>
              <a:srgbClr val="92D05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6DF86244-B1C0-5201-57CC-1E632C89489B}"/>
              </a:ext>
            </a:extLst>
          </p:cNvPr>
          <p:cNvCxnSpPr>
            <a:cxnSpLocks/>
            <a:stCxn id="5" idx="7"/>
            <a:endCxn id="41" idx="1"/>
          </p:cNvCxnSpPr>
          <p:nvPr/>
        </p:nvCxnSpPr>
        <p:spPr>
          <a:xfrm rot="5400000" flipH="1" flipV="1">
            <a:off x="5551944" y="1481536"/>
            <a:ext cx="369494" cy="4884217"/>
          </a:xfrm>
          <a:prstGeom prst="bentConnector2">
            <a:avLst/>
          </a:prstGeom>
          <a:ln w="28575">
            <a:solidFill>
              <a:srgbClr val="92D050"/>
            </a:solidFill>
            <a:prstDash val="dash"/>
            <a:tailEnd type="triangle"/>
          </a:ln>
        </p:spPr>
        <p:style>
          <a:lnRef idx="1">
            <a:schemeClr val="accent6"/>
          </a:lnRef>
          <a:fillRef idx="0">
            <a:schemeClr val="accent6"/>
          </a:fillRef>
          <a:effectRef idx="0">
            <a:schemeClr val="accent6"/>
          </a:effectRef>
          <a:fontRef idx="minor">
            <a:schemeClr val="tx1"/>
          </a:fontRef>
        </p:style>
      </p:cxnSp>
      <p:sp>
        <p:nvSpPr>
          <p:cNvPr id="41" name="Rectangle 40">
            <a:extLst>
              <a:ext uri="{FF2B5EF4-FFF2-40B4-BE49-F238E27FC236}">
                <a16:creationId xmlns:a16="http://schemas.microsoft.com/office/drawing/2014/main" id="{C048A549-CD21-33E4-263C-DD83F62F6860}"/>
              </a:ext>
            </a:extLst>
          </p:cNvPr>
          <p:cNvSpPr/>
          <p:nvPr/>
        </p:nvSpPr>
        <p:spPr>
          <a:xfrm>
            <a:off x="8178800" y="3221966"/>
            <a:ext cx="2225040" cy="1033861"/>
          </a:xfrm>
          <a:prstGeom prst="rect">
            <a:avLst/>
          </a:prstGeom>
          <a:noFill/>
          <a:ln>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Bheeshma, Nakul, Sahadev, Rama, Laxman, </a:t>
            </a:r>
            <a:r>
              <a:rPr lang="en-US" sz="1200" b="1" dirty="0">
                <a:solidFill>
                  <a:srgbClr val="0070C0"/>
                </a:solidFill>
                <a:latin typeface="Calibri" panose="020F0502020204030204" pitchFamily="34" charset="0"/>
                <a:ea typeface="Calibri" panose="020F0502020204030204" pitchFamily="34" charset="0"/>
                <a:cs typeface="Calibri" panose="020F0502020204030204" pitchFamily="34" charset="0"/>
              </a:rPr>
              <a:t>Uday, Vidya, Raghu, Raja, Ramana</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IN"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BA402BAD-70CD-EA78-1B65-BC7DF76FC857}"/>
              </a:ext>
            </a:extLst>
          </p:cNvPr>
          <p:cNvSpPr txBox="1"/>
          <p:nvPr/>
        </p:nvSpPr>
        <p:spPr>
          <a:xfrm>
            <a:off x="320409" y="717773"/>
            <a:ext cx="11439199" cy="646331"/>
          </a:xfrm>
          <a:prstGeom prst="rect">
            <a:avLst/>
          </a:prstGeom>
          <a:noFill/>
          <a:ln>
            <a:noFill/>
          </a:ln>
        </p:spPr>
        <p:txBody>
          <a:bodyPr wrap="square" lIns="91440" tIns="45720" rIns="91440" bIns="45720" rtlCol="0" anchor="t">
            <a:spAutoFit/>
          </a:bodyPr>
          <a:lstStyle/>
          <a:p>
            <a:pPr>
              <a:buClr>
                <a:schemeClr val="accent1"/>
              </a:buClr>
            </a:pPr>
            <a:r>
              <a:rPr lang="en-US" sz="1200" b="1" dirty="0">
                <a:latin typeface="Calibri" panose="020F0502020204030204" pitchFamily="34" charset="0"/>
                <a:ea typeface="Calibri" panose="020F0502020204030204" pitchFamily="34" charset="0"/>
                <a:cs typeface="Calibri" panose="020F0502020204030204" pitchFamily="34" charset="0"/>
              </a:rPr>
              <a:t>Governance structure aims to provide stakeholders across the various teams at ABC Corp with program activity transparency. It is designed to increase program operating dynamics and ensure active participation in program/ project decision-making processes. </a:t>
            </a:r>
            <a:r>
              <a:rPr lang="en-US" sz="1200" b="1" i="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Team members are empowered to take ownership for the project and understand their responsibilities and accountabilities.</a:t>
            </a:r>
          </a:p>
        </p:txBody>
      </p:sp>
      <p:sp>
        <p:nvSpPr>
          <p:cNvPr id="44" name="Rectangle 43">
            <a:extLst>
              <a:ext uri="{FF2B5EF4-FFF2-40B4-BE49-F238E27FC236}">
                <a16:creationId xmlns:a16="http://schemas.microsoft.com/office/drawing/2014/main" id="{7A36FDFB-45B0-FE92-FABB-C5DF43B5ACF4}"/>
              </a:ext>
            </a:extLst>
          </p:cNvPr>
          <p:cNvSpPr/>
          <p:nvPr/>
        </p:nvSpPr>
        <p:spPr>
          <a:xfrm>
            <a:off x="6694714" y="6115250"/>
            <a:ext cx="5290486" cy="440232"/>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ea typeface="Calibri" panose="020F0502020204030204" pitchFamily="34" charset="0"/>
                <a:cs typeface="Calibri" panose="020F0502020204030204" pitchFamily="34" charset="0"/>
              </a:rPr>
              <a:t>**Any governance decision may affect any or all groups, and there will often be cross collaboration and communications across any or all stakeholders</a:t>
            </a:r>
          </a:p>
        </p:txBody>
      </p:sp>
      <p:sp>
        <p:nvSpPr>
          <p:cNvPr id="31" name="Rectangle 30">
            <a:extLst>
              <a:ext uri="{FF2B5EF4-FFF2-40B4-BE49-F238E27FC236}">
                <a16:creationId xmlns:a16="http://schemas.microsoft.com/office/drawing/2014/main" id="{9BBBDD21-BC4C-9D39-0354-D11671B9AF73}"/>
              </a:ext>
            </a:extLst>
          </p:cNvPr>
          <p:cNvSpPr/>
          <p:nvPr/>
        </p:nvSpPr>
        <p:spPr>
          <a:xfrm>
            <a:off x="9061784" y="162800"/>
            <a:ext cx="469232" cy="218900"/>
          </a:xfrm>
          <a:prstGeom prst="rect">
            <a:avLst/>
          </a:prstGeom>
          <a:noFill/>
          <a:ln>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latin typeface="Calibri" panose="020F0502020204030204" pitchFamily="34" charset="0"/>
                <a:ea typeface="Calibri" panose="020F0502020204030204" pitchFamily="34" charset="0"/>
                <a:cs typeface="Calibri" panose="020F0502020204030204" pitchFamily="34" charset="0"/>
              </a:rPr>
              <a:t>ABC</a:t>
            </a:r>
            <a:endParaRPr lang="en-IN" sz="12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A7C670D5-0867-BD03-5D15-4AABE145370A}"/>
              </a:ext>
            </a:extLst>
          </p:cNvPr>
          <p:cNvSpPr/>
          <p:nvPr/>
        </p:nvSpPr>
        <p:spPr>
          <a:xfrm>
            <a:off x="10607040" y="162800"/>
            <a:ext cx="469232" cy="218900"/>
          </a:xfrm>
          <a:prstGeom prst="rect">
            <a:avLst/>
          </a:prstGeom>
          <a:noFill/>
          <a:ln>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ABC</a:t>
            </a:r>
            <a:endParaRPr lang="en-IN"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0F1D72CD-9E0F-6B58-E127-3C193C41AD0A}"/>
              </a:ext>
            </a:extLst>
          </p:cNvPr>
          <p:cNvSpPr/>
          <p:nvPr/>
        </p:nvSpPr>
        <p:spPr>
          <a:xfrm>
            <a:off x="9539264" y="162800"/>
            <a:ext cx="831273" cy="218900"/>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ABC Participants</a:t>
            </a:r>
            <a:endParaRPr lang="en-IN" sz="1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A3B5BD98-25C8-11A5-B30D-EFEA98A9ED34}"/>
              </a:ext>
            </a:extLst>
          </p:cNvPr>
          <p:cNvSpPr/>
          <p:nvPr/>
        </p:nvSpPr>
        <p:spPr>
          <a:xfrm>
            <a:off x="11076272" y="162800"/>
            <a:ext cx="831273" cy="218900"/>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XYZ Participants</a:t>
            </a:r>
            <a:endParaRPr lang="en-IN" sz="1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8" name="Frame 37">
            <a:extLst>
              <a:ext uri="{FF2B5EF4-FFF2-40B4-BE49-F238E27FC236}">
                <a16:creationId xmlns:a16="http://schemas.microsoft.com/office/drawing/2014/main" id="{E2173EAE-E176-3647-8832-AFD334AFA443}"/>
              </a:ext>
            </a:extLst>
          </p:cNvPr>
          <p:cNvSpPr/>
          <p:nvPr/>
        </p:nvSpPr>
        <p:spPr>
          <a:xfrm>
            <a:off x="6877102" y="2075638"/>
            <a:ext cx="1446143" cy="498848"/>
          </a:xfrm>
          <a:prstGeom prst="frame">
            <a:avLst/>
          </a:prstGeom>
          <a:solidFill>
            <a:schemeClr val="accent6"/>
          </a:solid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Weekly / Fortnightly Calls</a:t>
            </a:r>
            <a:endParaRPr lang="en-IN" sz="1100" b="1" dirty="0">
              <a:solidFill>
                <a:schemeClr val="tx1"/>
              </a:solidFill>
            </a:endParaRPr>
          </a:p>
        </p:txBody>
      </p:sp>
      <p:sp>
        <p:nvSpPr>
          <p:cNvPr id="40" name="Frame 39">
            <a:extLst>
              <a:ext uri="{FF2B5EF4-FFF2-40B4-BE49-F238E27FC236}">
                <a16:creationId xmlns:a16="http://schemas.microsoft.com/office/drawing/2014/main" id="{7DA1810D-5040-20E4-A7FF-A827BA086EFC}"/>
              </a:ext>
            </a:extLst>
          </p:cNvPr>
          <p:cNvSpPr/>
          <p:nvPr/>
        </p:nvSpPr>
        <p:spPr>
          <a:xfrm>
            <a:off x="9955880" y="2739465"/>
            <a:ext cx="1446143" cy="498848"/>
          </a:xfrm>
          <a:prstGeom prst="frame">
            <a:avLst/>
          </a:prstGeom>
          <a:solidFill>
            <a:schemeClr val="accent6"/>
          </a:solid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Daily Scrum Call</a:t>
            </a:r>
            <a:endParaRPr lang="en-IN" sz="1100" b="1" dirty="0">
              <a:solidFill>
                <a:schemeClr val="tx1"/>
              </a:solidFill>
            </a:endParaRPr>
          </a:p>
        </p:txBody>
      </p:sp>
    </p:spTree>
    <p:extLst>
      <p:ext uri="{BB962C8B-B14F-4D97-AF65-F5344CB8AC3E}">
        <p14:creationId xmlns:p14="http://schemas.microsoft.com/office/powerpoint/2010/main" val="293072077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Intake Management and Demand Prioritization</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grpSp>
        <p:nvGrpSpPr>
          <p:cNvPr id="137" name="Group 136">
            <a:extLst>
              <a:ext uri="{FF2B5EF4-FFF2-40B4-BE49-F238E27FC236}">
                <a16:creationId xmlns:a16="http://schemas.microsoft.com/office/drawing/2014/main" id="{1C5A98EC-D52E-E8A2-E8FA-0D4A0D1EF2B9}"/>
              </a:ext>
            </a:extLst>
          </p:cNvPr>
          <p:cNvGrpSpPr/>
          <p:nvPr/>
        </p:nvGrpSpPr>
        <p:grpSpPr>
          <a:xfrm>
            <a:off x="528320" y="894080"/>
            <a:ext cx="11231289" cy="5471838"/>
            <a:chOff x="1300700" y="1220877"/>
            <a:chExt cx="9950110" cy="4942996"/>
          </a:xfrm>
        </p:grpSpPr>
        <p:sp>
          <p:nvSpPr>
            <p:cNvPr id="4" name="object 12">
              <a:extLst>
                <a:ext uri="{FF2B5EF4-FFF2-40B4-BE49-F238E27FC236}">
                  <a16:creationId xmlns:a16="http://schemas.microsoft.com/office/drawing/2014/main" id="{F643D78F-BE7C-BB58-AA83-D715C94F50B9}"/>
                </a:ext>
              </a:extLst>
            </p:cNvPr>
            <p:cNvSpPr/>
            <p:nvPr/>
          </p:nvSpPr>
          <p:spPr>
            <a:xfrm>
              <a:off x="3888688" y="2046389"/>
              <a:ext cx="355600" cy="4079875"/>
            </a:xfrm>
            <a:custGeom>
              <a:avLst/>
              <a:gdLst/>
              <a:ahLst/>
              <a:cxnLst/>
              <a:rect l="l" t="t" r="r" b="b"/>
              <a:pathLst>
                <a:path w="355600" h="4079875">
                  <a:moveTo>
                    <a:pt x="0" y="0"/>
                  </a:moveTo>
                  <a:lnTo>
                    <a:pt x="0" y="4079748"/>
                  </a:lnTo>
                  <a:lnTo>
                    <a:pt x="355092" y="3781107"/>
                  </a:lnTo>
                  <a:lnTo>
                    <a:pt x="355092" y="298640"/>
                  </a:lnTo>
                  <a:lnTo>
                    <a:pt x="0" y="0"/>
                  </a:lnTo>
                  <a:close/>
                </a:path>
              </a:pathLst>
            </a:custGeom>
            <a:solidFill>
              <a:srgbClr val="D9D9D9"/>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pic>
          <p:nvPicPr>
            <p:cNvPr id="5" name="object 13">
              <a:extLst>
                <a:ext uri="{FF2B5EF4-FFF2-40B4-BE49-F238E27FC236}">
                  <a16:creationId xmlns:a16="http://schemas.microsoft.com/office/drawing/2014/main" id="{284EF1C9-1005-223D-D5BF-18C2BAB4AA11}"/>
                </a:ext>
              </a:extLst>
            </p:cNvPr>
            <p:cNvPicPr/>
            <p:nvPr/>
          </p:nvPicPr>
          <p:blipFill>
            <a:blip r:embed="rId2" cstate="print"/>
            <a:stretch>
              <a:fillRect/>
            </a:stretch>
          </p:blipFill>
          <p:spPr>
            <a:xfrm>
              <a:off x="2837127" y="3040037"/>
              <a:ext cx="925067" cy="694943"/>
            </a:xfrm>
            <a:prstGeom prst="rect">
              <a:avLst/>
            </a:prstGeom>
          </p:spPr>
        </p:pic>
        <p:sp>
          <p:nvSpPr>
            <p:cNvPr id="6" name="object 14">
              <a:extLst>
                <a:ext uri="{FF2B5EF4-FFF2-40B4-BE49-F238E27FC236}">
                  <a16:creationId xmlns:a16="http://schemas.microsoft.com/office/drawing/2014/main" id="{2DFC387A-DEC8-B680-97E7-386D20B63933}"/>
                </a:ext>
              </a:extLst>
            </p:cNvPr>
            <p:cNvSpPr/>
            <p:nvPr/>
          </p:nvSpPr>
          <p:spPr>
            <a:xfrm>
              <a:off x="1494483" y="5199545"/>
              <a:ext cx="1179830" cy="797560"/>
            </a:xfrm>
            <a:custGeom>
              <a:avLst/>
              <a:gdLst/>
              <a:ahLst/>
              <a:cxnLst/>
              <a:rect l="l" t="t" r="r" b="b"/>
              <a:pathLst>
                <a:path w="1179829" h="797560">
                  <a:moveTo>
                    <a:pt x="1179576" y="0"/>
                  </a:moveTo>
                  <a:lnTo>
                    <a:pt x="0" y="0"/>
                  </a:lnTo>
                  <a:lnTo>
                    <a:pt x="0" y="797051"/>
                  </a:lnTo>
                  <a:lnTo>
                    <a:pt x="1179576" y="797051"/>
                  </a:lnTo>
                  <a:lnTo>
                    <a:pt x="1179576" y="0"/>
                  </a:lnTo>
                  <a:close/>
                </a:path>
              </a:pathLst>
            </a:custGeom>
            <a:solidFill>
              <a:srgbClr val="FFFFFF"/>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7" name="object 15">
              <a:extLst>
                <a:ext uri="{FF2B5EF4-FFF2-40B4-BE49-F238E27FC236}">
                  <a16:creationId xmlns:a16="http://schemas.microsoft.com/office/drawing/2014/main" id="{EBF969EF-4E9D-8E6F-5B13-81F79ECE5499}"/>
                </a:ext>
              </a:extLst>
            </p:cNvPr>
            <p:cNvSpPr/>
            <p:nvPr/>
          </p:nvSpPr>
          <p:spPr>
            <a:xfrm>
              <a:off x="1516517" y="5045307"/>
              <a:ext cx="1179830" cy="797560"/>
            </a:xfrm>
            <a:custGeom>
              <a:avLst/>
              <a:gdLst/>
              <a:ahLst/>
              <a:cxnLst/>
              <a:rect l="l" t="t" r="r" b="b"/>
              <a:pathLst>
                <a:path w="1179829" h="797560">
                  <a:moveTo>
                    <a:pt x="0" y="0"/>
                  </a:moveTo>
                  <a:lnTo>
                    <a:pt x="1179576" y="0"/>
                  </a:lnTo>
                  <a:lnTo>
                    <a:pt x="1179576" y="797051"/>
                  </a:lnTo>
                  <a:lnTo>
                    <a:pt x="0" y="797051"/>
                  </a:lnTo>
                  <a:lnTo>
                    <a:pt x="0" y="0"/>
                  </a:lnTo>
                  <a:close/>
                </a:path>
              </a:pathLst>
            </a:custGeom>
            <a:ln w="12700">
              <a:solidFill>
                <a:srgbClr val="000000"/>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8" name="object 17">
              <a:extLst>
                <a:ext uri="{FF2B5EF4-FFF2-40B4-BE49-F238E27FC236}">
                  <a16:creationId xmlns:a16="http://schemas.microsoft.com/office/drawing/2014/main" id="{0FA42DB7-ACB7-3AD6-4740-B1CEC5839723}"/>
                </a:ext>
              </a:extLst>
            </p:cNvPr>
            <p:cNvSpPr txBox="1"/>
            <p:nvPr/>
          </p:nvSpPr>
          <p:spPr>
            <a:xfrm>
              <a:off x="1682481" y="5072040"/>
              <a:ext cx="830580" cy="689864"/>
            </a:xfrm>
            <a:prstGeom prst="rect">
              <a:avLst/>
            </a:prstGeom>
          </p:spPr>
          <p:txBody>
            <a:bodyPr vert="horz" wrap="square" lIns="0" tIns="60325" rIns="0" bIns="0" rtlCol="0">
              <a:spAutoFit/>
            </a:bodyPr>
            <a:lstStyle/>
            <a:p>
              <a:pPr marL="12700">
                <a:lnSpc>
                  <a:spcPct val="100000"/>
                </a:lnSpc>
                <a:spcBef>
                  <a:spcPts val="475"/>
                </a:spcBef>
              </a:pPr>
              <a:r>
                <a:rPr sz="1100" b="1" spc="-10">
                  <a:latin typeface="Calibri" panose="020F0502020204030204" pitchFamily="34" charset="0"/>
                  <a:ea typeface="Calibri" panose="020F0502020204030204" pitchFamily="34" charset="0"/>
                  <a:cs typeface="Calibri" panose="020F0502020204030204" pitchFamily="34" charset="0"/>
                </a:rPr>
                <a:t>New</a:t>
              </a:r>
              <a:r>
                <a:rPr sz="1100" b="1" spc="-30">
                  <a:latin typeface="Calibri" panose="020F0502020204030204" pitchFamily="34" charset="0"/>
                  <a:ea typeface="Calibri" panose="020F0502020204030204" pitchFamily="34" charset="0"/>
                  <a:cs typeface="Calibri" panose="020F0502020204030204" pitchFamily="34" charset="0"/>
                </a:rPr>
                <a:t> </a:t>
              </a:r>
              <a:r>
                <a:rPr sz="1100" b="0">
                  <a:latin typeface="Calibri" panose="020F0502020204030204" pitchFamily="34" charset="0"/>
                  <a:ea typeface="Calibri" panose="020F0502020204030204" pitchFamily="34" charset="0"/>
                  <a:cs typeface="Calibri" panose="020F0502020204030204" pitchFamily="34" charset="0"/>
                </a:rPr>
                <a:t>Projects</a:t>
              </a:r>
              <a:endParaRPr sz="1100">
                <a:latin typeface="Calibri" panose="020F0502020204030204" pitchFamily="34" charset="0"/>
                <a:ea typeface="Calibri" panose="020F0502020204030204" pitchFamily="34" charset="0"/>
                <a:cs typeface="Calibri" panose="020F0502020204030204" pitchFamily="34" charset="0"/>
              </a:endParaRPr>
            </a:p>
            <a:p>
              <a:pPr marR="5080" algn="r">
                <a:lnSpc>
                  <a:spcPct val="100000"/>
                </a:lnSpc>
                <a:spcBef>
                  <a:spcPts val="770"/>
                </a:spcBef>
              </a:pPr>
              <a:r>
                <a:rPr sz="2800" b="0">
                  <a:latin typeface="Calibri" panose="020F0502020204030204" pitchFamily="34" charset="0"/>
                  <a:ea typeface="Calibri" panose="020F0502020204030204" pitchFamily="34" charset="0"/>
                  <a:cs typeface="Calibri" panose="020F0502020204030204" pitchFamily="34" charset="0"/>
                </a:rPr>
                <a:t>…</a:t>
              </a:r>
              <a:endParaRPr sz="2800">
                <a:latin typeface="Calibri" panose="020F0502020204030204" pitchFamily="34" charset="0"/>
                <a:ea typeface="Calibri" panose="020F0502020204030204" pitchFamily="34" charset="0"/>
                <a:cs typeface="Calibri" panose="020F0502020204030204" pitchFamily="34" charset="0"/>
              </a:endParaRPr>
            </a:p>
          </p:txBody>
        </p:sp>
        <p:grpSp>
          <p:nvGrpSpPr>
            <p:cNvPr id="9" name="object 18">
              <a:extLst>
                <a:ext uri="{FF2B5EF4-FFF2-40B4-BE49-F238E27FC236}">
                  <a16:creationId xmlns:a16="http://schemas.microsoft.com/office/drawing/2014/main" id="{DB6DF6E4-7E8D-E974-915E-64F6A7B36904}"/>
                </a:ext>
              </a:extLst>
            </p:cNvPr>
            <p:cNvGrpSpPr/>
            <p:nvPr/>
          </p:nvGrpSpPr>
          <p:grpSpPr>
            <a:xfrm>
              <a:off x="1558533" y="4414075"/>
              <a:ext cx="951620" cy="1261383"/>
              <a:chOff x="2572085" y="4733564"/>
              <a:chExt cx="951620" cy="1261383"/>
            </a:xfrm>
          </p:grpSpPr>
          <p:sp>
            <p:nvSpPr>
              <p:cNvPr id="10" name="object 19">
                <a:extLst>
                  <a:ext uri="{FF2B5EF4-FFF2-40B4-BE49-F238E27FC236}">
                    <a16:creationId xmlns:a16="http://schemas.microsoft.com/office/drawing/2014/main" id="{3E9071EA-29D3-B9FE-C315-1652C43EE97A}"/>
                  </a:ext>
                </a:extLst>
              </p:cNvPr>
              <p:cNvSpPr/>
              <p:nvPr/>
            </p:nvSpPr>
            <p:spPr>
              <a:xfrm>
                <a:off x="2577907" y="5853975"/>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60000"/>
                  <a:lumOff val="4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1" name="object 20">
                <a:extLst>
                  <a:ext uri="{FF2B5EF4-FFF2-40B4-BE49-F238E27FC236}">
                    <a16:creationId xmlns:a16="http://schemas.microsoft.com/office/drawing/2014/main" id="{86956A85-58EC-D504-162F-5E43A7A80CC3}"/>
                  </a:ext>
                </a:extLst>
              </p:cNvPr>
              <p:cNvSpPr/>
              <p:nvPr/>
            </p:nvSpPr>
            <p:spPr>
              <a:xfrm>
                <a:off x="2578435" y="5847627"/>
                <a:ext cx="0" cy="147320"/>
              </a:xfrm>
              <a:custGeom>
                <a:avLst/>
                <a:gdLst/>
                <a:ahLst/>
                <a:cxnLst/>
                <a:rect l="l" t="t" r="r" b="b"/>
                <a:pathLst>
                  <a:path h="147320">
                    <a:moveTo>
                      <a:pt x="0" y="0"/>
                    </a:moveTo>
                    <a:lnTo>
                      <a:pt x="0" y="147319"/>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 name="object 21">
                <a:extLst>
                  <a:ext uri="{FF2B5EF4-FFF2-40B4-BE49-F238E27FC236}">
                    <a16:creationId xmlns:a16="http://schemas.microsoft.com/office/drawing/2014/main" id="{044005A6-98FB-6EC8-D781-A4A2D2CB6CDE}"/>
                  </a:ext>
                </a:extLst>
              </p:cNvPr>
              <p:cNvSpPr/>
              <p:nvPr/>
            </p:nvSpPr>
            <p:spPr>
              <a:xfrm>
                <a:off x="2786715" y="5847627"/>
                <a:ext cx="0" cy="147320"/>
              </a:xfrm>
              <a:custGeom>
                <a:avLst/>
                <a:gdLst/>
                <a:ahLst/>
                <a:cxnLst/>
                <a:rect l="l" t="t" r="r" b="b"/>
                <a:pathLst>
                  <a:path h="147320">
                    <a:moveTo>
                      <a:pt x="0" y="0"/>
                    </a:moveTo>
                    <a:lnTo>
                      <a:pt x="0" y="147319"/>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3" name="object 22">
                <a:extLst>
                  <a:ext uri="{FF2B5EF4-FFF2-40B4-BE49-F238E27FC236}">
                    <a16:creationId xmlns:a16="http://schemas.microsoft.com/office/drawing/2014/main" id="{DDB9ECFB-023F-F82F-CB02-B17F8D670C66}"/>
                  </a:ext>
                </a:extLst>
              </p:cNvPr>
              <p:cNvSpPr/>
              <p:nvPr/>
            </p:nvSpPr>
            <p:spPr>
              <a:xfrm>
                <a:off x="2572085" y="5847627"/>
                <a:ext cx="220979" cy="12700"/>
              </a:xfrm>
              <a:custGeom>
                <a:avLst/>
                <a:gdLst/>
                <a:ahLst/>
                <a:cxnLst/>
                <a:rect l="l" t="t" r="r" b="b"/>
                <a:pathLst>
                  <a:path w="220980" h="12700">
                    <a:moveTo>
                      <a:pt x="0" y="12699"/>
                    </a:moveTo>
                    <a:lnTo>
                      <a:pt x="220979" y="12699"/>
                    </a:lnTo>
                    <a:lnTo>
                      <a:pt x="220979" y="0"/>
                    </a:lnTo>
                    <a:lnTo>
                      <a:pt x="0" y="0"/>
                    </a:lnTo>
                    <a:lnTo>
                      <a:pt x="0" y="12699"/>
                    </a:lnTo>
                    <a:close/>
                  </a:path>
                </a:pathLst>
              </a:custGeom>
              <a:solidFill>
                <a:srgbClr val="FFFFFF"/>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4" name="object 23">
                <a:extLst>
                  <a:ext uri="{FF2B5EF4-FFF2-40B4-BE49-F238E27FC236}">
                    <a16:creationId xmlns:a16="http://schemas.microsoft.com/office/drawing/2014/main" id="{2B479CA1-E59F-6C21-7B87-E4D3B59809E6}"/>
                  </a:ext>
                </a:extLst>
              </p:cNvPr>
              <p:cNvSpPr/>
              <p:nvPr/>
            </p:nvSpPr>
            <p:spPr>
              <a:xfrm>
                <a:off x="2572085" y="5975895"/>
                <a:ext cx="220979" cy="0"/>
              </a:xfrm>
              <a:custGeom>
                <a:avLst/>
                <a:gdLst/>
                <a:ahLst/>
                <a:cxnLst/>
                <a:rect l="l" t="t" r="r" b="b"/>
                <a:pathLst>
                  <a:path w="220980">
                    <a:moveTo>
                      <a:pt x="0" y="0"/>
                    </a:moveTo>
                    <a:lnTo>
                      <a:pt x="220979" y="0"/>
                    </a:lnTo>
                  </a:path>
                </a:pathLst>
              </a:custGeom>
              <a:ln w="381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5" name="object 24">
                <a:extLst>
                  <a:ext uri="{FF2B5EF4-FFF2-40B4-BE49-F238E27FC236}">
                    <a16:creationId xmlns:a16="http://schemas.microsoft.com/office/drawing/2014/main" id="{27212F95-6DC5-A183-A457-BE50BD6C65F7}"/>
                  </a:ext>
                </a:extLst>
              </p:cNvPr>
              <p:cNvSpPr/>
              <p:nvPr/>
            </p:nvSpPr>
            <p:spPr>
              <a:xfrm>
                <a:off x="2982467" y="5853975"/>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20000"/>
                  <a:lumOff val="8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6" name="object 25">
                <a:extLst>
                  <a:ext uri="{FF2B5EF4-FFF2-40B4-BE49-F238E27FC236}">
                    <a16:creationId xmlns:a16="http://schemas.microsoft.com/office/drawing/2014/main" id="{A07FB913-F85E-CB70-5341-D958D9E13BA4}"/>
                  </a:ext>
                </a:extLst>
              </p:cNvPr>
              <p:cNvSpPr/>
              <p:nvPr/>
            </p:nvSpPr>
            <p:spPr>
              <a:xfrm>
                <a:off x="2982466" y="5847627"/>
                <a:ext cx="0" cy="147320"/>
              </a:xfrm>
              <a:custGeom>
                <a:avLst/>
                <a:gdLst/>
                <a:ahLst/>
                <a:cxnLst/>
                <a:rect l="l" t="t" r="r" b="b"/>
                <a:pathLst>
                  <a:path h="147320">
                    <a:moveTo>
                      <a:pt x="0" y="0"/>
                    </a:moveTo>
                    <a:lnTo>
                      <a:pt x="0" y="147319"/>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7" name="object 26">
                <a:extLst>
                  <a:ext uri="{FF2B5EF4-FFF2-40B4-BE49-F238E27FC236}">
                    <a16:creationId xmlns:a16="http://schemas.microsoft.com/office/drawing/2014/main" id="{BC7ED75D-47AF-B5FF-8737-FB1767E82FF0}"/>
                  </a:ext>
                </a:extLst>
              </p:cNvPr>
              <p:cNvSpPr/>
              <p:nvPr/>
            </p:nvSpPr>
            <p:spPr>
              <a:xfrm>
                <a:off x="3190746" y="5847627"/>
                <a:ext cx="0" cy="147320"/>
              </a:xfrm>
              <a:custGeom>
                <a:avLst/>
                <a:gdLst/>
                <a:ahLst/>
                <a:cxnLst/>
                <a:rect l="l" t="t" r="r" b="b"/>
                <a:pathLst>
                  <a:path h="147320">
                    <a:moveTo>
                      <a:pt x="0" y="0"/>
                    </a:moveTo>
                    <a:lnTo>
                      <a:pt x="0" y="147319"/>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8" name="object 27">
                <a:extLst>
                  <a:ext uri="{FF2B5EF4-FFF2-40B4-BE49-F238E27FC236}">
                    <a16:creationId xmlns:a16="http://schemas.microsoft.com/office/drawing/2014/main" id="{07452458-FB30-1812-68C2-5DC90D31CB83}"/>
                  </a:ext>
                </a:extLst>
              </p:cNvPr>
              <p:cNvSpPr/>
              <p:nvPr/>
            </p:nvSpPr>
            <p:spPr>
              <a:xfrm>
                <a:off x="2976116" y="5847627"/>
                <a:ext cx="220979" cy="12700"/>
              </a:xfrm>
              <a:custGeom>
                <a:avLst/>
                <a:gdLst/>
                <a:ahLst/>
                <a:cxnLst/>
                <a:rect l="l" t="t" r="r" b="b"/>
                <a:pathLst>
                  <a:path w="220980" h="12700">
                    <a:moveTo>
                      <a:pt x="0" y="12699"/>
                    </a:moveTo>
                    <a:lnTo>
                      <a:pt x="220979" y="12699"/>
                    </a:lnTo>
                    <a:lnTo>
                      <a:pt x="220979" y="0"/>
                    </a:lnTo>
                    <a:lnTo>
                      <a:pt x="0" y="0"/>
                    </a:lnTo>
                    <a:lnTo>
                      <a:pt x="0" y="12699"/>
                    </a:lnTo>
                    <a:close/>
                  </a:path>
                </a:pathLst>
              </a:custGeom>
              <a:solidFill>
                <a:srgbClr val="FFFFFF"/>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9" name="object 28">
                <a:extLst>
                  <a:ext uri="{FF2B5EF4-FFF2-40B4-BE49-F238E27FC236}">
                    <a16:creationId xmlns:a16="http://schemas.microsoft.com/office/drawing/2014/main" id="{04A14CF3-4609-7807-E3EC-631CE4BF33FF}"/>
                  </a:ext>
                </a:extLst>
              </p:cNvPr>
              <p:cNvSpPr/>
              <p:nvPr/>
            </p:nvSpPr>
            <p:spPr>
              <a:xfrm>
                <a:off x="2976116" y="5975895"/>
                <a:ext cx="220979" cy="0"/>
              </a:xfrm>
              <a:custGeom>
                <a:avLst/>
                <a:gdLst/>
                <a:ahLst/>
                <a:cxnLst/>
                <a:rect l="l" t="t" r="r" b="b"/>
                <a:pathLst>
                  <a:path w="220980">
                    <a:moveTo>
                      <a:pt x="0" y="0"/>
                    </a:moveTo>
                    <a:lnTo>
                      <a:pt x="220979" y="0"/>
                    </a:lnTo>
                  </a:path>
                </a:pathLst>
              </a:custGeom>
              <a:ln w="381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20" name="object 29">
                <a:extLst>
                  <a:ext uri="{FF2B5EF4-FFF2-40B4-BE49-F238E27FC236}">
                    <a16:creationId xmlns:a16="http://schemas.microsoft.com/office/drawing/2014/main" id="{99CB9EF5-A2F1-AD8D-96D5-EF3D9DC2CD39}"/>
                  </a:ext>
                </a:extLst>
              </p:cNvPr>
              <p:cNvSpPr/>
              <p:nvPr/>
            </p:nvSpPr>
            <p:spPr>
              <a:xfrm>
                <a:off x="2606014" y="4739919"/>
                <a:ext cx="416559" cy="147955"/>
              </a:xfrm>
              <a:custGeom>
                <a:avLst/>
                <a:gdLst/>
                <a:ahLst/>
                <a:cxnLst/>
                <a:rect l="l" t="t" r="r" b="b"/>
                <a:pathLst>
                  <a:path w="416560" h="147954">
                    <a:moveTo>
                      <a:pt x="416560" y="0"/>
                    </a:moveTo>
                    <a:lnTo>
                      <a:pt x="208280" y="0"/>
                    </a:lnTo>
                    <a:lnTo>
                      <a:pt x="0" y="0"/>
                    </a:lnTo>
                    <a:lnTo>
                      <a:pt x="0" y="147713"/>
                    </a:lnTo>
                    <a:lnTo>
                      <a:pt x="208280" y="147713"/>
                    </a:lnTo>
                    <a:lnTo>
                      <a:pt x="416560" y="147713"/>
                    </a:lnTo>
                    <a:lnTo>
                      <a:pt x="416560" y="0"/>
                    </a:lnTo>
                    <a:close/>
                  </a:path>
                </a:pathLst>
              </a:custGeom>
              <a:solidFill>
                <a:srgbClr val="85BB24"/>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1" name="object 30">
                <a:extLst>
                  <a:ext uri="{FF2B5EF4-FFF2-40B4-BE49-F238E27FC236}">
                    <a16:creationId xmlns:a16="http://schemas.microsoft.com/office/drawing/2014/main" id="{B25126BB-04B3-2721-FEB9-111A8C1E1F62}"/>
                  </a:ext>
                </a:extLst>
              </p:cNvPr>
              <p:cNvSpPr/>
              <p:nvPr/>
            </p:nvSpPr>
            <p:spPr>
              <a:xfrm>
                <a:off x="2814288" y="4733564"/>
                <a:ext cx="0" cy="173355"/>
              </a:xfrm>
              <a:custGeom>
                <a:avLst/>
                <a:gdLst/>
                <a:ahLst/>
                <a:cxnLst/>
                <a:rect l="l" t="t" r="r" b="b"/>
                <a:pathLst>
                  <a:path h="173354">
                    <a:moveTo>
                      <a:pt x="0" y="0"/>
                    </a:moveTo>
                    <a:lnTo>
                      <a:pt x="0" y="173113"/>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2" name="object 31">
                <a:extLst>
                  <a:ext uri="{FF2B5EF4-FFF2-40B4-BE49-F238E27FC236}">
                    <a16:creationId xmlns:a16="http://schemas.microsoft.com/office/drawing/2014/main" id="{E4C6C24F-18EC-8179-7D68-57DE79156840}"/>
                  </a:ext>
                </a:extLst>
              </p:cNvPr>
              <p:cNvSpPr/>
              <p:nvPr/>
            </p:nvSpPr>
            <p:spPr>
              <a:xfrm>
                <a:off x="2606009" y="4733564"/>
                <a:ext cx="0" cy="173355"/>
              </a:xfrm>
              <a:custGeom>
                <a:avLst/>
                <a:gdLst/>
                <a:ahLst/>
                <a:cxnLst/>
                <a:rect l="l" t="t" r="r" b="b"/>
                <a:pathLst>
                  <a:path h="173354">
                    <a:moveTo>
                      <a:pt x="0" y="0"/>
                    </a:moveTo>
                    <a:lnTo>
                      <a:pt x="0" y="173113"/>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3" name="object 32">
                <a:extLst>
                  <a:ext uri="{FF2B5EF4-FFF2-40B4-BE49-F238E27FC236}">
                    <a16:creationId xmlns:a16="http://schemas.microsoft.com/office/drawing/2014/main" id="{4CA1E25D-DBB1-53A8-7960-4B0BF705BE6A}"/>
                  </a:ext>
                </a:extLst>
              </p:cNvPr>
              <p:cNvSpPr/>
              <p:nvPr/>
            </p:nvSpPr>
            <p:spPr>
              <a:xfrm>
                <a:off x="3022569" y="4733564"/>
                <a:ext cx="0" cy="173355"/>
              </a:xfrm>
              <a:custGeom>
                <a:avLst/>
                <a:gdLst/>
                <a:ahLst/>
                <a:cxnLst/>
                <a:rect l="l" t="t" r="r" b="b"/>
                <a:pathLst>
                  <a:path h="173354">
                    <a:moveTo>
                      <a:pt x="0" y="0"/>
                    </a:moveTo>
                    <a:lnTo>
                      <a:pt x="0" y="173113"/>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4" name="object 33">
                <a:extLst>
                  <a:ext uri="{FF2B5EF4-FFF2-40B4-BE49-F238E27FC236}">
                    <a16:creationId xmlns:a16="http://schemas.microsoft.com/office/drawing/2014/main" id="{11B1EDFA-5F3D-F541-529A-B25319CB5D7B}"/>
                  </a:ext>
                </a:extLst>
              </p:cNvPr>
              <p:cNvSpPr/>
              <p:nvPr/>
            </p:nvSpPr>
            <p:spPr>
              <a:xfrm>
                <a:off x="2599659" y="4739914"/>
                <a:ext cx="429259" cy="0"/>
              </a:xfrm>
              <a:custGeom>
                <a:avLst/>
                <a:gdLst/>
                <a:ahLst/>
                <a:cxnLst/>
                <a:rect l="l" t="t" r="r" b="b"/>
                <a:pathLst>
                  <a:path w="429260">
                    <a:moveTo>
                      <a:pt x="0" y="0"/>
                    </a:moveTo>
                    <a:lnTo>
                      <a:pt x="429259" y="0"/>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5" name="object 34">
                <a:extLst>
                  <a:ext uri="{FF2B5EF4-FFF2-40B4-BE49-F238E27FC236}">
                    <a16:creationId xmlns:a16="http://schemas.microsoft.com/office/drawing/2014/main" id="{22D515CC-5D10-28BC-A84F-9B76964A577B}"/>
                  </a:ext>
                </a:extLst>
              </p:cNvPr>
              <p:cNvSpPr/>
              <p:nvPr/>
            </p:nvSpPr>
            <p:spPr>
              <a:xfrm>
                <a:off x="2599659" y="4887631"/>
                <a:ext cx="429259" cy="0"/>
              </a:xfrm>
              <a:custGeom>
                <a:avLst/>
                <a:gdLst/>
                <a:ahLst/>
                <a:cxnLst/>
                <a:rect l="l" t="t" r="r" b="b"/>
                <a:pathLst>
                  <a:path w="429260">
                    <a:moveTo>
                      <a:pt x="0" y="0"/>
                    </a:moveTo>
                    <a:lnTo>
                      <a:pt x="429259" y="0"/>
                    </a:lnTo>
                  </a:path>
                </a:pathLst>
              </a:custGeom>
              <a:ln w="381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6" name="object 35">
                <a:extLst>
                  <a:ext uri="{FF2B5EF4-FFF2-40B4-BE49-F238E27FC236}">
                    <a16:creationId xmlns:a16="http://schemas.microsoft.com/office/drawing/2014/main" id="{3C451020-D531-D264-EB70-C6562DFF0A68}"/>
                  </a:ext>
                </a:extLst>
              </p:cNvPr>
              <p:cNvSpPr/>
              <p:nvPr/>
            </p:nvSpPr>
            <p:spPr>
              <a:xfrm>
                <a:off x="3100794" y="4739919"/>
                <a:ext cx="416559" cy="147955"/>
              </a:xfrm>
              <a:custGeom>
                <a:avLst/>
                <a:gdLst/>
                <a:ahLst/>
                <a:cxnLst/>
                <a:rect l="l" t="t" r="r" b="b"/>
                <a:pathLst>
                  <a:path w="416560" h="147954">
                    <a:moveTo>
                      <a:pt x="416560" y="0"/>
                    </a:moveTo>
                    <a:lnTo>
                      <a:pt x="208280" y="0"/>
                    </a:lnTo>
                    <a:lnTo>
                      <a:pt x="0" y="0"/>
                    </a:lnTo>
                    <a:lnTo>
                      <a:pt x="0" y="147713"/>
                    </a:lnTo>
                    <a:lnTo>
                      <a:pt x="208280" y="147713"/>
                    </a:lnTo>
                    <a:lnTo>
                      <a:pt x="416560" y="147713"/>
                    </a:lnTo>
                    <a:lnTo>
                      <a:pt x="416560" y="0"/>
                    </a:lnTo>
                    <a:close/>
                  </a:path>
                </a:pathLst>
              </a:custGeom>
              <a:solidFill>
                <a:srgbClr val="C4D500"/>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7" name="object 36">
                <a:extLst>
                  <a:ext uri="{FF2B5EF4-FFF2-40B4-BE49-F238E27FC236}">
                    <a16:creationId xmlns:a16="http://schemas.microsoft.com/office/drawing/2014/main" id="{0B12474B-B721-F124-1970-A65D91C13ACE}"/>
                  </a:ext>
                </a:extLst>
              </p:cNvPr>
              <p:cNvSpPr/>
              <p:nvPr/>
            </p:nvSpPr>
            <p:spPr>
              <a:xfrm>
                <a:off x="3309076" y="4733564"/>
                <a:ext cx="0" cy="173355"/>
              </a:xfrm>
              <a:custGeom>
                <a:avLst/>
                <a:gdLst/>
                <a:ahLst/>
                <a:cxnLst/>
                <a:rect l="l" t="t" r="r" b="b"/>
                <a:pathLst>
                  <a:path h="173354">
                    <a:moveTo>
                      <a:pt x="0" y="0"/>
                    </a:moveTo>
                    <a:lnTo>
                      <a:pt x="0" y="173113"/>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8" name="object 37">
                <a:extLst>
                  <a:ext uri="{FF2B5EF4-FFF2-40B4-BE49-F238E27FC236}">
                    <a16:creationId xmlns:a16="http://schemas.microsoft.com/office/drawing/2014/main" id="{1EF040F9-F628-4FCF-23BA-758E3D464E23}"/>
                  </a:ext>
                </a:extLst>
              </p:cNvPr>
              <p:cNvSpPr/>
              <p:nvPr/>
            </p:nvSpPr>
            <p:spPr>
              <a:xfrm>
                <a:off x="3100796" y="4733564"/>
                <a:ext cx="0" cy="173355"/>
              </a:xfrm>
              <a:custGeom>
                <a:avLst/>
                <a:gdLst/>
                <a:ahLst/>
                <a:cxnLst/>
                <a:rect l="l" t="t" r="r" b="b"/>
                <a:pathLst>
                  <a:path h="173354">
                    <a:moveTo>
                      <a:pt x="0" y="0"/>
                    </a:moveTo>
                    <a:lnTo>
                      <a:pt x="0" y="173113"/>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39" name="object 38">
                <a:extLst>
                  <a:ext uri="{FF2B5EF4-FFF2-40B4-BE49-F238E27FC236}">
                    <a16:creationId xmlns:a16="http://schemas.microsoft.com/office/drawing/2014/main" id="{AD05C38D-28EC-354D-29BA-8C070854AA59}"/>
                  </a:ext>
                </a:extLst>
              </p:cNvPr>
              <p:cNvSpPr/>
              <p:nvPr/>
            </p:nvSpPr>
            <p:spPr>
              <a:xfrm>
                <a:off x="3517356" y="4733564"/>
                <a:ext cx="0" cy="173355"/>
              </a:xfrm>
              <a:custGeom>
                <a:avLst/>
                <a:gdLst/>
                <a:ahLst/>
                <a:cxnLst/>
                <a:rect l="l" t="t" r="r" b="b"/>
                <a:pathLst>
                  <a:path h="173354">
                    <a:moveTo>
                      <a:pt x="0" y="0"/>
                    </a:moveTo>
                    <a:lnTo>
                      <a:pt x="0" y="173113"/>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40" name="object 39">
                <a:extLst>
                  <a:ext uri="{FF2B5EF4-FFF2-40B4-BE49-F238E27FC236}">
                    <a16:creationId xmlns:a16="http://schemas.microsoft.com/office/drawing/2014/main" id="{8683D825-63E4-A0E8-7FD0-5C2F964EE3FC}"/>
                  </a:ext>
                </a:extLst>
              </p:cNvPr>
              <p:cNvSpPr/>
              <p:nvPr/>
            </p:nvSpPr>
            <p:spPr>
              <a:xfrm>
                <a:off x="3094446" y="4739914"/>
                <a:ext cx="429259" cy="0"/>
              </a:xfrm>
              <a:custGeom>
                <a:avLst/>
                <a:gdLst/>
                <a:ahLst/>
                <a:cxnLst/>
                <a:rect l="l" t="t" r="r" b="b"/>
                <a:pathLst>
                  <a:path w="429260">
                    <a:moveTo>
                      <a:pt x="0" y="0"/>
                    </a:moveTo>
                    <a:lnTo>
                      <a:pt x="429259" y="0"/>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41" name="object 40">
                <a:extLst>
                  <a:ext uri="{FF2B5EF4-FFF2-40B4-BE49-F238E27FC236}">
                    <a16:creationId xmlns:a16="http://schemas.microsoft.com/office/drawing/2014/main" id="{831AB360-0A7E-33F2-ED9A-B76365EF9D38}"/>
                  </a:ext>
                </a:extLst>
              </p:cNvPr>
              <p:cNvSpPr/>
              <p:nvPr/>
            </p:nvSpPr>
            <p:spPr>
              <a:xfrm>
                <a:off x="3094446" y="4887631"/>
                <a:ext cx="429259" cy="0"/>
              </a:xfrm>
              <a:custGeom>
                <a:avLst/>
                <a:gdLst/>
                <a:ahLst/>
                <a:cxnLst/>
                <a:rect l="l" t="t" r="r" b="b"/>
                <a:pathLst>
                  <a:path w="429260">
                    <a:moveTo>
                      <a:pt x="0" y="0"/>
                    </a:moveTo>
                    <a:lnTo>
                      <a:pt x="429259" y="0"/>
                    </a:lnTo>
                  </a:path>
                </a:pathLst>
              </a:custGeom>
              <a:ln w="381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42" name="object 41">
              <a:extLst>
                <a:ext uri="{FF2B5EF4-FFF2-40B4-BE49-F238E27FC236}">
                  <a16:creationId xmlns:a16="http://schemas.microsoft.com/office/drawing/2014/main" id="{8F561859-CD39-18CC-7072-BE033368A3AF}"/>
                </a:ext>
              </a:extLst>
            </p:cNvPr>
            <p:cNvSpPr txBox="1"/>
            <p:nvPr/>
          </p:nvSpPr>
          <p:spPr>
            <a:xfrm>
              <a:off x="1504333" y="3942979"/>
              <a:ext cx="1237615" cy="742573"/>
            </a:xfrm>
            <a:prstGeom prst="rect">
              <a:avLst/>
            </a:prstGeom>
            <a:ln w="12700">
              <a:solidFill>
                <a:srgbClr val="000000"/>
              </a:solidFill>
            </a:ln>
          </p:spPr>
          <p:txBody>
            <a:bodyPr vert="horz" wrap="square" lIns="0" tIns="39370" rIns="0" bIns="0" rtlCol="0">
              <a:spAutoFit/>
            </a:bodyPr>
            <a:lstStyle/>
            <a:p>
              <a:pPr marL="128905" marR="21590">
                <a:lnSpc>
                  <a:spcPct val="100000"/>
                </a:lnSpc>
                <a:spcBef>
                  <a:spcPts val="310"/>
                </a:spcBef>
              </a:pPr>
              <a:r>
                <a:rPr sz="1100" b="1" spc="-5">
                  <a:latin typeface="Calibri" panose="020F0502020204030204" pitchFamily="34" charset="0"/>
                  <a:ea typeface="Calibri" panose="020F0502020204030204" pitchFamily="34" charset="0"/>
                  <a:cs typeface="Calibri" panose="020F0502020204030204" pitchFamily="34" charset="0"/>
                </a:rPr>
                <a:t>Enhancements</a:t>
              </a:r>
              <a:endParaRPr sz="1100">
                <a:latin typeface="Calibri" panose="020F0502020204030204" pitchFamily="34" charset="0"/>
                <a:ea typeface="Calibri" panose="020F0502020204030204" pitchFamily="34" charset="0"/>
                <a:cs typeface="Calibri" panose="020F0502020204030204" pitchFamily="34" charset="0"/>
              </a:endParaRPr>
            </a:p>
            <a:p>
              <a:pPr marR="21590">
                <a:lnSpc>
                  <a:spcPct val="100000"/>
                </a:lnSpc>
                <a:spcBef>
                  <a:spcPts val="55"/>
                </a:spcBef>
              </a:pPr>
              <a:endParaRPr sz="1100">
                <a:latin typeface="Calibri" panose="020F0502020204030204" pitchFamily="34" charset="0"/>
                <a:ea typeface="Calibri" panose="020F0502020204030204" pitchFamily="34" charset="0"/>
                <a:cs typeface="Calibri" panose="020F0502020204030204" pitchFamily="34" charset="0"/>
              </a:endParaRPr>
            </a:p>
            <a:p>
              <a:pPr algn="r">
                <a:lnSpc>
                  <a:spcPct val="100000"/>
                </a:lnSpc>
              </a:pPr>
              <a:r>
                <a:rPr sz="2800" b="0">
                  <a:latin typeface="Calibri" panose="020F0502020204030204" pitchFamily="34" charset="0"/>
                  <a:ea typeface="Calibri" panose="020F0502020204030204" pitchFamily="34" charset="0"/>
                  <a:cs typeface="Calibri" panose="020F0502020204030204" pitchFamily="34" charset="0"/>
                </a:rPr>
                <a:t>…</a:t>
              </a:r>
              <a:endParaRPr sz="2800">
                <a:latin typeface="Calibri" panose="020F0502020204030204" pitchFamily="34" charset="0"/>
                <a:ea typeface="Calibri" panose="020F0502020204030204" pitchFamily="34" charset="0"/>
                <a:cs typeface="Calibri" panose="020F0502020204030204" pitchFamily="34" charset="0"/>
              </a:endParaRPr>
            </a:p>
          </p:txBody>
        </p:sp>
        <p:grpSp>
          <p:nvGrpSpPr>
            <p:cNvPr id="43" name="object 42">
              <a:extLst>
                <a:ext uri="{FF2B5EF4-FFF2-40B4-BE49-F238E27FC236}">
                  <a16:creationId xmlns:a16="http://schemas.microsoft.com/office/drawing/2014/main" id="{79E10150-61C9-1542-F2CE-9A059E8CE37F}"/>
                </a:ext>
              </a:extLst>
            </p:cNvPr>
            <p:cNvGrpSpPr/>
            <p:nvPr/>
          </p:nvGrpSpPr>
          <p:grpSpPr>
            <a:xfrm>
              <a:off x="1552457" y="3189811"/>
              <a:ext cx="888357" cy="305310"/>
              <a:chOff x="2566009" y="3509300"/>
              <a:chExt cx="888357" cy="305310"/>
            </a:xfrm>
          </p:grpSpPr>
          <p:pic>
            <p:nvPicPr>
              <p:cNvPr id="44" name="object 43">
                <a:extLst>
                  <a:ext uri="{FF2B5EF4-FFF2-40B4-BE49-F238E27FC236}">
                    <a16:creationId xmlns:a16="http://schemas.microsoft.com/office/drawing/2014/main" id="{A5661BB3-A6A4-6C39-8B64-4155436704E1}"/>
                  </a:ext>
                </a:extLst>
              </p:cNvPr>
              <p:cNvPicPr/>
              <p:nvPr/>
            </p:nvPicPr>
            <p:blipFill>
              <a:blip r:embed="rId3" cstate="print"/>
              <a:stretch>
                <a:fillRect/>
              </a:stretch>
            </p:blipFill>
            <p:spPr>
              <a:xfrm>
                <a:off x="2572359" y="3518065"/>
                <a:ext cx="416560" cy="289864"/>
              </a:xfrm>
              <a:prstGeom prst="rect">
                <a:avLst/>
              </a:prstGeom>
            </p:spPr>
          </p:pic>
          <p:sp>
            <p:nvSpPr>
              <p:cNvPr id="45" name="object 44">
                <a:extLst>
                  <a:ext uri="{FF2B5EF4-FFF2-40B4-BE49-F238E27FC236}">
                    <a16:creationId xmlns:a16="http://schemas.microsoft.com/office/drawing/2014/main" id="{904811A7-7CBA-94A1-B6EC-98A246CE1126}"/>
                  </a:ext>
                </a:extLst>
              </p:cNvPr>
              <p:cNvSpPr/>
              <p:nvPr/>
            </p:nvSpPr>
            <p:spPr>
              <a:xfrm>
                <a:off x="2780639" y="3511715"/>
                <a:ext cx="0" cy="302895"/>
              </a:xfrm>
              <a:custGeom>
                <a:avLst/>
                <a:gdLst/>
                <a:ahLst/>
                <a:cxnLst/>
                <a:rect l="l" t="t" r="r" b="b"/>
                <a:pathLst>
                  <a:path h="302895">
                    <a:moveTo>
                      <a:pt x="0" y="0"/>
                    </a:moveTo>
                    <a:lnTo>
                      <a:pt x="0" y="302564"/>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46" name="object 45">
                <a:extLst>
                  <a:ext uri="{FF2B5EF4-FFF2-40B4-BE49-F238E27FC236}">
                    <a16:creationId xmlns:a16="http://schemas.microsoft.com/office/drawing/2014/main" id="{A30951AD-BBB0-798A-FC4A-A7D2DD2439C6}"/>
                  </a:ext>
                </a:extLst>
              </p:cNvPr>
              <p:cNvSpPr/>
              <p:nvPr/>
            </p:nvSpPr>
            <p:spPr>
              <a:xfrm>
                <a:off x="2566009" y="3662998"/>
                <a:ext cx="429259" cy="0"/>
              </a:xfrm>
              <a:custGeom>
                <a:avLst/>
                <a:gdLst/>
                <a:ahLst/>
                <a:cxnLst/>
                <a:rect l="l" t="t" r="r" b="b"/>
                <a:pathLst>
                  <a:path w="429260">
                    <a:moveTo>
                      <a:pt x="0" y="0"/>
                    </a:moveTo>
                    <a:lnTo>
                      <a:pt x="429259" y="0"/>
                    </a:lnTo>
                  </a:path>
                </a:pathLst>
              </a:custGeom>
              <a:ln w="381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47" name="object 46">
                <a:extLst>
                  <a:ext uri="{FF2B5EF4-FFF2-40B4-BE49-F238E27FC236}">
                    <a16:creationId xmlns:a16="http://schemas.microsoft.com/office/drawing/2014/main" id="{D963CCF1-6DEE-3FF6-7577-28D8F3ECDDF7}"/>
                  </a:ext>
                </a:extLst>
              </p:cNvPr>
              <p:cNvSpPr/>
              <p:nvPr/>
            </p:nvSpPr>
            <p:spPr>
              <a:xfrm>
                <a:off x="2572359" y="3511715"/>
                <a:ext cx="0" cy="302895"/>
              </a:xfrm>
              <a:custGeom>
                <a:avLst/>
                <a:gdLst/>
                <a:ahLst/>
                <a:cxnLst/>
                <a:rect l="l" t="t" r="r" b="b"/>
                <a:pathLst>
                  <a:path h="302895">
                    <a:moveTo>
                      <a:pt x="0" y="0"/>
                    </a:moveTo>
                    <a:lnTo>
                      <a:pt x="0" y="302564"/>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48" name="object 47">
                <a:extLst>
                  <a:ext uri="{FF2B5EF4-FFF2-40B4-BE49-F238E27FC236}">
                    <a16:creationId xmlns:a16="http://schemas.microsoft.com/office/drawing/2014/main" id="{09717EFA-572E-2FFB-6863-C835D6CC5EB2}"/>
                  </a:ext>
                </a:extLst>
              </p:cNvPr>
              <p:cNvSpPr/>
              <p:nvPr/>
            </p:nvSpPr>
            <p:spPr>
              <a:xfrm>
                <a:off x="2988919" y="3511715"/>
                <a:ext cx="0" cy="302895"/>
              </a:xfrm>
              <a:custGeom>
                <a:avLst/>
                <a:gdLst/>
                <a:ahLst/>
                <a:cxnLst/>
                <a:rect l="l" t="t" r="r" b="b"/>
                <a:pathLst>
                  <a:path h="302895">
                    <a:moveTo>
                      <a:pt x="0" y="0"/>
                    </a:moveTo>
                    <a:lnTo>
                      <a:pt x="0" y="302564"/>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49" name="object 48">
                <a:extLst>
                  <a:ext uri="{FF2B5EF4-FFF2-40B4-BE49-F238E27FC236}">
                    <a16:creationId xmlns:a16="http://schemas.microsoft.com/office/drawing/2014/main" id="{6A5FD39A-6203-4B9D-4BA4-0CE6A156E0F3}"/>
                  </a:ext>
                </a:extLst>
              </p:cNvPr>
              <p:cNvSpPr/>
              <p:nvPr/>
            </p:nvSpPr>
            <p:spPr>
              <a:xfrm>
                <a:off x="2566009" y="3518065"/>
                <a:ext cx="429259" cy="0"/>
              </a:xfrm>
              <a:custGeom>
                <a:avLst/>
                <a:gdLst/>
                <a:ahLst/>
                <a:cxnLst/>
                <a:rect l="l" t="t" r="r" b="b"/>
                <a:pathLst>
                  <a:path w="429260">
                    <a:moveTo>
                      <a:pt x="0" y="0"/>
                    </a:moveTo>
                    <a:lnTo>
                      <a:pt x="429259" y="0"/>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50" name="object 49">
                <a:extLst>
                  <a:ext uri="{FF2B5EF4-FFF2-40B4-BE49-F238E27FC236}">
                    <a16:creationId xmlns:a16="http://schemas.microsoft.com/office/drawing/2014/main" id="{F9586EC2-362B-BCD9-6825-B47A59FE28BF}"/>
                  </a:ext>
                </a:extLst>
              </p:cNvPr>
              <p:cNvSpPr/>
              <p:nvPr/>
            </p:nvSpPr>
            <p:spPr>
              <a:xfrm>
                <a:off x="2566009" y="3807932"/>
                <a:ext cx="429259" cy="0"/>
              </a:xfrm>
              <a:custGeom>
                <a:avLst/>
                <a:gdLst/>
                <a:ahLst/>
                <a:cxnLst/>
                <a:rect l="l" t="t" r="r" b="b"/>
                <a:pathLst>
                  <a:path w="429260">
                    <a:moveTo>
                      <a:pt x="0" y="0"/>
                    </a:moveTo>
                    <a:lnTo>
                      <a:pt x="429259" y="0"/>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pic>
            <p:nvPicPr>
              <p:cNvPr id="51" name="object 50">
                <a:extLst>
                  <a:ext uri="{FF2B5EF4-FFF2-40B4-BE49-F238E27FC236}">
                    <a16:creationId xmlns:a16="http://schemas.microsoft.com/office/drawing/2014/main" id="{2D176B54-1407-1727-0B22-CE2FEEAECB64}"/>
                  </a:ext>
                </a:extLst>
              </p:cNvPr>
              <p:cNvPicPr/>
              <p:nvPr/>
            </p:nvPicPr>
            <p:blipFill>
              <a:blip r:embed="rId4" cstate="print"/>
              <a:stretch>
                <a:fillRect/>
              </a:stretch>
            </p:blipFill>
            <p:spPr>
              <a:xfrm>
                <a:off x="3031451" y="3515652"/>
                <a:ext cx="416560" cy="289864"/>
              </a:xfrm>
              <a:prstGeom prst="rect">
                <a:avLst/>
              </a:prstGeom>
            </p:spPr>
          </p:pic>
          <p:sp>
            <p:nvSpPr>
              <p:cNvPr id="52" name="object 51">
                <a:extLst>
                  <a:ext uri="{FF2B5EF4-FFF2-40B4-BE49-F238E27FC236}">
                    <a16:creationId xmlns:a16="http://schemas.microsoft.com/office/drawing/2014/main" id="{014636C6-1CF8-9152-509F-E67A3EA1C410}"/>
                  </a:ext>
                </a:extLst>
              </p:cNvPr>
              <p:cNvSpPr/>
              <p:nvPr/>
            </p:nvSpPr>
            <p:spPr>
              <a:xfrm>
                <a:off x="3239737" y="3509300"/>
                <a:ext cx="0" cy="302895"/>
              </a:xfrm>
              <a:custGeom>
                <a:avLst/>
                <a:gdLst/>
                <a:ahLst/>
                <a:cxnLst/>
                <a:rect l="l" t="t" r="r" b="b"/>
                <a:pathLst>
                  <a:path h="302895">
                    <a:moveTo>
                      <a:pt x="0" y="0"/>
                    </a:moveTo>
                    <a:lnTo>
                      <a:pt x="0" y="302564"/>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53" name="object 52">
                <a:extLst>
                  <a:ext uri="{FF2B5EF4-FFF2-40B4-BE49-F238E27FC236}">
                    <a16:creationId xmlns:a16="http://schemas.microsoft.com/office/drawing/2014/main" id="{D73C9D49-37D5-1CF5-F6DA-2F8318FCB6AD}"/>
                  </a:ext>
                </a:extLst>
              </p:cNvPr>
              <p:cNvSpPr/>
              <p:nvPr/>
            </p:nvSpPr>
            <p:spPr>
              <a:xfrm>
                <a:off x="3025107" y="3660584"/>
                <a:ext cx="429259" cy="0"/>
              </a:xfrm>
              <a:custGeom>
                <a:avLst/>
                <a:gdLst/>
                <a:ahLst/>
                <a:cxnLst/>
                <a:rect l="l" t="t" r="r" b="b"/>
                <a:pathLst>
                  <a:path w="429260">
                    <a:moveTo>
                      <a:pt x="0" y="0"/>
                    </a:moveTo>
                    <a:lnTo>
                      <a:pt x="429259" y="0"/>
                    </a:lnTo>
                  </a:path>
                </a:pathLst>
              </a:custGeom>
              <a:ln w="381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54" name="object 53">
                <a:extLst>
                  <a:ext uri="{FF2B5EF4-FFF2-40B4-BE49-F238E27FC236}">
                    <a16:creationId xmlns:a16="http://schemas.microsoft.com/office/drawing/2014/main" id="{C46A57C4-E6CA-5292-6C36-F7E97CE6D1DD}"/>
                  </a:ext>
                </a:extLst>
              </p:cNvPr>
              <p:cNvSpPr/>
              <p:nvPr/>
            </p:nvSpPr>
            <p:spPr>
              <a:xfrm>
                <a:off x="3031457" y="3509300"/>
                <a:ext cx="0" cy="302895"/>
              </a:xfrm>
              <a:custGeom>
                <a:avLst/>
                <a:gdLst/>
                <a:ahLst/>
                <a:cxnLst/>
                <a:rect l="l" t="t" r="r" b="b"/>
                <a:pathLst>
                  <a:path h="302895">
                    <a:moveTo>
                      <a:pt x="0" y="0"/>
                    </a:moveTo>
                    <a:lnTo>
                      <a:pt x="0" y="302564"/>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55" name="object 54">
                <a:extLst>
                  <a:ext uri="{FF2B5EF4-FFF2-40B4-BE49-F238E27FC236}">
                    <a16:creationId xmlns:a16="http://schemas.microsoft.com/office/drawing/2014/main" id="{DB739240-1AF1-5A53-86BE-9F4C319E1A6D}"/>
                  </a:ext>
                </a:extLst>
              </p:cNvPr>
              <p:cNvSpPr/>
              <p:nvPr/>
            </p:nvSpPr>
            <p:spPr>
              <a:xfrm>
                <a:off x="3448017" y="3509300"/>
                <a:ext cx="0" cy="302895"/>
              </a:xfrm>
              <a:custGeom>
                <a:avLst/>
                <a:gdLst/>
                <a:ahLst/>
                <a:cxnLst/>
                <a:rect l="l" t="t" r="r" b="b"/>
                <a:pathLst>
                  <a:path h="302895">
                    <a:moveTo>
                      <a:pt x="0" y="0"/>
                    </a:moveTo>
                    <a:lnTo>
                      <a:pt x="0" y="302564"/>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56" name="object 55">
                <a:extLst>
                  <a:ext uri="{FF2B5EF4-FFF2-40B4-BE49-F238E27FC236}">
                    <a16:creationId xmlns:a16="http://schemas.microsoft.com/office/drawing/2014/main" id="{25238B9C-3DA7-80D4-9FDD-3C7AF2C79505}"/>
                  </a:ext>
                </a:extLst>
              </p:cNvPr>
              <p:cNvSpPr/>
              <p:nvPr/>
            </p:nvSpPr>
            <p:spPr>
              <a:xfrm>
                <a:off x="3025107" y="3515650"/>
                <a:ext cx="429259" cy="0"/>
              </a:xfrm>
              <a:custGeom>
                <a:avLst/>
                <a:gdLst/>
                <a:ahLst/>
                <a:cxnLst/>
                <a:rect l="l" t="t" r="r" b="b"/>
                <a:pathLst>
                  <a:path w="429260">
                    <a:moveTo>
                      <a:pt x="0" y="0"/>
                    </a:moveTo>
                    <a:lnTo>
                      <a:pt x="429259" y="0"/>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57" name="object 56">
                <a:extLst>
                  <a:ext uri="{FF2B5EF4-FFF2-40B4-BE49-F238E27FC236}">
                    <a16:creationId xmlns:a16="http://schemas.microsoft.com/office/drawing/2014/main" id="{881D3036-5D78-E161-D9AC-CDEEE36A531E}"/>
                  </a:ext>
                </a:extLst>
              </p:cNvPr>
              <p:cNvSpPr/>
              <p:nvPr/>
            </p:nvSpPr>
            <p:spPr>
              <a:xfrm>
                <a:off x="3025107" y="3805519"/>
                <a:ext cx="429259" cy="0"/>
              </a:xfrm>
              <a:custGeom>
                <a:avLst/>
                <a:gdLst/>
                <a:ahLst/>
                <a:cxnLst/>
                <a:rect l="l" t="t" r="r" b="b"/>
                <a:pathLst>
                  <a:path w="429260">
                    <a:moveTo>
                      <a:pt x="0" y="0"/>
                    </a:moveTo>
                    <a:lnTo>
                      <a:pt x="429259" y="0"/>
                    </a:lnTo>
                  </a:path>
                </a:pathLst>
              </a:custGeom>
              <a:ln w="12700">
                <a:solidFill>
                  <a:srgbClr val="FFFFFF"/>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58" name="object 57">
              <a:extLst>
                <a:ext uri="{FF2B5EF4-FFF2-40B4-BE49-F238E27FC236}">
                  <a16:creationId xmlns:a16="http://schemas.microsoft.com/office/drawing/2014/main" id="{7DE7419F-B960-6785-824C-8F2864B18C89}"/>
                </a:ext>
              </a:extLst>
            </p:cNvPr>
            <p:cNvSpPr txBox="1"/>
            <p:nvPr/>
          </p:nvSpPr>
          <p:spPr>
            <a:xfrm>
              <a:off x="1493427" y="2858050"/>
              <a:ext cx="1213485" cy="812081"/>
            </a:xfrm>
            <a:prstGeom prst="rect">
              <a:avLst/>
            </a:prstGeom>
            <a:ln w="12700">
              <a:solidFill>
                <a:schemeClr val="tx1">
                  <a:lumMod val="50000"/>
                  <a:lumOff val="50000"/>
                </a:schemeClr>
              </a:solidFill>
            </a:ln>
          </p:spPr>
          <p:txBody>
            <a:bodyPr vert="horz" wrap="square" lIns="0" tIns="39370" rIns="0" bIns="0" rtlCol="0">
              <a:spAutoFit/>
            </a:bodyPr>
            <a:lstStyle/>
            <a:p>
              <a:pPr marL="109220">
                <a:lnSpc>
                  <a:spcPct val="100000"/>
                </a:lnSpc>
                <a:spcBef>
                  <a:spcPts val="310"/>
                </a:spcBef>
              </a:pPr>
              <a:r>
                <a:rPr sz="1100" b="1" spc="-10" dirty="0">
                  <a:latin typeface="Calibri" panose="020F0502020204030204" pitchFamily="34" charset="0"/>
                  <a:ea typeface="Calibri" panose="020F0502020204030204" pitchFamily="34" charset="0"/>
                  <a:cs typeface="Calibri" panose="020F0502020204030204" pitchFamily="34" charset="0"/>
                </a:rPr>
                <a:t>Existing</a:t>
              </a:r>
              <a:r>
                <a:rPr sz="1100" b="1" spc="5" dirty="0">
                  <a:latin typeface="Calibri" panose="020F0502020204030204" pitchFamily="34" charset="0"/>
                  <a:ea typeface="Calibri" panose="020F0502020204030204" pitchFamily="34" charset="0"/>
                  <a:cs typeface="Calibri" panose="020F0502020204030204" pitchFamily="34" charset="0"/>
                </a:rPr>
                <a:t> </a:t>
              </a:r>
              <a:r>
                <a:rPr sz="1100" b="0" dirty="0">
                  <a:latin typeface="Calibri" panose="020F0502020204030204" pitchFamily="34" charset="0"/>
                  <a:ea typeface="Calibri" panose="020F0502020204030204" pitchFamily="34" charset="0"/>
                  <a:cs typeface="Calibri" panose="020F0502020204030204" pitchFamily="34" charset="0"/>
                </a:rPr>
                <a:t>Projects</a:t>
              </a:r>
              <a:endParaRPr sz="11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55"/>
                </a:spcBef>
              </a:pPr>
              <a:endParaRPr sz="1600" dirty="0">
                <a:latin typeface="Calibri" panose="020F0502020204030204" pitchFamily="34" charset="0"/>
                <a:ea typeface="Calibri" panose="020F0502020204030204" pitchFamily="34" charset="0"/>
                <a:cs typeface="Calibri" panose="020F0502020204030204" pitchFamily="34" charset="0"/>
              </a:endParaRPr>
            </a:p>
            <a:p>
              <a:pPr marR="8890" algn="r">
                <a:lnSpc>
                  <a:spcPct val="100000"/>
                </a:lnSpc>
                <a:spcBef>
                  <a:spcPts val="5"/>
                </a:spcBef>
              </a:pPr>
              <a:r>
                <a:rPr sz="2800" b="0" dirty="0">
                  <a:latin typeface="Calibri" panose="020F0502020204030204" pitchFamily="34" charset="0"/>
                  <a:ea typeface="Calibri" panose="020F0502020204030204" pitchFamily="34" charset="0"/>
                  <a:cs typeface="Calibri" panose="020F0502020204030204" pitchFamily="34" charset="0"/>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59" name="object 58">
              <a:extLst>
                <a:ext uri="{FF2B5EF4-FFF2-40B4-BE49-F238E27FC236}">
                  <a16:creationId xmlns:a16="http://schemas.microsoft.com/office/drawing/2014/main" id="{7B940A4E-48F2-5ED6-D162-C409B9C3C5A7}"/>
                </a:ext>
              </a:extLst>
            </p:cNvPr>
            <p:cNvSpPr txBox="1"/>
            <p:nvPr/>
          </p:nvSpPr>
          <p:spPr>
            <a:xfrm>
              <a:off x="2953799" y="2556427"/>
              <a:ext cx="772795" cy="157551"/>
            </a:xfrm>
            <a:prstGeom prst="rect">
              <a:avLst/>
            </a:prstGeom>
          </p:spPr>
          <p:txBody>
            <a:bodyPr vert="horz" wrap="square" lIns="0" tIns="12700" rIns="0" bIns="0" rtlCol="0">
              <a:spAutoFit/>
            </a:bodyPr>
            <a:lstStyle>
              <a:defPPr>
                <a:defRPr lang="en-US"/>
              </a:defPPr>
              <a:lvl1pPr marL="12700">
                <a:lnSpc>
                  <a:spcPct val="100000"/>
                </a:lnSpc>
                <a:spcBef>
                  <a:spcPts val="100"/>
                </a:spcBef>
                <a:defRPr sz="900" spc="-5">
                  <a:cs typeface="Open Sans"/>
                </a:defRPr>
              </a:lvl1pPr>
            </a:lstStyle>
            <a:p>
              <a:r>
                <a:rPr sz="1050" dirty="0">
                  <a:latin typeface="Calibri" panose="020F0502020204030204" pitchFamily="34" charset="0"/>
                  <a:ea typeface="Calibri" panose="020F0502020204030204" pitchFamily="34" charset="0"/>
                  <a:cs typeface="Calibri" panose="020F0502020204030204" pitchFamily="34" charset="0"/>
                </a:rPr>
                <a:t>Gap Validation</a:t>
              </a:r>
            </a:p>
          </p:txBody>
        </p:sp>
        <p:sp>
          <p:nvSpPr>
            <p:cNvPr id="60" name="object 59">
              <a:extLst>
                <a:ext uri="{FF2B5EF4-FFF2-40B4-BE49-F238E27FC236}">
                  <a16:creationId xmlns:a16="http://schemas.microsoft.com/office/drawing/2014/main" id="{5F7D2D8D-7756-C2D5-D470-ABBFD8CE3C24}"/>
                </a:ext>
              </a:extLst>
            </p:cNvPr>
            <p:cNvSpPr/>
            <p:nvPr/>
          </p:nvSpPr>
          <p:spPr>
            <a:xfrm>
              <a:off x="3079915" y="2748325"/>
              <a:ext cx="1270" cy="466725"/>
            </a:xfrm>
            <a:custGeom>
              <a:avLst/>
              <a:gdLst/>
              <a:ahLst/>
              <a:cxnLst/>
              <a:rect l="l" t="t" r="r" b="b"/>
              <a:pathLst>
                <a:path w="1270" h="466725">
                  <a:moveTo>
                    <a:pt x="647" y="466115"/>
                  </a:moveTo>
                  <a:lnTo>
                    <a:pt x="0" y="0"/>
                  </a:lnTo>
                </a:path>
              </a:pathLst>
            </a:custGeom>
            <a:ln w="12700">
              <a:solidFill>
                <a:srgbClr val="7E7E7E"/>
              </a:solidFill>
              <a:prstDash val="sysDash"/>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61" name="object 60">
              <a:extLst>
                <a:ext uri="{FF2B5EF4-FFF2-40B4-BE49-F238E27FC236}">
                  <a16:creationId xmlns:a16="http://schemas.microsoft.com/office/drawing/2014/main" id="{180CAD3D-70E5-B95E-0F34-B6D4BF4A909E}"/>
                </a:ext>
              </a:extLst>
            </p:cNvPr>
            <p:cNvSpPr txBox="1"/>
            <p:nvPr/>
          </p:nvSpPr>
          <p:spPr>
            <a:xfrm>
              <a:off x="2677173" y="2422424"/>
              <a:ext cx="1019175" cy="157551"/>
            </a:xfrm>
            <a:prstGeom prst="rect">
              <a:avLst/>
            </a:prstGeom>
          </p:spPr>
          <p:txBody>
            <a:bodyPr vert="horz" wrap="square" lIns="0" tIns="12700" rIns="0" bIns="0" rtlCol="0">
              <a:spAutoFit/>
            </a:bodyPr>
            <a:lstStyle/>
            <a:p>
              <a:pPr marL="12700">
                <a:lnSpc>
                  <a:spcPct val="100000"/>
                </a:lnSpc>
                <a:spcBef>
                  <a:spcPts val="100"/>
                </a:spcBef>
              </a:pPr>
              <a:r>
                <a:rPr sz="1050" spc="-5">
                  <a:latin typeface="Calibri" panose="020F0502020204030204" pitchFamily="34" charset="0"/>
                  <a:ea typeface="Calibri" panose="020F0502020204030204" pitchFamily="34" charset="0"/>
                  <a:cs typeface="Calibri" panose="020F0502020204030204" pitchFamily="34" charset="0"/>
                </a:rPr>
                <a:t>H</a:t>
              </a:r>
              <a:r>
                <a:rPr sz="1050">
                  <a:latin typeface="Calibri" panose="020F0502020204030204" pitchFamily="34" charset="0"/>
                  <a:ea typeface="Calibri" panose="020F0502020204030204" pitchFamily="34" charset="0"/>
                  <a:cs typeface="Calibri" panose="020F0502020204030204" pitchFamily="34" charset="0"/>
                </a:rPr>
                <a:t>i</a:t>
              </a:r>
              <a:r>
                <a:rPr sz="1050" spc="-5">
                  <a:latin typeface="Calibri" panose="020F0502020204030204" pitchFamily="34" charset="0"/>
                  <a:ea typeface="Calibri" panose="020F0502020204030204" pitchFamily="34" charset="0"/>
                  <a:cs typeface="Calibri" panose="020F0502020204030204" pitchFamily="34" charset="0"/>
                </a:rPr>
                <a:t>gh-</a:t>
              </a:r>
              <a:r>
                <a:rPr sz="1050">
                  <a:latin typeface="Calibri" panose="020F0502020204030204" pitchFamily="34" charset="0"/>
                  <a:ea typeface="Calibri" panose="020F0502020204030204" pitchFamily="34" charset="0"/>
                  <a:cs typeface="Calibri" panose="020F0502020204030204" pitchFamily="34" charset="0"/>
                </a:rPr>
                <a:t>l</a:t>
              </a:r>
              <a:r>
                <a:rPr sz="1050" spc="-5">
                  <a:latin typeface="Calibri" panose="020F0502020204030204" pitchFamily="34" charset="0"/>
                  <a:ea typeface="Calibri" panose="020F0502020204030204" pitchFamily="34" charset="0"/>
                  <a:cs typeface="Calibri" panose="020F0502020204030204" pitchFamily="34" charset="0"/>
                </a:rPr>
                <a:t>e</a:t>
              </a:r>
              <a:r>
                <a:rPr sz="1050" spc="5">
                  <a:latin typeface="Calibri" panose="020F0502020204030204" pitchFamily="34" charset="0"/>
                  <a:ea typeface="Calibri" panose="020F0502020204030204" pitchFamily="34" charset="0"/>
                  <a:cs typeface="Calibri" panose="020F0502020204030204" pitchFamily="34" charset="0"/>
                </a:rPr>
                <a:t>v</a:t>
              </a:r>
              <a:r>
                <a:rPr sz="1050" spc="-5">
                  <a:latin typeface="Calibri" panose="020F0502020204030204" pitchFamily="34" charset="0"/>
                  <a:ea typeface="Calibri" panose="020F0502020204030204" pitchFamily="34" charset="0"/>
                  <a:cs typeface="Calibri" panose="020F0502020204030204" pitchFamily="34" charset="0"/>
                </a:rPr>
                <a:t>e</a:t>
              </a:r>
              <a:r>
                <a:rPr sz="1050">
                  <a:latin typeface="Calibri" panose="020F0502020204030204" pitchFamily="34" charset="0"/>
                  <a:ea typeface="Calibri" panose="020F0502020204030204" pitchFamily="34" charset="0"/>
                  <a:cs typeface="Calibri" panose="020F0502020204030204" pitchFamily="34" charset="0"/>
                </a:rPr>
                <a:t>l</a:t>
              </a:r>
              <a:r>
                <a:rPr sz="1050" spc="-3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E</a:t>
              </a:r>
              <a:r>
                <a:rPr sz="1050" b="0">
                  <a:latin typeface="Calibri" panose="020F0502020204030204" pitchFamily="34" charset="0"/>
                  <a:ea typeface="Calibri" panose="020F0502020204030204" pitchFamily="34" charset="0"/>
                  <a:cs typeface="Calibri" panose="020F0502020204030204" pitchFamily="34" charset="0"/>
                </a:rPr>
                <a:t>s</a:t>
              </a:r>
              <a:r>
                <a:rPr sz="1050" b="0" spc="-5">
                  <a:latin typeface="Calibri" panose="020F0502020204030204" pitchFamily="34" charset="0"/>
                  <a:ea typeface="Calibri" panose="020F0502020204030204" pitchFamily="34" charset="0"/>
                  <a:cs typeface="Calibri" panose="020F0502020204030204" pitchFamily="34" charset="0"/>
                </a:rPr>
                <a:t>t</a:t>
              </a:r>
              <a:r>
                <a:rPr sz="1050" b="0">
                  <a:latin typeface="Calibri" panose="020F0502020204030204" pitchFamily="34" charset="0"/>
                  <a:ea typeface="Calibri" panose="020F0502020204030204" pitchFamily="34" charset="0"/>
                  <a:cs typeface="Calibri" panose="020F0502020204030204" pitchFamily="34" charset="0"/>
                </a:rPr>
                <a:t>i</a:t>
              </a:r>
              <a:r>
                <a:rPr sz="1050" b="0" spc="-5">
                  <a:latin typeface="Calibri" panose="020F0502020204030204" pitchFamily="34" charset="0"/>
                  <a:ea typeface="Calibri" panose="020F0502020204030204" pitchFamily="34" charset="0"/>
                  <a:cs typeface="Calibri" panose="020F0502020204030204" pitchFamily="34" charset="0"/>
                </a:rPr>
                <a:t>m</a:t>
              </a:r>
              <a:r>
                <a:rPr sz="1050" b="0">
                  <a:latin typeface="Calibri" panose="020F0502020204030204" pitchFamily="34" charset="0"/>
                  <a:ea typeface="Calibri" panose="020F0502020204030204" pitchFamily="34" charset="0"/>
                  <a:cs typeface="Calibri" panose="020F0502020204030204" pitchFamily="34" charset="0"/>
                </a:rPr>
                <a:t>a</a:t>
              </a:r>
              <a:r>
                <a:rPr sz="1050" b="0" spc="-5">
                  <a:latin typeface="Calibri" panose="020F0502020204030204" pitchFamily="34" charset="0"/>
                  <a:ea typeface="Calibri" panose="020F0502020204030204" pitchFamily="34" charset="0"/>
                  <a:cs typeface="Calibri" panose="020F0502020204030204" pitchFamily="34" charset="0"/>
                </a:rPr>
                <a:t>te</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62" name="object 61">
              <a:extLst>
                <a:ext uri="{FF2B5EF4-FFF2-40B4-BE49-F238E27FC236}">
                  <a16:creationId xmlns:a16="http://schemas.microsoft.com/office/drawing/2014/main" id="{E4922A95-C1AB-ABD9-6D62-6BB1F0A4A0B6}"/>
                </a:ext>
              </a:extLst>
            </p:cNvPr>
            <p:cNvSpPr/>
            <p:nvPr/>
          </p:nvSpPr>
          <p:spPr>
            <a:xfrm>
              <a:off x="2916844" y="2614205"/>
              <a:ext cx="0" cy="529590"/>
            </a:xfrm>
            <a:custGeom>
              <a:avLst/>
              <a:gdLst/>
              <a:ahLst/>
              <a:cxnLst/>
              <a:rect l="l" t="t" r="r" b="b"/>
              <a:pathLst>
                <a:path h="529589">
                  <a:moveTo>
                    <a:pt x="0" y="528967"/>
                  </a:moveTo>
                  <a:lnTo>
                    <a:pt x="0" y="0"/>
                  </a:lnTo>
                </a:path>
              </a:pathLst>
            </a:custGeom>
            <a:ln w="12700">
              <a:solidFill>
                <a:srgbClr val="7E7E7E"/>
              </a:solidFill>
              <a:prstDash val="sysDash"/>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63" name="object 62">
              <a:extLst>
                <a:ext uri="{FF2B5EF4-FFF2-40B4-BE49-F238E27FC236}">
                  <a16:creationId xmlns:a16="http://schemas.microsoft.com/office/drawing/2014/main" id="{354524F6-75CA-B9A9-0A14-AED3CA9B048E}"/>
                </a:ext>
              </a:extLst>
            </p:cNvPr>
            <p:cNvSpPr txBox="1"/>
            <p:nvPr/>
          </p:nvSpPr>
          <p:spPr>
            <a:xfrm>
              <a:off x="3167907" y="2704362"/>
              <a:ext cx="708660" cy="157551"/>
            </a:xfrm>
            <a:prstGeom prst="rect">
              <a:avLst/>
            </a:prstGeom>
          </p:spPr>
          <p:txBody>
            <a:bodyPr vert="horz" wrap="square" lIns="0" tIns="12700" rIns="0" bIns="0" rtlCol="0">
              <a:spAutoFit/>
            </a:bodyPr>
            <a:lstStyle>
              <a:defPPr>
                <a:defRPr lang="en-US"/>
              </a:defPPr>
              <a:lvl1pPr marL="12700">
                <a:lnSpc>
                  <a:spcPct val="100000"/>
                </a:lnSpc>
                <a:spcBef>
                  <a:spcPts val="100"/>
                </a:spcBef>
                <a:defRPr sz="900" spc="-5">
                  <a:cs typeface="Open Sans"/>
                </a:defRPr>
              </a:lvl1pPr>
            </a:lstStyle>
            <a:p>
              <a:r>
                <a:rPr sz="1050">
                  <a:latin typeface="Calibri" panose="020F0502020204030204" pitchFamily="34" charset="0"/>
                  <a:ea typeface="Calibri" panose="020F0502020204030204" pitchFamily="34" charset="0"/>
                  <a:cs typeface="Calibri" panose="020F0502020204030204" pitchFamily="34" charset="0"/>
                </a:rPr>
                <a:t>Prioritization</a:t>
              </a:r>
            </a:p>
          </p:txBody>
        </p:sp>
        <p:grpSp>
          <p:nvGrpSpPr>
            <p:cNvPr id="64" name="object 63">
              <a:extLst>
                <a:ext uri="{FF2B5EF4-FFF2-40B4-BE49-F238E27FC236}">
                  <a16:creationId xmlns:a16="http://schemas.microsoft.com/office/drawing/2014/main" id="{985C202E-2396-18F0-A4D1-4B67556509D8}"/>
                </a:ext>
              </a:extLst>
            </p:cNvPr>
            <p:cNvGrpSpPr/>
            <p:nvPr/>
          </p:nvGrpSpPr>
          <p:grpSpPr>
            <a:xfrm>
              <a:off x="1312833" y="1932221"/>
              <a:ext cx="5500127" cy="4074160"/>
              <a:chOff x="2326385" y="2251710"/>
              <a:chExt cx="5500127" cy="4074160"/>
            </a:xfrm>
          </p:grpSpPr>
          <p:sp>
            <p:nvSpPr>
              <p:cNvPr id="65" name="object 64">
                <a:extLst>
                  <a:ext uri="{FF2B5EF4-FFF2-40B4-BE49-F238E27FC236}">
                    <a16:creationId xmlns:a16="http://schemas.microsoft.com/office/drawing/2014/main" id="{8551E080-7026-AB2B-461A-E65F5F41CC0C}"/>
                  </a:ext>
                </a:extLst>
              </p:cNvPr>
              <p:cNvSpPr/>
              <p:nvPr/>
            </p:nvSpPr>
            <p:spPr>
              <a:xfrm>
                <a:off x="4262627" y="3203445"/>
                <a:ext cx="0" cy="397510"/>
              </a:xfrm>
              <a:custGeom>
                <a:avLst/>
                <a:gdLst/>
                <a:ahLst/>
                <a:cxnLst/>
                <a:rect l="l" t="t" r="r" b="b"/>
                <a:pathLst>
                  <a:path h="397510">
                    <a:moveTo>
                      <a:pt x="0" y="397421"/>
                    </a:moveTo>
                    <a:lnTo>
                      <a:pt x="0" y="0"/>
                    </a:lnTo>
                  </a:path>
                </a:pathLst>
              </a:custGeom>
              <a:ln w="12700">
                <a:solidFill>
                  <a:schemeClr val="accent1"/>
                </a:solidFill>
                <a:prstDash val="sysDash"/>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66" name="object 65">
                <a:extLst>
                  <a:ext uri="{FF2B5EF4-FFF2-40B4-BE49-F238E27FC236}">
                    <a16:creationId xmlns:a16="http://schemas.microsoft.com/office/drawing/2014/main" id="{D419953A-BCD7-A7C4-007D-9BE268498B89}"/>
                  </a:ext>
                </a:extLst>
              </p:cNvPr>
              <p:cNvSpPr/>
              <p:nvPr/>
            </p:nvSpPr>
            <p:spPr>
              <a:xfrm>
                <a:off x="2326385" y="2256282"/>
                <a:ext cx="2580640" cy="4066540"/>
              </a:xfrm>
              <a:custGeom>
                <a:avLst/>
                <a:gdLst/>
                <a:ahLst/>
                <a:cxnLst/>
                <a:rect l="l" t="t" r="r" b="b"/>
                <a:pathLst>
                  <a:path w="2580640" h="4066540">
                    <a:moveTo>
                      <a:pt x="0" y="0"/>
                    </a:moveTo>
                    <a:lnTo>
                      <a:pt x="2580132" y="0"/>
                    </a:lnTo>
                    <a:lnTo>
                      <a:pt x="2580132" y="4066032"/>
                    </a:lnTo>
                    <a:lnTo>
                      <a:pt x="0" y="4066032"/>
                    </a:lnTo>
                    <a:lnTo>
                      <a:pt x="0" y="0"/>
                    </a:lnTo>
                    <a:close/>
                  </a:path>
                </a:pathLst>
              </a:custGeom>
              <a:ln w="28574">
                <a:solidFill>
                  <a:schemeClr val="accent1"/>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67" name="object 66">
                <a:extLst>
                  <a:ext uri="{FF2B5EF4-FFF2-40B4-BE49-F238E27FC236}">
                    <a16:creationId xmlns:a16="http://schemas.microsoft.com/office/drawing/2014/main" id="{0B820569-53E1-3B88-400E-27A22281C698}"/>
                  </a:ext>
                </a:extLst>
              </p:cNvPr>
              <p:cNvSpPr/>
              <p:nvPr/>
            </p:nvSpPr>
            <p:spPr>
              <a:xfrm>
                <a:off x="7422017" y="3983253"/>
                <a:ext cx="404495" cy="281940"/>
              </a:xfrm>
              <a:custGeom>
                <a:avLst/>
                <a:gdLst/>
                <a:ahLst/>
                <a:cxnLst/>
                <a:rect l="l" t="t" r="r" b="b"/>
                <a:pathLst>
                  <a:path w="404495" h="281939">
                    <a:moveTo>
                      <a:pt x="404317" y="168833"/>
                    </a:moveTo>
                    <a:lnTo>
                      <a:pt x="0" y="168833"/>
                    </a:lnTo>
                    <a:lnTo>
                      <a:pt x="0" y="281381"/>
                    </a:lnTo>
                    <a:lnTo>
                      <a:pt x="404317" y="281381"/>
                    </a:lnTo>
                    <a:lnTo>
                      <a:pt x="404317" y="168833"/>
                    </a:lnTo>
                    <a:close/>
                  </a:path>
                  <a:path w="404495" h="281939">
                    <a:moveTo>
                      <a:pt x="404317" y="0"/>
                    </a:moveTo>
                    <a:lnTo>
                      <a:pt x="0" y="0"/>
                    </a:lnTo>
                    <a:lnTo>
                      <a:pt x="0" y="112547"/>
                    </a:lnTo>
                    <a:lnTo>
                      <a:pt x="404317" y="112547"/>
                    </a:lnTo>
                    <a:lnTo>
                      <a:pt x="404317" y="0"/>
                    </a:lnTo>
                    <a:close/>
                  </a:path>
                </a:pathLst>
              </a:custGeom>
              <a:solidFill>
                <a:schemeClr val="accent1"/>
              </a:solidFill>
              <a:ln>
                <a:solidFill>
                  <a:schemeClr val="accent1"/>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68" name="object 67">
                <a:extLst>
                  <a:ext uri="{FF2B5EF4-FFF2-40B4-BE49-F238E27FC236}">
                    <a16:creationId xmlns:a16="http://schemas.microsoft.com/office/drawing/2014/main" id="{8624C83E-EF56-1152-3F9A-9F853CA2E809}"/>
                  </a:ext>
                </a:extLst>
              </p:cNvPr>
              <p:cNvSpPr/>
              <p:nvPr/>
            </p:nvSpPr>
            <p:spPr>
              <a:xfrm>
                <a:off x="5133593" y="2251710"/>
                <a:ext cx="1786255" cy="4074160"/>
              </a:xfrm>
              <a:custGeom>
                <a:avLst/>
                <a:gdLst/>
                <a:ahLst/>
                <a:cxnLst/>
                <a:rect l="l" t="t" r="r" b="b"/>
                <a:pathLst>
                  <a:path w="1786254" h="4074160">
                    <a:moveTo>
                      <a:pt x="1786127" y="0"/>
                    </a:moveTo>
                    <a:lnTo>
                      <a:pt x="0" y="0"/>
                    </a:lnTo>
                    <a:lnTo>
                      <a:pt x="0" y="4073652"/>
                    </a:lnTo>
                    <a:lnTo>
                      <a:pt x="1786127" y="4073652"/>
                    </a:lnTo>
                    <a:lnTo>
                      <a:pt x="1786127" y="0"/>
                    </a:lnTo>
                    <a:close/>
                  </a:path>
                </a:pathLst>
              </a:custGeom>
              <a:solidFill>
                <a:srgbClr val="FFFFFF"/>
              </a:solidFill>
              <a:ln>
                <a:solidFill>
                  <a:schemeClr val="accent1"/>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69" name="object 68">
                <a:extLst>
                  <a:ext uri="{FF2B5EF4-FFF2-40B4-BE49-F238E27FC236}">
                    <a16:creationId xmlns:a16="http://schemas.microsoft.com/office/drawing/2014/main" id="{E7CFE8BA-D8FC-99B6-D401-5799DD8BC226}"/>
                  </a:ext>
                </a:extLst>
              </p:cNvPr>
              <p:cNvSpPr/>
              <p:nvPr/>
            </p:nvSpPr>
            <p:spPr>
              <a:xfrm>
                <a:off x="5133593" y="2251710"/>
                <a:ext cx="1786255" cy="4074160"/>
              </a:xfrm>
              <a:custGeom>
                <a:avLst/>
                <a:gdLst/>
                <a:ahLst/>
                <a:cxnLst/>
                <a:rect l="l" t="t" r="r" b="b"/>
                <a:pathLst>
                  <a:path w="1786254" h="4074160">
                    <a:moveTo>
                      <a:pt x="0" y="0"/>
                    </a:moveTo>
                    <a:lnTo>
                      <a:pt x="1786127" y="0"/>
                    </a:lnTo>
                    <a:lnTo>
                      <a:pt x="1786127" y="4073652"/>
                    </a:lnTo>
                    <a:lnTo>
                      <a:pt x="0" y="4073652"/>
                    </a:lnTo>
                    <a:lnTo>
                      <a:pt x="0" y="0"/>
                    </a:lnTo>
                    <a:close/>
                  </a:path>
                </a:pathLst>
              </a:custGeom>
              <a:ln w="25400">
                <a:solidFill>
                  <a:schemeClr val="accent1"/>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70" name="object 69">
                <a:extLst>
                  <a:ext uri="{FF2B5EF4-FFF2-40B4-BE49-F238E27FC236}">
                    <a16:creationId xmlns:a16="http://schemas.microsoft.com/office/drawing/2014/main" id="{D371E6EE-6298-5145-7CB1-A698CC0E9EF8}"/>
                  </a:ext>
                </a:extLst>
              </p:cNvPr>
              <p:cNvSpPr/>
              <p:nvPr/>
            </p:nvSpPr>
            <p:spPr>
              <a:xfrm>
                <a:off x="5173979" y="2866644"/>
                <a:ext cx="1717675" cy="3169920"/>
              </a:xfrm>
              <a:custGeom>
                <a:avLst/>
                <a:gdLst/>
                <a:ahLst/>
                <a:cxnLst/>
                <a:rect l="l" t="t" r="r" b="b"/>
                <a:pathLst>
                  <a:path w="1717675" h="3169920">
                    <a:moveTo>
                      <a:pt x="0" y="0"/>
                    </a:moveTo>
                    <a:lnTo>
                      <a:pt x="1717548" y="0"/>
                    </a:lnTo>
                    <a:lnTo>
                      <a:pt x="1717548" y="3169920"/>
                    </a:lnTo>
                    <a:lnTo>
                      <a:pt x="0" y="3169920"/>
                    </a:lnTo>
                    <a:lnTo>
                      <a:pt x="0" y="0"/>
                    </a:lnTo>
                    <a:close/>
                  </a:path>
                </a:pathLst>
              </a:custGeom>
              <a:ln w="9525">
                <a:solidFill>
                  <a:schemeClr val="accent1"/>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71" name="object 70">
              <a:extLst>
                <a:ext uri="{FF2B5EF4-FFF2-40B4-BE49-F238E27FC236}">
                  <a16:creationId xmlns:a16="http://schemas.microsoft.com/office/drawing/2014/main" id="{E41ACF62-E305-3042-DB0B-987B272A7F68}"/>
                </a:ext>
              </a:extLst>
            </p:cNvPr>
            <p:cNvSpPr txBox="1"/>
            <p:nvPr/>
          </p:nvSpPr>
          <p:spPr>
            <a:xfrm>
              <a:off x="7666392" y="3952368"/>
              <a:ext cx="1817370" cy="164501"/>
            </a:xfrm>
            <a:prstGeom prst="rect">
              <a:avLst/>
            </a:prstGeom>
          </p:spPr>
          <p:txBody>
            <a:bodyPr vert="horz" wrap="square" lIns="0" tIns="12700" rIns="0" bIns="0" rtlCol="0">
              <a:spAutoFit/>
            </a:bodyPr>
            <a:lstStyle/>
            <a:p>
              <a:pPr marL="12700">
                <a:lnSpc>
                  <a:spcPct val="100000"/>
                </a:lnSpc>
                <a:spcBef>
                  <a:spcPts val="100"/>
                </a:spcBef>
              </a:pPr>
              <a:r>
                <a:rPr sz="1100" b="1" spc="-5">
                  <a:latin typeface="Calibri" panose="020F0502020204030204" pitchFamily="34" charset="0"/>
                  <a:ea typeface="Calibri" panose="020F0502020204030204" pitchFamily="34" charset="0"/>
                  <a:cs typeface="Calibri" panose="020F0502020204030204" pitchFamily="34" charset="0"/>
                </a:rPr>
                <a:t>Temporary</a:t>
              </a:r>
              <a:r>
                <a:rPr sz="1100" b="1" spc="-45">
                  <a:latin typeface="Calibri" panose="020F0502020204030204" pitchFamily="34" charset="0"/>
                  <a:ea typeface="Calibri" panose="020F0502020204030204" pitchFamily="34" charset="0"/>
                  <a:cs typeface="Calibri" panose="020F0502020204030204" pitchFamily="34" charset="0"/>
                </a:rPr>
                <a:t> </a:t>
              </a:r>
              <a:r>
                <a:rPr sz="1100" b="0">
                  <a:latin typeface="Calibri" panose="020F0502020204030204" pitchFamily="34" charset="0"/>
                  <a:ea typeface="Calibri" panose="020F0502020204030204" pitchFamily="34" charset="0"/>
                  <a:cs typeface="Calibri" panose="020F0502020204030204" pitchFamily="34" charset="0"/>
                </a:rPr>
                <a:t>spike</a:t>
              </a:r>
              <a:r>
                <a:rPr sz="1100" b="0" spc="-65">
                  <a:latin typeface="Calibri" panose="020F0502020204030204" pitchFamily="34" charset="0"/>
                  <a:ea typeface="Calibri" panose="020F0502020204030204" pitchFamily="34" charset="0"/>
                  <a:cs typeface="Calibri" panose="020F0502020204030204" pitchFamily="34" charset="0"/>
                </a:rPr>
                <a:t> </a:t>
              </a:r>
              <a:r>
                <a:rPr sz="1100" b="0" spc="5">
                  <a:latin typeface="Calibri" panose="020F0502020204030204" pitchFamily="34" charset="0"/>
                  <a:ea typeface="Calibri" panose="020F0502020204030204" pitchFamily="34" charset="0"/>
                  <a:cs typeface="Calibri" panose="020F0502020204030204" pitchFamily="34" charset="0"/>
                </a:rPr>
                <a:t>in</a:t>
              </a:r>
              <a:r>
                <a:rPr sz="1100" b="0" spc="-30">
                  <a:latin typeface="Calibri" panose="020F0502020204030204" pitchFamily="34" charset="0"/>
                  <a:ea typeface="Calibri" panose="020F0502020204030204" pitchFamily="34" charset="0"/>
                  <a:cs typeface="Calibri" panose="020F0502020204030204" pitchFamily="34" charset="0"/>
                </a:rPr>
                <a:t> </a:t>
              </a:r>
              <a:r>
                <a:rPr sz="1100" b="0" spc="-5">
                  <a:latin typeface="Calibri" panose="020F0502020204030204" pitchFamily="34" charset="0"/>
                  <a:ea typeface="Calibri" panose="020F0502020204030204" pitchFamily="34" charset="0"/>
                  <a:cs typeface="Calibri" panose="020F0502020204030204" pitchFamily="34" charset="0"/>
                </a:rPr>
                <a:t>demand</a:t>
              </a:r>
              <a:endParaRPr sz="1100">
                <a:latin typeface="Calibri" panose="020F0502020204030204" pitchFamily="34" charset="0"/>
                <a:ea typeface="Calibri" panose="020F0502020204030204" pitchFamily="34" charset="0"/>
                <a:cs typeface="Calibri" panose="020F0502020204030204" pitchFamily="34" charset="0"/>
              </a:endParaRPr>
            </a:p>
          </p:txBody>
        </p:sp>
        <p:sp>
          <p:nvSpPr>
            <p:cNvPr id="72" name="object 71">
              <a:extLst>
                <a:ext uri="{FF2B5EF4-FFF2-40B4-BE49-F238E27FC236}">
                  <a16:creationId xmlns:a16="http://schemas.microsoft.com/office/drawing/2014/main" id="{185B2D18-0388-C85D-576E-EF74FA261C33}"/>
                </a:ext>
              </a:extLst>
            </p:cNvPr>
            <p:cNvSpPr txBox="1"/>
            <p:nvPr/>
          </p:nvSpPr>
          <p:spPr>
            <a:xfrm>
              <a:off x="7679422" y="4135097"/>
              <a:ext cx="3230245" cy="158130"/>
            </a:xfrm>
            <a:prstGeom prst="rect">
              <a:avLst/>
            </a:prstGeom>
          </p:spPr>
          <p:txBody>
            <a:bodyPr vert="horz" wrap="square" lIns="0" tIns="13335" rIns="0" bIns="0" rtlCol="0">
              <a:spAutoFit/>
            </a:bodyPr>
            <a:lstStyle/>
            <a:p>
              <a:pPr marL="184785" indent="-172720">
                <a:lnSpc>
                  <a:spcPct val="100000"/>
                </a:lnSpc>
                <a:spcBef>
                  <a:spcPts val="105"/>
                </a:spcBef>
                <a:buFont typeface="Arial"/>
                <a:buChar char="•"/>
                <a:tabLst>
                  <a:tab pos="185420" algn="l"/>
                </a:tabLst>
              </a:pPr>
              <a:r>
                <a:rPr sz="1050" b="0" spc="-15">
                  <a:latin typeface="Calibri" panose="020F0502020204030204" pitchFamily="34" charset="0"/>
                  <a:ea typeface="Calibri" panose="020F0502020204030204" pitchFamily="34" charset="0"/>
                  <a:cs typeface="Calibri" panose="020F0502020204030204" pitchFamily="34" charset="0"/>
                </a:rPr>
                <a:t>Temporarily</a:t>
              </a:r>
              <a:r>
                <a:rPr sz="1050" b="0">
                  <a:latin typeface="Calibri" panose="020F0502020204030204" pitchFamily="34" charset="0"/>
                  <a:ea typeface="Calibri" panose="020F0502020204030204" pitchFamily="34" charset="0"/>
                  <a:cs typeface="Calibri" panose="020F0502020204030204" pitchFamily="34" charset="0"/>
                </a:rPr>
                <a:t> </a:t>
              </a:r>
              <a:r>
                <a:rPr sz="1050" b="0" spc="-15">
                  <a:latin typeface="Calibri" panose="020F0502020204030204" pitchFamily="34" charset="0"/>
                  <a:ea typeface="Calibri" panose="020F0502020204030204" pitchFamily="34" charset="0"/>
                  <a:cs typeface="Calibri" panose="020F0502020204030204" pitchFamily="34" charset="0"/>
                </a:rPr>
                <a:t>reduced</a:t>
              </a:r>
              <a:r>
                <a:rPr sz="1050" b="0" spc="5">
                  <a:latin typeface="Calibri" panose="020F0502020204030204" pitchFamily="34" charset="0"/>
                  <a:ea typeface="Calibri" panose="020F0502020204030204" pitchFamily="34" charset="0"/>
                  <a:cs typeface="Calibri" panose="020F0502020204030204" pitchFamily="34" charset="0"/>
                </a:rPr>
                <a:t> </a:t>
              </a:r>
              <a:r>
                <a:rPr sz="1050" b="0" spc="-15">
                  <a:latin typeface="Calibri" panose="020F0502020204030204" pitchFamily="34" charset="0"/>
                  <a:ea typeface="Calibri" panose="020F0502020204030204" pitchFamily="34" charset="0"/>
                  <a:cs typeface="Calibri" panose="020F0502020204030204" pitchFamily="34" charset="0"/>
                </a:rPr>
                <a:t>optimization </a:t>
              </a:r>
              <a:r>
                <a:rPr sz="1050" b="0" spc="-5">
                  <a:latin typeface="Calibri" panose="020F0502020204030204" pitchFamily="34" charset="0"/>
                  <a:ea typeface="Calibri" panose="020F0502020204030204" pitchFamily="34" charset="0"/>
                  <a:cs typeface="Calibri" panose="020F0502020204030204" pitchFamily="34" charset="0"/>
                </a:rPr>
                <a:t>or </a:t>
              </a:r>
              <a:r>
                <a:rPr sz="1050" b="0" spc="-15">
                  <a:latin typeface="Calibri" panose="020F0502020204030204" pitchFamily="34" charset="0"/>
                  <a:ea typeface="Calibri" panose="020F0502020204030204" pitchFamily="34" charset="0"/>
                  <a:cs typeface="Calibri" panose="020F0502020204030204" pitchFamily="34" charset="0"/>
                </a:rPr>
                <a:t>enhancement,</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73" name="object 72">
              <a:extLst>
                <a:ext uri="{FF2B5EF4-FFF2-40B4-BE49-F238E27FC236}">
                  <a16:creationId xmlns:a16="http://schemas.microsoft.com/office/drawing/2014/main" id="{E1B66E10-7B6E-3F6C-E01F-DEF93F67D333}"/>
                </a:ext>
              </a:extLst>
            </p:cNvPr>
            <p:cNvSpPr txBox="1"/>
            <p:nvPr/>
          </p:nvSpPr>
          <p:spPr>
            <a:xfrm>
              <a:off x="7851622" y="4295093"/>
              <a:ext cx="1906270" cy="158130"/>
            </a:xfrm>
            <a:prstGeom prst="rect">
              <a:avLst/>
            </a:prstGeom>
          </p:spPr>
          <p:txBody>
            <a:bodyPr vert="horz" wrap="square" lIns="0" tIns="13335" rIns="0" bIns="0" rtlCol="0">
              <a:spAutoFit/>
            </a:bodyPr>
            <a:lstStyle/>
            <a:p>
              <a:pPr marL="12700">
                <a:lnSpc>
                  <a:spcPct val="100000"/>
                </a:lnSpc>
                <a:spcBef>
                  <a:spcPts val="105"/>
                </a:spcBef>
              </a:pPr>
              <a:r>
                <a:rPr sz="1050" b="0" spc="-15">
                  <a:latin typeface="Calibri" panose="020F0502020204030204" pitchFamily="34" charset="0"/>
                  <a:ea typeface="Calibri" panose="020F0502020204030204" pitchFamily="34" charset="0"/>
                  <a:cs typeface="Calibri" panose="020F0502020204030204" pitchFamily="34" charset="0"/>
                </a:rPr>
                <a:t>support</a:t>
              </a:r>
              <a:r>
                <a:rPr sz="1050" b="0" spc="-25">
                  <a:latin typeface="Calibri" panose="020F0502020204030204" pitchFamily="34" charset="0"/>
                  <a:ea typeface="Calibri" panose="020F0502020204030204" pitchFamily="34" charset="0"/>
                  <a:cs typeface="Calibri" panose="020F0502020204030204" pitchFamily="34" charset="0"/>
                </a:rPr>
                <a:t> </a:t>
              </a:r>
              <a:r>
                <a:rPr sz="1050" spc="-15">
                  <a:latin typeface="Calibri" panose="020F0502020204030204" pitchFamily="34" charset="0"/>
                  <a:ea typeface="Calibri" panose="020F0502020204030204" pitchFamily="34" charset="0"/>
                  <a:cs typeface="Calibri" panose="020F0502020204030204" pitchFamily="34" charset="0"/>
                </a:rPr>
                <a:t>activities </a:t>
              </a:r>
              <a:r>
                <a:rPr sz="1050" b="0" spc="-10">
                  <a:latin typeface="Calibri" panose="020F0502020204030204" pitchFamily="34" charset="0"/>
                  <a:ea typeface="Calibri" panose="020F0502020204030204" pitchFamily="34" charset="0"/>
                  <a:cs typeface="Calibri" panose="020F0502020204030204" pitchFamily="34" charset="0"/>
                </a:rPr>
                <a:t>where</a:t>
              </a:r>
              <a:r>
                <a:rPr sz="1050" b="0" spc="-25">
                  <a:latin typeface="Calibri" panose="020F0502020204030204" pitchFamily="34" charset="0"/>
                  <a:ea typeface="Calibri" panose="020F0502020204030204" pitchFamily="34" charset="0"/>
                  <a:cs typeface="Calibri" panose="020F0502020204030204" pitchFamily="34" charset="0"/>
                </a:rPr>
                <a:t> </a:t>
              </a:r>
              <a:r>
                <a:rPr sz="1050" b="0" spc="-20">
                  <a:latin typeface="Calibri" panose="020F0502020204030204" pitchFamily="34" charset="0"/>
                  <a:ea typeface="Calibri" panose="020F0502020204030204" pitchFamily="34" charset="0"/>
                  <a:cs typeface="Calibri" panose="020F0502020204030204" pitchFamily="34" charset="0"/>
                </a:rPr>
                <a:t>needed</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74" name="object 73">
              <a:extLst>
                <a:ext uri="{FF2B5EF4-FFF2-40B4-BE49-F238E27FC236}">
                  <a16:creationId xmlns:a16="http://schemas.microsoft.com/office/drawing/2014/main" id="{9BDFCBD3-BA52-D55F-4511-04EB9F7D772D}"/>
                </a:ext>
              </a:extLst>
            </p:cNvPr>
            <p:cNvSpPr txBox="1"/>
            <p:nvPr/>
          </p:nvSpPr>
          <p:spPr>
            <a:xfrm>
              <a:off x="7679410" y="4492494"/>
              <a:ext cx="3357245" cy="158130"/>
            </a:xfrm>
            <a:prstGeom prst="rect">
              <a:avLst/>
            </a:prstGeom>
          </p:spPr>
          <p:txBody>
            <a:bodyPr vert="horz" wrap="square" lIns="0" tIns="13335" rIns="0" bIns="0" rtlCol="0">
              <a:spAutoFit/>
            </a:bodyPr>
            <a:lstStyle>
              <a:defPPr>
                <a:defRPr lang="en-US"/>
              </a:defPPr>
              <a:lvl1pPr marL="184785" indent="-172720">
                <a:lnSpc>
                  <a:spcPct val="100000"/>
                </a:lnSpc>
                <a:spcBef>
                  <a:spcPts val="105"/>
                </a:spcBef>
                <a:buFont typeface="Arial"/>
                <a:buChar char="•"/>
                <a:tabLst>
                  <a:tab pos="185420" algn="l"/>
                </a:tabLst>
                <a:defRPr sz="900" b="0" spc="-15">
                  <a:cs typeface="Open Sans Light"/>
                </a:defRPr>
              </a:lvl1pPr>
            </a:lstStyle>
            <a:p>
              <a:r>
                <a:rPr lang="en-US" sz="1050">
                  <a:latin typeface="Calibri" panose="020F0502020204030204" pitchFamily="34" charset="0"/>
                  <a:ea typeface="Calibri" panose="020F0502020204030204" pitchFamily="34" charset="0"/>
                  <a:cs typeface="Calibri" panose="020F0502020204030204" pitchFamily="34" charset="0"/>
                </a:rPr>
                <a:t>If additional temporary capacity is required, resources</a:t>
              </a:r>
            </a:p>
          </p:txBody>
        </p:sp>
        <p:sp>
          <p:nvSpPr>
            <p:cNvPr id="75" name="object 74">
              <a:extLst>
                <a:ext uri="{FF2B5EF4-FFF2-40B4-BE49-F238E27FC236}">
                  <a16:creationId xmlns:a16="http://schemas.microsoft.com/office/drawing/2014/main" id="{9C759930-768C-1135-2D3D-B3C90F731CA4}"/>
                </a:ext>
              </a:extLst>
            </p:cNvPr>
            <p:cNvSpPr txBox="1"/>
            <p:nvPr/>
          </p:nvSpPr>
          <p:spPr>
            <a:xfrm>
              <a:off x="7679422" y="3228172"/>
              <a:ext cx="3056890" cy="158130"/>
            </a:xfrm>
            <a:prstGeom prst="rect">
              <a:avLst/>
            </a:prstGeom>
          </p:spPr>
          <p:txBody>
            <a:bodyPr vert="horz" wrap="square" lIns="0" tIns="13335" rIns="0" bIns="0" rtlCol="0">
              <a:spAutoFit/>
            </a:bodyPr>
            <a:lstStyle/>
            <a:p>
              <a:pPr marL="12700">
                <a:lnSpc>
                  <a:spcPct val="100000"/>
                </a:lnSpc>
                <a:spcBef>
                  <a:spcPts val="105"/>
                </a:spcBef>
              </a:pPr>
              <a:r>
                <a:rPr sz="1050" b="0" spc="-5">
                  <a:latin typeface="Calibri" panose="020F0502020204030204" pitchFamily="34" charset="0"/>
                  <a:ea typeface="Calibri" panose="020F0502020204030204" pitchFamily="34" charset="0"/>
                  <a:cs typeface="Calibri" panose="020F0502020204030204" pitchFamily="34" charset="0"/>
                </a:rPr>
                <a:t>Undertakes</a:t>
              </a:r>
              <a:r>
                <a:rPr sz="1050" b="0" spc="-4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one</a:t>
              </a:r>
              <a:r>
                <a:rPr sz="1050" b="0" spc="-3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or</a:t>
              </a:r>
              <a:r>
                <a:rPr sz="1050" b="0" spc="-20">
                  <a:latin typeface="Calibri" panose="020F0502020204030204" pitchFamily="34" charset="0"/>
                  <a:ea typeface="Calibri" panose="020F0502020204030204" pitchFamily="34" charset="0"/>
                  <a:cs typeface="Calibri" panose="020F0502020204030204" pitchFamily="34" charset="0"/>
                </a:rPr>
                <a:t> </a:t>
              </a:r>
              <a:r>
                <a:rPr sz="1050" b="0" spc="-10">
                  <a:latin typeface="Calibri" panose="020F0502020204030204" pitchFamily="34" charset="0"/>
                  <a:ea typeface="Calibri" panose="020F0502020204030204" pitchFamily="34" charset="0"/>
                  <a:cs typeface="Calibri" panose="020F0502020204030204" pitchFamily="34" charset="0"/>
                </a:rPr>
                <a:t>more</a:t>
              </a:r>
              <a:r>
                <a:rPr sz="1050" b="0" spc="-3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of</a:t>
              </a:r>
              <a:r>
                <a:rPr sz="1050" b="0" spc="-2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the</a:t>
              </a:r>
              <a:r>
                <a:rPr sz="1050" b="0" spc="-2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following</a:t>
              </a:r>
              <a:r>
                <a:rPr sz="1050" b="0" spc="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initiatives:</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76" name="object 75">
              <a:extLst>
                <a:ext uri="{FF2B5EF4-FFF2-40B4-BE49-F238E27FC236}">
                  <a16:creationId xmlns:a16="http://schemas.microsoft.com/office/drawing/2014/main" id="{FF90219D-54EE-E643-EB12-E7C6F4B6D9C5}"/>
                </a:ext>
              </a:extLst>
            </p:cNvPr>
            <p:cNvSpPr txBox="1"/>
            <p:nvPr/>
          </p:nvSpPr>
          <p:spPr>
            <a:xfrm>
              <a:off x="7679422" y="3387460"/>
              <a:ext cx="2538730" cy="158130"/>
            </a:xfrm>
            <a:prstGeom prst="rect">
              <a:avLst/>
            </a:prstGeom>
          </p:spPr>
          <p:txBody>
            <a:bodyPr vert="horz" wrap="square" lIns="0" tIns="13335" rIns="0" bIns="0" rtlCol="0">
              <a:spAutoFit/>
            </a:bodyPr>
            <a:lstStyle>
              <a:defPPr>
                <a:defRPr lang="en-US"/>
              </a:defPPr>
              <a:lvl1pPr marL="12700">
                <a:lnSpc>
                  <a:spcPct val="100000"/>
                </a:lnSpc>
                <a:spcBef>
                  <a:spcPts val="105"/>
                </a:spcBef>
                <a:defRPr sz="900" b="0" spc="-5">
                  <a:cs typeface="Open Sans Light"/>
                </a:defRPr>
              </a:lvl1pPr>
            </a:lstStyle>
            <a:p>
              <a:r>
                <a:rPr sz="1050">
                  <a:latin typeface="Calibri" panose="020F0502020204030204" pitchFamily="34" charset="0"/>
                  <a:ea typeface="Calibri" panose="020F0502020204030204" pitchFamily="34" charset="0"/>
                  <a:cs typeface="Calibri" panose="020F0502020204030204" pitchFamily="34" charset="0"/>
                </a:rPr>
                <a:t>Work on optimizations and innovations</a:t>
              </a:r>
            </a:p>
          </p:txBody>
        </p:sp>
        <p:sp>
          <p:nvSpPr>
            <p:cNvPr id="77" name="object 76">
              <a:extLst>
                <a:ext uri="{FF2B5EF4-FFF2-40B4-BE49-F238E27FC236}">
                  <a16:creationId xmlns:a16="http://schemas.microsoft.com/office/drawing/2014/main" id="{B095F5B7-CD12-3D42-7693-7338144F10A2}"/>
                </a:ext>
              </a:extLst>
            </p:cNvPr>
            <p:cNvSpPr txBox="1"/>
            <p:nvPr/>
          </p:nvSpPr>
          <p:spPr>
            <a:xfrm>
              <a:off x="7679422" y="3548213"/>
              <a:ext cx="3063240" cy="158130"/>
            </a:xfrm>
            <a:prstGeom prst="rect">
              <a:avLst/>
            </a:prstGeom>
          </p:spPr>
          <p:txBody>
            <a:bodyPr vert="horz" wrap="square" lIns="0" tIns="13335" rIns="0" bIns="0" rtlCol="0">
              <a:spAutoFit/>
            </a:bodyPr>
            <a:lstStyle/>
            <a:p>
              <a:pPr marL="184785" indent="-172720">
                <a:lnSpc>
                  <a:spcPct val="100000"/>
                </a:lnSpc>
                <a:spcBef>
                  <a:spcPts val="105"/>
                </a:spcBef>
                <a:buFont typeface="Arial"/>
                <a:buChar char="•"/>
                <a:tabLst>
                  <a:tab pos="184785" algn="l"/>
                  <a:tab pos="185420" algn="l"/>
                </a:tabLst>
              </a:pPr>
              <a:r>
                <a:rPr sz="1050" spc="-5">
                  <a:latin typeface="Calibri" panose="020F0502020204030204" pitchFamily="34" charset="0"/>
                  <a:ea typeface="Calibri" panose="020F0502020204030204" pitchFamily="34" charset="0"/>
                  <a:cs typeface="Calibri" panose="020F0502020204030204" pitchFamily="34" charset="0"/>
                </a:rPr>
                <a:t>Accelerate</a:t>
              </a:r>
              <a:r>
                <a:rPr sz="1050" spc="-3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changes</a:t>
              </a:r>
              <a:r>
                <a:rPr sz="1050" b="0" spc="-5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a:t>
              </a:r>
              <a:r>
                <a:rPr sz="1050" b="0" spc="-1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enhancements</a:t>
              </a:r>
              <a:r>
                <a:rPr sz="1050" b="0" spc="-6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planned</a:t>
              </a:r>
              <a:r>
                <a:rPr sz="1050" b="0" spc="-4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for</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78" name="object 77">
              <a:extLst>
                <a:ext uri="{FF2B5EF4-FFF2-40B4-BE49-F238E27FC236}">
                  <a16:creationId xmlns:a16="http://schemas.microsoft.com/office/drawing/2014/main" id="{68612AC1-12DD-C2E9-A60F-C23FEBD53142}"/>
                </a:ext>
              </a:extLst>
            </p:cNvPr>
            <p:cNvSpPr txBox="1"/>
            <p:nvPr/>
          </p:nvSpPr>
          <p:spPr>
            <a:xfrm>
              <a:off x="7851622" y="3707863"/>
              <a:ext cx="883919" cy="158130"/>
            </a:xfrm>
            <a:prstGeom prst="rect">
              <a:avLst/>
            </a:prstGeom>
          </p:spPr>
          <p:txBody>
            <a:bodyPr vert="horz" wrap="square" lIns="0" tIns="13335" rIns="0" bIns="0" rtlCol="0">
              <a:spAutoFit/>
            </a:bodyPr>
            <a:lstStyle/>
            <a:p>
              <a:pPr marL="12700">
                <a:lnSpc>
                  <a:spcPct val="100000"/>
                </a:lnSpc>
                <a:spcBef>
                  <a:spcPts val="105"/>
                </a:spcBef>
              </a:pPr>
              <a:r>
                <a:rPr sz="1050" b="0" spc="-5">
                  <a:latin typeface="Calibri" panose="020F0502020204030204" pitchFamily="34" charset="0"/>
                  <a:ea typeface="Calibri" panose="020F0502020204030204" pitchFamily="34" charset="0"/>
                  <a:cs typeface="Calibri" panose="020F0502020204030204" pitchFamily="34" charset="0"/>
                </a:rPr>
                <a:t>future</a:t>
              </a:r>
              <a:r>
                <a:rPr sz="1050" b="0" spc="-2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periods</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79" name="object 78">
              <a:extLst>
                <a:ext uri="{FF2B5EF4-FFF2-40B4-BE49-F238E27FC236}">
                  <a16:creationId xmlns:a16="http://schemas.microsoft.com/office/drawing/2014/main" id="{7BC444A8-A363-7399-15FD-4087F99DF5E7}"/>
                </a:ext>
              </a:extLst>
            </p:cNvPr>
            <p:cNvSpPr txBox="1"/>
            <p:nvPr/>
          </p:nvSpPr>
          <p:spPr>
            <a:xfrm>
              <a:off x="7655354" y="2114147"/>
              <a:ext cx="1671955" cy="165080"/>
            </a:xfrm>
            <a:prstGeom prst="rect">
              <a:avLst/>
            </a:prstGeom>
          </p:spPr>
          <p:txBody>
            <a:bodyPr vert="horz" wrap="square" lIns="0" tIns="13335" rIns="0" bIns="0" rtlCol="0">
              <a:spAutoFit/>
            </a:bodyPr>
            <a:lstStyle/>
            <a:p>
              <a:pPr marL="12700">
                <a:lnSpc>
                  <a:spcPct val="100000"/>
                </a:lnSpc>
                <a:spcBef>
                  <a:spcPts val="105"/>
                </a:spcBef>
              </a:pPr>
              <a:r>
                <a:rPr sz="1100" b="1" spc="-5">
                  <a:latin typeface="Calibri" panose="020F0502020204030204" pitchFamily="34" charset="0"/>
                  <a:ea typeface="Calibri" panose="020F0502020204030204" pitchFamily="34" charset="0"/>
                  <a:cs typeface="Calibri" panose="020F0502020204030204" pitchFamily="34" charset="0"/>
                </a:rPr>
                <a:t>D</a:t>
              </a:r>
              <a:r>
                <a:rPr sz="1100" b="1">
                  <a:latin typeface="Calibri" panose="020F0502020204030204" pitchFamily="34" charset="0"/>
                  <a:ea typeface="Calibri" panose="020F0502020204030204" pitchFamily="34" charset="0"/>
                  <a:cs typeface="Calibri" panose="020F0502020204030204" pitchFamily="34" charset="0"/>
                </a:rPr>
                <a:t>e</a:t>
              </a:r>
              <a:r>
                <a:rPr sz="1100" b="1" spc="-5">
                  <a:latin typeface="Calibri" panose="020F0502020204030204" pitchFamily="34" charset="0"/>
                  <a:ea typeface="Calibri" panose="020F0502020204030204" pitchFamily="34" charset="0"/>
                  <a:cs typeface="Calibri" panose="020F0502020204030204" pitchFamily="34" charset="0"/>
                </a:rPr>
                <a:t>ma</a:t>
              </a:r>
              <a:r>
                <a:rPr sz="1100" b="1" spc="-10">
                  <a:latin typeface="Calibri" panose="020F0502020204030204" pitchFamily="34" charset="0"/>
                  <a:ea typeface="Calibri" panose="020F0502020204030204" pitchFamily="34" charset="0"/>
                  <a:cs typeface="Calibri" panose="020F0502020204030204" pitchFamily="34" charset="0"/>
                </a:rPr>
                <a:t>n</a:t>
              </a:r>
              <a:r>
                <a:rPr sz="1100" b="1">
                  <a:latin typeface="Calibri" panose="020F0502020204030204" pitchFamily="34" charset="0"/>
                  <a:ea typeface="Calibri" panose="020F0502020204030204" pitchFamily="34" charset="0"/>
                  <a:cs typeface="Calibri" panose="020F0502020204030204" pitchFamily="34" charset="0"/>
                </a:rPr>
                <a:t>d</a:t>
              </a:r>
              <a:r>
                <a:rPr sz="1100" b="1" spc="-30">
                  <a:latin typeface="Calibri" panose="020F0502020204030204" pitchFamily="34" charset="0"/>
                  <a:ea typeface="Calibri" panose="020F0502020204030204" pitchFamily="34" charset="0"/>
                  <a:cs typeface="Calibri" panose="020F0502020204030204" pitchFamily="34" charset="0"/>
                </a:rPr>
                <a:t> </a:t>
              </a:r>
              <a:r>
                <a:rPr sz="1100" b="0" spc="5">
                  <a:latin typeface="Calibri" panose="020F0502020204030204" pitchFamily="34" charset="0"/>
                  <a:ea typeface="Calibri" panose="020F0502020204030204" pitchFamily="34" charset="0"/>
                  <a:cs typeface="Calibri" panose="020F0502020204030204" pitchFamily="34" charset="0"/>
                </a:rPr>
                <a:t>e</a:t>
              </a:r>
              <a:r>
                <a:rPr sz="1100" b="0">
                  <a:latin typeface="Calibri" panose="020F0502020204030204" pitchFamily="34" charset="0"/>
                  <a:ea typeface="Calibri" panose="020F0502020204030204" pitchFamily="34" charset="0"/>
                  <a:cs typeface="Calibri" panose="020F0502020204030204" pitchFamily="34" charset="0"/>
                </a:rPr>
                <a:t>xc</a:t>
              </a:r>
              <a:r>
                <a:rPr sz="1100" b="0" spc="-10">
                  <a:latin typeface="Calibri" panose="020F0502020204030204" pitchFamily="34" charset="0"/>
                  <a:ea typeface="Calibri" panose="020F0502020204030204" pitchFamily="34" charset="0"/>
                  <a:cs typeface="Calibri" panose="020F0502020204030204" pitchFamily="34" charset="0"/>
                </a:rPr>
                <a:t>e</a:t>
              </a:r>
              <a:r>
                <a:rPr sz="1100" b="0" spc="-20">
                  <a:latin typeface="Calibri" panose="020F0502020204030204" pitchFamily="34" charset="0"/>
                  <a:ea typeface="Calibri" panose="020F0502020204030204" pitchFamily="34" charset="0"/>
                  <a:cs typeface="Calibri" panose="020F0502020204030204" pitchFamily="34" charset="0"/>
                </a:rPr>
                <a:t>e</a:t>
              </a:r>
              <a:r>
                <a:rPr sz="1100" b="0" spc="-10">
                  <a:latin typeface="Calibri" panose="020F0502020204030204" pitchFamily="34" charset="0"/>
                  <a:ea typeface="Calibri" panose="020F0502020204030204" pitchFamily="34" charset="0"/>
                  <a:cs typeface="Calibri" panose="020F0502020204030204" pitchFamily="34" charset="0"/>
                </a:rPr>
                <a:t>d</a:t>
              </a:r>
              <a:r>
                <a:rPr sz="1100" b="0">
                  <a:latin typeface="Calibri" panose="020F0502020204030204" pitchFamily="34" charset="0"/>
                  <a:ea typeface="Calibri" panose="020F0502020204030204" pitchFamily="34" charset="0"/>
                  <a:cs typeface="Calibri" panose="020F0502020204030204" pitchFamily="34" charset="0"/>
                </a:rPr>
                <a:t>s</a:t>
              </a:r>
              <a:r>
                <a:rPr sz="1100" b="0" spc="-45">
                  <a:latin typeface="Calibri" panose="020F0502020204030204" pitchFamily="34" charset="0"/>
                  <a:ea typeface="Calibri" panose="020F0502020204030204" pitchFamily="34" charset="0"/>
                  <a:cs typeface="Calibri" panose="020F0502020204030204" pitchFamily="34" charset="0"/>
                </a:rPr>
                <a:t> </a:t>
              </a:r>
              <a:r>
                <a:rPr sz="1100" b="0" spc="15">
                  <a:latin typeface="Calibri" panose="020F0502020204030204" pitchFamily="34" charset="0"/>
                  <a:ea typeface="Calibri" panose="020F0502020204030204" pitchFamily="34" charset="0"/>
                  <a:cs typeface="Calibri" panose="020F0502020204030204" pitchFamily="34" charset="0"/>
                </a:rPr>
                <a:t>c</a:t>
              </a:r>
              <a:r>
                <a:rPr sz="1100" b="0">
                  <a:latin typeface="Calibri" panose="020F0502020204030204" pitchFamily="34" charset="0"/>
                  <a:ea typeface="Calibri" panose="020F0502020204030204" pitchFamily="34" charset="0"/>
                  <a:cs typeface="Calibri" panose="020F0502020204030204" pitchFamily="34" charset="0"/>
                </a:rPr>
                <a:t>a</a:t>
              </a:r>
              <a:r>
                <a:rPr sz="1100" b="0" spc="-10">
                  <a:latin typeface="Calibri" panose="020F0502020204030204" pitchFamily="34" charset="0"/>
                  <a:ea typeface="Calibri" panose="020F0502020204030204" pitchFamily="34" charset="0"/>
                  <a:cs typeface="Calibri" panose="020F0502020204030204" pitchFamily="34" charset="0"/>
                </a:rPr>
                <a:t>p</a:t>
              </a:r>
              <a:r>
                <a:rPr sz="1100" b="0">
                  <a:latin typeface="Calibri" panose="020F0502020204030204" pitchFamily="34" charset="0"/>
                  <a:ea typeface="Calibri" panose="020F0502020204030204" pitchFamily="34" charset="0"/>
                  <a:cs typeface="Calibri" panose="020F0502020204030204" pitchFamily="34" charset="0"/>
                </a:rPr>
                <a:t>a</a:t>
              </a:r>
              <a:r>
                <a:rPr sz="1100" b="0" spc="-10">
                  <a:latin typeface="Calibri" panose="020F0502020204030204" pitchFamily="34" charset="0"/>
                  <a:ea typeface="Calibri" panose="020F0502020204030204" pitchFamily="34" charset="0"/>
                  <a:cs typeface="Calibri" panose="020F0502020204030204" pitchFamily="34" charset="0"/>
                </a:rPr>
                <a:t>c</a:t>
              </a:r>
              <a:r>
                <a:rPr sz="1100" b="0">
                  <a:latin typeface="Calibri" panose="020F0502020204030204" pitchFamily="34" charset="0"/>
                  <a:ea typeface="Calibri" panose="020F0502020204030204" pitchFamily="34" charset="0"/>
                  <a:cs typeface="Calibri" panose="020F0502020204030204" pitchFamily="34" charset="0"/>
                </a:rPr>
                <a:t>ity</a:t>
              </a:r>
              <a:endParaRPr sz="1100">
                <a:latin typeface="Calibri" panose="020F0502020204030204" pitchFamily="34" charset="0"/>
                <a:ea typeface="Calibri" panose="020F0502020204030204" pitchFamily="34" charset="0"/>
                <a:cs typeface="Calibri" panose="020F0502020204030204" pitchFamily="34" charset="0"/>
              </a:endParaRPr>
            </a:p>
          </p:txBody>
        </p:sp>
        <p:sp>
          <p:nvSpPr>
            <p:cNvPr id="80" name="object 79">
              <a:extLst>
                <a:ext uri="{FF2B5EF4-FFF2-40B4-BE49-F238E27FC236}">
                  <a16:creationId xmlns:a16="http://schemas.microsoft.com/office/drawing/2014/main" id="{A4ABC28E-41FA-3CEF-EDDB-F43101286875}"/>
                </a:ext>
              </a:extLst>
            </p:cNvPr>
            <p:cNvSpPr txBox="1"/>
            <p:nvPr/>
          </p:nvSpPr>
          <p:spPr>
            <a:xfrm>
              <a:off x="7710315" y="2292595"/>
              <a:ext cx="3060065" cy="304096"/>
            </a:xfrm>
            <a:prstGeom prst="rect">
              <a:avLst/>
            </a:prstGeom>
          </p:spPr>
          <p:txBody>
            <a:bodyPr vert="horz" wrap="square" lIns="0" tIns="13335" rIns="0" bIns="0" rtlCol="0">
              <a:spAutoFit/>
            </a:bodyPr>
            <a:lstStyle/>
            <a:p>
              <a:pPr marL="184785" indent="-172720">
                <a:lnSpc>
                  <a:spcPct val="100000"/>
                </a:lnSpc>
                <a:spcBef>
                  <a:spcPts val="105"/>
                </a:spcBef>
                <a:buFont typeface="Arial"/>
                <a:buChar char="•"/>
                <a:tabLst>
                  <a:tab pos="184785" algn="l"/>
                  <a:tab pos="185420" algn="l"/>
                </a:tabLst>
              </a:pPr>
              <a:r>
                <a:rPr sz="1050" spc="-5">
                  <a:latin typeface="Calibri" panose="020F0502020204030204" pitchFamily="34" charset="0"/>
                  <a:ea typeface="Calibri" panose="020F0502020204030204" pitchFamily="34" charset="0"/>
                  <a:cs typeface="Calibri" panose="020F0502020204030204" pitchFamily="34" charset="0"/>
                </a:rPr>
                <a:t>Defer</a:t>
              </a:r>
              <a:r>
                <a:rPr sz="1050" spc="-2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projects/enhancements</a:t>
              </a:r>
              <a:r>
                <a:rPr sz="1050" b="0" spc="-6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to</a:t>
              </a:r>
              <a:r>
                <a:rPr sz="1050" b="0" spc="-2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future</a:t>
              </a:r>
              <a:r>
                <a:rPr sz="1050" b="0" spc="-1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releases</a:t>
              </a:r>
              <a:endParaRPr sz="1050">
                <a:latin typeface="Calibri" panose="020F0502020204030204" pitchFamily="34" charset="0"/>
                <a:ea typeface="Calibri" panose="020F0502020204030204" pitchFamily="34" charset="0"/>
                <a:cs typeface="Calibri" panose="020F0502020204030204" pitchFamily="34" charset="0"/>
              </a:endParaRPr>
            </a:p>
            <a:p>
              <a:pPr marL="184785" indent="-172720">
                <a:lnSpc>
                  <a:spcPct val="100000"/>
                </a:lnSpc>
                <a:buFont typeface="Arial"/>
                <a:buChar char="•"/>
                <a:tabLst>
                  <a:tab pos="185420" algn="l"/>
                </a:tabLst>
              </a:pPr>
              <a:r>
                <a:rPr sz="1050" b="0">
                  <a:latin typeface="Calibri" panose="020F0502020204030204" pitchFamily="34" charset="0"/>
                  <a:ea typeface="Calibri" panose="020F0502020204030204" pitchFamily="34" charset="0"/>
                  <a:cs typeface="Calibri" panose="020F0502020204030204" pitchFamily="34" charset="0"/>
                </a:rPr>
                <a:t>Spin</a:t>
              </a:r>
              <a:r>
                <a:rPr sz="1050" b="0" spc="-25">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up</a:t>
              </a:r>
              <a:r>
                <a:rPr sz="1050" b="0" spc="-2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additional</a:t>
              </a:r>
              <a:r>
                <a:rPr sz="1050" b="0" spc="-6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PODS</a:t>
              </a:r>
              <a:r>
                <a:rPr sz="1050" b="0" spc="-4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to</a:t>
              </a:r>
              <a:r>
                <a:rPr sz="1050" b="0" spc="-2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address</a:t>
              </a:r>
              <a:r>
                <a:rPr sz="1050" b="0" spc="-5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demand</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81" name="object 80">
              <a:extLst>
                <a:ext uri="{FF2B5EF4-FFF2-40B4-BE49-F238E27FC236}">
                  <a16:creationId xmlns:a16="http://schemas.microsoft.com/office/drawing/2014/main" id="{EAEB5F0D-3C2E-73DB-C7BF-ECE13192FD20}"/>
                </a:ext>
              </a:extLst>
            </p:cNvPr>
            <p:cNvSpPr txBox="1"/>
            <p:nvPr/>
          </p:nvSpPr>
          <p:spPr>
            <a:xfrm>
              <a:off x="7710351" y="2612586"/>
              <a:ext cx="3337560" cy="158130"/>
            </a:xfrm>
            <a:prstGeom prst="rect">
              <a:avLst/>
            </a:prstGeom>
          </p:spPr>
          <p:txBody>
            <a:bodyPr vert="horz" wrap="square" lIns="0" tIns="13335" rIns="0" bIns="0" rtlCol="0">
              <a:spAutoFit/>
            </a:bodyPr>
            <a:lstStyle/>
            <a:p>
              <a:pPr marL="184785" indent="-172720">
                <a:lnSpc>
                  <a:spcPct val="100000"/>
                </a:lnSpc>
                <a:spcBef>
                  <a:spcPts val="105"/>
                </a:spcBef>
                <a:buFont typeface="Arial"/>
                <a:buChar char="•"/>
                <a:tabLst>
                  <a:tab pos="185420" algn="l"/>
                </a:tabLst>
              </a:pPr>
              <a:r>
                <a:rPr sz="1050" b="0" spc="-5">
                  <a:latin typeface="Calibri" panose="020F0502020204030204" pitchFamily="34" charset="0"/>
                  <a:ea typeface="Calibri" panose="020F0502020204030204" pitchFamily="34" charset="0"/>
                  <a:cs typeface="Calibri" panose="020F0502020204030204" pitchFamily="34" charset="0"/>
                </a:rPr>
                <a:t>Aggregate</a:t>
              </a:r>
              <a:r>
                <a:rPr sz="1050" b="0" spc="-5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similar</a:t>
              </a:r>
              <a:r>
                <a:rPr sz="1050" b="0" spc="-45">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changes</a:t>
              </a:r>
              <a:r>
                <a:rPr sz="1050" b="0" spc="-4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a:t>
              </a:r>
              <a:r>
                <a:rPr sz="1050" b="0" spc="-5">
                  <a:latin typeface="Calibri" panose="020F0502020204030204" pitchFamily="34" charset="0"/>
                  <a:ea typeface="Calibri" panose="020F0502020204030204" pitchFamily="34" charset="0"/>
                  <a:cs typeface="Calibri" panose="020F0502020204030204" pitchFamily="34" charset="0"/>
                </a:rPr>
                <a:t> enhancements</a:t>
              </a:r>
              <a:r>
                <a:rPr sz="1050" b="0" spc="-55">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and</a:t>
              </a:r>
              <a:r>
                <a:rPr sz="1050" b="0" spc="-10">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“spin</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82" name="object 81">
              <a:extLst>
                <a:ext uri="{FF2B5EF4-FFF2-40B4-BE49-F238E27FC236}">
                  <a16:creationId xmlns:a16="http://schemas.microsoft.com/office/drawing/2014/main" id="{01ADD460-87DB-FB56-792B-28E313BFDE5F}"/>
                </a:ext>
              </a:extLst>
            </p:cNvPr>
            <p:cNvSpPr txBox="1"/>
            <p:nvPr/>
          </p:nvSpPr>
          <p:spPr>
            <a:xfrm>
              <a:off x="7655375" y="2706114"/>
              <a:ext cx="2014855" cy="441952"/>
            </a:xfrm>
            <a:prstGeom prst="rect">
              <a:avLst/>
            </a:prstGeom>
          </p:spPr>
          <p:txBody>
            <a:bodyPr vert="horz" wrap="square" lIns="0" tIns="80645" rIns="0" bIns="0" rtlCol="0">
              <a:spAutoFit/>
            </a:bodyPr>
            <a:lstStyle/>
            <a:p>
              <a:pPr marL="237490">
                <a:lnSpc>
                  <a:spcPct val="100000"/>
                </a:lnSpc>
                <a:spcBef>
                  <a:spcPts val="635"/>
                </a:spcBef>
              </a:pPr>
              <a:r>
                <a:rPr sz="1050" b="0">
                  <a:latin typeface="Calibri" panose="020F0502020204030204" pitchFamily="34" charset="0"/>
                  <a:ea typeface="Calibri" panose="020F0502020204030204" pitchFamily="34" charset="0"/>
                  <a:cs typeface="Calibri" panose="020F0502020204030204" pitchFamily="34" charset="0"/>
                </a:rPr>
                <a:t>off”</a:t>
              </a:r>
              <a:r>
                <a:rPr sz="1050" b="0" spc="-45">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as</a:t>
              </a:r>
              <a:r>
                <a:rPr sz="1050" b="0" spc="-25">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an</a:t>
              </a:r>
              <a:r>
                <a:rPr sz="1050" b="0" spc="-15">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incremental</a:t>
              </a:r>
              <a:r>
                <a:rPr sz="1050" b="0" spc="120">
                  <a:latin typeface="Calibri" panose="020F0502020204030204" pitchFamily="34" charset="0"/>
                  <a:ea typeface="Calibri" panose="020F0502020204030204" pitchFamily="34" charset="0"/>
                  <a:cs typeface="Calibri" panose="020F0502020204030204" pitchFamily="34" charset="0"/>
                </a:rPr>
                <a:t> </a:t>
              </a:r>
              <a:r>
                <a:rPr sz="1050" b="0" spc="-5">
                  <a:latin typeface="Calibri" panose="020F0502020204030204" pitchFamily="34" charset="0"/>
                  <a:ea typeface="Calibri" panose="020F0502020204030204" pitchFamily="34" charset="0"/>
                  <a:cs typeface="Calibri" panose="020F0502020204030204" pitchFamily="34" charset="0"/>
                </a:rPr>
                <a:t>project</a:t>
              </a:r>
              <a:endParaRPr sz="1050">
                <a:latin typeface="Calibri" panose="020F0502020204030204" pitchFamily="34" charset="0"/>
                <a:ea typeface="Calibri" panose="020F0502020204030204" pitchFamily="34" charset="0"/>
                <a:cs typeface="Calibri" panose="020F0502020204030204" pitchFamily="34" charset="0"/>
              </a:endParaRPr>
            </a:p>
            <a:p>
              <a:pPr marL="12700">
                <a:lnSpc>
                  <a:spcPct val="100000"/>
                </a:lnSpc>
                <a:spcBef>
                  <a:spcPts val="565"/>
                </a:spcBef>
              </a:pPr>
              <a:r>
                <a:rPr sz="1100" b="1" spc="-5">
                  <a:latin typeface="Calibri" panose="020F0502020204030204" pitchFamily="34" charset="0"/>
                  <a:ea typeface="Calibri" panose="020F0502020204030204" pitchFamily="34" charset="0"/>
                  <a:cs typeface="Calibri" panose="020F0502020204030204" pitchFamily="34" charset="0"/>
                </a:rPr>
                <a:t>Capacity</a:t>
              </a:r>
              <a:r>
                <a:rPr sz="1100" b="1" spc="-50">
                  <a:latin typeface="Calibri" panose="020F0502020204030204" pitchFamily="34" charset="0"/>
                  <a:ea typeface="Calibri" panose="020F0502020204030204" pitchFamily="34" charset="0"/>
                  <a:cs typeface="Calibri" panose="020F0502020204030204" pitchFamily="34" charset="0"/>
                </a:rPr>
                <a:t> </a:t>
              </a:r>
              <a:r>
                <a:rPr sz="1100" b="0" spc="5">
                  <a:latin typeface="Calibri" panose="020F0502020204030204" pitchFamily="34" charset="0"/>
                  <a:ea typeface="Calibri" panose="020F0502020204030204" pitchFamily="34" charset="0"/>
                  <a:cs typeface="Calibri" panose="020F0502020204030204" pitchFamily="34" charset="0"/>
                </a:rPr>
                <a:t>is</a:t>
              </a:r>
              <a:r>
                <a:rPr sz="1100" b="0" spc="-35">
                  <a:latin typeface="Calibri" panose="020F0502020204030204" pitchFamily="34" charset="0"/>
                  <a:ea typeface="Calibri" panose="020F0502020204030204" pitchFamily="34" charset="0"/>
                  <a:cs typeface="Calibri" panose="020F0502020204030204" pitchFamily="34" charset="0"/>
                </a:rPr>
                <a:t> </a:t>
              </a:r>
              <a:r>
                <a:rPr sz="1100" b="0" spc="-5">
                  <a:latin typeface="Calibri" panose="020F0502020204030204" pitchFamily="34" charset="0"/>
                  <a:ea typeface="Calibri" panose="020F0502020204030204" pitchFamily="34" charset="0"/>
                  <a:cs typeface="Calibri" panose="020F0502020204030204" pitchFamily="34" charset="0"/>
                </a:rPr>
                <a:t>available</a:t>
              </a:r>
              <a:endParaRPr sz="1100">
                <a:latin typeface="Calibri" panose="020F0502020204030204" pitchFamily="34" charset="0"/>
                <a:ea typeface="Calibri" panose="020F0502020204030204" pitchFamily="34" charset="0"/>
                <a:cs typeface="Calibri" panose="020F0502020204030204" pitchFamily="34" charset="0"/>
              </a:endParaRPr>
            </a:p>
          </p:txBody>
        </p:sp>
        <p:sp>
          <p:nvSpPr>
            <p:cNvPr id="83" name="object 82">
              <a:extLst>
                <a:ext uri="{FF2B5EF4-FFF2-40B4-BE49-F238E27FC236}">
                  <a16:creationId xmlns:a16="http://schemas.microsoft.com/office/drawing/2014/main" id="{A4D0CE46-E5E4-E5F7-2A6B-A40003E02FAC}"/>
                </a:ext>
              </a:extLst>
            </p:cNvPr>
            <p:cNvSpPr txBox="1"/>
            <p:nvPr/>
          </p:nvSpPr>
          <p:spPr>
            <a:xfrm>
              <a:off x="4239266" y="2573747"/>
              <a:ext cx="1454785" cy="622672"/>
            </a:xfrm>
            <a:prstGeom prst="rect">
              <a:avLst/>
            </a:prstGeom>
          </p:spPr>
          <p:txBody>
            <a:bodyPr vert="horz" wrap="square" lIns="0" tIns="12065" rIns="0" bIns="0" rtlCol="0">
              <a:spAutoFit/>
            </a:bodyPr>
            <a:lstStyle/>
            <a:p>
              <a:pPr marL="12700" marR="5080">
                <a:lnSpc>
                  <a:spcPct val="100000"/>
                </a:lnSpc>
                <a:spcBef>
                  <a:spcPts val="95"/>
                </a:spcBef>
              </a:pPr>
              <a:r>
                <a:rPr sz="1100" spc="-5">
                  <a:latin typeface="Calibri" panose="020F0502020204030204" pitchFamily="34" charset="0"/>
                  <a:ea typeface="Calibri" panose="020F0502020204030204" pitchFamily="34" charset="0"/>
                  <a:cs typeface="Calibri" panose="020F0502020204030204" pitchFamily="34" charset="0"/>
                </a:rPr>
                <a:t>Master</a:t>
              </a:r>
              <a:r>
                <a:rPr sz="1100" spc="-20">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Demand</a:t>
              </a:r>
              <a:r>
                <a:rPr sz="1100" spc="-2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Tracker </a:t>
              </a:r>
              <a:r>
                <a:rPr sz="1100" spc="-24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is created based on </a:t>
              </a:r>
              <a:r>
                <a:rPr sz="1100">
                  <a:latin typeface="Calibri" panose="020F0502020204030204" pitchFamily="34" charset="0"/>
                  <a:ea typeface="Calibri" panose="020F0502020204030204" pitchFamily="34" charset="0"/>
                  <a:cs typeface="Calibri" panose="020F0502020204030204" pitchFamily="34" charset="0"/>
                </a:rPr>
                <a:t> </a:t>
              </a:r>
              <a:r>
                <a:rPr sz="1100" b="1" spc="-5">
                  <a:latin typeface="Calibri" panose="020F0502020204030204" pitchFamily="34" charset="0"/>
                  <a:ea typeface="Calibri" panose="020F0502020204030204" pitchFamily="34" charset="0"/>
                  <a:cs typeface="Calibri" panose="020F0502020204030204" pitchFamily="34" charset="0"/>
                </a:rPr>
                <a:t>Enterprise</a:t>
              </a:r>
              <a:r>
                <a:rPr sz="1100" b="1" spc="5">
                  <a:latin typeface="Calibri" panose="020F0502020204030204" pitchFamily="34" charset="0"/>
                  <a:ea typeface="Calibri" panose="020F0502020204030204" pitchFamily="34" charset="0"/>
                  <a:cs typeface="Calibri" panose="020F0502020204030204" pitchFamily="34" charset="0"/>
                </a:rPr>
                <a:t> </a:t>
              </a:r>
              <a:r>
                <a:rPr sz="1100" b="1" spc="-10">
                  <a:latin typeface="Calibri" panose="020F0502020204030204" pitchFamily="34" charset="0"/>
                  <a:ea typeface="Calibri" panose="020F0502020204030204" pitchFamily="34" charset="0"/>
                  <a:cs typeface="Calibri" panose="020F0502020204030204" pitchFamily="34" charset="0"/>
                </a:rPr>
                <a:t>Portfolio </a:t>
              </a:r>
              <a:r>
                <a:rPr sz="1100" b="1" spc="-5">
                  <a:latin typeface="Calibri" panose="020F0502020204030204" pitchFamily="34" charset="0"/>
                  <a:ea typeface="Calibri" panose="020F0502020204030204" pitchFamily="34" charset="0"/>
                  <a:cs typeface="Calibri" panose="020F0502020204030204" pitchFamily="34" charset="0"/>
                </a:rPr>
                <a:t> </a:t>
              </a:r>
              <a:r>
                <a:rPr sz="1100" b="1" spc="-10">
                  <a:latin typeface="Calibri" panose="020F0502020204030204" pitchFamily="34" charset="0"/>
                  <a:ea typeface="Calibri" panose="020F0502020204030204" pitchFamily="34" charset="0"/>
                  <a:cs typeface="Calibri" panose="020F0502020204030204" pitchFamily="34" charset="0"/>
                </a:rPr>
                <a:t>Backlog</a:t>
              </a:r>
              <a:r>
                <a:rPr sz="1100" b="1" spc="15">
                  <a:latin typeface="Calibri" panose="020F0502020204030204" pitchFamily="34" charset="0"/>
                  <a:ea typeface="Calibri" panose="020F0502020204030204" pitchFamily="34" charset="0"/>
                  <a:cs typeface="Calibri" panose="020F0502020204030204" pitchFamily="34" charset="0"/>
                </a:rPr>
                <a:t> </a:t>
              </a:r>
              <a:r>
                <a:rPr sz="1100" b="1" spc="-5">
                  <a:latin typeface="Calibri" panose="020F0502020204030204" pitchFamily="34" charset="0"/>
                  <a:ea typeface="Calibri" panose="020F0502020204030204" pitchFamily="34" charset="0"/>
                  <a:cs typeface="Calibri" panose="020F0502020204030204" pitchFamily="34" charset="0"/>
                </a:rPr>
                <a:t>grooming</a:t>
              </a:r>
              <a:r>
                <a:rPr sz="1100" b="1" spc="1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a:t>
              </a:r>
              <a:endParaRPr sz="1100">
                <a:latin typeface="Calibri" panose="020F0502020204030204" pitchFamily="34" charset="0"/>
                <a:ea typeface="Calibri" panose="020F0502020204030204" pitchFamily="34" charset="0"/>
                <a:cs typeface="Calibri" panose="020F0502020204030204" pitchFamily="34" charset="0"/>
              </a:endParaRPr>
            </a:p>
          </p:txBody>
        </p:sp>
        <p:sp>
          <p:nvSpPr>
            <p:cNvPr id="84" name="object 83">
              <a:extLst>
                <a:ext uri="{FF2B5EF4-FFF2-40B4-BE49-F238E27FC236}">
                  <a16:creationId xmlns:a16="http://schemas.microsoft.com/office/drawing/2014/main" id="{87C69885-E433-8D2F-4FC5-A24F36A9064A}"/>
                </a:ext>
              </a:extLst>
            </p:cNvPr>
            <p:cNvSpPr txBox="1"/>
            <p:nvPr/>
          </p:nvSpPr>
          <p:spPr>
            <a:xfrm>
              <a:off x="4239266" y="3335648"/>
              <a:ext cx="1483995" cy="2124038"/>
            </a:xfrm>
            <a:prstGeom prst="rect">
              <a:avLst/>
            </a:prstGeom>
          </p:spPr>
          <p:txBody>
            <a:bodyPr vert="horz" wrap="square" lIns="0" tIns="12065" rIns="0" bIns="0" rtlCol="0">
              <a:spAutoFit/>
            </a:bodyPr>
            <a:lstStyle/>
            <a:p>
              <a:pPr marL="184785" marR="5080" indent="-172720">
                <a:lnSpc>
                  <a:spcPct val="100000"/>
                </a:lnSpc>
                <a:spcBef>
                  <a:spcPts val="95"/>
                </a:spcBef>
                <a:buFont typeface="Arial"/>
                <a:buChar char="•"/>
                <a:tabLst>
                  <a:tab pos="184785" algn="l"/>
                  <a:tab pos="185420" algn="l"/>
                </a:tabLst>
              </a:pPr>
              <a:r>
                <a:rPr sz="1100" b="1" spc="-10">
                  <a:latin typeface="Calibri" panose="020F0502020204030204" pitchFamily="34" charset="0"/>
                  <a:ea typeface="Calibri" panose="020F0502020204030204" pitchFamily="34" charset="0"/>
                  <a:cs typeface="Calibri" panose="020F0502020204030204" pitchFamily="34" charset="0"/>
                </a:rPr>
                <a:t>Prioritization key </a:t>
              </a:r>
              <a:r>
                <a:rPr sz="1100" b="1" spc="-5">
                  <a:latin typeface="Calibri" panose="020F0502020204030204" pitchFamily="34" charset="0"/>
                  <a:ea typeface="Calibri" panose="020F0502020204030204" pitchFamily="34" charset="0"/>
                  <a:cs typeface="Calibri" panose="020F0502020204030204" pitchFamily="34" charset="0"/>
                </a:rPr>
                <a:t> factors </a:t>
              </a:r>
              <a:r>
                <a:rPr sz="1100" spc="-5">
                  <a:latin typeface="Calibri" panose="020F0502020204030204" pitchFamily="34" charset="0"/>
                  <a:ea typeface="Calibri" panose="020F0502020204030204" pitchFamily="34" charset="0"/>
                  <a:cs typeface="Calibri" panose="020F0502020204030204" pitchFamily="34" charset="0"/>
                </a:rPr>
                <a:t>- Business </a:t>
              </a:r>
              <a:r>
                <a:rPr sz="1100">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value,</a:t>
              </a:r>
              <a:r>
                <a:rPr sz="1100" spc="-50">
                  <a:latin typeface="Calibri" panose="020F0502020204030204" pitchFamily="34" charset="0"/>
                  <a:ea typeface="Calibri" panose="020F0502020204030204" pitchFamily="34" charset="0"/>
                  <a:cs typeface="Calibri" panose="020F0502020204030204" pitchFamily="34" charset="0"/>
                </a:rPr>
                <a:t> </a:t>
              </a:r>
              <a:r>
                <a:rPr sz="1100" spc="-10">
                  <a:latin typeface="Calibri" panose="020F0502020204030204" pitchFamily="34" charset="0"/>
                  <a:ea typeface="Calibri" panose="020F0502020204030204" pitchFamily="34" charset="0"/>
                  <a:cs typeface="Calibri" panose="020F0502020204030204" pitchFamily="34" charset="0"/>
                </a:rPr>
                <a:t>complexity,</a:t>
              </a:r>
              <a:r>
                <a:rPr sz="1100" spc="-4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risk </a:t>
              </a:r>
              <a:r>
                <a:rPr sz="1100" spc="-245">
                  <a:latin typeface="Calibri" panose="020F0502020204030204" pitchFamily="34" charset="0"/>
                  <a:ea typeface="Calibri" panose="020F0502020204030204" pitchFamily="34" charset="0"/>
                  <a:cs typeface="Calibri" panose="020F0502020204030204" pitchFamily="34" charset="0"/>
                </a:rPr>
                <a:t> </a:t>
              </a:r>
              <a:r>
                <a:rPr sz="1100" spc="-10">
                  <a:latin typeface="Calibri" panose="020F0502020204030204" pitchFamily="34" charset="0"/>
                  <a:ea typeface="Calibri" panose="020F0502020204030204" pitchFamily="34" charset="0"/>
                  <a:cs typeface="Calibri" panose="020F0502020204030204" pitchFamily="34" charset="0"/>
                </a:rPr>
                <a:t>a</a:t>
              </a:r>
              <a:r>
                <a:rPr sz="1100" spc="-5">
                  <a:latin typeface="Calibri" panose="020F0502020204030204" pitchFamily="34" charset="0"/>
                  <a:ea typeface="Calibri" panose="020F0502020204030204" pitchFamily="34" charset="0"/>
                  <a:cs typeface="Calibri" panose="020F0502020204030204" pitchFamily="34" charset="0"/>
                </a:rPr>
                <a:t>nd</a:t>
              </a:r>
              <a:r>
                <a:rPr sz="1100" spc="-20">
                  <a:latin typeface="Calibri" panose="020F0502020204030204" pitchFamily="34" charset="0"/>
                  <a:ea typeface="Calibri" panose="020F0502020204030204" pitchFamily="34" charset="0"/>
                  <a:cs typeface="Calibri" panose="020F0502020204030204" pitchFamily="34" charset="0"/>
                </a:rPr>
                <a:t> </a:t>
              </a:r>
              <a:r>
                <a:rPr sz="1100" spc="-10">
                  <a:latin typeface="Calibri" panose="020F0502020204030204" pitchFamily="34" charset="0"/>
                  <a:ea typeface="Calibri" panose="020F0502020204030204" pitchFamily="34" charset="0"/>
                  <a:cs typeface="Calibri" panose="020F0502020204030204" pitchFamily="34" charset="0"/>
                </a:rPr>
                <a:t>o</a:t>
              </a:r>
              <a:r>
                <a:rPr sz="1100" spc="-5">
                  <a:latin typeface="Calibri" panose="020F0502020204030204" pitchFamily="34" charset="0"/>
                  <a:ea typeface="Calibri" panose="020F0502020204030204" pitchFamily="34" charset="0"/>
                  <a:cs typeface="Calibri" panose="020F0502020204030204" pitchFamily="34" charset="0"/>
                </a:rPr>
                <a:t>pp</a:t>
              </a:r>
              <a:r>
                <a:rPr sz="1100" spc="-10">
                  <a:latin typeface="Calibri" panose="020F0502020204030204" pitchFamily="34" charset="0"/>
                  <a:ea typeface="Calibri" panose="020F0502020204030204" pitchFamily="34" charset="0"/>
                  <a:cs typeface="Calibri" panose="020F0502020204030204" pitchFamily="34" charset="0"/>
                </a:rPr>
                <a:t>o</a:t>
              </a:r>
              <a:r>
                <a:rPr sz="1100" spc="-5">
                  <a:latin typeface="Calibri" panose="020F0502020204030204" pitchFamily="34" charset="0"/>
                  <a:ea typeface="Calibri" panose="020F0502020204030204" pitchFamily="34" charset="0"/>
                  <a:cs typeface="Calibri" panose="020F0502020204030204" pitchFamily="34" charset="0"/>
                </a:rPr>
                <a:t>r</a:t>
              </a:r>
              <a:r>
                <a:rPr sz="1100" spc="-10">
                  <a:latin typeface="Calibri" panose="020F0502020204030204" pitchFamily="34" charset="0"/>
                  <a:ea typeface="Calibri" panose="020F0502020204030204" pitchFamily="34" charset="0"/>
                  <a:cs typeface="Calibri" panose="020F0502020204030204" pitchFamily="34" charset="0"/>
                </a:rPr>
                <a:t>t</a:t>
              </a:r>
              <a:r>
                <a:rPr sz="1100" spc="-5">
                  <a:latin typeface="Calibri" panose="020F0502020204030204" pitchFamily="34" charset="0"/>
                  <a:ea typeface="Calibri" panose="020F0502020204030204" pitchFamily="34" charset="0"/>
                  <a:cs typeface="Calibri" panose="020F0502020204030204" pitchFamily="34" charset="0"/>
                </a:rPr>
                <a:t>uni</a:t>
              </a:r>
              <a:r>
                <a:rPr sz="1100" spc="-10">
                  <a:latin typeface="Calibri" panose="020F0502020204030204" pitchFamily="34" charset="0"/>
                  <a:ea typeface="Calibri" panose="020F0502020204030204" pitchFamily="34" charset="0"/>
                  <a:cs typeface="Calibri" panose="020F0502020204030204" pitchFamily="34" charset="0"/>
                </a:rPr>
                <a:t>t</a:t>
              </a:r>
              <a:r>
                <a:rPr sz="1100" spc="-5">
                  <a:latin typeface="Calibri" panose="020F0502020204030204" pitchFamily="34" charset="0"/>
                  <a:ea typeface="Calibri" panose="020F0502020204030204" pitchFamily="34" charset="0"/>
                  <a:cs typeface="Calibri" panose="020F0502020204030204" pitchFamily="34" charset="0"/>
                </a:rPr>
                <a:t>y</a:t>
              </a:r>
              <a:r>
                <a:rPr sz="1100" spc="-55">
                  <a:latin typeface="Calibri" panose="020F0502020204030204" pitchFamily="34" charset="0"/>
                  <a:ea typeface="Calibri" panose="020F0502020204030204" pitchFamily="34" charset="0"/>
                  <a:cs typeface="Calibri" panose="020F0502020204030204" pitchFamily="34" charset="0"/>
                </a:rPr>
                <a:t> </a:t>
              </a:r>
              <a:r>
                <a:rPr sz="1100">
                  <a:latin typeface="Calibri" panose="020F0502020204030204" pitchFamily="34" charset="0"/>
                  <a:ea typeface="Calibri" panose="020F0502020204030204" pitchFamily="34" charset="0"/>
                  <a:cs typeface="Calibri" panose="020F0502020204030204" pitchFamily="34" charset="0"/>
                </a:rPr>
                <a:t>e</a:t>
              </a:r>
              <a:r>
                <a:rPr sz="1100" spc="-10">
                  <a:latin typeface="Calibri" panose="020F0502020204030204" pitchFamily="34" charset="0"/>
                  <a:ea typeface="Calibri" panose="020F0502020204030204" pitchFamily="34" charset="0"/>
                  <a:cs typeface="Calibri" panose="020F0502020204030204" pitchFamily="34" charset="0"/>
                </a:rPr>
                <a:t>t</a:t>
              </a:r>
              <a:r>
                <a:rPr sz="1100">
                  <a:latin typeface="Calibri" panose="020F0502020204030204" pitchFamily="34" charset="0"/>
                  <a:ea typeface="Calibri" panose="020F0502020204030204" pitchFamily="34" charset="0"/>
                  <a:cs typeface="Calibri" panose="020F0502020204030204" pitchFamily="34" charset="0"/>
                </a:rPr>
                <a:t>c</a:t>
              </a:r>
              <a:r>
                <a:rPr sz="1100" spc="-5">
                  <a:latin typeface="Calibri" panose="020F0502020204030204" pitchFamily="34" charset="0"/>
                  <a:ea typeface="Calibri" panose="020F0502020204030204" pitchFamily="34" charset="0"/>
                  <a:cs typeface="Calibri" panose="020F0502020204030204" pitchFamily="34" charset="0"/>
                </a:rPr>
                <a:t>.</a:t>
              </a:r>
              <a:endParaRPr sz="110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
                </a:spcBef>
                <a:buFont typeface="Arial"/>
                <a:buChar char="•"/>
              </a:pPr>
              <a:endParaRPr sz="1000">
                <a:latin typeface="Calibri" panose="020F0502020204030204" pitchFamily="34" charset="0"/>
                <a:ea typeface="Calibri" panose="020F0502020204030204" pitchFamily="34" charset="0"/>
                <a:cs typeface="Calibri" panose="020F0502020204030204" pitchFamily="34" charset="0"/>
              </a:endParaRPr>
            </a:p>
            <a:p>
              <a:pPr marL="184785" marR="142875" indent="-172720">
                <a:lnSpc>
                  <a:spcPct val="100000"/>
                </a:lnSpc>
                <a:spcBef>
                  <a:spcPts val="5"/>
                </a:spcBef>
                <a:buFont typeface="Arial"/>
                <a:buChar char="•"/>
                <a:tabLst>
                  <a:tab pos="184785" algn="l"/>
                  <a:tab pos="185420" algn="l"/>
                </a:tabLst>
              </a:pPr>
              <a:r>
                <a:rPr sz="1100" b="1" spc="-5">
                  <a:latin typeface="Calibri" panose="020F0502020204030204" pitchFamily="34" charset="0"/>
                  <a:ea typeface="Calibri" panose="020F0502020204030204" pitchFamily="34" charset="0"/>
                  <a:cs typeface="Calibri" panose="020F0502020204030204" pitchFamily="34" charset="0"/>
                </a:rPr>
                <a:t>L</a:t>
              </a:r>
              <a:r>
                <a:rPr sz="1100" b="1" spc="-10">
                  <a:latin typeface="Calibri" panose="020F0502020204030204" pitchFamily="34" charset="0"/>
                  <a:ea typeface="Calibri" panose="020F0502020204030204" pitchFamily="34" charset="0"/>
                  <a:cs typeface="Calibri" panose="020F0502020204030204" pitchFamily="34" charset="0"/>
                </a:rPr>
                <a:t>eve</a:t>
              </a:r>
              <a:r>
                <a:rPr sz="1100" b="1" spc="-5">
                  <a:latin typeface="Calibri" panose="020F0502020204030204" pitchFamily="34" charset="0"/>
                  <a:ea typeface="Calibri" panose="020F0502020204030204" pitchFamily="34" charset="0"/>
                  <a:cs typeface="Calibri" panose="020F0502020204030204" pitchFamily="34" charset="0"/>
                </a:rPr>
                <a:t>r</a:t>
              </a:r>
              <a:r>
                <a:rPr sz="1100" b="1" spc="-10">
                  <a:latin typeface="Calibri" panose="020F0502020204030204" pitchFamily="34" charset="0"/>
                  <a:ea typeface="Calibri" panose="020F0502020204030204" pitchFamily="34" charset="0"/>
                  <a:cs typeface="Calibri" panose="020F0502020204030204" pitchFamily="34" charset="0"/>
                </a:rPr>
                <a:t>a</a:t>
              </a:r>
              <a:r>
                <a:rPr sz="1100" b="1" spc="-5">
                  <a:latin typeface="Calibri" panose="020F0502020204030204" pitchFamily="34" charset="0"/>
                  <a:ea typeface="Calibri" panose="020F0502020204030204" pitchFamily="34" charset="0"/>
                  <a:cs typeface="Calibri" panose="020F0502020204030204" pitchFamily="34" charset="0"/>
                </a:rPr>
                <a:t>ge</a:t>
              </a:r>
              <a:r>
                <a:rPr sz="1100" b="1" spc="-45">
                  <a:latin typeface="Calibri" panose="020F0502020204030204" pitchFamily="34" charset="0"/>
                  <a:ea typeface="Calibri" panose="020F0502020204030204" pitchFamily="34" charset="0"/>
                  <a:cs typeface="Calibri" panose="020F0502020204030204" pitchFamily="34" charset="0"/>
                </a:rPr>
                <a:t> </a:t>
              </a:r>
              <a:r>
                <a:rPr sz="1100" b="1" spc="-10">
                  <a:latin typeface="Calibri" panose="020F0502020204030204" pitchFamily="34" charset="0"/>
                  <a:ea typeface="Calibri" panose="020F0502020204030204" pitchFamily="34" charset="0"/>
                  <a:cs typeface="Calibri" panose="020F0502020204030204" pitchFamily="34" charset="0"/>
                </a:rPr>
                <a:t>Mo</a:t>
              </a:r>
              <a:r>
                <a:rPr sz="1100" b="1" spc="-5">
                  <a:latin typeface="Calibri" panose="020F0502020204030204" pitchFamily="34" charset="0"/>
                  <a:ea typeface="Calibri" panose="020F0502020204030204" pitchFamily="34" charset="0"/>
                  <a:cs typeface="Calibri" panose="020F0502020204030204" pitchFamily="34" charset="0"/>
                </a:rPr>
                <a:t>SC</a:t>
              </a:r>
              <a:r>
                <a:rPr sz="1100" b="1" spc="-10">
                  <a:latin typeface="Calibri" panose="020F0502020204030204" pitchFamily="34" charset="0"/>
                  <a:ea typeface="Calibri" panose="020F0502020204030204" pitchFamily="34" charset="0"/>
                  <a:cs typeface="Calibri" panose="020F0502020204030204" pitchFamily="34" charset="0"/>
                </a:rPr>
                <a:t>o</a:t>
              </a:r>
              <a:r>
                <a:rPr sz="1100" b="1" spc="-5">
                  <a:latin typeface="Calibri" panose="020F0502020204030204" pitchFamily="34" charset="0"/>
                  <a:ea typeface="Calibri" panose="020F0502020204030204" pitchFamily="34" charset="0"/>
                  <a:cs typeface="Calibri" panose="020F0502020204030204" pitchFamily="34" charset="0"/>
                </a:rPr>
                <a:t>W  </a:t>
              </a:r>
              <a:r>
                <a:rPr sz="1100" spc="-5">
                  <a:latin typeface="Calibri" panose="020F0502020204030204" pitchFamily="34" charset="0"/>
                  <a:ea typeface="Calibri" panose="020F0502020204030204" pitchFamily="34" charset="0"/>
                  <a:cs typeface="Calibri" panose="020F0502020204030204" pitchFamily="34" charset="0"/>
                </a:rPr>
                <a:t>model (Must Have, </a:t>
              </a:r>
              <a:r>
                <a:rPr sz="1100">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Should</a:t>
              </a:r>
              <a:r>
                <a:rPr sz="1100" spc="-60">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Have,</a:t>
              </a:r>
              <a:r>
                <a:rPr sz="1100" spc="-5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Could </a:t>
              </a:r>
              <a:r>
                <a:rPr sz="1100" spc="-24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Have,</a:t>
              </a:r>
              <a:r>
                <a:rPr sz="1100" spc="-40">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Won’t</a:t>
              </a:r>
              <a:r>
                <a:rPr sz="1100" spc="-3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Have)</a:t>
              </a:r>
              <a:endParaRPr sz="110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
                </a:spcBef>
                <a:buFont typeface="Arial"/>
                <a:buChar char="•"/>
              </a:pPr>
              <a:endParaRPr sz="1000">
                <a:latin typeface="Calibri" panose="020F0502020204030204" pitchFamily="34" charset="0"/>
                <a:ea typeface="Calibri" panose="020F0502020204030204" pitchFamily="34" charset="0"/>
                <a:cs typeface="Calibri" panose="020F0502020204030204" pitchFamily="34" charset="0"/>
              </a:endParaRPr>
            </a:p>
            <a:p>
              <a:pPr marL="184785" marR="33655" indent="-172720">
                <a:lnSpc>
                  <a:spcPct val="100000"/>
                </a:lnSpc>
                <a:buFont typeface="Arial"/>
                <a:buChar char="•"/>
                <a:tabLst>
                  <a:tab pos="184785" algn="l"/>
                  <a:tab pos="185420" algn="l"/>
                </a:tabLst>
              </a:pPr>
              <a:r>
                <a:rPr sz="1100" b="1" spc="-10">
                  <a:latin typeface="Calibri" panose="020F0502020204030204" pitchFamily="34" charset="0"/>
                  <a:ea typeface="Calibri" panose="020F0502020204030204" pitchFamily="34" charset="0"/>
                  <a:cs typeface="Calibri" panose="020F0502020204030204" pitchFamily="34" charset="0"/>
                </a:rPr>
                <a:t>Evaluate</a:t>
              </a:r>
              <a:r>
                <a:rPr sz="1100" b="1" spc="-30">
                  <a:latin typeface="Calibri" panose="020F0502020204030204" pitchFamily="34" charset="0"/>
                  <a:ea typeface="Calibri" panose="020F0502020204030204" pitchFamily="34" charset="0"/>
                  <a:cs typeface="Calibri" panose="020F0502020204030204" pitchFamily="34" charset="0"/>
                </a:rPr>
                <a:t> </a:t>
              </a:r>
              <a:r>
                <a:rPr sz="1100" b="1" spc="-5">
                  <a:latin typeface="Calibri" panose="020F0502020204030204" pitchFamily="34" charset="0"/>
                  <a:ea typeface="Calibri" panose="020F0502020204030204" pitchFamily="34" charset="0"/>
                  <a:cs typeface="Calibri" panose="020F0502020204030204" pitchFamily="34" charset="0"/>
                </a:rPr>
                <a:t>the</a:t>
              </a:r>
              <a:r>
                <a:rPr sz="1100" b="1" spc="-40">
                  <a:latin typeface="Calibri" panose="020F0502020204030204" pitchFamily="34" charset="0"/>
                  <a:ea typeface="Calibri" panose="020F0502020204030204" pitchFamily="34" charset="0"/>
                  <a:cs typeface="Calibri" panose="020F0502020204030204" pitchFamily="34" charset="0"/>
                </a:rPr>
                <a:t> </a:t>
              </a:r>
              <a:r>
                <a:rPr sz="1100" b="1" spc="-5">
                  <a:latin typeface="Calibri" panose="020F0502020204030204" pitchFamily="34" charset="0"/>
                  <a:ea typeface="Calibri" panose="020F0502020204030204" pitchFamily="34" charset="0"/>
                  <a:cs typeface="Calibri" panose="020F0502020204030204" pitchFamily="34" charset="0"/>
                </a:rPr>
                <a:t>Cost</a:t>
              </a:r>
              <a:r>
                <a:rPr sz="1100" b="1" spc="-20">
                  <a:latin typeface="Calibri" panose="020F0502020204030204" pitchFamily="34" charset="0"/>
                  <a:ea typeface="Calibri" panose="020F0502020204030204" pitchFamily="34" charset="0"/>
                  <a:cs typeface="Calibri" panose="020F0502020204030204" pitchFamily="34" charset="0"/>
                </a:rPr>
                <a:t> </a:t>
              </a:r>
              <a:r>
                <a:rPr sz="1100" b="1" spc="-5">
                  <a:latin typeface="Calibri" panose="020F0502020204030204" pitchFamily="34" charset="0"/>
                  <a:ea typeface="Calibri" panose="020F0502020204030204" pitchFamily="34" charset="0"/>
                  <a:cs typeface="Calibri" panose="020F0502020204030204" pitchFamily="34" charset="0"/>
                </a:rPr>
                <a:t>of </a:t>
              </a:r>
              <a:r>
                <a:rPr sz="1100" b="1" spc="-245">
                  <a:latin typeface="Calibri" panose="020F0502020204030204" pitchFamily="34" charset="0"/>
                  <a:ea typeface="Calibri" panose="020F0502020204030204" pitchFamily="34" charset="0"/>
                  <a:cs typeface="Calibri" panose="020F0502020204030204" pitchFamily="34" charset="0"/>
                </a:rPr>
                <a:t> </a:t>
              </a:r>
              <a:r>
                <a:rPr sz="1100" b="1" spc="-10">
                  <a:latin typeface="Calibri" panose="020F0502020204030204" pitchFamily="34" charset="0"/>
                  <a:ea typeface="Calibri" panose="020F0502020204030204" pitchFamily="34" charset="0"/>
                  <a:cs typeface="Calibri" panose="020F0502020204030204" pitchFamily="34" charset="0"/>
                </a:rPr>
                <a:t>Delay </a:t>
              </a:r>
              <a:r>
                <a:rPr sz="1100" spc="-5">
                  <a:latin typeface="Calibri" panose="020F0502020204030204" pitchFamily="34" charset="0"/>
                  <a:ea typeface="Calibri" panose="020F0502020204030204" pitchFamily="34" charset="0"/>
                  <a:cs typeface="Calibri" panose="020F0502020204030204" pitchFamily="34" charset="0"/>
                </a:rPr>
                <a:t>to expedite </a:t>
              </a:r>
              <a:r>
                <a:rPr sz="1100">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d</a:t>
              </a:r>
              <a:r>
                <a:rPr sz="1100">
                  <a:latin typeface="Calibri" panose="020F0502020204030204" pitchFamily="34" charset="0"/>
                  <a:ea typeface="Calibri" panose="020F0502020204030204" pitchFamily="34" charset="0"/>
                  <a:cs typeface="Calibri" panose="020F0502020204030204" pitchFamily="34" charset="0"/>
                </a:rPr>
                <a:t>e</a:t>
              </a:r>
              <a:r>
                <a:rPr sz="1100" spc="-10">
                  <a:latin typeface="Calibri" panose="020F0502020204030204" pitchFamily="34" charset="0"/>
                  <a:ea typeface="Calibri" panose="020F0502020204030204" pitchFamily="34" charset="0"/>
                  <a:cs typeface="Calibri" panose="020F0502020204030204" pitchFamily="34" charset="0"/>
                </a:rPr>
                <a:t>ma</a:t>
              </a:r>
              <a:r>
                <a:rPr sz="1100" spc="-5">
                  <a:latin typeface="Calibri" panose="020F0502020204030204" pitchFamily="34" charset="0"/>
                  <a:ea typeface="Calibri" panose="020F0502020204030204" pitchFamily="34" charset="0"/>
                  <a:cs typeface="Calibri" panose="020F0502020204030204" pitchFamily="34" charset="0"/>
                </a:rPr>
                <a:t>nds</a:t>
              </a:r>
              <a:r>
                <a:rPr sz="1100" spc="-40">
                  <a:latin typeface="Calibri" panose="020F0502020204030204" pitchFamily="34" charset="0"/>
                  <a:ea typeface="Calibri" panose="020F0502020204030204" pitchFamily="34" charset="0"/>
                  <a:cs typeface="Calibri" panose="020F0502020204030204" pitchFamily="34" charset="0"/>
                </a:rPr>
                <a:t> </a:t>
              </a:r>
              <a:r>
                <a:rPr sz="1100">
                  <a:latin typeface="Calibri" panose="020F0502020204030204" pitchFamily="34" charset="0"/>
                  <a:ea typeface="Calibri" panose="020F0502020204030204" pitchFamily="34" charset="0"/>
                  <a:cs typeface="Calibri" panose="020F0502020204030204" pitchFamily="34" charset="0"/>
                </a:rPr>
                <a:t>w</a:t>
              </a:r>
              <a:r>
                <a:rPr sz="1100" spc="-5">
                  <a:latin typeface="Calibri" panose="020F0502020204030204" pitchFamily="34" charset="0"/>
                  <a:ea typeface="Calibri" panose="020F0502020204030204" pitchFamily="34" charset="0"/>
                  <a:cs typeface="Calibri" panose="020F0502020204030204" pitchFamily="34" charset="0"/>
                </a:rPr>
                <a:t>i</a:t>
              </a:r>
              <a:r>
                <a:rPr sz="1100" spc="-10">
                  <a:latin typeface="Calibri" panose="020F0502020204030204" pitchFamily="34" charset="0"/>
                  <a:ea typeface="Calibri" panose="020F0502020204030204" pitchFamily="34" charset="0"/>
                  <a:cs typeface="Calibri" panose="020F0502020204030204" pitchFamily="34" charset="0"/>
                </a:rPr>
                <a:t>t</a:t>
              </a:r>
              <a:r>
                <a:rPr sz="1100" spc="-5">
                  <a:latin typeface="Calibri" panose="020F0502020204030204" pitchFamily="34" charset="0"/>
                  <a:ea typeface="Calibri" panose="020F0502020204030204" pitchFamily="34" charset="0"/>
                  <a:cs typeface="Calibri" panose="020F0502020204030204" pitchFamily="34" charset="0"/>
                </a:rPr>
                <a:t>hin</a:t>
              </a:r>
              <a:r>
                <a:rPr sz="1100" spc="-45">
                  <a:latin typeface="Calibri" panose="020F0502020204030204" pitchFamily="34" charset="0"/>
                  <a:ea typeface="Calibri" panose="020F0502020204030204" pitchFamily="34" charset="0"/>
                  <a:cs typeface="Calibri" panose="020F0502020204030204" pitchFamily="34" charset="0"/>
                </a:rPr>
                <a:t> </a:t>
              </a:r>
              <a:r>
                <a:rPr sz="1100" spc="-5">
                  <a:latin typeface="Calibri" panose="020F0502020204030204" pitchFamily="34" charset="0"/>
                  <a:ea typeface="Calibri" panose="020F0502020204030204" pitchFamily="34" charset="0"/>
                  <a:cs typeface="Calibri" panose="020F0502020204030204" pitchFamily="34" charset="0"/>
                </a:rPr>
                <a:t>hi</a:t>
              </a:r>
              <a:r>
                <a:rPr sz="1100" spc="-15">
                  <a:latin typeface="Calibri" panose="020F0502020204030204" pitchFamily="34" charset="0"/>
                  <a:ea typeface="Calibri" panose="020F0502020204030204" pitchFamily="34" charset="0"/>
                  <a:cs typeface="Calibri" panose="020F0502020204030204" pitchFamily="34" charset="0"/>
                </a:rPr>
                <a:t>g</a:t>
              </a:r>
              <a:r>
                <a:rPr sz="1100" spc="-5">
                  <a:latin typeface="Calibri" panose="020F0502020204030204" pitchFamily="34" charset="0"/>
                  <a:ea typeface="Calibri" panose="020F0502020204030204" pitchFamily="34" charset="0"/>
                  <a:cs typeface="Calibri" panose="020F0502020204030204" pitchFamily="34" charset="0"/>
                </a:rPr>
                <a:t>h  priority</a:t>
              </a:r>
              <a:endParaRPr sz="1100">
                <a:latin typeface="Calibri" panose="020F0502020204030204" pitchFamily="34" charset="0"/>
                <a:ea typeface="Calibri" panose="020F0502020204030204" pitchFamily="34" charset="0"/>
                <a:cs typeface="Calibri" panose="020F0502020204030204" pitchFamily="34" charset="0"/>
              </a:endParaRPr>
            </a:p>
          </p:txBody>
        </p:sp>
        <p:sp>
          <p:nvSpPr>
            <p:cNvPr id="85" name="object 84">
              <a:extLst>
                <a:ext uri="{FF2B5EF4-FFF2-40B4-BE49-F238E27FC236}">
                  <a16:creationId xmlns:a16="http://schemas.microsoft.com/office/drawing/2014/main" id="{33A4B79D-D386-BD93-841B-0BB4D1D7EB33}"/>
                </a:ext>
              </a:extLst>
            </p:cNvPr>
            <p:cNvSpPr txBox="1"/>
            <p:nvPr/>
          </p:nvSpPr>
          <p:spPr>
            <a:xfrm>
              <a:off x="1990947" y="1944813"/>
              <a:ext cx="3630295" cy="206785"/>
            </a:xfrm>
            <a:prstGeom prst="rect">
              <a:avLst/>
            </a:prstGeom>
          </p:spPr>
          <p:txBody>
            <a:bodyPr vert="horz" wrap="square" lIns="0" tIns="13335" rIns="0" bIns="0" rtlCol="0">
              <a:spAutoFit/>
            </a:bodyPr>
            <a:lstStyle/>
            <a:p>
              <a:pPr marL="12700">
                <a:lnSpc>
                  <a:spcPct val="100000"/>
                </a:lnSpc>
                <a:spcBef>
                  <a:spcPts val="105"/>
                </a:spcBef>
                <a:tabLst>
                  <a:tab pos="2491740" algn="l"/>
                </a:tabLst>
              </a:pPr>
              <a:r>
                <a:rPr sz="1400" b="1">
                  <a:latin typeface="Calibri" panose="020F0502020204030204" pitchFamily="34" charset="0"/>
                  <a:ea typeface="Calibri" panose="020F0502020204030204" pitchFamily="34" charset="0"/>
                  <a:cs typeface="Calibri" panose="020F0502020204030204" pitchFamily="34" charset="0"/>
                </a:rPr>
                <a:t>DEMAND</a:t>
              </a:r>
              <a:r>
                <a:rPr sz="1400" b="1" spc="-20">
                  <a:latin typeface="Calibri" panose="020F0502020204030204" pitchFamily="34" charset="0"/>
                  <a:ea typeface="Calibri" panose="020F0502020204030204" pitchFamily="34" charset="0"/>
                  <a:cs typeface="Calibri" panose="020F0502020204030204" pitchFamily="34" charset="0"/>
                </a:rPr>
                <a:t> </a:t>
              </a:r>
              <a:r>
                <a:rPr sz="1400" b="1" spc="-5">
                  <a:latin typeface="Calibri" panose="020F0502020204030204" pitchFamily="34" charset="0"/>
                  <a:ea typeface="Calibri" panose="020F0502020204030204" pitchFamily="34" charset="0"/>
                  <a:cs typeface="Calibri" panose="020F0502020204030204" pitchFamily="34" charset="0"/>
                </a:rPr>
                <a:t>INTAKE	</a:t>
              </a:r>
              <a:r>
                <a:rPr sz="1400" b="1">
                  <a:latin typeface="Calibri" panose="020F0502020204030204" pitchFamily="34" charset="0"/>
                  <a:ea typeface="Calibri" panose="020F0502020204030204" pitchFamily="34" charset="0"/>
                  <a:cs typeface="Calibri" panose="020F0502020204030204" pitchFamily="34" charset="0"/>
                </a:rPr>
                <a:t>Prioritize</a:t>
              </a:r>
              <a:r>
                <a:rPr sz="1400" b="1" spc="-65">
                  <a:latin typeface="Calibri" panose="020F0502020204030204" pitchFamily="34" charset="0"/>
                  <a:ea typeface="Calibri" panose="020F0502020204030204" pitchFamily="34" charset="0"/>
                  <a:cs typeface="Calibri" panose="020F0502020204030204" pitchFamily="34" charset="0"/>
                </a:rPr>
                <a:t> </a:t>
              </a:r>
              <a:r>
                <a:rPr sz="1400" b="1">
                  <a:latin typeface="Calibri" panose="020F0502020204030204" pitchFamily="34" charset="0"/>
                  <a:ea typeface="Calibri" panose="020F0502020204030204" pitchFamily="34" charset="0"/>
                  <a:cs typeface="Calibri" panose="020F0502020204030204" pitchFamily="34" charset="0"/>
                </a:rPr>
                <a:t>&amp;</a:t>
              </a:r>
              <a:r>
                <a:rPr sz="1400" b="1" spc="-45">
                  <a:latin typeface="Calibri" panose="020F0502020204030204" pitchFamily="34" charset="0"/>
                  <a:ea typeface="Calibri" panose="020F0502020204030204" pitchFamily="34" charset="0"/>
                  <a:cs typeface="Calibri" panose="020F0502020204030204" pitchFamily="34" charset="0"/>
                </a:rPr>
                <a:t> </a:t>
              </a:r>
              <a:r>
                <a:rPr sz="1400" b="1">
                  <a:latin typeface="Calibri" panose="020F0502020204030204" pitchFamily="34" charset="0"/>
                  <a:ea typeface="Calibri" panose="020F0502020204030204" pitchFamily="34" charset="0"/>
                  <a:cs typeface="Calibri" panose="020F0502020204030204" pitchFamily="34" charset="0"/>
                </a:rPr>
                <a:t>Plan</a:t>
              </a:r>
              <a:endParaRPr sz="1400">
                <a:latin typeface="Calibri" panose="020F0502020204030204" pitchFamily="34" charset="0"/>
                <a:ea typeface="Calibri" panose="020F0502020204030204" pitchFamily="34" charset="0"/>
                <a:cs typeface="Calibri" panose="020F0502020204030204" pitchFamily="34" charset="0"/>
              </a:endParaRPr>
            </a:p>
          </p:txBody>
        </p:sp>
        <p:grpSp>
          <p:nvGrpSpPr>
            <p:cNvPr id="86" name="object 85">
              <a:extLst>
                <a:ext uri="{FF2B5EF4-FFF2-40B4-BE49-F238E27FC236}">
                  <a16:creationId xmlns:a16="http://schemas.microsoft.com/office/drawing/2014/main" id="{73894EDA-6987-AFA8-15E2-75CD1A4BEE67}"/>
                </a:ext>
              </a:extLst>
            </p:cNvPr>
            <p:cNvGrpSpPr/>
            <p:nvPr/>
          </p:nvGrpSpPr>
          <p:grpSpPr>
            <a:xfrm>
              <a:off x="2840643" y="3986287"/>
              <a:ext cx="929639" cy="1821179"/>
              <a:chOff x="3854195" y="4338827"/>
              <a:chExt cx="929639" cy="1821179"/>
            </a:xfrm>
          </p:grpSpPr>
          <p:pic>
            <p:nvPicPr>
              <p:cNvPr id="87" name="object 86">
                <a:extLst>
                  <a:ext uri="{FF2B5EF4-FFF2-40B4-BE49-F238E27FC236}">
                    <a16:creationId xmlns:a16="http://schemas.microsoft.com/office/drawing/2014/main" id="{C2BA0B8D-5CFE-FE99-AC59-25F5345C4D4C}"/>
                  </a:ext>
                </a:extLst>
              </p:cNvPr>
              <p:cNvPicPr/>
              <p:nvPr/>
            </p:nvPicPr>
            <p:blipFill>
              <a:blip r:embed="rId5" cstate="print"/>
              <a:stretch>
                <a:fillRect/>
              </a:stretch>
            </p:blipFill>
            <p:spPr>
              <a:xfrm>
                <a:off x="3858767" y="5463539"/>
                <a:ext cx="925067" cy="696467"/>
              </a:xfrm>
              <a:prstGeom prst="rect">
                <a:avLst/>
              </a:prstGeom>
            </p:spPr>
          </p:pic>
          <p:pic>
            <p:nvPicPr>
              <p:cNvPr id="88" name="object 87">
                <a:extLst>
                  <a:ext uri="{FF2B5EF4-FFF2-40B4-BE49-F238E27FC236}">
                    <a16:creationId xmlns:a16="http://schemas.microsoft.com/office/drawing/2014/main" id="{1DA65FCB-5286-DA6F-5262-E25D3A872C68}"/>
                  </a:ext>
                </a:extLst>
              </p:cNvPr>
              <p:cNvPicPr/>
              <p:nvPr/>
            </p:nvPicPr>
            <p:blipFill>
              <a:blip r:embed="rId2" cstate="print"/>
              <a:stretch>
                <a:fillRect/>
              </a:stretch>
            </p:blipFill>
            <p:spPr>
              <a:xfrm>
                <a:off x="3854195" y="4338827"/>
                <a:ext cx="925067" cy="694943"/>
              </a:xfrm>
              <a:prstGeom prst="rect">
                <a:avLst/>
              </a:prstGeom>
            </p:spPr>
          </p:pic>
        </p:grpSp>
        <p:grpSp>
          <p:nvGrpSpPr>
            <p:cNvPr id="90" name="object 102">
              <a:extLst>
                <a:ext uri="{FF2B5EF4-FFF2-40B4-BE49-F238E27FC236}">
                  <a16:creationId xmlns:a16="http://schemas.microsoft.com/office/drawing/2014/main" id="{CBA8B653-DEBF-1A38-BCA5-F42102D601A7}"/>
                </a:ext>
              </a:extLst>
            </p:cNvPr>
            <p:cNvGrpSpPr/>
            <p:nvPr/>
          </p:nvGrpSpPr>
          <p:grpSpPr>
            <a:xfrm>
              <a:off x="7242608" y="5398466"/>
              <a:ext cx="2899410" cy="665480"/>
              <a:chOff x="7562090" y="5817108"/>
              <a:chExt cx="2899410" cy="665480"/>
            </a:xfrm>
          </p:grpSpPr>
          <p:sp>
            <p:nvSpPr>
              <p:cNvPr id="91" name="object 103">
                <a:extLst>
                  <a:ext uri="{FF2B5EF4-FFF2-40B4-BE49-F238E27FC236}">
                    <a16:creationId xmlns:a16="http://schemas.microsoft.com/office/drawing/2014/main" id="{FE87904C-E368-7CCE-A9BB-4AB1140FA21B}"/>
                  </a:ext>
                </a:extLst>
              </p:cNvPr>
              <p:cNvSpPr/>
              <p:nvPr/>
            </p:nvSpPr>
            <p:spPr>
              <a:xfrm>
                <a:off x="9936478" y="6382005"/>
                <a:ext cx="486409" cy="94615"/>
              </a:xfrm>
              <a:custGeom>
                <a:avLst/>
                <a:gdLst/>
                <a:ahLst/>
                <a:cxnLst/>
                <a:rect l="l" t="t" r="r" b="b"/>
                <a:pathLst>
                  <a:path w="486409" h="94614">
                    <a:moveTo>
                      <a:pt x="0" y="0"/>
                    </a:moveTo>
                    <a:lnTo>
                      <a:pt x="0" y="94068"/>
                    </a:lnTo>
                    <a:lnTo>
                      <a:pt x="486321" y="94068"/>
                    </a:lnTo>
                    <a:lnTo>
                      <a:pt x="486321" y="5918"/>
                    </a:lnTo>
                  </a:path>
                </a:pathLst>
              </a:custGeom>
              <a:ln w="12700">
                <a:solidFill>
                  <a:srgbClr val="75787A"/>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92" name="object 104">
                <a:extLst>
                  <a:ext uri="{FF2B5EF4-FFF2-40B4-BE49-F238E27FC236}">
                    <a16:creationId xmlns:a16="http://schemas.microsoft.com/office/drawing/2014/main" id="{5AB39F07-32C2-6E13-DD57-1FC9569C3A04}"/>
                  </a:ext>
                </a:extLst>
              </p:cNvPr>
              <p:cNvSpPr/>
              <p:nvPr/>
            </p:nvSpPr>
            <p:spPr>
              <a:xfrm>
                <a:off x="9898367" y="6318516"/>
                <a:ext cx="562610" cy="82550"/>
              </a:xfrm>
              <a:custGeom>
                <a:avLst/>
                <a:gdLst/>
                <a:ahLst/>
                <a:cxnLst/>
                <a:rect l="l" t="t" r="r" b="b"/>
                <a:pathLst>
                  <a:path w="562609" h="82550">
                    <a:moveTo>
                      <a:pt x="76200" y="76200"/>
                    </a:moveTo>
                    <a:lnTo>
                      <a:pt x="38100" y="0"/>
                    </a:lnTo>
                    <a:lnTo>
                      <a:pt x="0" y="76200"/>
                    </a:lnTo>
                    <a:lnTo>
                      <a:pt x="76200" y="76200"/>
                    </a:lnTo>
                    <a:close/>
                  </a:path>
                  <a:path w="562609" h="82550">
                    <a:moveTo>
                      <a:pt x="562521" y="82118"/>
                    </a:moveTo>
                    <a:lnTo>
                      <a:pt x="524421" y="5918"/>
                    </a:lnTo>
                    <a:lnTo>
                      <a:pt x="486321" y="82118"/>
                    </a:lnTo>
                    <a:lnTo>
                      <a:pt x="562521" y="82118"/>
                    </a:lnTo>
                    <a:close/>
                  </a:path>
                </a:pathLst>
              </a:custGeom>
              <a:solidFill>
                <a:srgbClr val="75787A"/>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93" name="object 105">
                <a:extLst>
                  <a:ext uri="{FF2B5EF4-FFF2-40B4-BE49-F238E27FC236}">
                    <a16:creationId xmlns:a16="http://schemas.microsoft.com/office/drawing/2014/main" id="{E8AF7FBF-741E-6DCC-12AC-FE1C464E4B1F}"/>
                  </a:ext>
                </a:extLst>
              </p:cNvPr>
              <p:cNvSpPr/>
              <p:nvPr/>
            </p:nvSpPr>
            <p:spPr>
              <a:xfrm>
                <a:off x="7562088" y="5817108"/>
                <a:ext cx="30480" cy="577850"/>
              </a:xfrm>
              <a:custGeom>
                <a:avLst/>
                <a:gdLst/>
                <a:ahLst/>
                <a:cxnLst/>
                <a:rect l="l" t="t" r="r" b="b"/>
                <a:pathLst>
                  <a:path w="30479" h="577850">
                    <a:moveTo>
                      <a:pt x="30340" y="24117"/>
                    </a:moveTo>
                    <a:lnTo>
                      <a:pt x="26543" y="18084"/>
                    </a:lnTo>
                    <a:lnTo>
                      <a:pt x="15163" y="0"/>
                    </a:lnTo>
                    <a:lnTo>
                      <a:pt x="0" y="24104"/>
                    </a:lnTo>
                    <a:lnTo>
                      <a:pt x="10109" y="24104"/>
                    </a:lnTo>
                    <a:lnTo>
                      <a:pt x="10109" y="18084"/>
                    </a:lnTo>
                    <a:lnTo>
                      <a:pt x="10121" y="577354"/>
                    </a:lnTo>
                    <a:lnTo>
                      <a:pt x="20231" y="577354"/>
                    </a:lnTo>
                    <a:lnTo>
                      <a:pt x="20231" y="24117"/>
                    </a:lnTo>
                    <a:lnTo>
                      <a:pt x="30340" y="24117"/>
                    </a:lnTo>
                    <a:close/>
                  </a:path>
                </a:pathLst>
              </a:custGeom>
              <a:solidFill>
                <a:srgbClr val="000000"/>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94" name="object 106">
              <a:extLst>
                <a:ext uri="{FF2B5EF4-FFF2-40B4-BE49-F238E27FC236}">
                  <a16:creationId xmlns:a16="http://schemas.microsoft.com/office/drawing/2014/main" id="{94E8B405-F805-4731-F559-9E246E00704E}"/>
                </a:ext>
              </a:extLst>
            </p:cNvPr>
            <p:cNvSpPr txBox="1"/>
            <p:nvPr/>
          </p:nvSpPr>
          <p:spPr>
            <a:xfrm>
              <a:off x="6743237" y="5229208"/>
              <a:ext cx="286301" cy="724535"/>
            </a:xfrm>
            <a:prstGeom prst="rect">
              <a:avLst/>
            </a:prstGeom>
          </p:spPr>
          <p:txBody>
            <a:bodyPr vert="vert270" wrap="square" lIns="0" tIns="20320" rIns="0" bIns="0" rtlCol="0">
              <a:spAutoFit/>
            </a:bodyPr>
            <a:lstStyle/>
            <a:p>
              <a:pPr marL="12700" marR="5080">
                <a:lnSpc>
                  <a:spcPct val="100000"/>
                </a:lnSpc>
                <a:spcBef>
                  <a:spcPts val="160"/>
                </a:spcBef>
              </a:pPr>
              <a:r>
                <a:rPr sz="1050" b="0" spc="25">
                  <a:latin typeface="Calibri" panose="020F0502020204030204" pitchFamily="34" charset="0"/>
                  <a:ea typeface="Calibri" panose="020F0502020204030204" pitchFamily="34" charset="0"/>
                  <a:cs typeface="Calibri" panose="020F0502020204030204" pitchFamily="34" charset="0"/>
                </a:rPr>
                <a:t>VOLUME</a:t>
              </a:r>
              <a:r>
                <a:rPr sz="1050" b="0" spc="-30">
                  <a:latin typeface="Calibri" panose="020F0502020204030204" pitchFamily="34" charset="0"/>
                  <a:ea typeface="Calibri" panose="020F0502020204030204" pitchFamily="34" charset="0"/>
                  <a:cs typeface="Calibri" panose="020F0502020204030204" pitchFamily="34" charset="0"/>
                </a:rPr>
                <a:t> </a:t>
              </a:r>
              <a:r>
                <a:rPr sz="1050" b="0" spc="15">
                  <a:latin typeface="Calibri" panose="020F0502020204030204" pitchFamily="34" charset="0"/>
                  <a:ea typeface="Calibri" panose="020F0502020204030204" pitchFamily="34" charset="0"/>
                  <a:cs typeface="Calibri" panose="020F0502020204030204" pitchFamily="34" charset="0"/>
                </a:rPr>
                <a:t>OF </a:t>
              </a:r>
              <a:r>
                <a:rPr sz="1050" b="0" spc="-235">
                  <a:latin typeface="Calibri" panose="020F0502020204030204" pitchFamily="34" charset="0"/>
                  <a:ea typeface="Calibri" panose="020F0502020204030204" pitchFamily="34" charset="0"/>
                  <a:cs typeface="Calibri" panose="020F0502020204030204" pitchFamily="34" charset="0"/>
                </a:rPr>
                <a:t> </a:t>
              </a:r>
              <a:r>
                <a:rPr sz="1050" b="0" spc="30">
                  <a:latin typeface="Calibri" panose="020F0502020204030204" pitchFamily="34" charset="0"/>
                  <a:ea typeface="Calibri" panose="020F0502020204030204" pitchFamily="34" charset="0"/>
                  <a:cs typeface="Calibri" panose="020F0502020204030204" pitchFamily="34" charset="0"/>
                </a:rPr>
                <a:t>DEMAND</a:t>
              </a:r>
              <a:endParaRPr sz="1050">
                <a:latin typeface="Calibri" panose="020F0502020204030204" pitchFamily="34" charset="0"/>
                <a:ea typeface="Calibri" panose="020F0502020204030204" pitchFamily="34" charset="0"/>
                <a:cs typeface="Calibri" panose="020F0502020204030204" pitchFamily="34" charset="0"/>
              </a:endParaRPr>
            </a:p>
          </p:txBody>
        </p:sp>
        <p:grpSp>
          <p:nvGrpSpPr>
            <p:cNvPr id="95" name="object 107">
              <a:extLst>
                <a:ext uri="{FF2B5EF4-FFF2-40B4-BE49-F238E27FC236}">
                  <a16:creationId xmlns:a16="http://schemas.microsoft.com/office/drawing/2014/main" id="{9FB482B3-9B83-AB5A-AA89-76E7E31D25B5}"/>
                </a:ext>
              </a:extLst>
            </p:cNvPr>
            <p:cNvGrpSpPr/>
            <p:nvPr/>
          </p:nvGrpSpPr>
          <p:grpSpPr>
            <a:xfrm>
              <a:off x="7426403" y="5399778"/>
              <a:ext cx="2901569" cy="287032"/>
              <a:chOff x="7731252" y="5815584"/>
              <a:chExt cx="2901569" cy="287032"/>
            </a:xfrm>
            <a:solidFill>
              <a:schemeClr val="tx1">
                <a:lumMod val="50000"/>
                <a:lumOff val="50000"/>
              </a:schemeClr>
            </a:solidFill>
          </p:grpSpPr>
          <p:sp>
            <p:nvSpPr>
              <p:cNvPr id="96" name="object 108">
                <a:extLst>
                  <a:ext uri="{FF2B5EF4-FFF2-40B4-BE49-F238E27FC236}">
                    <a16:creationId xmlns:a16="http://schemas.microsoft.com/office/drawing/2014/main" id="{551B8616-49B8-C65E-8B74-F64FC8960E88}"/>
                  </a:ext>
                </a:extLst>
              </p:cNvPr>
              <p:cNvSpPr/>
              <p:nvPr/>
            </p:nvSpPr>
            <p:spPr>
              <a:xfrm>
                <a:off x="7731252" y="5884176"/>
                <a:ext cx="1045844" cy="218440"/>
              </a:xfrm>
              <a:custGeom>
                <a:avLst/>
                <a:gdLst/>
                <a:ahLst/>
                <a:cxnLst/>
                <a:rect l="l" t="t" r="r" b="b"/>
                <a:pathLst>
                  <a:path w="1045845" h="218439">
                    <a:moveTo>
                      <a:pt x="118668" y="134099"/>
                    </a:moveTo>
                    <a:lnTo>
                      <a:pt x="0" y="134099"/>
                    </a:lnTo>
                    <a:lnTo>
                      <a:pt x="0" y="217855"/>
                    </a:lnTo>
                    <a:lnTo>
                      <a:pt x="118668" y="217855"/>
                    </a:lnTo>
                    <a:lnTo>
                      <a:pt x="118668" y="134099"/>
                    </a:lnTo>
                    <a:close/>
                  </a:path>
                  <a:path w="1045845" h="218439">
                    <a:moveTo>
                      <a:pt x="272694" y="79235"/>
                    </a:moveTo>
                    <a:lnTo>
                      <a:pt x="153924" y="79235"/>
                    </a:lnTo>
                    <a:lnTo>
                      <a:pt x="153924" y="217919"/>
                    </a:lnTo>
                    <a:lnTo>
                      <a:pt x="272694" y="217919"/>
                    </a:lnTo>
                    <a:lnTo>
                      <a:pt x="272694" y="79235"/>
                    </a:lnTo>
                    <a:close/>
                  </a:path>
                  <a:path w="1045845" h="218439">
                    <a:moveTo>
                      <a:pt x="428142" y="0"/>
                    </a:moveTo>
                    <a:lnTo>
                      <a:pt x="307848" y="0"/>
                    </a:lnTo>
                    <a:lnTo>
                      <a:pt x="307848" y="217741"/>
                    </a:lnTo>
                    <a:lnTo>
                      <a:pt x="428142" y="217741"/>
                    </a:lnTo>
                    <a:lnTo>
                      <a:pt x="428142" y="0"/>
                    </a:lnTo>
                    <a:close/>
                  </a:path>
                  <a:path w="1045845" h="218439">
                    <a:moveTo>
                      <a:pt x="581964" y="0"/>
                    </a:moveTo>
                    <a:lnTo>
                      <a:pt x="463296" y="0"/>
                    </a:lnTo>
                    <a:lnTo>
                      <a:pt x="463296" y="217919"/>
                    </a:lnTo>
                    <a:lnTo>
                      <a:pt x="581964" y="217919"/>
                    </a:lnTo>
                    <a:lnTo>
                      <a:pt x="581964" y="0"/>
                    </a:lnTo>
                    <a:close/>
                  </a:path>
                  <a:path w="1045845" h="218439">
                    <a:moveTo>
                      <a:pt x="735888" y="24371"/>
                    </a:moveTo>
                    <a:lnTo>
                      <a:pt x="617220" y="24371"/>
                    </a:lnTo>
                    <a:lnTo>
                      <a:pt x="617220" y="217678"/>
                    </a:lnTo>
                    <a:lnTo>
                      <a:pt x="735888" y="217678"/>
                    </a:lnTo>
                    <a:lnTo>
                      <a:pt x="735888" y="24371"/>
                    </a:lnTo>
                    <a:close/>
                  </a:path>
                  <a:path w="1045845" h="218439">
                    <a:moveTo>
                      <a:pt x="891336" y="79235"/>
                    </a:moveTo>
                    <a:lnTo>
                      <a:pt x="772668" y="79235"/>
                    </a:lnTo>
                    <a:lnTo>
                      <a:pt x="772668" y="217919"/>
                    </a:lnTo>
                    <a:lnTo>
                      <a:pt x="891336" y="217919"/>
                    </a:lnTo>
                    <a:lnTo>
                      <a:pt x="891336" y="79235"/>
                    </a:lnTo>
                    <a:close/>
                  </a:path>
                  <a:path w="1045845" h="218439">
                    <a:moveTo>
                      <a:pt x="1045260" y="161531"/>
                    </a:moveTo>
                    <a:lnTo>
                      <a:pt x="926592" y="161531"/>
                    </a:lnTo>
                    <a:lnTo>
                      <a:pt x="926592" y="217678"/>
                    </a:lnTo>
                    <a:lnTo>
                      <a:pt x="1045260" y="217678"/>
                    </a:lnTo>
                    <a:lnTo>
                      <a:pt x="1045260" y="161531"/>
                    </a:lnTo>
                    <a:close/>
                  </a:path>
                </a:pathLst>
              </a:custGeom>
              <a:grp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97" name="object 112">
                <a:extLst>
                  <a:ext uri="{FF2B5EF4-FFF2-40B4-BE49-F238E27FC236}">
                    <a16:creationId xmlns:a16="http://schemas.microsoft.com/office/drawing/2014/main" id="{8028BFED-CC19-FE6E-D19A-D3BF14132F18}"/>
                  </a:ext>
                </a:extLst>
              </p:cNvPr>
              <p:cNvSpPr/>
              <p:nvPr/>
            </p:nvSpPr>
            <p:spPr>
              <a:xfrm>
                <a:off x="9276131" y="5958725"/>
                <a:ext cx="584200" cy="143244"/>
              </a:xfrm>
              <a:custGeom>
                <a:avLst/>
                <a:gdLst/>
                <a:ahLst/>
                <a:cxnLst/>
                <a:rect l="l" t="t" r="r" b="b"/>
                <a:pathLst>
                  <a:path w="584200" h="198120">
                    <a:moveTo>
                      <a:pt x="118668" y="121932"/>
                    </a:moveTo>
                    <a:lnTo>
                      <a:pt x="0" y="121932"/>
                    </a:lnTo>
                    <a:lnTo>
                      <a:pt x="0" y="198056"/>
                    </a:lnTo>
                    <a:lnTo>
                      <a:pt x="118668" y="198056"/>
                    </a:lnTo>
                    <a:lnTo>
                      <a:pt x="118668" y="121932"/>
                    </a:lnTo>
                    <a:close/>
                  </a:path>
                  <a:path w="584200" h="198120">
                    <a:moveTo>
                      <a:pt x="274116" y="60960"/>
                    </a:moveTo>
                    <a:lnTo>
                      <a:pt x="155448" y="60960"/>
                    </a:lnTo>
                    <a:lnTo>
                      <a:pt x="155448" y="197878"/>
                    </a:lnTo>
                    <a:lnTo>
                      <a:pt x="274116" y="197878"/>
                    </a:lnTo>
                    <a:lnTo>
                      <a:pt x="274116" y="60960"/>
                    </a:lnTo>
                    <a:close/>
                  </a:path>
                  <a:path w="584200" h="198120">
                    <a:moveTo>
                      <a:pt x="428040" y="0"/>
                    </a:moveTo>
                    <a:lnTo>
                      <a:pt x="309372" y="0"/>
                    </a:lnTo>
                    <a:lnTo>
                      <a:pt x="309372" y="198005"/>
                    </a:lnTo>
                    <a:lnTo>
                      <a:pt x="428040" y="198005"/>
                    </a:lnTo>
                    <a:lnTo>
                      <a:pt x="428040" y="0"/>
                    </a:lnTo>
                    <a:close/>
                  </a:path>
                  <a:path w="584200" h="198120">
                    <a:moveTo>
                      <a:pt x="583577" y="76200"/>
                    </a:moveTo>
                    <a:lnTo>
                      <a:pt x="463296" y="76200"/>
                    </a:lnTo>
                    <a:lnTo>
                      <a:pt x="463296" y="198056"/>
                    </a:lnTo>
                    <a:lnTo>
                      <a:pt x="583577" y="198056"/>
                    </a:lnTo>
                    <a:lnTo>
                      <a:pt x="583577" y="76200"/>
                    </a:lnTo>
                    <a:close/>
                  </a:path>
                </a:pathLst>
              </a:custGeom>
              <a:grp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98" name="object 117">
                <a:extLst>
                  <a:ext uri="{FF2B5EF4-FFF2-40B4-BE49-F238E27FC236}">
                    <a16:creationId xmlns:a16="http://schemas.microsoft.com/office/drawing/2014/main" id="{D72ED029-DCDB-7DC7-C369-95B43776AADC}"/>
                  </a:ext>
                </a:extLst>
              </p:cNvPr>
              <p:cNvSpPr/>
              <p:nvPr/>
            </p:nvSpPr>
            <p:spPr>
              <a:xfrm>
                <a:off x="10514076" y="5815584"/>
                <a:ext cx="118745" cy="286385"/>
              </a:xfrm>
              <a:custGeom>
                <a:avLst/>
                <a:gdLst/>
                <a:ahLst/>
                <a:cxnLst/>
                <a:rect l="l" t="t" r="r" b="b"/>
                <a:pathLst>
                  <a:path w="118745" h="286385">
                    <a:moveTo>
                      <a:pt x="118668" y="0"/>
                    </a:moveTo>
                    <a:lnTo>
                      <a:pt x="0" y="0"/>
                    </a:lnTo>
                    <a:lnTo>
                      <a:pt x="0" y="286270"/>
                    </a:lnTo>
                    <a:lnTo>
                      <a:pt x="118668" y="286270"/>
                    </a:lnTo>
                    <a:lnTo>
                      <a:pt x="118668" y="0"/>
                    </a:lnTo>
                    <a:close/>
                  </a:path>
                </a:pathLst>
              </a:custGeom>
              <a:grp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99" name="object 118">
              <a:extLst>
                <a:ext uri="{FF2B5EF4-FFF2-40B4-BE49-F238E27FC236}">
                  <a16:creationId xmlns:a16="http://schemas.microsoft.com/office/drawing/2014/main" id="{C9F6D335-51B5-65CC-4241-1047DCA32D62}"/>
                </a:ext>
              </a:extLst>
            </p:cNvPr>
            <p:cNvSpPr txBox="1"/>
            <p:nvPr/>
          </p:nvSpPr>
          <p:spPr>
            <a:xfrm>
              <a:off x="9646555" y="5050993"/>
              <a:ext cx="558800" cy="428631"/>
            </a:xfrm>
            <a:prstGeom prst="rect">
              <a:avLst/>
            </a:prstGeom>
          </p:spPr>
          <p:txBody>
            <a:bodyPr vert="horz" wrap="square" lIns="0" tIns="12700" rIns="0" bIns="0" rtlCol="0">
              <a:spAutoFit/>
            </a:bodyPr>
            <a:lstStyle/>
            <a:p>
              <a:pPr marL="12700" marR="5080">
                <a:lnSpc>
                  <a:spcPct val="100000"/>
                </a:lnSpc>
                <a:spcBef>
                  <a:spcPts val="100"/>
                </a:spcBef>
              </a:pPr>
              <a:r>
                <a:rPr sz="1000" b="0" spc="-5">
                  <a:latin typeface="Calibri" panose="020F0502020204030204" pitchFamily="34" charset="0"/>
                  <a:ea typeface="Calibri" panose="020F0502020204030204" pitchFamily="34" charset="0"/>
                  <a:cs typeface="Calibri" panose="020F0502020204030204" pitchFamily="34" charset="0"/>
                </a:rPr>
                <a:t>T</a:t>
              </a:r>
              <a:r>
                <a:rPr sz="1000" b="0">
                  <a:latin typeface="Calibri" panose="020F0502020204030204" pitchFamily="34" charset="0"/>
                  <a:ea typeface="Calibri" panose="020F0502020204030204" pitchFamily="34" charset="0"/>
                  <a:cs typeface="Calibri" panose="020F0502020204030204" pitchFamily="34" charset="0"/>
                </a:rPr>
                <a:t>em</a:t>
              </a:r>
              <a:r>
                <a:rPr sz="1000" b="0" spc="-5">
                  <a:latin typeface="Calibri" panose="020F0502020204030204" pitchFamily="34" charset="0"/>
                  <a:ea typeface="Calibri" panose="020F0502020204030204" pitchFamily="34" charset="0"/>
                  <a:cs typeface="Calibri" panose="020F0502020204030204" pitchFamily="34" charset="0"/>
                </a:rPr>
                <a:t>p</a:t>
              </a:r>
              <a:r>
                <a:rPr sz="1000" b="0">
                  <a:latin typeface="Calibri" panose="020F0502020204030204" pitchFamily="34" charset="0"/>
                  <a:ea typeface="Calibri" panose="020F0502020204030204" pitchFamily="34" charset="0"/>
                  <a:cs typeface="Calibri" panose="020F0502020204030204" pitchFamily="34" charset="0"/>
                </a:rPr>
                <a:t>orary  </a:t>
              </a:r>
              <a:r>
                <a:rPr sz="1000" b="0" spc="-5">
                  <a:latin typeface="Calibri" panose="020F0502020204030204" pitchFamily="34" charset="0"/>
                  <a:ea typeface="Calibri" panose="020F0502020204030204" pitchFamily="34" charset="0"/>
                  <a:cs typeface="Calibri" panose="020F0502020204030204" pitchFamily="34" charset="0"/>
                </a:rPr>
                <a:t>“spike”</a:t>
              </a:r>
              <a:endParaRPr sz="1000">
                <a:latin typeface="Calibri" panose="020F0502020204030204" pitchFamily="34" charset="0"/>
                <a:ea typeface="Calibri" panose="020F0502020204030204" pitchFamily="34" charset="0"/>
                <a:cs typeface="Calibri" panose="020F0502020204030204" pitchFamily="34" charset="0"/>
              </a:endParaRPr>
            </a:p>
            <a:p>
              <a:pPr marL="12700">
                <a:lnSpc>
                  <a:spcPct val="100000"/>
                </a:lnSpc>
              </a:pPr>
              <a:r>
                <a:rPr sz="1000" b="0" spc="-5">
                  <a:latin typeface="Calibri" panose="020F0502020204030204" pitchFamily="34" charset="0"/>
                  <a:ea typeface="Calibri" panose="020F0502020204030204" pitchFamily="34" charset="0"/>
                  <a:cs typeface="Calibri" panose="020F0502020204030204" pitchFamily="34" charset="0"/>
                </a:rPr>
                <a:t>i</a:t>
              </a:r>
              <a:r>
                <a:rPr sz="1000" b="0">
                  <a:latin typeface="Calibri" panose="020F0502020204030204" pitchFamily="34" charset="0"/>
                  <a:ea typeface="Calibri" panose="020F0502020204030204" pitchFamily="34" charset="0"/>
                  <a:cs typeface="Calibri" panose="020F0502020204030204" pitchFamily="34" charset="0"/>
                </a:rPr>
                <a:t>n</a:t>
              </a:r>
              <a:r>
                <a:rPr sz="1000" b="0" spc="-114">
                  <a:latin typeface="Calibri" panose="020F0502020204030204" pitchFamily="34" charset="0"/>
                  <a:ea typeface="Calibri" panose="020F0502020204030204" pitchFamily="34" charset="0"/>
                  <a:cs typeface="Calibri" panose="020F0502020204030204" pitchFamily="34" charset="0"/>
                </a:rPr>
                <a:t> </a:t>
              </a:r>
              <a:r>
                <a:rPr sz="1000" b="0" spc="-5">
                  <a:latin typeface="Calibri" panose="020F0502020204030204" pitchFamily="34" charset="0"/>
                  <a:ea typeface="Calibri" panose="020F0502020204030204" pitchFamily="34" charset="0"/>
                  <a:cs typeface="Calibri" panose="020F0502020204030204" pitchFamily="34" charset="0"/>
                </a:rPr>
                <a:t>D</a:t>
              </a:r>
              <a:r>
                <a:rPr sz="1000" b="0">
                  <a:latin typeface="Calibri" panose="020F0502020204030204" pitchFamily="34" charset="0"/>
                  <a:ea typeface="Calibri" panose="020F0502020204030204" pitchFamily="34" charset="0"/>
                  <a:cs typeface="Calibri" panose="020F0502020204030204" pitchFamily="34" charset="0"/>
                </a:rPr>
                <a:t>emand</a:t>
              </a:r>
              <a:endParaRPr sz="1000">
                <a:latin typeface="Calibri" panose="020F0502020204030204" pitchFamily="34" charset="0"/>
                <a:ea typeface="Calibri" panose="020F0502020204030204" pitchFamily="34" charset="0"/>
                <a:cs typeface="Calibri" panose="020F0502020204030204" pitchFamily="34" charset="0"/>
              </a:endParaRPr>
            </a:p>
          </p:txBody>
        </p:sp>
        <p:grpSp>
          <p:nvGrpSpPr>
            <p:cNvPr id="100" name="object 119">
              <a:extLst>
                <a:ext uri="{FF2B5EF4-FFF2-40B4-BE49-F238E27FC236}">
                  <a16:creationId xmlns:a16="http://schemas.microsoft.com/office/drawing/2014/main" id="{17DD507B-E229-BF6F-B35E-0EDB6A2131F1}"/>
                </a:ext>
              </a:extLst>
            </p:cNvPr>
            <p:cNvGrpSpPr/>
            <p:nvPr/>
          </p:nvGrpSpPr>
          <p:grpSpPr>
            <a:xfrm>
              <a:off x="7273031" y="5607254"/>
              <a:ext cx="3886200" cy="97790"/>
              <a:chOff x="7580376" y="6025896"/>
              <a:chExt cx="3886200" cy="97790"/>
            </a:xfrm>
            <a:solidFill>
              <a:schemeClr val="tx1">
                <a:lumMod val="50000"/>
                <a:lumOff val="50000"/>
              </a:schemeClr>
            </a:solidFill>
          </p:grpSpPr>
          <p:sp>
            <p:nvSpPr>
              <p:cNvPr id="101" name="object 120">
                <a:extLst>
                  <a:ext uri="{FF2B5EF4-FFF2-40B4-BE49-F238E27FC236}">
                    <a16:creationId xmlns:a16="http://schemas.microsoft.com/office/drawing/2014/main" id="{D602CF5B-ADAB-2E06-361D-064D254062D5}"/>
                  </a:ext>
                </a:extLst>
              </p:cNvPr>
              <p:cNvSpPr/>
              <p:nvPr/>
            </p:nvSpPr>
            <p:spPr>
              <a:xfrm>
                <a:off x="10668000" y="6025896"/>
                <a:ext cx="119380" cy="76200"/>
              </a:xfrm>
              <a:custGeom>
                <a:avLst/>
                <a:gdLst/>
                <a:ahLst/>
                <a:cxnLst/>
                <a:rect l="l" t="t" r="r" b="b"/>
                <a:pathLst>
                  <a:path w="119379" h="76200">
                    <a:moveTo>
                      <a:pt x="118770" y="0"/>
                    </a:moveTo>
                    <a:lnTo>
                      <a:pt x="0" y="0"/>
                    </a:lnTo>
                    <a:lnTo>
                      <a:pt x="0" y="76136"/>
                    </a:lnTo>
                    <a:lnTo>
                      <a:pt x="118770" y="76136"/>
                    </a:lnTo>
                    <a:lnTo>
                      <a:pt x="118770" y="0"/>
                    </a:lnTo>
                    <a:close/>
                  </a:path>
                </a:pathLst>
              </a:custGeom>
              <a:grp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02" name="object 121">
                <a:extLst>
                  <a:ext uri="{FF2B5EF4-FFF2-40B4-BE49-F238E27FC236}">
                    <a16:creationId xmlns:a16="http://schemas.microsoft.com/office/drawing/2014/main" id="{83C4FE5E-2A6A-A80D-8D3E-CD26FF997D4E}"/>
                  </a:ext>
                </a:extLst>
              </p:cNvPr>
              <p:cNvSpPr/>
              <p:nvPr/>
            </p:nvSpPr>
            <p:spPr>
              <a:xfrm>
                <a:off x="7580376" y="6086856"/>
                <a:ext cx="3886200" cy="36830"/>
              </a:xfrm>
              <a:custGeom>
                <a:avLst/>
                <a:gdLst/>
                <a:ahLst/>
                <a:cxnLst/>
                <a:rect l="l" t="t" r="r" b="b"/>
                <a:pathLst>
                  <a:path w="3886200" h="36829">
                    <a:moveTo>
                      <a:pt x="3886149" y="18211"/>
                    </a:moveTo>
                    <a:lnTo>
                      <a:pt x="3879418" y="12141"/>
                    </a:lnTo>
                    <a:lnTo>
                      <a:pt x="3871061" y="12141"/>
                    </a:lnTo>
                    <a:lnTo>
                      <a:pt x="3871061" y="24269"/>
                    </a:lnTo>
                    <a:lnTo>
                      <a:pt x="3871049" y="12128"/>
                    </a:lnTo>
                    <a:lnTo>
                      <a:pt x="3879418" y="12128"/>
                    </a:lnTo>
                    <a:lnTo>
                      <a:pt x="3865956" y="0"/>
                    </a:lnTo>
                    <a:lnTo>
                      <a:pt x="3865956" y="12128"/>
                    </a:lnTo>
                    <a:lnTo>
                      <a:pt x="0" y="12128"/>
                    </a:lnTo>
                    <a:lnTo>
                      <a:pt x="0" y="24257"/>
                    </a:lnTo>
                    <a:lnTo>
                      <a:pt x="3865956" y="24257"/>
                    </a:lnTo>
                    <a:lnTo>
                      <a:pt x="3865956" y="36398"/>
                    </a:lnTo>
                    <a:lnTo>
                      <a:pt x="3879418" y="24269"/>
                    </a:lnTo>
                    <a:lnTo>
                      <a:pt x="3886149" y="18211"/>
                    </a:lnTo>
                    <a:close/>
                  </a:path>
                </a:pathLst>
              </a:custGeom>
              <a:grp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103" name="object 122">
              <a:extLst>
                <a:ext uri="{FF2B5EF4-FFF2-40B4-BE49-F238E27FC236}">
                  <a16:creationId xmlns:a16="http://schemas.microsoft.com/office/drawing/2014/main" id="{57E3A259-1690-54FB-AA7C-9240B4E0D7BA}"/>
                </a:ext>
              </a:extLst>
            </p:cNvPr>
            <p:cNvSpPr txBox="1"/>
            <p:nvPr/>
          </p:nvSpPr>
          <p:spPr>
            <a:xfrm>
              <a:off x="10808413" y="5695384"/>
              <a:ext cx="442397" cy="163922"/>
            </a:xfrm>
            <a:prstGeom prst="rect">
              <a:avLst/>
            </a:prstGeom>
          </p:spPr>
          <p:txBody>
            <a:bodyPr vert="horz" wrap="square" lIns="0" tIns="12065" rIns="0" bIns="0" rtlCol="0">
              <a:spAutoFit/>
            </a:bodyPr>
            <a:lstStyle/>
            <a:p>
              <a:pPr marL="12700">
                <a:lnSpc>
                  <a:spcPct val="100000"/>
                </a:lnSpc>
                <a:spcBef>
                  <a:spcPts val="95"/>
                </a:spcBef>
              </a:pPr>
              <a:r>
                <a:rPr sz="1100" b="0" spc="25">
                  <a:latin typeface="Calibri" panose="020F0502020204030204" pitchFamily="34" charset="0"/>
                  <a:ea typeface="Calibri" panose="020F0502020204030204" pitchFamily="34" charset="0"/>
                  <a:cs typeface="Calibri" panose="020F0502020204030204" pitchFamily="34" charset="0"/>
                </a:rPr>
                <a:t>T</a:t>
              </a:r>
              <a:r>
                <a:rPr sz="1100" b="0" spc="40">
                  <a:latin typeface="Calibri" panose="020F0502020204030204" pitchFamily="34" charset="0"/>
                  <a:ea typeface="Calibri" panose="020F0502020204030204" pitchFamily="34" charset="0"/>
                  <a:cs typeface="Calibri" panose="020F0502020204030204" pitchFamily="34" charset="0"/>
                </a:rPr>
                <a:t>I</a:t>
              </a:r>
              <a:r>
                <a:rPr sz="1100" b="0" spc="35">
                  <a:latin typeface="Calibri" panose="020F0502020204030204" pitchFamily="34" charset="0"/>
                  <a:ea typeface="Calibri" panose="020F0502020204030204" pitchFamily="34" charset="0"/>
                  <a:cs typeface="Calibri" panose="020F0502020204030204" pitchFamily="34" charset="0"/>
                </a:rPr>
                <a:t>M</a:t>
              </a:r>
              <a:r>
                <a:rPr sz="1100" b="0" spc="-5">
                  <a:latin typeface="Calibri" panose="020F0502020204030204" pitchFamily="34" charset="0"/>
                  <a:ea typeface="Calibri" panose="020F0502020204030204" pitchFamily="34" charset="0"/>
                  <a:cs typeface="Calibri" panose="020F0502020204030204" pitchFamily="34" charset="0"/>
                </a:rPr>
                <a:t>E</a:t>
              </a:r>
              <a:endParaRPr sz="1100">
                <a:latin typeface="Calibri" panose="020F0502020204030204" pitchFamily="34" charset="0"/>
                <a:ea typeface="Calibri" panose="020F0502020204030204" pitchFamily="34" charset="0"/>
                <a:cs typeface="Calibri" panose="020F0502020204030204" pitchFamily="34" charset="0"/>
              </a:endParaRPr>
            </a:p>
          </p:txBody>
        </p:sp>
        <p:sp>
          <p:nvSpPr>
            <p:cNvPr id="104" name="object 123">
              <a:extLst>
                <a:ext uri="{FF2B5EF4-FFF2-40B4-BE49-F238E27FC236}">
                  <a16:creationId xmlns:a16="http://schemas.microsoft.com/office/drawing/2014/main" id="{6C4AB998-0724-24FB-3863-A612D986978F}"/>
                </a:ext>
              </a:extLst>
            </p:cNvPr>
            <p:cNvSpPr/>
            <p:nvPr/>
          </p:nvSpPr>
          <p:spPr>
            <a:xfrm>
              <a:off x="9639858" y="5945581"/>
              <a:ext cx="434340" cy="213360"/>
            </a:xfrm>
            <a:custGeom>
              <a:avLst/>
              <a:gdLst/>
              <a:ahLst/>
              <a:cxnLst/>
              <a:rect l="l" t="t" r="r" b="b"/>
              <a:pathLst>
                <a:path w="434340" h="213359">
                  <a:moveTo>
                    <a:pt x="434340" y="0"/>
                  </a:moveTo>
                  <a:lnTo>
                    <a:pt x="0" y="0"/>
                  </a:lnTo>
                  <a:lnTo>
                    <a:pt x="0" y="213359"/>
                  </a:lnTo>
                  <a:lnTo>
                    <a:pt x="434340" y="213359"/>
                  </a:lnTo>
                  <a:lnTo>
                    <a:pt x="434340" y="0"/>
                  </a:lnTo>
                  <a:close/>
                </a:path>
              </a:pathLst>
            </a:custGeom>
            <a:solidFill>
              <a:srgbClr val="FFFFFF"/>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05" name="object 124">
              <a:extLst>
                <a:ext uri="{FF2B5EF4-FFF2-40B4-BE49-F238E27FC236}">
                  <a16:creationId xmlns:a16="http://schemas.microsoft.com/office/drawing/2014/main" id="{32643201-4CCA-24C7-929B-2A6B5C050854}"/>
                </a:ext>
              </a:extLst>
            </p:cNvPr>
            <p:cNvSpPr txBox="1"/>
            <p:nvPr/>
          </p:nvSpPr>
          <p:spPr>
            <a:xfrm>
              <a:off x="9623346" y="5945581"/>
              <a:ext cx="473709" cy="100091"/>
            </a:xfrm>
            <a:prstGeom prst="rect">
              <a:avLst/>
            </a:prstGeom>
            <a:solidFill>
              <a:srgbClr val="FFFFFF"/>
            </a:solidFill>
          </p:spPr>
          <p:txBody>
            <a:bodyPr vert="horz" wrap="square" lIns="0" tIns="0" rIns="0" bIns="0" rtlCol="0">
              <a:spAutoFit/>
            </a:bodyPr>
            <a:lstStyle/>
            <a:p>
              <a:pPr marL="40640">
                <a:lnSpc>
                  <a:spcPts val="830"/>
                </a:lnSpc>
              </a:pPr>
              <a:r>
                <a:rPr sz="1000" b="0" spc="-10">
                  <a:latin typeface="Calibri" panose="020F0502020204030204" pitchFamily="34" charset="0"/>
                  <a:ea typeface="Calibri" panose="020F0502020204030204" pitchFamily="34" charset="0"/>
                  <a:cs typeface="Calibri" panose="020F0502020204030204" pitchFamily="34" charset="0"/>
                </a:rPr>
                <a:t>Available</a:t>
              </a:r>
              <a:endParaRPr sz="1000">
                <a:latin typeface="Calibri" panose="020F0502020204030204" pitchFamily="34" charset="0"/>
                <a:ea typeface="Calibri" panose="020F0502020204030204" pitchFamily="34" charset="0"/>
                <a:cs typeface="Calibri" panose="020F0502020204030204" pitchFamily="34" charset="0"/>
              </a:endParaRPr>
            </a:p>
          </p:txBody>
        </p:sp>
        <p:sp>
          <p:nvSpPr>
            <p:cNvPr id="106" name="object 125">
              <a:extLst>
                <a:ext uri="{FF2B5EF4-FFF2-40B4-BE49-F238E27FC236}">
                  <a16:creationId xmlns:a16="http://schemas.microsoft.com/office/drawing/2014/main" id="{E1F16F76-F82A-7ACC-AE69-B87FD35F4C5B}"/>
                </a:ext>
              </a:extLst>
            </p:cNvPr>
            <p:cNvSpPr txBox="1"/>
            <p:nvPr/>
          </p:nvSpPr>
          <p:spPr>
            <a:xfrm>
              <a:off x="9616996" y="6063782"/>
              <a:ext cx="486409" cy="100091"/>
            </a:xfrm>
            <a:prstGeom prst="rect">
              <a:avLst/>
            </a:prstGeom>
            <a:solidFill>
              <a:srgbClr val="FFFFFF"/>
            </a:solidFill>
          </p:spPr>
          <p:txBody>
            <a:bodyPr vert="horz" wrap="square" lIns="0" tIns="0" rIns="0" bIns="0" rtlCol="0">
              <a:spAutoFit/>
            </a:bodyPr>
            <a:lstStyle/>
            <a:p>
              <a:pPr marL="54610">
                <a:lnSpc>
                  <a:spcPts val="750"/>
                </a:lnSpc>
              </a:pPr>
              <a:r>
                <a:rPr sz="1000" b="0" spc="-5">
                  <a:latin typeface="Calibri" panose="020F0502020204030204" pitchFamily="34" charset="0"/>
                  <a:ea typeface="Calibri" panose="020F0502020204030204" pitchFamily="34" charset="0"/>
                  <a:cs typeface="Calibri" panose="020F0502020204030204" pitchFamily="34" charset="0"/>
                </a:rPr>
                <a:t>Capacity</a:t>
              </a:r>
              <a:endParaRPr sz="1000">
                <a:latin typeface="Calibri" panose="020F0502020204030204" pitchFamily="34" charset="0"/>
                <a:ea typeface="Calibri" panose="020F0502020204030204" pitchFamily="34" charset="0"/>
                <a:cs typeface="Calibri" panose="020F0502020204030204" pitchFamily="34" charset="0"/>
              </a:endParaRPr>
            </a:p>
          </p:txBody>
        </p:sp>
        <p:grpSp>
          <p:nvGrpSpPr>
            <p:cNvPr id="107" name="object 126">
              <a:extLst>
                <a:ext uri="{FF2B5EF4-FFF2-40B4-BE49-F238E27FC236}">
                  <a16:creationId xmlns:a16="http://schemas.microsoft.com/office/drawing/2014/main" id="{C249F614-C735-8673-DB1D-746F071D3D54}"/>
                </a:ext>
              </a:extLst>
            </p:cNvPr>
            <p:cNvGrpSpPr/>
            <p:nvPr/>
          </p:nvGrpSpPr>
          <p:grpSpPr>
            <a:xfrm>
              <a:off x="7433100" y="5323510"/>
              <a:ext cx="995044" cy="113030"/>
              <a:chOff x="7752582" y="5742152"/>
              <a:chExt cx="995044" cy="113030"/>
            </a:xfrm>
          </p:grpSpPr>
          <p:sp>
            <p:nvSpPr>
              <p:cNvPr id="108" name="object 127">
                <a:extLst>
                  <a:ext uri="{FF2B5EF4-FFF2-40B4-BE49-F238E27FC236}">
                    <a16:creationId xmlns:a16="http://schemas.microsoft.com/office/drawing/2014/main" id="{A4747657-B1BE-7640-6FEA-4373C811FB09}"/>
                  </a:ext>
                </a:extLst>
              </p:cNvPr>
              <p:cNvSpPr/>
              <p:nvPr/>
            </p:nvSpPr>
            <p:spPr>
              <a:xfrm>
                <a:off x="7790686" y="5748502"/>
                <a:ext cx="918844" cy="43180"/>
              </a:xfrm>
              <a:custGeom>
                <a:avLst/>
                <a:gdLst/>
                <a:ahLst/>
                <a:cxnLst/>
                <a:rect l="l" t="t" r="r" b="b"/>
                <a:pathLst>
                  <a:path w="918845" h="43179">
                    <a:moveTo>
                      <a:pt x="0" y="43027"/>
                    </a:moveTo>
                    <a:lnTo>
                      <a:pt x="0" y="0"/>
                    </a:lnTo>
                    <a:lnTo>
                      <a:pt x="918222" y="0"/>
                    </a:lnTo>
                    <a:lnTo>
                      <a:pt x="918222" y="37109"/>
                    </a:lnTo>
                  </a:path>
                </a:pathLst>
              </a:custGeom>
              <a:ln w="12700">
                <a:solidFill>
                  <a:srgbClr val="75787A"/>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09" name="object 128">
                <a:extLst>
                  <a:ext uri="{FF2B5EF4-FFF2-40B4-BE49-F238E27FC236}">
                    <a16:creationId xmlns:a16="http://schemas.microsoft.com/office/drawing/2014/main" id="{319BD91A-BD35-5CF3-CED2-C233FEB9C692}"/>
                  </a:ext>
                </a:extLst>
              </p:cNvPr>
              <p:cNvSpPr/>
              <p:nvPr/>
            </p:nvSpPr>
            <p:spPr>
              <a:xfrm>
                <a:off x="7752575" y="5772911"/>
                <a:ext cx="995044" cy="82550"/>
              </a:xfrm>
              <a:custGeom>
                <a:avLst/>
                <a:gdLst/>
                <a:ahLst/>
                <a:cxnLst/>
                <a:rect l="l" t="t" r="r" b="b"/>
                <a:pathLst>
                  <a:path w="995045" h="82550">
                    <a:moveTo>
                      <a:pt x="76200" y="5918"/>
                    </a:moveTo>
                    <a:lnTo>
                      <a:pt x="0" y="5918"/>
                    </a:lnTo>
                    <a:lnTo>
                      <a:pt x="38100" y="82118"/>
                    </a:lnTo>
                    <a:lnTo>
                      <a:pt x="76200" y="5918"/>
                    </a:lnTo>
                    <a:close/>
                  </a:path>
                  <a:path w="995045" h="82550">
                    <a:moveTo>
                      <a:pt x="994435" y="0"/>
                    </a:moveTo>
                    <a:lnTo>
                      <a:pt x="918235" y="0"/>
                    </a:lnTo>
                    <a:lnTo>
                      <a:pt x="956335" y="76200"/>
                    </a:lnTo>
                    <a:lnTo>
                      <a:pt x="994435" y="0"/>
                    </a:lnTo>
                    <a:close/>
                  </a:path>
                </a:pathLst>
              </a:custGeom>
              <a:solidFill>
                <a:srgbClr val="75787A"/>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pSp>
        <p:sp>
          <p:nvSpPr>
            <p:cNvPr id="110" name="object 129">
              <a:extLst>
                <a:ext uri="{FF2B5EF4-FFF2-40B4-BE49-F238E27FC236}">
                  <a16:creationId xmlns:a16="http://schemas.microsoft.com/office/drawing/2014/main" id="{4C515201-6C0D-8FF7-1FC9-9A853773FDB5}"/>
                </a:ext>
              </a:extLst>
            </p:cNvPr>
            <p:cNvSpPr txBox="1"/>
            <p:nvPr/>
          </p:nvSpPr>
          <p:spPr>
            <a:xfrm>
              <a:off x="7675422" y="5203393"/>
              <a:ext cx="454659" cy="254862"/>
            </a:xfrm>
            <a:prstGeom prst="rect">
              <a:avLst/>
            </a:prstGeom>
            <a:solidFill>
              <a:srgbClr val="FFFFFF"/>
            </a:solidFill>
          </p:spPr>
          <p:txBody>
            <a:bodyPr vert="horz" wrap="square" lIns="0" tIns="0" rIns="0" bIns="0" rtlCol="0">
              <a:spAutoFit/>
            </a:bodyPr>
            <a:lstStyle/>
            <a:p>
              <a:pPr marL="70485">
                <a:lnSpc>
                  <a:spcPts val="980"/>
                </a:lnSpc>
              </a:pPr>
              <a:r>
                <a:rPr sz="1000" b="0" spc="-5">
                  <a:latin typeface="Calibri" panose="020F0502020204030204" pitchFamily="34" charset="0"/>
                  <a:ea typeface="Calibri" panose="020F0502020204030204" pitchFamily="34" charset="0"/>
                  <a:cs typeface="Calibri" panose="020F0502020204030204" pitchFamily="34" charset="0"/>
                </a:rPr>
                <a:t>Excess</a:t>
              </a:r>
              <a:endParaRPr sz="1000">
                <a:latin typeface="Calibri" panose="020F0502020204030204" pitchFamily="34" charset="0"/>
                <a:ea typeface="Calibri" panose="020F0502020204030204" pitchFamily="34" charset="0"/>
                <a:cs typeface="Calibri" panose="020F0502020204030204" pitchFamily="34" charset="0"/>
              </a:endParaRPr>
            </a:p>
            <a:p>
              <a:pPr marL="23495">
                <a:lnSpc>
                  <a:spcPct val="100000"/>
                </a:lnSpc>
              </a:pPr>
              <a:r>
                <a:rPr sz="1000" b="0" spc="-5">
                  <a:latin typeface="Calibri" panose="020F0502020204030204" pitchFamily="34" charset="0"/>
                  <a:ea typeface="Calibri" panose="020F0502020204030204" pitchFamily="34" charset="0"/>
                  <a:cs typeface="Calibri" panose="020F0502020204030204" pitchFamily="34" charset="0"/>
                </a:rPr>
                <a:t>D</a:t>
              </a:r>
              <a:r>
                <a:rPr sz="1000" b="0">
                  <a:latin typeface="Calibri" panose="020F0502020204030204" pitchFamily="34" charset="0"/>
                  <a:ea typeface="Calibri" panose="020F0502020204030204" pitchFamily="34" charset="0"/>
                  <a:cs typeface="Calibri" panose="020F0502020204030204" pitchFamily="34" charset="0"/>
                </a:rPr>
                <a:t>emand</a:t>
              </a:r>
              <a:endParaRPr sz="1000">
                <a:latin typeface="Calibri" panose="020F0502020204030204" pitchFamily="34" charset="0"/>
                <a:ea typeface="Calibri" panose="020F0502020204030204" pitchFamily="34" charset="0"/>
                <a:cs typeface="Calibri" panose="020F0502020204030204" pitchFamily="34" charset="0"/>
              </a:endParaRPr>
            </a:p>
          </p:txBody>
        </p:sp>
        <p:sp>
          <p:nvSpPr>
            <p:cNvPr id="111" name="object 131">
              <a:extLst>
                <a:ext uri="{FF2B5EF4-FFF2-40B4-BE49-F238E27FC236}">
                  <a16:creationId xmlns:a16="http://schemas.microsoft.com/office/drawing/2014/main" id="{860F1A47-8577-B0E5-B6F8-7DED69F4E92D}"/>
                </a:ext>
              </a:extLst>
            </p:cNvPr>
            <p:cNvSpPr txBox="1"/>
            <p:nvPr/>
          </p:nvSpPr>
          <p:spPr>
            <a:xfrm>
              <a:off x="7879935" y="4643055"/>
              <a:ext cx="1466850" cy="431528"/>
            </a:xfrm>
            <a:prstGeom prst="rect">
              <a:avLst/>
            </a:prstGeom>
          </p:spPr>
          <p:txBody>
            <a:bodyPr vert="horz" wrap="square" lIns="0" tIns="13335" rIns="0" bIns="0" rtlCol="0">
              <a:spAutoFit/>
            </a:bodyPr>
            <a:lstStyle/>
            <a:p>
              <a:pPr marL="12700">
                <a:lnSpc>
                  <a:spcPct val="100000"/>
                </a:lnSpc>
                <a:spcBef>
                  <a:spcPts val="105"/>
                </a:spcBef>
              </a:pPr>
              <a:r>
                <a:rPr sz="1050" b="0" spc="-5">
                  <a:latin typeface="Calibri" panose="020F0502020204030204" pitchFamily="34" charset="0"/>
                  <a:ea typeface="Calibri" panose="020F0502020204030204" pitchFamily="34" charset="0"/>
                  <a:cs typeface="Calibri" panose="020F0502020204030204" pitchFamily="34" charset="0"/>
                </a:rPr>
                <a:t>can</a:t>
              </a:r>
              <a:r>
                <a:rPr sz="1050" b="0" spc="-40">
                  <a:latin typeface="Calibri" panose="020F0502020204030204" pitchFamily="34" charset="0"/>
                  <a:ea typeface="Calibri" panose="020F0502020204030204" pitchFamily="34" charset="0"/>
                  <a:cs typeface="Calibri" panose="020F0502020204030204" pitchFamily="34" charset="0"/>
                </a:rPr>
                <a:t> </a:t>
              </a:r>
              <a:r>
                <a:rPr sz="1050" b="0" spc="-10">
                  <a:latin typeface="Calibri" panose="020F0502020204030204" pitchFamily="34" charset="0"/>
                  <a:ea typeface="Calibri" panose="020F0502020204030204" pitchFamily="34" charset="0"/>
                  <a:cs typeface="Calibri" panose="020F0502020204030204" pitchFamily="34" charset="0"/>
                </a:rPr>
                <a:t>be</a:t>
              </a:r>
              <a:r>
                <a:rPr sz="1050" b="0" spc="-35">
                  <a:latin typeface="Calibri" panose="020F0502020204030204" pitchFamily="34" charset="0"/>
                  <a:ea typeface="Calibri" panose="020F0502020204030204" pitchFamily="34" charset="0"/>
                  <a:cs typeface="Calibri" panose="020F0502020204030204" pitchFamily="34" charset="0"/>
                </a:rPr>
                <a:t> </a:t>
              </a:r>
              <a:r>
                <a:rPr sz="1050" b="0" spc="-15">
                  <a:latin typeface="Calibri" panose="020F0502020204030204" pitchFamily="34" charset="0"/>
                  <a:ea typeface="Calibri" panose="020F0502020204030204" pitchFamily="34" charset="0"/>
                  <a:cs typeface="Calibri" panose="020F0502020204030204" pitchFamily="34" charset="0"/>
                </a:rPr>
                <a:t>added</a:t>
              </a:r>
              <a:endParaRPr sz="1050">
                <a:latin typeface="Calibri" panose="020F0502020204030204" pitchFamily="34" charset="0"/>
                <a:ea typeface="Calibri" panose="020F0502020204030204" pitchFamily="34" charset="0"/>
                <a:cs typeface="Calibri" panose="020F0502020204030204" pitchFamily="34" charset="0"/>
              </a:endParaRPr>
            </a:p>
            <a:p>
              <a:pPr marL="649605">
                <a:lnSpc>
                  <a:spcPct val="100000"/>
                </a:lnSpc>
                <a:spcBef>
                  <a:spcPts val="1140"/>
                </a:spcBef>
              </a:pPr>
              <a:r>
                <a:rPr sz="1050" b="0" spc="-5">
                  <a:latin typeface="Calibri" panose="020F0502020204030204" pitchFamily="34" charset="0"/>
                  <a:ea typeface="Calibri" panose="020F0502020204030204" pitchFamily="34" charset="0"/>
                  <a:cs typeface="Calibri" panose="020F0502020204030204" pitchFamily="34" charset="0"/>
                </a:rPr>
                <a:t>O</a:t>
              </a:r>
              <a:r>
                <a:rPr sz="1050" b="0">
                  <a:latin typeface="Calibri" panose="020F0502020204030204" pitchFamily="34" charset="0"/>
                  <a:ea typeface="Calibri" panose="020F0502020204030204" pitchFamily="34" charset="0"/>
                  <a:cs typeface="Calibri" panose="020F0502020204030204" pitchFamily="34" charset="0"/>
                </a:rPr>
                <a:t>n-</a:t>
              </a:r>
              <a:r>
                <a:rPr sz="1050" b="0" spc="-5">
                  <a:latin typeface="Calibri" panose="020F0502020204030204" pitchFamily="34" charset="0"/>
                  <a:ea typeface="Calibri" panose="020F0502020204030204" pitchFamily="34" charset="0"/>
                  <a:cs typeface="Calibri" panose="020F0502020204030204" pitchFamily="34" charset="0"/>
                </a:rPr>
                <a:t>d</a:t>
              </a:r>
              <a:r>
                <a:rPr sz="1050" b="0">
                  <a:latin typeface="Calibri" panose="020F0502020204030204" pitchFamily="34" charset="0"/>
                  <a:ea typeface="Calibri" panose="020F0502020204030204" pitchFamily="34" charset="0"/>
                  <a:cs typeface="Calibri" panose="020F0502020204030204" pitchFamily="34" charset="0"/>
                </a:rPr>
                <a:t>emand</a:t>
              </a:r>
              <a:r>
                <a:rPr sz="1050" b="0" spc="-35">
                  <a:latin typeface="Calibri" panose="020F0502020204030204" pitchFamily="34" charset="0"/>
                  <a:ea typeface="Calibri" panose="020F0502020204030204" pitchFamily="34" charset="0"/>
                  <a:cs typeface="Calibri" panose="020F0502020204030204" pitchFamily="34" charset="0"/>
                </a:rPr>
                <a:t> </a:t>
              </a:r>
              <a:r>
                <a:rPr sz="1050" b="0">
                  <a:latin typeface="Calibri" panose="020F0502020204030204" pitchFamily="34" charset="0"/>
                  <a:ea typeface="Calibri" panose="020F0502020204030204" pitchFamily="34" charset="0"/>
                  <a:cs typeface="Calibri" panose="020F0502020204030204" pitchFamily="34" charset="0"/>
                </a:rPr>
                <a:t>F</a:t>
              </a:r>
              <a:r>
                <a:rPr sz="1050" b="0" spc="-5">
                  <a:latin typeface="Calibri" panose="020F0502020204030204" pitchFamily="34" charset="0"/>
                  <a:ea typeface="Calibri" panose="020F0502020204030204" pitchFamily="34" charset="0"/>
                  <a:cs typeface="Calibri" panose="020F0502020204030204" pitchFamily="34" charset="0"/>
                </a:rPr>
                <a:t>l</a:t>
              </a:r>
              <a:r>
                <a:rPr sz="1050" b="0">
                  <a:latin typeface="Calibri" panose="020F0502020204030204" pitchFamily="34" charset="0"/>
                  <a:ea typeface="Calibri" panose="020F0502020204030204" pitchFamily="34" charset="0"/>
                  <a:cs typeface="Calibri" panose="020F0502020204030204" pitchFamily="34" charset="0"/>
                </a:rPr>
                <a:t>ex</a:t>
              </a:r>
              <a:endParaRPr sz="1050">
                <a:latin typeface="Calibri" panose="020F0502020204030204" pitchFamily="34" charset="0"/>
                <a:ea typeface="Calibri" panose="020F0502020204030204" pitchFamily="34" charset="0"/>
                <a:cs typeface="Calibri" panose="020F0502020204030204" pitchFamily="34" charset="0"/>
              </a:endParaRPr>
            </a:p>
          </p:txBody>
        </p:sp>
        <p:sp>
          <p:nvSpPr>
            <p:cNvPr id="112" name="object 132">
              <a:extLst>
                <a:ext uri="{FF2B5EF4-FFF2-40B4-BE49-F238E27FC236}">
                  <a16:creationId xmlns:a16="http://schemas.microsoft.com/office/drawing/2014/main" id="{B16D38DD-DD43-46E7-CE47-E183F3FF3BAA}"/>
                </a:ext>
              </a:extLst>
            </p:cNvPr>
            <p:cNvSpPr txBox="1"/>
            <p:nvPr/>
          </p:nvSpPr>
          <p:spPr>
            <a:xfrm>
              <a:off x="8491732" y="5173750"/>
              <a:ext cx="435676" cy="150600"/>
            </a:xfrm>
            <a:prstGeom prst="rect">
              <a:avLst/>
            </a:prstGeom>
          </p:spPr>
          <p:txBody>
            <a:bodyPr vert="horz" wrap="square" lIns="0" tIns="12700" rIns="0" bIns="0" rtlCol="0">
              <a:spAutoFit/>
            </a:bodyPr>
            <a:lstStyle/>
            <a:p>
              <a:pPr marL="12700">
                <a:lnSpc>
                  <a:spcPct val="100000"/>
                </a:lnSpc>
                <a:spcBef>
                  <a:spcPts val="100"/>
                </a:spcBef>
              </a:pPr>
              <a:r>
                <a:rPr sz="1000" b="0" spc="5">
                  <a:latin typeface="Calibri" panose="020F0502020204030204" pitchFamily="34" charset="0"/>
                  <a:ea typeface="Calibri" panose="020F0502020204030204" pitchFamily="34" charset="0"/>
                  <a:cs typeface="Calibri" panose="020F0502020204030204" pitchFamily="34" charset="0"/>
                </a:rPr>
                <a:t>P</a:t>
              </a:r>
              <a:r>
                <a:rPr sz="1000" b="0" spc="-5">
                  <a:latin typeface="Calibri" panose="020F0502020204030204" pitchFamily="34" charset="0"/>
                  <a:ea typeface="Calibri" panose="020F0502020204030204" pitchFamily="34" charset="0"/>
                  <a:cs typeface="Calibri" panose="020F0502020204030204" pitchFamily="34" charset="0"/>
                </a:rPr>
                <a:t>OD</a:t>
              </a:r>
              <a:r>
                <a:rPr sz="1000" b="0">
                  <a:latin typeface="Calibri" panose="020F0502020204030204" pitchFamily="34" charset="0"/>
                  <a:ea typeface="Calibri" panose="020F0502020204030204" pitchFamily="34" charset="0"/>
                  <a:cs typeface="Calibri" panose="020F0502020204030204" pitchFamily="34" charset="0"/>
                </a:rPr>
                <a:t>S</a:t>
              </a:r>
              <a:endParaRPr sz="1000">
                <a:latin typeface="Calibri" panose="020F0502020204030204" pitchFamily="34" charset="0"/>
                <a:ea typeface="Calibri" panose="020F0502020204030204" pitchFamily="34" charset="0"/>
                <a:cs typeface="Calibri" panose="020F0502020204030204" pitchFamily="34" charset="0"/>
              </a:endParaRPr>
            </a:p>
          </p:txBody>
        </p:sp>
        <p:sp>
          <p:nvSpPr>
            <p:cNvPr id="113" name="object 135">
              <a:extLst>
                <a:ext uri="{FF2B5EF4-FFF2-40B4-BE49-F238E27FC236}">
                  <a16:creationId xmlns:a16="http://schemas.microsoft.com/office/drawing/2014/main" id="{E68B94B7-A204-BE47-3091-2CCD7EA5B662}"/>
                </a:ext>
              </a:extLst>
            </p:cNvPr>
            <p:cNvSpPr/>
            <p:nvPr/>
          </p:nvSpPr>
          <p:spPr>
            <a:xfrm>
              <a:off x="7193838" y="2138885"/>
              <a:ext cx="394335" cy="2384425"/>
            </a:xfrm>
            <a:custGeom>
              <a:avLst/>
              <a:gdLst/>
              <a:ahLst/>
              <a:cxnLst/>
              <a:rect l="l" t="t" r="r" b="b"/>
              <a:pathLst>
                <a:path w="394334" h="2384425">
                  <a:moveTo>
                    <a:pt x="123444" y="1167752"/>
                  </a:moveTo>
                  <a:lnTo>
                    <a:pt x="120027" y="1164336"/>
                  </a:lnTo>
                  <a:lnTo>
                    <a:pt x="111620" y="1164336"/>
                  </a:lnTo>
                  <a:lnTo>
                    <a:pt x="108204" y="1167752"/>
                  </a:lnTo>
                  <a:lnTo>
                    <a:pt x="108204" y="1171956"/>
                  </a:lnTo>
                  <a:lnTo>
                    <a:pt x="108204" y="1176159"/>
                  </a:lnTo>
                  <a:lnTo>
                    <a:pt x="111620" y="1179576"/>
                  </a:lnTo>
                  <a:lnTo>
                    <a:pt x="120027" y="1179576"/>
                  </a:lnTo>
                  <a:lnTo>
                    <a:pt x="123444" y="1176159"/>
                  </a:lnTo>
                  <a:lnTo>
                    <a:pt x="123444" y="1167752"/>
                  </a:lnTo>
                  <a:close/>
                </a:path>
                <a:path w="394334" h="2384425">
                  <a:moveTo>
                    <a:pt x="129540" y="1287780"/>
                  </a:moveTo>
                  <a:lnTo>
                    <a:pt x="116878" y="1225296"/>
                  </a:lnTo>
                  <a:lnTo>
                    <a:pt x="114769" y="1225296"/>
                  </a:lnTo>
                  <a:lnTo>
                    <a:pt x="102108" y="1287780"/>
                  </a:lnTo>
                  <a:lnTo>
                    <a:pt x="129540" y="1287780"/>
                  </a:lnTo>
                  <a:close/>
                </a:path>
                <a:path w="394334" h="2384425">
                  <a:moveTo>
                    <a:pt x="198120" y="1167752"/>
                  </a:moveTo>
                  <a:lnTo>
                    <a:pt x="194703" y="1164336"/>
                  </a:lnTo>
                  <a:lnTo>
                    <a:pt x="186296" y="1164336"/>
                  </a:lnTo>
                  <a:lnTo>
                    <a:pt x="182880" y="1167752"/>
                  </a:lnTo>
                  <a:lnTo>
                    <a:pt x="182880" y="1171956"/>
                  </a:lnTo>
                  <a:lnTo>
                    <a:pt x="182880" y="1176159"/>
                  </a:lnTo>
                  <a:lnTo>
                    <a:pt x="186296" y="1179576"/>
                  </a:lnTo>
                  <a:lnTo>
                    <a:pt x="194703" y="1179576"/>
                  </a:lnTo>
                  <a:lnTo>
                    <a:pt x="198120" y="1176159"/>
                  </a:lnTo>
                  <a:lnTo>
                    <a:pt x="198120" y="1167752"/>
                  </a:lnTo>
                  <a:close/>
                </a:path>
                <a:path w="394334" h="2384425">
                  <a:moveTo>
                    <a:pt x="205740" y="1225296"/>
                  </a:moveTo>
                  <a:lnTo>
                    <a:pt x="175260" y="1225296"/>
                  </a:lnTo>
                  <a:lnTo>
                    <a:pt x="175260" y="1272540"/>
                  </a:lnTo>
                  <a:lnTo>
                    <a:pt x="205740" y="1272540"/>
                  </a:lnTo>
                  <a:lnTo>
                    <a:pt x="205740" y="1225296"/>
                  </a:lnTo>
                  <a:close/>
                </a:path>
                <a:path w="394334" h="2384425">
                  <a:moveTo>
                    <a:pt x="272796" y="1167752"/>
                  </a:moveTo>
                  <a:lnTo>
                    <a:pt x="269379" y="1164336"/>
                  </a:lnTo>
                  <a:lnTo>
                    <a:pt x="260972" y="1164336"/>
                  </a:lnTo>
                  <a:lnTo>
                    <a:pt x="257556" y="1167752"/>
                  </a:lnTo>
                  <a:lnTo>
                    <a:pt x="257556" y="1171956"/>
                  </a:lnTo>
                  <a:lnTo>
                    <a:pt x="257556" y="1176159"/>
                  </a:lnTo>
                  <a:lnTo>
                    <a:pt x="260972" y="1179576"/>
                  </a:lnTo>
                  <a:lnTo>
                    <a:pt x="269379" y="1179576"/>
                  </a:lnTo>
                  <a:lnTo>
                    <a:pt x="272796" y="1176159"/>
                  </a:lnTo>
                  <a:lnTo>
                    <a:pt x="272796" y="1167752"/>
                  </a:lnTo>
                  <a:close/>
                </a:path>
                <a:path w="394334" h="2384425">
                  <a:moveTo>
                    <a:pt x="279285" y="2166416"/>
                  </a:moveTo>
                  <a:lnTo>
                    <a:pt x="241795" y="2168258"/>
                  </a:lnTo>
                  <a:lnTo>
                    <a:pt x="238950" y="2166963"/>
                  </a:lnTo>
                  <a:lnTo>
                    <a:pt x="235966" y="2162784"/>
                  </a:lnTo>
                  <a:lnTo>
                    <a:pt x="235839" y="2160206"/>
                  </a:lnTo>
                  <a:lnTo>
                    <a:pt x="235877" y="2159838"/>
                  </a:lnTo>
                  <a:lnTo>
                    <a:pt x="237109" y="2157692"/>
                  </a:lnTo>
                  <a:lnTo>
                    <a:pt x="259245" y="2098294"/>
                  </a:lnTo>
                  <a:lnTo>
                    <a:pt x="200939" y="2101151"/>
                  </a:lnTo>
                  <a:lnTo>
                    <a:pt x="167957" y="2194915"/>
                  </a:lnTo>
                  <a:lnTo>
                    <a:pt x="203352" y="2193175"/>
                  </a:lnTo>
                  <a:lnTo>
                    <a:pt x="205511" y="2194509"/>
                  </a:lnTo>
                  <a:lnTo>
                    <a:pt x="206971" y="2195880"/>
                  </a:lnTo>
                  <a:lnTo>
                    <a:pt x="208457" y="2197963"/>
                  </a:lnTo>
                  <a:lnTo>
                    <a:pt x="209257" y="2200084"/>
                  </a:lnTo>
                  <a:lnTo>
                    <a:pt x="208699" y="2203043"/>
                  </a:lnTo>
                  <a:lnTo>
                    <a:pt x="191541" y="2278697"/>
                  </a:lnTo>
                  <a:lnTo>
                    <a:pt x="258368" y="2193175"/>
                  </a:lnTo>
                  <a:lnTo>
                    <a:pt x="277850" y="2168258"/>
                  </a:lnTo>
                  <a:lnTo>
                    <a:pt x="279285" y="2166416"/>
                  </a:lnTo>
                  <a:close/>
                </a:path>
                <a:path w="394334" h="2384425">
                  <a:moveTo>
                    <a:pt x="280416" y="1225296"/>
                  </a:moveTo>
                  <a:lnTo>
                    <a:pt x="249936" y="1225296"/>
                  </a:lnTo>
                  <a:lnTo>
                    <a:pt x="249936" y="1272540"/>
                  </a:lnTo>
                  <a:lnTo>
                    <a:pt x="280416" y="1272540"/>
                  </a:lnTo>
                  <a:lnTo>
                    <a:pt x="280416" y="1225296"/>
                  </a:lnTo>
                  <a:close/>
                </a:path>
                <a:path w="394334" h="2384425">
                  <a:moveTo>
                    <a:pt x="358140" y="184404"/>
                  </a:moveTo>
                  <a:lnTo>
                    <a:pt x="353060" y="145503"/>
                  </a:lnTo>
                  <a:lnTo>
                    <a:pt x="333629" y="91135"/>
                  </a:lnTo>
                  <a:lnTo>
                    <a:pt x="305587" y="53848"/>
                  </a:lnTo>
                  <a:lnTo>
                    <a:pt x="275602" y="30060"/>
                  </a:lnTo>
                  <a:lnTo>
                    <a:pt x="275602" y="89319"/>
                  </a:lnTo>
                  <a:lnTo>
                    <a:pt x="275602" y="126784"/>
                  </a:lnTo>
                  <a:lnTo>
                    <a:pt x="272796" y="130378"/>
                  </a:lnTo>
                  <a:lnTo>
                    <a:pt x="264414" y="130378"/>
                  </a:lnTo>
                  <a:lnTo>
                    <a:pt x="260908" y="126784"/>
                  </a:lnTo>
                  <a:lnTo>
                    <a:pt x="260908" y="149110"/>
                  </a:lnTo>
                  <a:lnTo>
                    <a:pt x="260908" y="265074"/>
                  </a:lnTo>
                  <a:lnTo>
                    <a:pt x="257416" y="268681"/>
                  </a:lnTo>
                  <a:lnTo>
                    <a:pt x="249021" y="268681"/>
                  </a:lnTo>
                  <a:lnTo>
                    <a:pt x="246227" y="265074"/>
                  </a:lnTo>
                  <a:lnTo>
                    <a:pt x="246227" y="168554"/>
                  </a:lnTo>
                  <a:lnTo>
                    <a:pt x="246227" y="149110"/>
                  </a:lnTo>
                  <a:lnTo>
                    <a:pt x="249021" y="145503"/>
                  </a:lnTo>
                  <a:lnTo>
                    <a:pt x="257416" y="145503"/>
                  </a:lnTo>
                  <a:lnTo>
                    <a:pt x="260908" y="149110"/>
                  </a:lnTo>
                  <a:lnTo>
                    <a:pt x="260908" y="126784"/>
                  </a:lnTo>
                  <a:lnTo>
                    <a:pt x="260908" y="110210"/>
                  </a:lnTo>
                  <a:lnTo>
                    <a:pt x="230835" y="141541"/>
                  </a:lnTo>
                  <a:lnTo>
                    <a:pt x="230835" y="172161"/>
                  </a:lnTo>
                  <a:lnTo>
                    <a:pt x="230835" y="265074"/>
                  </a:lnTo>
                  <a:lnTo>
                    <a:pt x="228028" y="268681"/>
                  </a:lnTo>
                  <a:lnTo>
                    <a:pt x="219646" y="268681"/>
                  </a:lnTo>
                  <a:lnTo>
                    <a:pt x="216141" y="265074"/>
                  </a:lnTo>
                  <a:lnTo>
                    <a:pt x="216141" y="191604"/>
                  </a:lnTo>
                  <a:lnTo>
                    <a:pt x="216141" y="172161"/>
                  </a:lnTo>
                  <a:lnTo>
                    <a:pt x="219646" y="168554"/>
                  </a:lnTo>
                  <a:lnTo>
                    <a:pt x="228028" y="168554"/>
                  </a:lnTo>
                  <a:lnTo>
                    <a:pt x="230835" y="172161"/>
                  </a:lnTo>
                  <a:lnTo>
                    <a:pt x="230835" y="141541"/>
                  </a:lnTo>
                  <a:lnTo>
                    <a:pt x="201460" y="172135"/>
                  </a:lnTo>
                  <a:lnTo>
                    <a:pt x="201460" y="195211"/>
                  </a:lnTo>
                  <a:lnTo>
                    <a:pt x="201460" y="265074"/>
                  </a:lnTo>
                  <a:lnTo>
                    <a:pt x="197954" y="268681"/>
                  </a:lnTo>
                  <a:lnTo>
                    <a:pt x="189560" y="268681"/>
                  </a:lnTo>
                  <a:lnTo>
                    <a:pt x="186067" y="265074"/>
                  </a:lnTo>
                  <a:lnTo>
                    <a:pt x="186067" y="195211"/>
                  </a:lnTo>
                  <a:lnTo>
                    <a:pt x="189560" y="191604"/>
                  </a:lnTo>
                  <a:lnTo>
                    <a:pt x="197954" y="191604"/>
                  </a:lnTo>
                  <a:lnTo>
                    <a:pt x="201460" y="195211"/>
                  </a:lnTo>
                  <a:lnTo>
                    <a:pt x="201460" y="172135"/>
                  </a:lnTo>
                  <a:lnTo>
                    <a:pt x="199351" y="174320"/>
                  </a:lnTo>
                  <a:lnTo>
                    <a:pt x="197954" y="175755"/>
                  </a:lnTo>
                  <a:lnTo>
                    <a:pt x="195859" y="176479"/>
                  </a:lnTo>
                  <a:lnTo>
                    <a:pt x="171373" y="176479"/>
                  </a:lnTo>
                  <a:lnTo>
                    <a:pt x="171373" y="195211"/>
                  </a:lnTo>
                  <a:lnTo>
                    <a:pt x="171373" y="265074"/>
                  </a:lnTo>
                  <a:lnTo>
                    <a:pt x="167881" y="268681"/>
                  </a:lnTo>
                  <a:lnTo>
                    <a:pt x="159486" y="268681"/>
                  </a:lnTo>
                  <a:lnTo>
                    <a:pt x="156692" y="265074"/>
                  </a:lnTo>
                  <a:lnTo>
                    <a:pt x="156692" y="199529"/>
                  </a:lnTo>
                  <a:lnTo>
                    <a:pt x="156692" y="195211"/>
                  </a:lnTo>
                  <a:lnTo>
                    <a:pt x="159486" y="191604"/>
                  </a:lnTo>
                  <a:lnTo>
                    <a:pt x="167881" y="191604"/>
                  </a:lnTo>
                  <a:lnTo>
                    <a:pt x="171373" y="195211"/>
                  </a:lnTo>
                  <a:lnTo>
                    <a:pt x="171373" y="176479"/>
                  </a:lnTo>
                  <a:lnTo>
                    <a:pt x="141300" y="176479"/>
                  </a:lnTo>
                  <a:lnTo>
                    <a:pt x="141300" y="203136"/>
                  </a:lnTo>
                  <a:lnTo>
                    <a:pt x="141300" y="265074"/>
                  </a:lnTo>
                  <a:lnTo>
                    <a:pt x="138493" y="268681"/>
                  </a:lnTo>
                  <a:lnTo>
                    <a:pt x="130111" y="268681"/>
                  </a:lnTo>
                  <a:lnTo>
                    <a:pt x="126606" y="265074"/>
                  </a:lnTo>
                  <a:lnTo>
                    <a:pt x="126606" y="203136"/>
                  </a:lnTo>
                  <a:lnTo>
                    <a:pt x="130111" y="199529"/>
                  </a:lnTo>
                  <a:lnTo>
                    <a:pt x="138493" y="199529"/>
                  </a:lnTo>
                  <a:lnTo>
                    <a:pt x="141300" y="203136"/>
                  </a:lnTo>
                  <a:lnTo>
                    <a:pt x="141300" y="176479"/>
                  </a:lnTo>
                  <a:lnTo>
                    <a:pt x="136398" y="176479"/>
                  </a:lnTo>
                  <a:lnTo>
                    <a:pt x="111925" y="195541"/>
                  </a:lnTo>
                  <a:lnTo>
                    <a:pt x="111925" y="226187"/>
                  </a:lnTo>
                  <a:lnTo>
                    <a:pt x="111925" y="265074"/>
                  </a:lnTo>
                  <a:lnTo>
                    <a:pt x="108419" y="268681"/>
                  </a:lnTo>
                  <a:lnTo>
                    <a:pt x="100025" y="268681"/>
                  </a:lnTo>
                  <a:lnTo>
                    <a:pt x="96532" y="265074"/>
                  </a:lnTo>
                  <a:lnTo>
                    <a:pt x="96532" y="237705"/>
                  </a:lnTo>
                  <a:lnTo>
                    <a:pt x="96532" y="226187"/>
                  </a:lnTo>
                  <a:lnTo>
                    <a:pt x="100025" y="222580"/>
                  </a:lnTo>
                  <a:lnTo>
                    <a:pt x="108419" y="222580"/>
                  </a:lnTo>
                  <a:lnTo>
                    <a:pt x="111925" y="226187"/>
                  </a:lnTo>
                  <a:lnTo>
                    <a:pt x="111925" y="195541"/>
                  </a:lnTo>
                  <a:lnTo>
                    <a:pt x="81838" y="218973"/>
                  </a:lnTo>
                  <a:lnTo>
                    <a:pt x="81838" y="241312"/>
                  </a:lnTo>
                  <a:lnTo>
                    <a:pt x="81838" y="265074"/>
                  </a:lnTo>
                  <a:lnTo>
                    <a:pt x="78346" y="268681"/>
                  </a:lnTo>
                  <a:lnTo>
                    <a:pt x="69951" y="268681"/>
                  </a:lnTo>
                  <a:lnTo>
                    <a:pt x="67144" y="265074"/>
                  </a:lnTo>
                  <a:lnTo>
                    <a:pt x="67144" y="241312"/>
                  </a:lnTo>
                  <a:lnTo>
                    <a:pt x="69951" y="237705"/>
                  </a:lnTo>
                  <a:lnTo>
                    <a:pt x="78346" y="237705"/>
                  </a:lnTo>
                  <a:lnTo>
                    <a:pt x="81838" y="241312"/>
                  </a:lnTo>
                  <a:lnTo>
                    <a:pt x="81838" y="218973"/>
                  </a:lnTo>
                  <a:lnTo>
                    <a:pt x="79044" y="221145"/>
                  </a:lnTo>
                  <a:lnTo>
                    <a:pt x="76250" y="222580"/>
                  </a:lnTo>
                  <a:lnTo>
                    <a:pt x="72047" y="222580"/>
                  </a:lnTo>
                  <a:lnTo>
                    <a:pt x="69951" y="221856"/>
                  </a:lnTo>
                  <a:lnTo>
                    <a:pt x="68554" y="219697"/>
                  </a:lnTo>
                  <a:lnTo>
                    <a:pt x="65747" y="216103"/>
                  </a:lnTo>
                  <a:lnTo>
                    <a:pt x="66446" y="211061"/>
                  </a:lnTo>
                  <a:lnTo>
                    <a:pt x="69951" y="208889"/>
                  </a:lnTo>
                  <a:lnTo>
                    <a:pt x="129400" y="162788"/>
                  </a:lnTo>
                  <a:lnTo>
                    <a:pt x="130810" y="161353"/>
                  </a:lnTo>
                  <a:lnTo>
                    <a:pt x="190957" y="161353"/>
                  </a:lnTo>
                  <a:lnTo>
                    <a:pt x="250418" y="99402"/>
                  </a:lnTo>
                  <a:lnTo>
                    <a:pt x="234327" y="99402"/>
                  </a:lnTo>
                  <a:lnTo>
                    <a:pt x="230835" y="96520"/>
                  </a:lnTo>
                  <a:lnTo>
                    <a:pt x="230835" y="87884"/>
                  </a:lnTo>
                  <a:lnTo>
                    <a:pt x="234327" y="84277"/>
                  </a:lnTo>
                  <a:lnTo>
                    <a:pt x="270002" y="84277"/>
                  </a:lnTo>
                  <a:lnTo>
                    <a:pt x="272796" y="85725"/>
                  </a:lnTo>
                  <a:lnTo>
                    <a:pt x="274205" y="87160"/>
                  </a:lnTo>
                  <a:lnTo>
                    <a:pt x="275602" y="89319"/>
                  </a:lnTo>
                  <a:lnTo>
                    <a:pt x="275602" y="30060"/>
                  </a:lnTo>
                  <a:lnTo>
                    <a:pt x="269328" y="25082"/>
                  </a:lnTo>
                  <a:lnTo>
                    <a:pt x="226568" y="6565"/>
                  </a:lnTo>
                  <a:lnTo>
                    <a:pt x="179070" y="0"/>
                  </a:lnTo>
                  <a:lnTo>
                    <a:pt x="131305" y="6565"/>
                  </a:lnTo>
                  <a:lnTo>
                    <a:pt x="88493" y="25082"/>
                  </a:lnTo>
                  <a:lnTo>
                    <a:pt x="52285" y="53848"/>
                  </a:lnTo>
                  <a:lnTo>
                    <a:pt x="24345" y="91135"/>
                  </a:lnTo>
                  <a:lnTo>
                    <a:pt x="6362" y="135229"/>
                  </a:lnTo>
                  <a:lnTo>
                    <a:pt x="0" y="184404"/>
                  </a:lnTo>
                  <a:lnTo>
                    <a:pt x="6362" y="233337"/>
                  </a:lnTo>
                  <a:lnTo>
                    <a:pt x="24345" y="277355"/>
                  </a:lnTo>
                  <a:lnTo>
                    <a:pt x="52285" y="314693"/>
                  </a:lnTo>
                  <a:lnTo>
                    <a:pt x="88493" y="343573"/>
                  </a:lnTo>
                  <a:lnTo>
                    <a:pt x="131305" y="362204"/>
                  </a:lnTo>
                  <a:lnTo>
                    <a:pt x="179070" y="368808"/>
                  </a:lnTo>
                  <a:lnTo>
                    <a:pt x="226568" y="362204"/>
                  </a:lnTo>
                  <a:lnTo>
                    <a:pt x="269328" y="343573"/>
                  </a:lnTo>
                  <a:lnTo>
                    <a:pt x="305587" y="314693"/>
                  </a:lnTo>
                  <a:lnTo>
                    <a:pt x="333629" y="277355"/>
                  </a:lnTo>
                  <a:lnTo>
                    <a:pt x="337185" y="268681"/>
                  </a:lnTo>
                  <a:lnTo>
                    <a:pt x="351713" y="233337"/>
                  </a:lnTo>
                  <a:lnTo>
                    <a:pt x="358140" y="184404"/>
                  </a:lnTo>
                  <a:close/>
                </a:path>
                <a:path w="394334" h="2384425">
                  <a:moveTo>
                    <a:pt x="370332" y="1264920"/>
                  </a:moveTo>
                  <a:lnTo>
                    <a:pt x="363905" y="1215745"/>
                  </a:lnTo>
                  <a:lnTo>
                    <a:pt x="361924" y="1210894"/>
                  </a:lnTo>
                  <a:lnTo>
                    <a:pt x="355714" y="1195768"/>
                  </a:lnTo>
                  <a:lnTo>
                    <a:pt x="345821" y="1171651"/>
                  </a:lnTo>
                  <a:lnTo>
                    <a:pt x="329285" y="1149667"/>
                  </a:lnTo>
                  <a:lnTo>
                    <a:pt x="317779" y="1134364"/>
                  </a:lnTo>
                  <a:lnTo>
                    <a:pt x="295490" y="1116685"/>
                  </a:lnTo>
                  <a:lnTo>
                    <a:pt x="295490" y="1214501"/>
                  </a:lnTo>
                  <a:lnTo>
                    <a:pt x="295490" y="1284363"/>
                  </a:lnTo>
                  <a:lnTo>
                    <a:pt x="291985" y="1287970"/>
                  </a:lnTo>
                  <a:lnTo>
                    <a:pt x="287794" y="1287970"/>
                  </a:lnTo>
                  <a:lnTo>
                    <a:pt x="287794" y="1361440"/>
                  </a:lnTo>
                  <a:lnTo>
                    <a:pt x="284988" y="1364322"/>
                  </a:lnTo>
                  <a:lnTo>
                    <a:pt x="276606" y="1364322"/>
                  </a:lnTo>
                  <a:lnTo>
                    <a:pt x="273100" y="1361440"/>
                  </a:lnTo>
                  <a:lnTo>
                    <a:pt x="273100" y="1287970"/>
                  </a:lnTo>
                  <a:lnTo>
                    <a:pt x="258419" y="1287970"/>
                  </a:lnTo>
                  <a:lnTo>
                    <a:pt x="258419" y="1361440"/>
                  </a:lnTo>
                  <a:lnTo>
                    <a:pt x="254914" y="1364322"/>
                  </a:lnTo>
                  <a:lnTo>
                    <a:pt x="246519" y="1364322"/>
                  </a:lnTo>
                  <a:lnTo>
                    <a:pt x="243027" y="1361440"/>
                  </a:lnTo>
                  <a:lnTo>
                    <a:pt x="243027" y="1287970"/>
                  </a:lnTo>
                  <a:lnTo>
                    <a:pt x="238823" y="1287970"/>
                  </a:lnTo>
                  <a:lnTo>
                    <a:pt x="236029" y="1284363"/>
                  </a:lnTo>
                  <a:lnTo>
                    <a:pt x="236029" y="1214501"/>
                  </a:lnTo>
                  <a:lnTo>
                    <a:pt x="238823" y="1210894"/>
                  </a:lnTo>
                  <a:lnTo>
                    <a:pt x="291985" y="1210894"/>
                  </a:lnTo>
                  <a:lnTo>
                    <a:pt x="295490" y="1214501"/>
                  </a:lnTo>
                  <a:lnTo>
                    <a:pt x="295490" y="1116685"/>
                  </a:lnTo>
                  <a:lnTo>
                    <a:pt x="287794" y="1110576"/>
                  </a:lnTo>
                  <a:lnTo>
                    <a:pt x="287794" y="1172718"/>
                  </a:lnTo>
                  <a:lnTo>
                    <a:pt x="286067" y="1181493"/>
                  </a:lnTo>
                  <a:lnTo>
                    <a:pt x="281317" y="1188834"/>
                  </a:lnTo>
                  <a:lnTo>
                    <a:pt x="274205" y="1193888"/>
                  </a:lnTo>
                  <a:lnTo>
                    <a:pt x="265404" y="1195768"/>
                  </a:lnTo>
                  <a:lnTo>
                    <a:pt x="256882" y="1193888"/>
                  </a:lnTo>
                  <a:lnTo>
                    <a:pt x="249758" y="1188834"/>
                  </a:lnTo>
                  <a:lnTo>
                    <a:pt x="244843" y="1181493"/>
                  </a:lnTo>
                  <a:lnTo>
                    <a:pt x="243027" y="1172718"/>
                  </a:lnTo>
                  <a:lnTo>
                    <a:pt x="244843" y="1163650"/>
                  </a:lnTo>
                  <a:lnTo>
                    <a:pt x="249758" y="1156335"/>
                  </a:lnTo>
                  <a:lnTo>
                    <a:pt x="256882" y="1151458"/>
                  </a:lnTo>
                  <a:lnTo>
                    <a:pt x="265404" y="1149667"/>
                  </a:lnTo>
                  <a:lnTo>
                    <a:pt x="274205" y="1151458"/>
                  </a:lnTo>
                  <a:lnTo>
                    <a:pt x="281317" y="1156335"/>
                  </a:lnTo>
                  <a:lnTo>
                    <a:pt x="286067" y="1163650"/>
                  </a:lnTo>
                  <a:lnTo>
                    <a:pt x="287794" y="1172718"/>
                  </a:lnTo>
                  <a:lnTo>
                    <a:pt x="287794" y="1110576"/>
                  </a:lnTo>
                  <a:lnTo>
                    <a:pt x="281520" y="1105598"/>
                  </a:lnTo>
                  <a:lnTo>
                    <a:pt x="238760" y="1087081"/>
                  </a:lnTo>
                  <a:lnTo>
                    <a:pt x="220637" y="1084580"/>
                  </a:lnTo>
                  <a:lnTo>
                    <a:pt x="220637" y="1214501"/>
                  </a:lnTo>
                  <a:lnTo>
                    <a:pt x="220637" y="1284363"/>
                  </a:lnTo>
                  <a:lnTo>
                    <a:pt x="217843" y="1287970"/>
                  </a:lnTo>
                  <a:lnTo>
                    <a:pt x="213652" y="1287970"/>
                  </a:lnTo>
                  <a:lnTo>
                    <a:pt x="213652" y="1361440"/>
                  </a:lnTo>
                  <a:lnTo>
                    <a:pt x="210146" y="1364322"/>
                  </a:lnTo>
                  <a:lnTo>
                    <a:pt x="201752" y="1364322"/>
                  </a:lnTo>
                  <a:lnTo>
                    <a:pt x="198259" y="1361440"/>
                  </a:lnTo>
                  <a:lnTo>
                    <a:pt x="198259" y="1287970"/>
                  </a:lnTo>
                  <a:lnTo>
                    <a:pt x="183565" y="1287970"/>
                  </a:lnTo>
                  <a:lnTo>
                    <a:pt x="183565" y="1361440"/>
                  </a:lnTo>
                  <a:lnTo>
                    <a:pt x="180073" y="1364322"/>
                  </a:lnTo>
                  <a:lnTo>
                    <a:pt x="171678" y="1364322"/>
                  </a:lnTo>
                  <a:lnTo>
                    <a:pt x="168884" y="1361440"/>
                  </a:lnTo>
                  <a:lnTo>
                    <a:pt x="168884" y="1287970"/>
                  </a:lnTo>
                  <a:lnTo>
                    <a:pt x="164680" y="1287970"/>
                  </a:lnTo>
                  <a:lnTo>
                    <a:pt x="161188" y="1284363"/>
                  </a:lnTo>
                  <a:lnTo>
                    <a:pt x="161188" y="1214501"/>
                  </a:lnTo>
                  <a:lnTo>
                    <a:pt x="164680" y="1210894"/>
                  </a:lnTo>
                  <a:lnTo>
                    <a:pt x="217843" y="1210894"/>
                  </a:lnTo>
                  <a:lnTo>
                    <a:pt x="220637" y="1214501"/>
                  </a:lnTo>
                  <a:lnTo>
                    <a:pt x="220637" y="1084580"/>
                  </a:lnTo>
                  <a:lnTo>
                    <a:pt x="213652" y="1083614"/>
                  </a:lnTo>
                  <a:lnTo>
                    <a:pt x="213652" y="1172718"/>
                  </a:lnTo>
                  <a:lnTo>
                    <a:pt x="211823" y="1181493"/>
                  </a:lnTo>
                  <a:lnTo>
                    <a:pt x="206908" y="1188834"/>
                  </a:lnTo>
                  <a:lnTo>
                    <a:pt x="199771" y="1193888"/>
                  </a:lnTo>
                  <a:lnTo>
                    <a:pt x="191262" y="1195768"/>
                  </a:lnTo>
                  <a:lnTo>
                    <a:pt x="182448" y="1193888"/>
                  </a:lnTo>
                  <a:lnTo>
                    <a:pt x="175348" y="1188834"/>
                  </a:lnTo>
                  <a:lnTo>
                    <a:pt x="170599" y="1181493"/>
                  </a:lnTo>
                  <a:lnTo>
                    <a:pt x="168884" y="1172718"/>
                  </a:lnTo>
                  <a:lnTo>
                    <a:pt x="170599" y="1163650"/>
                  </a:lnTo>
                  <a:lnTo>
                    <a:pt x="175348" y="1156335"/>
                  </a:lnTo>
                  <a:lnTo>
                    <a:pt x="182448" y="1151458"/>
                  </a:lnTo>
                  <a:lnTo>
                    <a:pt x="191262" y="1149667"/>
                  </a:lnTo>
                  <a:lnTo>
                    <a:pt x="199771" y="1151458"/>
                  </a:lnTo>
                  <a:lnTo>
                    <a:pt x="206908" y="1156335"/>
                  </a:lnTo>
                  <a:lnTo>
                    <a:pt x="211823" y="1163650"/>
                  </a:lnTo>
                  <a:lnTo>
                    <a:pt x="213652" y="1172718"/>
                  </a:lnTo>
                  <a:lnTo>
                    <a:pt x="213652" y="1083614"/>
                  </a:lnTo>
                  <a:lnTo>
                    <a:pt x="191262" y="1080516"/>
                  </a:lnTo>
                  <a:lnTo>
                    <a:pt x="146494" y="1086675"/>
                  </a:lnTo>
                  <a:lnTo>
                    <a:pt x="146494" y="1295895"/>
                  </a:lnTo>
                  <a:lnTo>
                    <a:pt x="145796" y="1298778"/>
                  </a:lnTo>
                  <a:lnTo>
                    <a:pt x="144399" y="1300213"/>
                  </a:lnTo>
                  <a:lnTo>
                    <a:pt x="143002" y="1302372"/>
                  </a:lnTo>
                  <a:lnTo>
                    <a:pt x="140893" y="1303096"/>
                  </a:lnTo>
                  <a:lnTo>
                    <a:pt x="138798" y="1303096"/>
                  </a:lnTo>
                  <a:lnTo>
                    <a:pt x="138798" y="1361440"/>
                  </a:lnTo>
                  <a:lnTo>
                    <a:pt x="135305" y="1364322"/>
                  </a:lnTo>
                  <a:lnTo>
                    <a:pt x="126911" y="1364322"/>
                  </a:lnTo>
                  <a:lnTo>
                    <a:pt x="124117" y="1361440"/>
                  </a:lnTo>
                  <a:lnTo>
                    <a:pt x="124117" y="1303096"/>
                  </a:lnTo>
                  <a:lnTo>
                    <a:pt x="108724" y="1303096"/>
                  </a:lnTo>
                  <a:lnTo>
                    <a:pt x="108724" y="1361440"/>
                  </a:lnTo>
                  <a:lnTo>
                    <a:pt x="105930" y="1364322"/>
                  </a:lnTo>
                  <a:lnTo>
                    <a:pt x="97536" y="1364322"/>
                  </a:lnTo>
                  <a:lnTo>
                    <a:pt x="94030" y="1361440"/>
                  </a:lnTo>
                  <a:lnTo>
                    <a:pt x="94030" y="1303096"/>
                  </a:lnTo>
                  <a:lnTo>
                    <a:pt x="91935" y="1303096"/>
                  </a:lnTo>
                  <a:lnTo>
                    <a:pt x="89839" y="1302372"/>
                  </a:lnTo>
                  <a:lnTo>
                    <a:pt x="88442" y="1300213"/>
                  </a:lnTo>
                  <a:lnTo>
                    <a:pt x="87033" y="1298778"/>
                  </a:lnTo>
                  <a:lnTo>
                    <a:pt x="86334" y="1295895"/>
                  </a:lnTo>
                  <a:lnTo>
                    <a:pt x="87033" y="1293736"/>
                  </a:lnTo>
                  <a:lnTo>
                    <a:pt x="102425" y="1213777"/>
                  </a:lnTo>
                  <a:lnTo>
                    <a:pt x="105219" y="1210894"/>
                  </a:lnTo>
                  <a:lnTo>
                    <a:pt x="127609" y="1210894"/>
                  </a:lnTo>
                  <a:lnTo>
                    <a:pt x="130403" y="1213777"/>
                  </a:lnTo>
                  <a:lnTo>
                    <a:pt x="145796" y="1293736"/>
                  </a:lnTo>
                  <a:lnTo>
                    <a:pt x="146494" y="1295895"/>
                  </a:lnTo>
                  <a:lnTo>
                    <a:pt x="146494" y="1086675"/>
                  </a:lnTo>
                  <a:lnTo>
                    <a:pt x="143497" y="1087081"/>
                  </a:lnTo>
                  <a:lnTo>
                    <a:pt x="138798" y="1089126"/>
                  </a:lnTo>
                  <a:lnTo>
                    <a:pt x="138798" y="1172718"/>
                  </a:lnTo>
                  <a:lnTo>
                    <a:pt x="137071" y="1181493"/>
                  </a:lnTo>
                  <a:lnTo>
                    <a:pt x="132321" y="1188834"/>
                  </a:lnTo>
                  <a:lnTo>
                    <a:pt x="125222" y="1193888"/>
                  </a:lnTo>
                  <a:lnTo>
                    <a:pt x="116420" y="1195768"/>
                  </a:lnTo>
                  <a:lnTo>
                    <a:pt x="107607" y="1193888"/>
                  </a:lnTo>
                  <a:lnTo>
                    <a:pt x="100495" y="1188834"/>
                  </a:lnTo>
                  <a:lnTo>
                    <a:pt x="95745" y="1181493"/>
                  </a:lnTo>
                  <a:lnTo>
                    <a:pt x="94030" y="1172718"/>
                  </a:lnTo>
                  <a:lnTo>
                    <a:pt x="95745" y="1163650"/>
                  </a:lnTo>
                  <a:lnTo>
                    <a:pt x="100495" y="1156335"/>
                  </a:lnTo>
                  <a:lnTo>
                    <a:pt x="107607" y="1151458"/>
                  </a:lnTo>
                  <a:lnTo>
                    <a:pt x="116420" y="1149667"/>
                  </a:lnTo>
                  <a:lnTo>
                    <a:pt x="125222" y="1151458"/>
                  </a:lnTo>
                  <a:lnTo>
                    <a:pt x="132321" y="1156335"/>
                  </a:lnTo>
                  <a:lnTo>
                    <a:pt x="137071" y="1163650"/>
                  </a:lnTo>
                  <a:lnTo>
                    <a:pt x="138798" y="1172718"/>
                  </a:lnTo>
                  <a:lnTo>
                    <a:pt x="138798" y="1089126"/>
                  </a:lnTo>
                  <a:lnTo>
                    <a:pt x="100685" y="1105598"/>
                  </a:lnTo>
                  <a:lnTo>
                    <a:pt x="64477" y="1134364"/>
                  </a:lnTo>
                  <a:lnTo>
                    <a:pt x="36537" y="1171651"/>
                  </a:lnTo>
                  <a:lnTo>
                    <a:pt x="18554" y="1215745"/>
                  </a:lnTo>
                  <a:lnTo>
                    <a:pt x="12192" y="1264920"/>
                  </a:lnTo>
                  <a:lnTo>
                    <a:pt x="18554" y="1313853"/>
                  </a:lnTo>
                  <a:lnTo>
                    <a:pt x="36537" y="1357871"/>
                  </a:lnTo>
                  <a:lnTo>
                    <a:pt x="64477" y="1395209"/>
                  </a:lnTo>
                  <a:lnTo>
                    <a:pt x="100685" y="1424089"/>
                  </a:lnTo>
                  <a:lnTo>
                    <a:pt x="143497" y="1442720"/>
                  </a:lnTo>
                  <a:lnTo>
                    <a:pt x="191262" y="1449324"/>
                  </a:lnTo>
                  <a:lnTo>
                    <a:pt x="238760" y="1442720"/>
                  </a:lnTo>
                  <a:lnTo>
                    <a:pt x="281520" y="1424089"/>
                  </a:lnTo>
                  <a:lnTo>
                    <a:pt x="317779" y="1395209"/>
                  </a:lnTo>
                  <a:lnTo>
                    <a:pt x="340969" y="1364322"/>
                  </a:lnTo>
                  <a:lnTo>
                    <a:pt x="345821" y="1357871"/>
                  </a:lnTo>
                  <a:lnTo>
                    <a:pt x="363905" y="1313853"/>
                  </a:lnTo>
                  <a:lnTo>
                    <a:pt x="370332" y="1264920"/>
                  </a:lnTo>
                  <a:close/>
                </a:path>
                <a:path w="394334" h="2384425">
                  <a:moveTo>
                    <a:pt x="393941" y="2191753"/>
                  </a:moveTo>
                  <a:lnTo>
                    <a:pt x="386499" y="2150389"/>
                  </a:lnTo>
                  <a:lnTo>
                    <a:pt x="365061" y="2099970"/>
                  </a:lnTo>
                  <a:lnTo>
                    <a:pt x="335419" y="2064156"/>
                  </a:lnTo>
                  <a:lnTo>
                    <a:pt x="303326" y="2041067"/>
                  </a:lnTo>
                  <a:lnTo>
                    <a:pt x="303326" y="2160206"/>
                  </a:lnTo>
                  <a:lnTo>
                    <a:pt x="301358" y="2162467"/>
                  </a:lnTo>
                  <a:lnTo>
                    <a:pt x="182854" y="2314397"/>
                  </a:lnTo>
                  <a:lnTo>
                    <a:pt x="181533" y="2315895"/>
                  </a:lnTo>
                  <a:lnTo>
                    <a:pt x="179527" y="2317432"/>
                  </a:lnTo>
                  <a:lnTo>
                    <a:pt x="176047" y="2317610"/>
                  </a:lnTo>
                  <a:lnTo>
                    <a:pt x="174625" y="2316962"/>
                  </a:lnTo>
                  <a:lnTo>
                    <a:pt x="173901" y="2316276"/>
                  </a:lnTo>
                  <a:lnTo>
                    <a:pt x="170357" y="2315006"/>
                  </a:lnTo>
                  <a:lnTo>
                    <a:pt x="168795" y="2311489"/>
                  </a:lnTo>
                  <a:lnTo>
                    <a:pt x="169316" y="2307856"/>
                  </a:lnTo>
                  <a:lnTo>
                    <a:pt x="191185" y="2210676"/>
                  </a:lnTo>
                  <a:lnTo>
                    <a:pt x="191592" y="2208873"/>
                  </a:lnTo>
                  <a:lnTo>
                    <a:pt x="154813" y="2210676"/>
                  </a:lnTo>
                  <a:lnTo>
                    <a:pt x="151993" y="2210092"/>
                  </a:lnTo>
                  <a:lnTo>
                    <a:pt x="149009" y="2205913"/>
                  </a:lnTo>
                  <a:lnTo>
                    <a:pt x="148894" y="2202992"/>
                  </a:lnTo>
                  <a:lnTo>
                    <a:pt x="150126" y="2200084"/>
                  </a:lnTo>
                  <a:lnTo>
                    <a:pt x="189293" y="2090928"/>
                  </a:lnTo>
                  <a:lnTo>
                    <a:pt x="189852" y="2088019"/>
                  </a:lnTo>
                  <a:lnTo>
                    <a:pt x="192557" y="2086444"/>
                  </a:lnTo>
                  <a:lnTo>
                    <a:pt x="272389" y="2082533"/>
                  </a:lnTo>
                  <a:lnTo>
                    <a:pt x="274510" y="2083155"/>
                  </a:lnTo>
                  <a:lnTo>
                    <a:pt x="276034" y="2085962"/>
                  </a:lnTo>
                  <a:lnTo>
                    <a:pt x="277520" y="2088019"/>
                  </a:lnTo>
                  <a:lnTo>
                    <a:pt x="277634" y="2090204"/>
                  </a:lnTo>
                  <a:lnTo>
                    <a:pt x="277075" y="2093099"/>
                  </a:lnTo>
                  <a:lnTo>
                    <a:pt x="254939" y="2152497"/>
                  </a:lnTo>
                  <a:lnTo>
                    <a:pt x="297980" y="2150389"/>
                  </a:lnTo>
                  <a:lnTo>
                    <a:pt x="300824" y="2151684"/>
                  </a:lnTo>
                  <a:lnTo>
                    <a:pt x="302348" y="2154491"/>
                  </a:lnTo>
                  <a:lnTo>
                    <a:pt x="303187" y="2157336"/>
                  </a:lnTo>
                  <a:lnTo>
                    <a:pt x="303326" y="2160206"/>
                  </a:lnTo>
                  <a:lnTo>
                    <a:pt x="303326" y="2041067"/>
                  </a:lnTo>
                  <a:lnTo>
                    <a:pt x="298030" y="2037245"/>
                  </a:lnTo>
                  <a:lnTo>
                    <a:pt x="254698" y="2020849"/>
                  </a:lnTo>
                  <a:lnTo>
                    <a:pt x="207225" y="2016620"/>
                  </a:lnTo>
                  <a:lnTo>
                    <a:pt x="160159" y="2025484"/>
                  </a:lnTo>
                  <a:lnTo>
                    <a:pt x="118567" y="2046033"/>
                  </a:lnTo>
                  <a:lnTo>
                    <a:pt x="84035" y="2076475"/>
                  </a:lnTo>
                  <a:lnTo>
                    <a:pt x="58140" y="2115007"/>
                  </a:lnTo>
                  <a:lnTo>
                    <a:pt x="42443" y="2159838"/>
                  </a:lnTo>
                  <a:lnTo>
                    <a:pt x="38531" y="2209165"/>
                  </a:lnTo>
                  <a:lnTo>
                    <a:pt x="47231" y="2257641"/>
                  </a:lnTo>
                  <a:lnTo>
                    <a:pt x="67233" y="2300655"/>
                  </a:lnTo>
                  <a:lnTo>
                    <a:pt x="96786" y="2336520"/>
                  </a:lnTo>
                  <a:lnTo>
                    <a:pt x="134124" y="2363546"/>
                  </a:lnTo>
                  <a:lnTo>
                    <a:pt x="177533" y="2380043"/>
                  </a:lnTo>
                  <a:lnTo>
                    <a:pt x="225247" y="2384298"/>
                  </a:lnTo>
                  <a:lnTo>
                    <a:pt x="272072" y="2375408"/>
                  </a:lnTo>
                  <a:lnTo>
                    <a:pt x="313588" y="2354757"/>
                  </a:lnTo>
                  <a:lnTo>
                    <a:pt x="348157" y="2324201"/>
                  </a:lnTo>
                  <a:lnTo>
                    <a:pt x="374167" y="2285619"/>
                  </a:lnTo>
                  <a:lnTo>
                    <a:pt x="389966" y="2240838"/>
                  </a:lnTo>
                  <a:lnTo>
                    <a:pt x="393941" y="2191753"/>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14" name="object 136">
              <a:extLst>
                <a:ext uri="{FF2B5EF4-FFF2-40B4-BE49-F238E27FC236}">
                  <a16:creationId xmlns:a16="http://schemas.microsoft.com/office/drawing/2014/main" id="{496FB4F5-5CEE-2731-D8D4-AE3811097E54}"/>
                </a:ext>
              </a:extLst>
            </p:cNvPr>
            <p:cNvSpPr txBox="1"/>
            <p:nvPr/>
          </p:nvSpPr>
          <p:spPr>
            <a:xfrm>
              <a:off x="10618777" y="5127578"/>
              <a:ext cx="362940" cy="289616"/>
            </a:xfrm>
            <a:prstGeom prst="rect">
              <a:avLst/>
            </a:prstGeom>
          </p:spPr>
          <p:txBody>
            <a:bodyPr vert="horz" wrap="square" lIns="0" tIns="12700" rIns="0" bIns="0" rtlCol="0">
              <a:spAutoFit/>
            </a:bodyPr>
            <a:lstStyle/>
            <a:p>
              <a:pPr marL="12700" marR="5080">
                <a:lnSpc>
                  <a:spcPct val="100000"/>
                </a:lnSpc>
                <a:spcBef>
                  <a:spcPts val="100"/>
                </a:spcBef>
              </a:pPr>
              <a:r>
                <a:rPr sz="1000" b="0" spc="-5">
                  <a:latin typeface="Calibri" panose="020F0502020204030204" pitchFamily="34" charset="0"/>
                  <a:ea typeface="Calibri" panose="020F0502020204030204" pitchFamily="34" charset="0"/>
                  <a:cs typeface="Calibri" panose="020F0502020204030204" pitchFamily="34" charset="0"/>
                </a:rPr>
                <a:t>Flex </a:t>
              </a:r>
              <a:r>
                <a:rPr sz="1000" b="0">
                  <a:latin typeface="Calibri" panose="020F0502020204030204" pitchFamily="34" charset="0"/>
                  <a:ea typeface="Calibri" panose="020F0502020204030204" pitchFamily="34" charset="0"/>
                  <a:cs typeface="Calibri" panose="020F0502020204030204" pitchFamily="34" charset="0"/>
                </a:rPr>
                <a:t> </a:t>
              </a:r>
              <a:r>
                <a:rPr sz="1000" b="0" spc="5">
                  <a:latin typeface="Calibri" panose="020F0502020204030204" pitchFamily="34" charset="0"/>
                  <a:ea typeface="Calibri" panose="020F0502020204030204" pitchFamily="34" charset="0"/>
                  <a:cs typeface="Calibri" panose="020F0502020204030204" pitchFamily="34" charset="0"/>
                </a:rPr>
                <a:t>P</a:t>
              </a:r>
              <a:r>
                <a:rPr sz="1000" b="0" spc="-5">
                  <a:latin typeface="Calibri" panose="020F0502020204030204" pitchFamily="34" charset="0"/>
                  <a:ea typeface="Calibri" panose="020F0502020204030204" pitchFamily="34" charset="0"/>
                  <a:cs typeface="Calibri" panose="020F0502020204030204" pitchFamily="34" charset="0"/>
                </a:rPr>
                <a:t>OD</a:t>
              </a:r>
              <a:r>
                <a:rPr sz="1000" b="0">
                  <a:latin typeface="Calibri" panose="020F0502020204030204" pitchFamily="34" charset="0"/>
                  <a:ea typeface="Calibri" panose="020F0502020204030204" pitchFamily="34" charset="0"/>
                  <a:cs typeface="Calibri" panose="020F0502020204030204" pitchFamily="34" charset="0"/>
                </a:rPr>
                <a:t>S</a:t>
              </a:r>
              <a:endParaRPr sz="1000">
                <a:latin typeface="Calibri" panose="020F0502020204030204" pitchFamily="34" charset="0"/>
                <a:ea typeface="Calibri" panose="020F0502020204030204" pitchFamily="34" charset="0"/>
                <a:cs typeface="Calibri" panose="020F0502020204030204" pitchFamily="34" charset="0"/>
              </a:endParaRPr>
            </a:p>
          </p:txBody>
        </p:sp>
        <p:sp>
          <p:nvSpPr>
            <p:cNvPr id="115" name="object 144">
              <a:extLst>
                <a:ext uri="{FF2B5EF4-FFF2-40B4-BE49-F238E27FC236}">
                  <a16:creationId xmlns:a16="http://schemas.microsoft.com/office/drawing/2014/main" id="{501E0980-E51C-397A-083C-76C631BAC310}"/>
                </a:ext>
              </a:extLst>
            </p:cNvPr>
            <p:cNvSpPr txBox="1"/>
            <p:nvPr/>
          </p:nvSpPr>
          <p:spPr>
            <a:xfrm>
              <a:off x="8358956" y="1757524"/>
              <a:ext cx="1339850" cy="206785"/>
            </a:xfrm>
            <a:prstGeom prst="rect">
              <a:avLst/>
            </a:prstGeom>
          </p:spPr>
          <p:txBody>
            <a:bodyPr vert="horz" wrap="square" lIns="0" tIns="13335" rIns="0" bIns="0" rtlCol="0">
              <a:spAutoFit/>
            </a:bodyPr>
            <a:lstStyle/>
            <a:p>
              <a:pPr marL="12700">
                <a:lnSpc>
                  <a:spcPct val="100000"/>
                </a:lnSpc>
                <a:spcBef>
                  <a:spcPts val="105"/>
                </a:spcBef>
              </a:pPr>
              <a:r>
                <a:rPr sz="1400" b="1" spc="-5">
                  <a:latin typeface="Calibri" panose="020F0502020204030204" pitchFamily="34" charset="0"/>
                  <a:ea typeface="Calibri" panose="020F0502020204030204" pitchFamily="34" charset="0"/>
                  <a:cs typeface="Calibri" panose="020F0502020204030204" pitchFamily="34" charset="0"/>
                </a:rPr>
                <a:t>Action</a:t>
              </a:r>
              <a:r>
                <a:rPr sz="1400" b="1" spc="-20">
                  <a:latin typeface="Calibri" panose="020F0502020204030204" pitchFamily="34" charset="0"/>
                  <a:ea typeface="Calibri" panose="020F0502020204030204" pitchFamily="34" charset="0"/>
                  <a:cs typeface="Calibri" panose="020F0502020204030204" pitchFamily="34" charset="0"/>
                </a:rPr>
                <a:t> </a:t>
              </a:r>
              <a:r>
                <a:rPr sz="1400" b="1">
                  <a:latin typeface="Calibri" panose="020F0502020204030204" pitchFamily="34" charset="0"/>
                  <a:ea typeface="Calibri" panose="020F0502020204030204" pitchFamily="34" charset="0"/>
                  <a:cs typeface="Calibri" panose="020F0502020204030204" pitchFamily="34" charset="0"/>
                </a:rPr>
                <a:t>&amp;</a:t>
              </a:r>
              <a:r>
                <a:rPr sz="1400" b="1" spc="-25">
                  <a:latin typeface="Calibri" panose="020F0502020204030204" pitchFamily="34" charset="0"/>
                  <a:ea typeface="Calibri" panose="020F0502020204030204" pitchFamily="34" charset="0"/>
                  <a:cs typeface="Calibri" panose="020F0502020204030204" pitchFamily="34" charset="0"/>
                </a:rPr>
                <a:t> </a:t>
              </a:r>
              <a:r>
                <a:rPr sz="1400" b="1" spc="-5">
                  <a:latin typeface="Calibri" panose="020F0502020204030204" pitchFamily="34" charset="0"/>
                  <a:ea typeface="Calibri" panose="020F0502020204030204" pitchFamily="34" charset="0"/>
                  <a:cs typeface="Calibri" panose="020F0502020204030204" pitchFamily="34" charset="0"/>
                </a:rPr>
                <a:t>Execution</a:t>
              </a:r>
              <a:endParaRPr sz="1400">
                <a:latin typeface="Calibri" panose="020F0502020204030204" pitchFamily="34" charset="0"/>
                <a:ea typeface="Calibri" panose="020F0502020204030204" pitchFamily="34" charset="0"/>
                <a:cs typeface="Calibri" panose="020F0502020204030204" pitchFamily="34" charset="0"/>
              </a:endParaRPr>
            </a:p>
          </p:txBody>
        </p:sp>
        <p:sp>
          <p:nvSpPr>
            <p:cNvPr id="116" name="object 97">
              <a:extLst>
                <a:ext uri="{FF2B5EF4-FFF2-40B4-BE49-F238E27FC236}">
                  <a16:creationId xmlns:a16="http://schemas.microsoft.com/office/drawing/2014/main" id="{C4CA8C80-8C50-C2D1-EDC3-8E114569CFC6}"/>
                </a:ext>
              </a:extLst>
            </p:cNvPr>
            <p:cNvSpPr txBox="1"/>
            <p:nvPr/>
          </p:nvSpPr>
          <p:spPr>
            <a:xfrm>
              <a:off x="3042326" y="1271125"/>
              <a:ext cx="1536192" cy="166818"/>
            </a:xfrm>
            <a:prstGeom prst="rect">
              <a:avLst/>
            </a:prstGeom>
            <a:ln w="9525">
              <a:solidFill>
                <a:srgbClr val="252525"/>
              </a:solidFill>
            </a:ln>
          </p:spPr>
          <p:txBody>
            <a:bodyPr vert="horz" wrap="square" lIns="0" tIns="0" rIns="0" bIns="0" rtlCol="0" anchor="ctr">
              <a:spAutoFit/>
            </a:bodyPr>
            <a:lstStyle>
              <a:defPPr>
                <a:defRPr lang="en-US"/>
              </a:defPPr>
              <a:lvl1pPr marL="90804" algn="ctr">
                <a:lnSpc>
                  <a:spcPct val="100000"/>
                </a:lnSpc>
                <a:spcBef>
                  <a:spcPts val="484"/>
                </a:spcBef>
                <a:tabLst>
                  <a:tab pos="208915" algn="l"/>
                </a:tabLst>
                <a:defRPr sz="1500" spc="-7" baseline="5555">
                  <a:cs typeface="Open Sans"/>
                </a:defRPr>
              </a:lvl1pPr>
            </a:lstStyle>
            <a:p>
              <a:pPr marL="90170"/>
              <a:r>
                <a:rPr lang="en-US" sz="1800">
                  <a:latin typeface="Calibri" panose="020F0502020204030204" pitchFamily="34" charset="0"/>
                  <a:ea typeface="Calibri" panose="020F0502020204030204" pitchFamily="34" charset="0"/>
                  <a:cs typeface="Calibri" panose="020F0502020204030204" pitchFamily="34" charset="0"/>
                </a:rPr>
                <a:t>Business Process Owners</a:t>
              </a:r>
            </a:p>
          </p:txBody>
        </p:sp>
        <p:sp>
          <p:nvSpPr>
            <p:cNvPr id="117" name="object 97">
              <a:extLst>
                <a:ext uri="{FF2B5EF4-FFF2-40B4-BE49-F238E27FC236}">
                  <a16:creationId xmlns:a16="http://schemas.microsoft.com/office/drawing/2014/main" id="{24F4D9C4-42B3-3F03-C4F4-348FDD3065AE}"/>
                </a:ext>
              </a:extLst>
            </p:cNvPr>
            <p:cNvSpPr txBox="1"/>
            <p:nvPr/>
          </p:nvSpPr>
          <p:spPr>
            <a:xfrm>
              <a:off x="1300700" y="1220877"/>
              <a:ext cx="1536427" cy="250228"/>
            </a:xfrm>
            <a:prstGeom prst="rect">
              <a:avLst/>
            </a:prstGeom>
            <a:ln w="9525">
              <a:solidFill>
                <a:srgbClr val="252525"/>
              </a:solidFill>
            </a:ln>
          </p:spPr>
          <p:txBody>
            <a:bodyPr vert="horz" wrap="square" lIns="0" tIns="0" rIns="0" bIns="0" rtlCol="0">
              <a:spAutoFit/>
            </a:bodyPr>
            <a:lstStyle/>
            <a:p>
              <a:pPr marL="90804" algn="ctr">
                <a:lnSpc>
                  <a:spcPct val="100000"/>
                </a:lnSpc>
                <a:spcBef>
                  <a:spcPts val="484"/>
                </a:spcBef>
                <a:tabLst>
                  <a:tab pos="208915" algn="l"/>
                </a:tabLst>
              </a:pPr>
              <a:r>
                <a:rPr lang="en-US" spc="-7" baseline="5555">
                  <a:latin typeface="Calibri" panose="020F0502020204030204" pitchFamily="34" charset="0"/>
                  <a:ea typeface="Calibri" panose="020F0502020204030204" pitchFamily="34" charset="0"/>
                  <a:cs typeface="Calibri" panose="020F0502020204030204" pitchFamily="34" charset="0"/>
                </a:rPr>
                <a:t>Technical</a:t>
              </a:r>
              <a:r>
                <a:rPr lang="en-US" spc="-67" baseline="5555">
                  <a:latin typeface="Calibri" panose="020F0502020204030204" pitchFamily="34" charset="0"/>
                  <a:ea typeface="Calibri" panose="020F0502020204030204" pitchFamily="34" charset="0"/>
                  <a:cs typeface="Calibri" panose="020F0502020204030204" pitchFamily="34" charset="0"/>
                </a:rPr>
                <a:t> </a:t>
              </a:r>
              <a:r>
                <a:rPr lang="en-US" spc="-7" baseline="5555">
                  <a:latin typeface="Calibri" panose="020F0502020204030204" pitchFamily="34" charset="0"/>
                  <a:ea typeface="Calibri" panose="020F0502020204030204" pitchFamily="34" charset="0"/>
                  <a:cs typeface="Calibri" panose="020F0502020204030204" pitchFamily="34" charset="0"/>
                </a:rPr>
                <a:t>leads</a:t>
              </a:r>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118" name="object 97">
              <a:extLst>
                <a:ext uri="{FF2B5EF4-FFF2-40B4-BE49-F238E27FC236}">
                  <a16:creationId xmlns:a16="http://schemas.microsoft.com/office/drawing/2014/main" id="{013BDABF-1769-2B6A-D869-A955D502DA3F}"/>
                </a:ext>
              </a:extLst>
            </p:cNvPr>
            <p:cNvSpPr txBox="1"/>
            <p:nvPr/>
          </p:nvSpPr>
          <p:spPr>
            <a:xfrm>
              <a:off x="4940248" y="1228024"/>
              <a:ext cx="1692723" cy="224394"/>
            </a:xfrm>
            <a:prstGeom prst="rect">
              <a:avLst/>
            </a:prstGeom>
            <a:ln w="9525">
              <a:solidFill>
                <a:srgbClr val="252525"/>
              </a:solidFill>
            </a:ln>
          </p:spPr>
          <p:txBody>
            <a:bodyPr vert="horz" wrap="square" lIns="0" tIns="0" rIns="0" bIns="0" rtlCol="0">
              <a:spAutoFit/>
            </a:bodyPr>
            <a:lstStyle/>
            <a:p>
              <a:pPr marL="90804" algn="ctr">
                <a:lnSpc>
                  <a:spcPct val="150000"/>
                </a:lnSpc>
                <a:spcBef>
                  <a:spcPts val="484"/>
                </a:spcBef>
                <a:tabLst>
                  <a:tab pos="208915" algn="l"/>
                </a:tabLst>
              </a:pPr>
              <a:r>
                <a:rPr lang="en-US" spc="-7" baseline="5555">
                  <a:latin typeface="Calibri" panose="020F0502020204030204" pitchFamily="34" charset="0"/>
                  <a:ea typeface="Calibri" panose="020F0502020204030204" pitchFamily="34" charset="0"/>
                  <a:cs typeface="Calibri" panose="020F0502020204030204" pitchFamily="34" charset="0"/>
                </a:rPr>
                <a:t>Application/Product Lead </a:t>
              </a:r>
            </a:p>
          </p:txBody>
        </p:sp>
        <p:sp>
          <p:nvSpPr>
            <p:cNvPr id="119" name="object 97">
              <a:extLst>
                <a:ext uri="{FF2B5EF4-FFF2-40B4-BE49-F238E27FC236}">
                  <a16:creationId xmlns:a16="http://schemas.microsoft.com/office/drawing/2014/main" id="{A73151A2-A53F-FC82-8D59-A75964309557}"/>
                </a:ext>
              </a:extLst>
            </p:cNvPr>
            <p:cNvSpPr txBox="1"/>
            <p:nvPr/>
          </p:nvSpPr>
          <p:spPr>
            <a:xfrm>
              <a:off x="6838247" y="1233387"/>
              <a:ext cx="1692723" cy="224394"/>
            </a:xfrm>
            <a:prstGeom prst="rect">
              <a:avLst/>
            </a:prstGeom>
            <a:ln w="9525">
              <a:solidFill>
                <a:srgbClr val="252525"/>
              </a:solidFill>
            </a:ln>
          </p:spPr>
          <p:txBody>
            <a:bodyPr vert="horz" wrap="square" lIns="0" tIns="0" rIns="0" bIns="0" rtlCol="0">
              <a:spAutoFit/>
            </a:bodyPr>
            <a:lstStyle/>
            <a:p>
              <a:pPr marL="90804" algn="ctr">
                <a:lnSpc>
                  <a:spcPct val="150000"/>
                </a:lnSpc>
                <a:spcBef>
                  <a:spcPts val="484"/>
                </a:spcBef>
                <a:tabLst>
                  <a:tab pos="208915" algn="l"/>
                </a:tabLst>
              </a:pPr>
              <a:r>
                <a:rPr lang="en-US" spc="-7" baseline="5555">
                  <a:latin typeface="Calibri" panose="020F0502020204030204" pitchFamily="34" charset="0"/>
                  <a:ea typeface="Calibri" panose="020F0502020204030204" pitchFamily="34" charset="0"/>
                  <a:cs typeface="Calibri" panose="020F0502020204030204" pitchFamily="34" charset="0"/>
                </a:rPr>
                <a:t>Governance Lead</a:t>
              </a:r>
            </a:p>
          </p:txBody>
        </p:sp>
        <p:sp>
          <p:nvSpPr>
            <p:cNvPr id="120" name="object 97">
              <a:extLst>
                <a:ext uri="{FF2B5EF4-FFF2-40B4-BE49-F238E27FC236}">
                  <a16:creationId xmlns:a16="http://schemas.microsoft.com/office/drawing/2014/main" id="{623CB368-26F2-7A57-E2C3-9F20016D8A9D}"/>
                </a:ext>
              </a:extLst>
            </p:cNvPr>
            <p:cNvSpPr txBox="1"/>
            <p:nvPr/>
          </p:nvSpPr>
          <p:spPr>
            <a:xfrm>
              <a:off x="8707252" y="1228024"/>
              <a:ext cx="2058815" cy="224394"/>
            </a:xfrm>
            <a:prstGeom prst="rect">
              <a:avLst/>
            </a:prstGeom>
            <a:ln w="9525">
              <a:solidFill>
                <a:srgbClr val="252525"/>
              </a:solidFill>
            </a:ln>
          </p:spPr>
          <p:txBody>
            <a:bodyPr vert="horz" wrap="square" lIns="0" tIns="0" rIns="0" bIns="0" rtlCol="0">
              <a:spAutoFit/>
            </a:bodyPr>
            <a:lstStyle/>
            <a:p>
              <a:pPr marL="90804" algn="ctr">
                <a:lnSpc>
                  <a:spcPct val="150000"/>
                </a:lnSpc>
                <a:spcBef>
                  <a:spcPts val="484"/>
                </a:spcBef>
                <a:tabLst>
                  <a:tab pos="208915" algn="l"/>
                </a:tabLst>
              </a:pPr>
              <a:r>
                <a:rPr lang="en-US" spc="-7" baseline="5555">
                  <a:latin typeface="Calibri" panose="020F0502020204030204" pitchFamily="34" charset="0"/>
                  <a:ea typeface="Calibri" panose="020F0502020204030204" pitchFamily="34" charset="0"/>
                  <a:cs typeface="Calibri" panose="020F0502020204030204" pitchFamily="34" charset="0"/>
                </a:rPr>
                <a:t>Application and Platform Team</a:t>
              </a:r>
            </a:p>
          </p:txBody>
        </p:sp>
        <p:sp>
          <p:nvSpPr>
            <p:cNvPr id="121" name="object 19">
              <a:extLst>
                <a:ext uri="{FF2B5EF4-FFF2-40B4-BE49-F238E27FC236}">
                  <a16:creationId xmlns:a16="http://schemas.microsoft.com/office/drawing/2014/main" id="{A1B603A3-430C-5314-83AE-7800B201BD00}"/>
                </a:ext>
              </a:extLst>
            </p:cNvPr>
            <p:cNvSpPr/>
            <p:nvPr/>
          </p:nvSpPr>
          <p:spPr>
            <a:xfrm>
              <a:off x="1570820" y="3208935"/>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60000"/>
                <a:lumOff val="4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2" name="object 19">
              <a:extLst>
                <a:ext uri="{FF2B5EF4-FFF2-40B4-BE49-F238E27FC236}">
                  <a16:creationId xmlns:a16="http://schemas.microsoft.com/office/drawing/2014/main" id="{AE383183-1000-5855-C036-D4A298F7E0F7}"/>
                </a:ext>
              </a:extLst>
            </p:cNvPr>
            <p:cNvSpPr/>
            <p:nvPr/>
          </p:nvSpPr>
          <p:spPr>
            <a:xfrm>
              <a:off x="1767981" y="3206759"/>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40000"/>
                <a:lumOff val="6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3" name="object 19">
              <a:extLst>
                <a:ext uri="{FF2B5EF4-FFF2-40B4-BE49-F238E27FC236}">
                  <a16:creationId xmlns:a16="http://schemas.microsoft.com/office/drawing/2014/main" id="{BBB413E9-1522-8A24-0D94-9D48B4E33CE2}"/>
                </a:ext>
              </a:extLst>
            </p:cNvPr>
            <p:cNvSpPr/>
            <p:nvPr/>
          </p:nvSpPr>
          <p:spPr>
            <a:xfrm>
              <a:off x="2028803" y="3200727"/>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20000"/>
                <a:lumOff val="80000"/>
              </a:schemeClr>
            </a:solidFill>
            <a:ln w="3175">
              <a:solidFill>
                <a:schemeClr val="accent1">
                  <a:lumMod val="40000"/>
                  <a:lumOff val="60000"/>
                </a:schemeClr>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4" name="object 19">
              <a:extLst>
                <a:ext uri="{FF2B5EF4-FFF2-40B4-BE49-F238E27FC236}">
                  <a16:creationId xmlns:a16="http://schemas.microsoft.com/office/drawing/2014/main" id="{C62EFDE2-7EF6-98EE-24B6-ED9457DF255B}"/>
                </a:ext>
              </a:extLst>
            </p:cNvPr>
            <p:cNvSpPr/>
            <p:nvPr/>
          </p:nvSpPr>
          <p:spPr>
            <a:xfrm>
              <a:off x="2231693" y="3202210"/>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20000"/>
                <a:lumOff val="80000"/>
              </a:schemeClr>
            </a:solidFill>
            <a:ln w="3175">
              <a:solidFill>
                <a:schemeClr val="accent1">
                  <a:lumMod val="40000"/>
                  <a:lumOff val="60000"/>
                </a:schemeClr>
              </a:solidFill>
            </a:ln>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5" name="object 19">
              <a:extLst>
                <a:ext uri="{FF2B5EF4-FFF2-40B4-BE49-F238E27FC236}">
                  <a16:creationId xmlns:a16="http://schemas.microsoft.com/office/drawing/2014/main" id="{52FDDCCF-6CD8-393F-DD13-0A3E0202C09F}"/>
                </a:ext>
              </a:extLst>
            </p:cNvPr>
            <p:cNvSpPr/>
            <p:nvPr/>
          </p:nvSpPr>
          <p:spPr>
            <a:xfrm>
              <a:off x="2087243" y="4421817"/>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20000"/>
                <a:lumOff val="8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6" name="object 19">
              <a:extLst>
                <a:ext uri="{FF2B5EF4-FFF2-40B4-BE49-F238E27FC236}">
                  <a16:creationId xmlns:a16="http://schemas.microsoft.com/office/drawing/2014/main" id="{725F06BD-E870-A286-AA5F-9F27898596C5}"/>
                </a:ext>
              </a:extLst>
            </p:cNvPr>
            <p:cNvSpPr/>
            <p:nvPr/>
          </p:nvSpPr>
          <p:spPr>
            <a:xfrm>
              <a:off x="2308222" y="4421817"/>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20000"/>
                <a:lumOff val="8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7" name="object 19">
              <a:extLst>
                <a:ext uri="{FF2B5EF4-FFF2-40B4-BE49-F238E27FC236}">
                  <a16:creationId xmlns:a16="http://schemas.microsoft.com/office/drawing/2014/main" id="{460E5609-5D57-CE7D-1A24-5AD63A3721FF}"/>
                </a:ext>
              </a:extLst>
            </p:cNvPr>
            <p:cNvSpPr/>
            <p:nvPr/>
          </p:nvSpPr>
          <p:spPr>
            <a:xfrm>
              <a:off x="1588394" y="4432772"/>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60000"/>
                <a:lumOff val="4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8" name="object 19">
              <a:extLst>
                <a:ext uri="{FF2B5EF4-FFF2-40B4-BE49-F238E27FC236}">
                  <a16:creationId xmlns:a16="http://schemas.microsoft.com/office/drawing/2014/main" id="{16A7B6F7-453D-F2DA-EC83-C1B39783471C}"/>
                </a:ext>
              </a:extLst>
            </p:cNvPr>
            <p:cNvSpPr/>
            <p:nvPr/>
          </p:nvSpPr>
          <p:spPr>
            <a:xfrm>
              <a:off x="1797224" y="4431340"/>
              <a:ext cx="208279" cy="121920"/>
            </a:xfrm>
            <a:custGeom>
              <a:avLst/>
              <a:gdLst/>
              <a:ahLst/>
              <a:cxnLst/>
              <a:rect l="l" t="t" r="r" b="b"/>
              <a:pathLst>
                <a:path w="208280" h="121920">
                  <a:moveTo>
                    <a:pt x="208280" y="0"/>
                  </a:moveTo>
                  <a:lnTo>
                    <a:pt x="0" y="0"/>
                  </a:lnTo>
                  <a:lnTo>
                    <a:pt x="0" y="121920"/>
                  </a:lnTo>
                  <a:lnTo>
                    <a:pt x="208280" y="121920"/>
                  </a:lnTo>
                  <a:lnTo>
                    <a:pt x="208280" y="0"/>
                  </a:lnTo>
                  <a:close/>
                </a:path>
              </a:pathLst>
            </a:custGeom>
            <a:solidFill>
              <a:schemeClr val="accent1">
                <a:lumMod val="40000"/>
                <a:lumOff val="6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29" name="object 117">
              <a:extLst>
                <a:ext uri="{FF2B5EF4-FFF2-40B4-BE49-F238E27FC236}">
                  <a16:creationId xmlns:a16="http://schemas.microsoft.com/office/drawing/2014/main" id="{76345289-3D6E-5E68-4C23-7AB55EC5F26E}"/>
                </a:ext>
              </a:extLst>
            </p:cNvPr>
            <p:cNvSpPr/>
            <p:nvPr/>
          </p:nvSpPr>
          <p:spPr>
            <a:xfrm>
              <a:off x="8532827" y="5696827"/>
              <a:ext cx="118745" cy="91440"/>
            </a:xfrm>
            <a:custGeom>
              <a:avLst/>
              <a:gdLst/>
              <a:ahLst/>
              <a:cxnLst/>
              <a:rect l="l" t="t" r="r" b="b"/>
              <a:pathLst>
                <a:path w="118745" h="286385">
                  <a:moveTo>
                    <a:pt x="118668" y="0"/>
                  </a:moveTo>
                  <a:lnTo>
                    <a:pt x="0" y="0"/>
                  </a:lnTo>
                  <a:lnTo>
                    <a:pt x="0" y="286270"/>
                  </a:lnTo>
                  <a:lnTo>
                    <a:pt x="118668" y="286270"/>
                  </a:lnTo>
                  <a:lnTo>
                    <a:pt x="118668" y="0"/>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30" name="object 117">
              <a:extLst>
                <a:ext uri="{FF2B5EF4-FFF2-40B4-BE49-F238E27FC236}">
                  <a16:creationId xmlns:a16="http://schemas.microsoft.com/office/drawing/2014/main" id="{371F406C-B5FA-FB67-F810-4CE469AEE1FC}"/>
                </a:ext>
              </a:extLst>
            </p:cNvPr>
            <p:cNvSpPr/>
            <p:nvPr/>
          </p:nvSpPr>
          <p:spPr>
            <a:xfrm>
              <a:off x="8685227" y="5675491"/>
              <a:ext cx="118745" cy="182880"/>
            </a:xfrm>
            <a:custGeom>
              <a:avLst/>
              <a:gdLst/>
              <a:ahLst/>
              <a:cxnLst/>
              <a:rect l="l" t="t" r="r" b="b"/>
              <a:pathLst>
                <a:path w="118745" h="286385">
                  <a:moveTo>
                    <a:pt x="118668" y="0"/>
                  </a:moveTo>
                  <a:lnTo>
                    <a:pt x="0" y="0"/>
                  </a:lnTo>
                  <a:lnTo>
                    <a:pt x="0" y="286270"/>
                  </a:lnTo>
                  <a:lnTo>
                    <a:pt x="118668" y="286270"/>
                  </a:lnTo>
                  <a:lnTo>
                    <a:pt x="118668" y="0"/>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31" name="object 117">
              <a:extLst>
                <a:ext uri="{FF2B5EF4-FFF2-40B4-BE49-F238E27FC236}">
                  <a16:creationId xmlns:a16="http://schemas.microsoft.com/office/drawing/2014/main" id="{995D95CB-6E46-3C86-F870-AD91139DBE79}"/>
                </a:ext>
              </a:extLst>
            </p:cNvPr>
            <p:cNvSpPr/>
            <p:nvPr/>
          </p:nvSpPr>
          <p:spPr>
            <a:xfrm>
              <a:off x="9617915" y="5684635"/>
              <a:ext cx="118745" cy="91440"/>
            </a:xfrm>
            <a:custGeom>
              <a:avLst/>
              <a:gdLst/>
              <a:ahLst/>
              <a:cxnLst/>
              <a:rect l="l" t="t" r="r" b="b"/>
              <a:pathLst>
                <a:path w="118745" h="286385">
                  <a:moveTo>
                    <a:pt x="118668" y="0"/>
                  </a:moveTo>
                  <a:lnTo>
                    <a:pt x="0" y="0"/>
                  </a:lnTo>
                  <a:lnTo>
                    <a:pt x="0" y="286270"/>
                  </a:lnTo>
                  <a:lnTo>
                    <a:pt x="118668" y="286270"/>
                  </a:lnTo>
                  <a:lnTo>
                    <a:pt x="118668" y="0"/>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32" name="object 117">
              <a:extLst>
                <a:ext uri="{FF2B5EF4-FFF2-40B4-BE49-F238E27FC236}">
                  <a16:creationId xmlns:a16="http://schemas.microsoft.com/office/drawing/2014/main" id="{6A0AA1BA-F637-2FFE-8312-755EC0085869}"/>
                </a:ext>
              </a:extLst>
            </p:cNvPr>
            <p:cNvSpPr/>
            <p:nvPr/>
          </p:nvSpPr>
          <p:spPr>
            <a:xfrm>
              <a:off x="9782507" y="5675491"/>
              <a:ext cx="118745" cy="182880"/>
            </a:xfrm>
            <a:custGeom>
              <a:avLst/>
              <a:gdLst/>
              <a:ahLst/>
              <a:cxnLst/>
              <a:rect l="l" t="t" r="r" b="b"/>
              <a:pathLst>
                <a:path w="118745" h="286385">
                  <a:moveTo>
                    <a:pt x="118668" y="0"/>
                  </a:moveTo>
                  <a:lnTo>
                    <a:pt x="0" y="0"/>
                  </a:lnTo>
                  <a:lnTo>
                    <a:pt x="0" y="286270"/>
                  </a:lnTo>
                  <a:lnTo>
                    <a:pt x="118668" y="286270"/>
                  </a:lnTo>
                  <a:lnTo>
                    <a:pt x="118668" y="0"/>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33" name="object 117">
              <a:extLst>
                <a:ext uri="{FF2B5EF4-FFF2-40B4-BE49-F238E27FC236}">
                  <a16:creationId xmlns:a16="http://schemas.microsoft.com/office/drawing/2014/main" id="{28EAF3A8-ECA6-A36D-57E9-FCA248A8BE6E}"/>
                </a:ext>
              </a:extLst>
            </p:cNvPr>
            <p:cNvSpPr/>
            <p:nvPr/>
          </p:nvSpPr>
          <p:spPr>
            <a:xfrm>
              <a:off x="9943824" y="5699006"/>
              <a:ext cx="118745" cy="182880"/>
            </a:xfrm>
            <a:custGeom>
              <a:avLst/>
              <a:gdLst/>
              <a:ahLst/>
              <a:cxnLst/>
              <a:rect l="l" t="t" r="r" b="b"/>
              <a:pathLst>
                <a:path w="118745" h="286385">
                  <a:moveTo>
                    <a:pt x="118668" y="0"/>
                  </a:moveTo>
                  <a:lnTo>
                    <a:pt x="0" y="0"/>
                  </a:lnTo>
                  <a:lnTo>
                    <a:pt x="0" y="286270"/>
                  </a:lnTo>
                  <a:lnTo>
                    <a:pt x="118668" y="286270"/>
                  </a:lnTo>
                  <a:lnTo>
                    <a:pt x="118668" y="0"/>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sp>
          <p:nvSpPr>
            <p:cNvPr id="134" name="object 117">
              <a:extLst>
                <a:ext uri="{FF2B5EF4-FFF2-40B4-BE49-F238E27FC236}">
                  <a16:creationId xmlns:a16="http://schemas.microsoft.com/office/drawing/2014/main" id="{42724F15-E344-A92B-EEE2-DC1F45526711}"/>
                </a:ext>
              </a:extLst>
            </p:cNvPr>
            <p:cNvSpPr/>
            <p:nvPr/>
          </p:nvSpPr>
          <p:spPr>
            <a:xfrm>
              <a:off x="10095943" y="5678502"/>
              <a:ext cx="118745" cy="91440"/>
            </a:xfrm>
            <a:custGeom>
              <a:avLst/>
              <a:gdLst/>
              <a:ahLst/>
              <a:cxnLst/>
              <a:rect l="l" t="t" r="r" b="b"/>
              <a:pathLst>
                <a:path w="118745" h="286385">
                  <a:moveTo>
                    <a:pt x="118668" y="0"/>
                  </a:moveTo>
                  <a:lnTo>
                    <a:pt x="0" y="0"/>
                  </a:lnTo>
                  <a:lnTo>
                    <a:pt x="0" y="286270"/>
                  </a:lnTo>
                  <a:lnTo>
                    <a:pt x="118668" y="286270"/>
                  </a:lnTo>
                  <a:lnTo>
                    <a:pt x="118668" y="0"/>
                  </a:lnTo>
                  <a:close/>
                </a:path>
              </a:pathLst>
            </a:custGeom>
            <a:solidFill>
              <a:schemeClr val="tx1">
                <a:lumMod val="50000"/>
                <a:lumOff val="50000"/>
              </a:schemeClr>
            </a:solidFill>
          </p:spPr>
          <p:txBody>
            <a:bodyPr wrap="square" lIns="0" tIns="0" rIns="0" bIns="0" rtlCol="0"/>
            <a:lstStyle/>
            <a:p>
              <a:endParaRPr sz="240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35" name="Diagram 134">
              <a:extLst>
                <a:ext uri="{FF2B5EF4-FFF2-40B4-BE49-F238E27FC236}">
                  <a16:creationId xmlns:a16="http://schemas.microsoft.com/office/drawing/2014/main" id="{2A956984-36A0-ECF0-F770-50E068C1A2D2}"/>
                </a:ext>
              </a:extLst>
            </p:cNvPr>
            <p:cNvGraphicFramePr/>
            <p:nvPr>
              <p:extLst>
                <p:ext uri="{D42A27DB-BD31-4B8C-83A1-F6EECF244321}">
                  <p14:modId xmlns:p14="http://schemas.microsoft.com/office/powerpoint/2010/main" val="314912354"/>
                </p:ext>
              </p:extLst>
            </p:nvPr>
          </p:nvGraphicFramePr>
          <p:xfrm>
            <a:off x="8109765" y="4598608"/>
            <a:ext cx="435677" cy="89604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36" name="Diagram 135">
              <a:extLst>
                <a:ext uri="{FF2B5EF4-FFF2-40B4-BE49-F238E27FC236}">
                  <a16:creationId xmlns:a16="http://schemas.microsoft.com/office/drawing/2014/main" id="{6AF0200C-4E3A-1741-5EC8-3C771BD44F6C}"/>
                </a:ext>
              </a:extLst>
            </p:cNvPr>
            <p:cNvGraphicFramePr/>
            <p:nvPr>
              <p:extLst>
                <p:ext uri="{D42A27DB-BD31-4B8C-83A1-F6EECF244321}">
                  <p14:modId xmlns:p14="http://schemas.microsoft.com/office/powerpoint/2010/main" val="2722064140"/>
                </p:ext>
              </p:extLst>
            </p:nvPr>
          </p:nvGraphicFramePr>
          <p:xfrm>
            <a:off x="10545494" y="4603583"/>
            <a:ext cx="394335" cy="724536"/>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pSp>
    </p:spTree>
    <p:extLst>
      <p:ext uri="{BB962C8B-B14F-4D97-AF65-F5344CB8AC3E}">
        <p14:creationId xmlns:p14="http://schemas.microsoft.com/office/powerpoint/2010/main" val="25773989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Change Request Management – Process Flow</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E76AD11A-5699-DE5C-99D5-54B30A8E12B7}"/>
              </a:ext>
            </a:extLst>
          </p:cNvPr>
          <p:cNvSpPr/>
          <p:nvPr/>
        </p:nvSpPr>
        <p:spPr>
          <a:xfrm>
            <a:off x="934720" y="175080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Business / Application team needs to provide inputs regarding the change in data / columns, etc..</a:t>
            </a:r>
            <a:endParaRPr lang="en-IN" sz="1100" dirty="0">
              <a:solidFill>
                <a:srgbClr val="002060"/>
              </a:solidFill>
            </a:endParaRPr>
          </a:p>
        </p:txBody>
      </p:sp>
      <p:sp>
        <p:nvSpPr>
          <p:cNvPr id="23" name="Rectangle 22">
            <a:extLst>
              <a:ext uri="{FF2B5EF4-FFF2-40B4-BE49-F238E27FC236}">
                <a16:creationId xmlns:a16="http://schemas.microsoft.com/office/drawing/2014/main" id="{EAF7BF52-7E11-116C-9365-8BD89DF048F6}"/>
              </a:ext>
            </a:extLst>
          </p:cNvPr>
          <p:cNvSpPr/>
          <p:nvPr/>
        </p:nvSpPr>
        <p:spPr>
          <a:xfrm>
            <a:off x="3268511" y="175080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Business team needs to evaluate the same and assign it to the team leads and provide priority flags</a:t>
            </a:r>
            <a:endParaRPr lang="en-IN" sz="1100" dirty="0">
              <a:solidFill>
                <a:srgbClr val="002060"/>
              </a:solidFill>
            </a:endParaRPr>
          </a:p>
        </p:txBody>
      </p:sp>
      <p:sp>
        <p:nvSpPr>
          <p:cNvPr id="24" name="Rectangle 23">
            <a:extLst>
              <a:ext uri="{FF2B5EF4-FFF2-40B4-BE49-F238E27FC236}">
                <a16:creationId xmlns:a16="http://schemas.microsoft.com/office/drawing/2014/main" id="{604B724E-8858-0434-C253-0FAA4B9B8C93}"/>
              </a:ext>
            </a:extLst>
          </p:cNvPr>
          <p:cNvSpPr/>
          <p:nvPr/>
        </p:nvSpPr>
        <p:spPr>
          <a:xfrm>
            <a:off x="5602302" y="175080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Team leads to perform quick evaluation and provide the input on timelines for implementing the changes</a:t>
            </a:r>
            <a:endParaRPr lang="en-IN" sz="1100" dirty="0">
              <a:solidFill>
                <a:srgbClr val="002060"/>
              </a:solidFill>
            </a:endParaRPr>
          </a:p>
        </p:txBody>
      </p:sp>
      <p:sp>
        <p:nvSpPr>
          <p:cNvPr id="25" name="Rectangle 24">
            <a:extLst>
              <a:ext uri="{FF2B5EF4-FFF2-40B4-BE49-F238E27FC236}">
                <a16:creationId xmlns:a16="http://schemas.microsoft.com/office/drawing/2014/main" id="{D371097F-A198-EE08-A37F-C08F850605D3}"/>
              </a:ext>
            </a:extLst>
          </p:cNvPr>
          <p:cNvSpPr/>
          <p:nvPr/>
        </p:nvSpPr>
        <p:spPr>
          <a:xfrm>
            <a:off x="8066511" y="1750809"/>
            <a:ext cx="1627770"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During the evaluation leads along with developer needs to assess the required optimization criteria</a:t>
            </a:r>
            <a:endParaRPr lang="en-IN" sz="1100" dirty="0">
              <a:solidFill>
                <a:srgbClr val="002060"/>
              </a:solidFill>
            </a:endParaRPr>
          </a:p>
        </p:txBody>
      </p:sp>
      <p:sp>
        <p:nvSpPr>
          <p:cNvPr id="26" name="Rectangle 25">
            <a:extLst>
              <a:ext uri="{FF2B5EF4-FFF2-40B4-BE49-F238E27FC236}">
                <a16:creationId xmlns:a16="http://schemas.microsoft.com/office/drawing/2014/main" id="{D2839485-1498-2DF3-0963-5F37AD5BF8AA}"/>
              </a:ext>
            </a:extLst>
          </p:cNvPr>
          <p:cNvSpPr/>
          <p:nvPr/>
        </p:nvSpPr>
        <p:spPr>
          <a:xfrm>
            <a:off x="9243212" y="2939529"/>
            <a:ext cx="1789374"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Timelines and the plan of optimization is shared with the ABC Corp leads (Asit / Harveen)</a:t>
            </a:r>
            <a:endParaRPr lang="en-IN" sz="1100" dirty="0">
              <a:solidFill>
                <a:srgbClr val="002060"/>
              </a:solidFill>
            </a:endParaRPr>
          </a:p>
        </p:txBody>
      </p:sp>
      <p:sp>
        <p:nvSpPr>
          <p:cNvPr id="27" name="Rectangle 26">
            <a:extLst>
              <a:ext uri="{FF2B5EF4-FFF2-40B4-BE49-F238E27FC236}">
                <a16:creationId xmlns:a16="http://schemas.microsoft.com/office/drawing/2014/main" id="{AD0AFD8A-845B-4549-14B0-BC86F7160BD5}"/>
              </a:ext>
            </a:extLst>
          </p:cNvPr>
          <p:cNvSpPr/>
          <p:nvPr/>
        </p:nvSpPr>
        <p:spPr>
          <a:xfrm>
            <a:off x="6779004" y="293952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Approval is to be provided by the ABC Corp leads on go-ahead with optimization or without optimization basis the priority</a:t>
            </a:r>
            <a:endParaRPr lang="en-IN" sz="1100" dirty="0">
              <a:solidFill>
                <a:srgbClr val="002060"/>
              </a:solidFill>
            </a:endParaRPr>
          </a:p>
        </p:txBody>
      </p:sp>
      <p:sp>
        <p:nvSpPr>
          <p:cNvPr id="29" name="Diamond 28">
            <a:extLst>
              <a:ext uri="{FF2B5EF4-FFF2-40B4-BE49-F238E27FC236}">
                <a16:creationId xmlns:a16="http://schemas.microsoft.com/office/drawing/2014/main" id="{B4F3731B-4123-1987-7C10-E0338926DD24}"/>
              </a:ext>
            </a:extLst>
          </p:cNvPr>
          <p:cNvSpPr/>
          <p:nvPr/>
        </p:nvSpPr>
        <p:spPr>
          <a:xfrm>
            <a:off x="4415843" y="2939529"/>
            <a:ext cx="1969602" cy="863600"/>
          </a:xfrm>
          <a:prstGeom prst="diamond">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With optimization?</a:t>
            </a:r>
            <a:endParaRPr lang="en-IN" sz="1100" dirty="0">
              <a:solidFill>
                <a:srgbClr val="002060"/>
              </a:solidFill>
            </a:endParaRPr>
          </a:p>
        </p:txBody>
      </p:sp>
      <p:sp>
        <p:nvSpPr>
          <p:cNvPr id="30" name="Rectangle 29">
            <a:extLst>
              <a:ext uri="{FF2B5EF4-FFF2-40B4-BE49-F238E27FC236}">
                <a16:creationId xmlns:a16="http://schemas.microsoft.com/office/drawing/2014/main" id="{CD9374AC-75A0-2D4E-AA75-E905C4CE77BD}"/>
              </a:ext>
            </a:extLst>
          </p:cNvPr>
          <p:cNvSpPr/>
          <p:nvPr/>
        </p:nvSpPr>
        <p:spPr>
          <a:xfrm>
            <a:off x="2083476" y="293952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Developer to start the development along with optimization features</a:t>
            </a:r>
            <a:endParaRPr lang="en-IN" sz="1100" dirty="0">
              <a:solidFill>
                <a:srgbClr val="002060"/>
              </a:solidFill>
            </a:endParaRPr>
          </a:p>
        </p:txBody>
      </p:sp>
      <p:sp>
        <p:nvSpPr>
          <p:cNvPr id="137" name="Rectangle 136">
            <a:extLst>
              <a:ext uri="{FF2B5EF4-FFF2-40B4-BE49-F238E27FC236}">
                <a16:creationId xmlns:a16="http://schemas.microsoft.com/office/drawing/2014/main" id="{A9768796-956D-DC1D-5A87-C8415E3E59A9}"/>
              </a:ext>
            </a:extLst>
          </p:cNvPr>
          <p:cNvSpPr/>
          <p:nvPr/>
        </p:nvSpPr>
        <p:spPr>
          <a:xfrm>
            <a:off x="3367996" y="425524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Make changes according to the requirement and create develop the pipeline / report</a:t>
            </a:r>
            <a:endParaRPr lang="en-IN" sz="1100" dirty="0">
              <a:solidFill>
                <a:srgbClr val="002060"/>
              </a:solidFill>
            </a:endParaRPr>
          </a:p>
        </p:txBody>
      </p:sp>
      <p:sp>
        <p:nvSpPr>
          <p:cNvPr id="138" name="Rectangle 137">
            <a:extLst>
              <a:ext uri="{FF2B5EF4-FFF2-40B4-BE49-F238E27FC236}">
                <a16:creationId xmlns:a16="http://schemas.microsoft.com/office/drawing/2014/main" id="{F77A1A69-E931-ECE2-4799-C3E97833CF33}"/>
              </a:ext>
            </a:extLst>
          </p:cNvPr>
          <p:cNvSpPr/>
          <p:nvPr/>
        </p:nvSpPr>
        <p:spPr>
          <a:xfrm>
            <a:off x="5729733" y="425524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Review by Tech lead and unit testing along with the team lead</a:t>
            </a:r>
            <a:endParaRPr lang="en-IN" sz="1100" dirty="0">
              <a:solidFill>
                <a:srgbClr val="002060"/>
              </a:solidFill>
            </a:endParaRPr>
          </a:p>
        </p:txBody>
      </p:sp>
      <p:sp>
        <p:nvSpPr>
          <p:cNvPr id="139" name="Rectangle 138">
            <a:extLst>
              <a:ext uri="{FF2B5EF4-FFF2-40B4-BE49-F238E27FC236}">
                <a16:creationId xmlns:a16="http://schemas.microsoft.com/office/drawing/2014/main" id="{1BAC06AD-FEC6-3145-AC62-F5C50FA6B365}"/>
              </a:ext>
            </a:extLst>
          </p:cNvPr>
          <p:cNvSpPr/>
          <p:nvPr/>
        </p:nvSpPr>
        <p:spPr>
          <a:xfrm>
            <a:off x="8063524" y="4255249"/>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The same is shared with ABC Corp leads and business teams for UAT</a:t>
            </a:r>
            <a:endParaRPr lang="en-IN" sz="1100" dirty="0">
              <a:solidFill>
                <a:srgbClr val="002060"/>
              </a:solidFill>
            </a:endParaRPr>
          </a:p>
        </p:txBody>
      </p:sp>
      <p:sp>
        <p:nvSpPr>
          <p:cNvPr id="140" name="Diamond 139">
            <a:extLst>
              <a:ext uri="{FF2B5EF4-FFF2-40B4-BE49-F238E27FC236}">
                <a16:creationId xmlns:a16="http://schemas.microsoft.com/office/drawing/2014/main" id="{C5711C6D-0C65-09F1-BF3A-A840F3A5C816}"/>
              </a:ext>
            </a:extLst>
          </p:cNvPr>
          <p:cNvSpPr/>
          <p:nvPr/>
        </p:nvSpPr>
        <p:spPr>
          <a:xfrm>
            <a:off x="5908146" y="5532457"/>
            <a:ext cx="1790547" cy="863600"/>
          </a:xfrm>
          <a:prstGeom prst="diamond">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Major / Minor changes?</a:t>
            </a:r>
            <a:endParaRPr lang="en-IN" sz="1100" dirty="0">
              <a:solidFill>
                <a:srgbClr val="002060"/>
              </a:solidFill>
            </a:endParaRPr>
          </a:p>
        </p:txBody>
      </p:sp>
      <p:sp>
        <p:nvSpPr>
          <p:cNvPr id="141" name="Rectangle 140">
            <a:extLst>
              <a:ext uri="{FF2B5EF4-FFF2-40B4-BE49-F238E27FC236}">
                <a16:creationId xmlns:a16="http://schemas.microsoft.com/office/drawing/2014/main" id="{4589709E-50B0-3869-D481-664770AD18D8}"/>
              </a:ext>
            </a:extLst>
          </p:cNvPr>
          <p:cNvSpPr/>
          <p:nvPr/>
        </p:nvSpPr>
        <p:spPr>
          <a:xfrm>
            <a:off x="2322499" y="5532457"/>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In case of major changes which are not provided in step 1 are again routed through  CR process</a:t>
            </a:r>
            <a:endParaRPr lang="en-IN" sz="1100" dirty="0">
              <a:solidFill>
                <a:srgbClr val="002060"/>
              </a:solidFill>
            </a:endParaRPr>
          </a:p>
        </p:txBody>
      </p:sp>
      <p:cxnSp>
        <p:nvCxnSpPr>
          <p:cNvPr id="143" name="Connector: Elbow 142">
            <a:extLst>
              <a:ext uri="{FF2B5EF4-FFF2-40B4-BE49-F238E27FC236}">
                <a16:creationId xmlns:a16="http://schemas.microsoft.com/office/drawing/2014/main" id="{EE2A6176-D8BA-AA52-BCA1-953E3058939C}"/>
              </a:ext>
            </a:extLst>
          </p:cNvPr>
          <p:cNvCxnSpPr>
            <a:stCxn id="141" idx="1"/>
            <a:endCxn id="22" idx="2"/>
          </p:cNvCxnSpPr>
          <p:nvPr/>
        </p:nvCxnSpPr>
        <p:spPr>
          <a:xfrm rot="10800000">
            <a:off x="1829995" y="2614409"/>
            <a:ext cx="492505" cy="3349848"/>
          </a:xfrm>
          <a:prstGeom prst="bentConnector2">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sp>
        <p:nvSpPr>
          <p:cNvPr id="144" name="Rectangle 143">
            <a:extLst>
              <a:ext uri="{FF2B5EF4-FFF2-40B4-BE49-F238E27FC236}">
                <a16:creationId xmlns:a16="http://schemas.microsoft.com/office/drawing/2014/main" id="{A73AC3B0-9C05-58A4-5A84-7AEC47079067}"/>
              </a:ext>
            </a:extLst>
          </p:cNvPr>
          <p:cNvSpPr/>
          <p:nvPr/>
        </p:nvSpPr>
        <p:spPr>
          <a:xfrm>
            <a:off x="8862211" y="5532457"/>
            <a:ext cx="1790547" cy="863600"/>
          </a:xfrm>
          <a:prstGeom prst="rect">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rPr>
              <a:t>Minor changes with or issues identified in UAT are resolved and the code is deployed in production</a:t>
            </a:r>
            <a:endParaRPr lang="en-IN" sz="1100" dirty="0">
              <a:solidFill>
                <a:srgbClr val="002060"/>
              </a:solidFill>
            </a:endParaRPr>
          </a:p>
        </p:txBody>
      </p:sp>
      <p:cxnSp>
        <p:nvCxnSpPr>
          <p:cNvPr id="146" name="Straight Arrow Connector 145">
            <a:extLst>
              <a:ext uri="{FF2B5EF4-FFF2-40B4-BE49-F238E27FC236}">
                <a16:creationId xmlns:a16="http://schemas.microsoft.com/office/drawing/2014/main" id="{1F5FE126-E54E-FEC9-C5AF-9A6DDA4158D9}"/>
              </a:ext>
            </a:extLst>
          </p:cNvPr>
          <p:cNvCxnSpPr>
            <a:stCxn id="22" idx="3"/>
            <a:endCxn id="23" idx="1"/>
          </p:cNvCxnSpPr>
          <p:nvPr/>
        </p:nvCxnSpPr>
        <p:spPr>
          <a:xfrm>
            <a:off x="2725267" y="2182609"/>
            <a:ext cx="543244"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48" name="Straight Arrow Connector 147">
            <a:extLst>
              <a:ext uri="{FF2B5EF4-FFF2-40B4-BE49-F238E27FC236}">
                <a16:creationId xmlns:a16="http://schemas.microsoft.com/office/drawing/2014/main" id="{38237D81-B8A8-5279-CC98-C260616FA314}"/>
              </a:ext>
            </a:extLst>
          </p:cNvPr>
          <p:cNvCxnSpPr>
            <a:stCxn id="23" idx="3"/>
            <a:endCxn id="24" idx="1"/>
          </p:cNvCxnSpPr>
          <p:nvPr/>
        </p:nvCxnSpPr>
        <p:spPr>
          <a:xfrm>
            <a:off x="5059058" y="2182609"/>
            <a:ext cx="543244"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50" name="Straight Arrow Connector 149">
            <a:extLst>
              <a:ext uri="{FF2B5EF4-FFF2-40B4-BE49-F238E27FC236}">
                <a16:creationId xmlns:a16="http://schemas.microsoft.com/office/drawing/2014/main" id="{B06EFE2C-2372-8CC8-7A85-600159B3CCE1}"/>
              </a:ext>
            </a:extLst>
          </p:cNvPr>
          <p:cNvCxnSpPr>
            <a:stCxn id="24" idx="3"/>
            <a:endCxn id="25" idx="1"/>
          </p:cNvCxnSpPr>
          <p:nvPr/>
        </p:nvCxnSpPr>
        <p:spPr>
          <a:xfrm>
            <a:off x="7392849" y="2182609"/>
            <a:ext cx="673662"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52" name="Connector: Elbow 151">
            <a:extLst>
              <a:ext uri="{FF2B5EF4-FFF2-40B4-BE49-F238E27FC236}">
                <a16:creationId xmlns:a16="http://schemas.microsoft.com/office/drawing/2014/main" id="{677F6C86-07EF-D7DA-D783-31A435A56C20}"/>
              </a:ext>
            </a:extLst>
          </p:cNvPr>
          <p:cNvCxnSpPr>
            <a:stCxn id="25" idx="3"/>
            <a:endCxn id="26" idx="0"/>
          </p:cNvCxnSpPr>
          <p:nvPr/>
        </p:nvCxnSpPr>
        <p:spPr>
          <a:xfrm>
            <a:off x="9694281" y="2182609"/>
            <a:ext cx="443618" cy="756920"/>
          </a:xfrm>
          <a:prstGeom prst="bentConnector2">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54" name="Straight Arrow Connector 153">
            <a:extLst>
              <a:ext uri="{FF2B5EF4-FFF2-40B4-BE49-F238E27FC236}">
                <a16:creationId xmlns:a16="http://schemas.microsoft.com/office/drawing/2014/main" id="{60B6AC23-2290-6637-0A49-FFAE9315E56E}"/>
              </a:ext>
            </a:extLst>
          </p:cNvPr>
          <p:cNvCxnSpPr>
            <a:stCxn id="26" idx="1"/>
            <a:endCxn id="27" idx="3"/>
          </p:cNvCxnSpPr>
          <p:nvPr/>
        </p:nvCxnSpPr>
        <p:spPr>
          <a:xfrm flipH="1">
            <a:off x="8569551" y="3371329"/>
            <a:ext cx="673662"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56" name="Straight Arrow Connector 155">
            <a:extLst>
              <a:ext uri="{FF2B5EF4-FFF2-40B4-BE49-F238E27FC236}">
                <a16:creationId xmlns:a16="http://schemas.microsoft.com/office/drawing/2014/main" id="{A0C0277B-7490-2883-3FD1-DB82753616C2}"/>
              </a:ext>
            </a:extLst>
          </p:cNvPr>
          <p:cNvCxnSpPr>
            <a:stCxn id="27" idx="1"/>
            <a:endCxn id="29" idx="3"/>
          </p:cNvCxnSpPr>
          <p:nvPr/>
        </p:nvCxnSpPr>
        <p:spPr>
          <a:xfrm flipH="1">
            <a:off x="6385446" y="3371329"/>
            <a:ext cx="393558"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59" name="Straight Arrow Connector 158">
            <a:extLst>
              <a:ext uri="{FF2B5EF4-FFF2-40B4-BE49-F238E27FC236}">
                <a16:creationId xmlns:a16="http://schemas.microsoft.com/office/drawing/2014/main" id="{00AB100E-E565-8AF1-B730-D542E6190A76}"/>
              </a:ext>
            </a:extLst>
          </p:cNvPr>
          <p:cNvCxnSpPr>
            <a:stCxn id="29" idx="1"/>
            <a:endCxn id="30" idx="3"/>
          </p:cNvCxnSpPr>
          <p:nvPr/>
        </p:nvCxnSpPr>
        <p:spPr>
          <a:xfrm flipH="1">
            <a:off x="3874023" y="3371329"/>
            <a:ext cx="541820"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384E4CFF-869F-2C3D-6C63-3EB5946316B5}"/>
              </a:ext>
            </a:extLst>
          </p:cNvPr>
          <p:cNvCxnSpPr>
            <a:cxnSpLocks/>
            <a:stCxn id="137" idx="3"/>
            <a:endCxn id="138" idx="1"/>
          </p:cNvCxnSpPr>
          <p:nvPr/>
        </p:nvCxnSpPr>
        <p:spPr>
          <a:xfrm>
            <a:off x="5158543" y="4687049"/>
            <a:ext cx="571189"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71" name="Straight Arrow Connector 170">
            <a:extLst>
              <a:ext uri="{FF2B5EF4-FFF2-40B4-BE49-F238E27FC236}">
                <a16:creationId xmlns:a16="http://schemas.microsoft.com/office/drawing/2014/main" id="{04683BC5-7457-58FD-3987-3FC2801A6BCE}"/>
              </a:ext>
            </a:extLst>
          </p:cNvPr>
          <p:cNvCxnSpPr>
            <a:stCxn id="138" idx="3"/>
            <a:endCxn id="139" idx="1"/>
          </p:cNvCxnSpPr>
          <p:nvPr/>
        </p:nvCxnSpPr>
        <p:spPr>
          <a:xfrm>
            <a:off x="7520280" y="4687049"/>
            <a:ext cx="543244"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75" name="Straight Arrow Connector 174">
            <a:extLst>
              <a:ext uri="{FF2B5EF4-FFF2-40B4-BE49-F238E27FC236}">
                <a16:creationId xmlns:a16="http://schemas.microsoft.com/office/drawing/2014/main" id="{A500A4B7-12DB-F55C-5B27-A8D9879A8449}"/>
              </a:ext>
            </a:extLst>
          </p:cNvPr>
          <p:cNvCxnSpPr>
            <a:stCxn id="140" idx="3"/>
            <a:endCxn id="144" idx="1"/>
          </p:cNvCxnSpPr>
          <p:nvPr/>
        </p:nvCxnSpPr>
        <p:spPr>
          <a:xfrm>
            <a:off x="7698693" y="5964257"/>
            <a:ext cx="1163518"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77" name="Straight Arrow Connector 176">
            <a:extLst>
              <a:ext uri="{FF2B5EF4-FFF2-40B4-BE49-F238E27FC236}">
                <a16:creationId xmlns:a16="http://schemas.microsoft.com/office/drawing/2014/main" id="{808775E7-8A59-C437-2257-539317354194}"/>
              </a:ext>
            </a:extLst>
          </p:cNvPr>
          <p:cNvCxnSpPr>
            <a:stCxn id="140" idx="1"/>
            <a:endCxn id="141" idx="3"/>
          </p:cNvCxnSpPr>
          <p:nvPr/>
        </p:nvCxnSpPr>
        <p:spPr>
          <a:xfrm flipH="1">
            <a:off x="4113046" y="5964257"/>
            <a:ext cx="1795100"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10CF102A-D4C4-9958-C70B-2603034C24C1}"/>
              </a:ext>
            </a:extLst>
          </p:cNvPr>
          <p:cNvSpPr/>
          <p:nvPr/>
        </p:nvSpPr>
        <p:spPr>
          <a:xfrm>
            <a:off x="1439604" y="1006416"/>
            <a:ext cx="780777" cy="400987"/>
          </a:xfrm>
          <a:prstGeom prst="ellipse">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2060"/>
                </a:solidFill>
              </a:rPr>
              <a:t>Start</a:t>
            </a:r>
            <a:endParaRPr lang="en-IN" sz="1200" dirty="0">
              <a:solidFill>
                <a:srgbClr val="002060"/>
              </a:solidFill>
            </a:endParaRPr>
          </a:p>
        </p:txBody>
      </p:sp>
      <p:sp>
        <p:nvSpPr>
          <p:cNvPr id="180" name="Oval 179">
            <a:extLst>
              <a:ext uri="{FF2B5EF4-FFF2-40B4-BE49-F238E27FC236}">
                <a16:creationId xmlns:a16="http://schemas.microsoft.com/office/drawing/2014/main" id="{EEC8FCDC-6121-C8F9-88F4-BBBADCA46BB2}"/>
              </a:ext>
            </a:extLst>
          </p:cNvPr>
          <p:cNvSpPr/>
          <p:nvPr/>
        </p:nvSpPr>
        <p:spPr>
          <a:xfrm>
            <a:off x="11211235" y="5763763"/>
            <a:ext cx="780777" cy="400987"/>
          </a:xfrm>
          <a:prstGeom prst="ellipse">
            <a:avLst/>
          </a:prstGeom>
          <a:solidFill>
            <a:srgbClr val="0C839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2060"/>
                </a:solidFill>
              </a:rPr>
              <a:t>End</a:t>
            </a:r>
            <a:endParaRPr lang="en-IN" sz="1400" dirty="0">
              <a:solidFill>
                <a:srgbClr val="002060"/>
              </a:solidFill>
            </a:endParaRPr>
          </a:p>
        </p:txBody>
      </p:sp>
      <p:cxnSp>
        <p:nvCxnSpPr>
          <p:cNvPr id="182" name="Straight Arrow Connector 181">
            <a:extLst>
              <a:ext uri="{FF2B5EF4-FFF2-40B4-BE49-F238E27FC236}">
                <a16:creationId xmlns:a16="http://schemas.microsoft.com/office/drawing/2014/main" id="{2F5978D2-5653-8278-3326-30C8F5F77399}"/>
              </a:ext>
            </a:extLst>
          </p:cNvPr>
          <p:cNvCxnSpPr>
            <a:stCxn id="179" idx="4"/>
            <a:endCxn id="22" idx="0"/>
          </p:cNvCxnSpPr>
          <p:nvPr/>
        </p:nvCxnSpPr>
        <p:spPr>
          <a:xfrm>
            <a:off x="1829993" y="1407403"/>
            <a:ext cx="1" cy="343406"/>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184" name="Straight Arrow Connector 183">
            <a:extLst>
              <a:ext uri="{FF2B5EF4-FFF2-40B4-BE49-F238E27FC236}">
                <a16:creationId xmlns:a16="http://schemas.microsoft.com/office/drawing/2014/main" id="{E2B0FF3C-106F-A358-1AB8-A5ACB48CA3C0}"/>
              </a:ext>
            </a:extLst>
          </p:cNvPr>
          <p:cNvCxnSpPr>
            <a:stCxn id="144" idx="3"/>
            <a:endCxn id="180" idx="2"/>
          </p:cNvCxnSpPr>
          <p:nvPr/>
        </p:nvCxnSpPr>
        <p:spPr>
          <a:xfrm>
            <a:off x="10652758" y="5964257"/>
            <a:ext cx="558477" cy="0"/>
          </a:xfrm>
          <a:prstGeom prst="straightConnector1">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4" name="Connector: Elbow 3">
            <a:extLst>
              <a:ext uri="{FF2B5EF4-FFF2-40B4-BE49-F238E27FC236}">
                <a16:creationId xmlns:a16="http://schemas.microsoft.com/office/drawing/2014/main" id="{AE05FE3B-A5E8-140C-6048-C08BF479FACE}"/>
              </a:ext>
            </a:extLst>
          </p:cNvPr>
          <p:cNvCxnSpPr>
            <a:stCxn id="29" idx="2"/>
            <a:endCxn id="137" idx="0"/>
          </p:cNvCxnSpPr>
          <p:nvPr/>
        </p:nvCxnSpPr>
        <p:spPr>
          <a:xfrm rot="5400000">
            <a:off x="4605897" y="3460502"/>
            <a:ext cx="452120" cy="1137374"/>
          </a:xfrm>
          <a:prstGeom prst="bentConnector3">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6" name="Connector: Elbow 5">
            <a:extLst>
              <a:ext uri="{FF2B5EF4-FFF2-40B4-BE49-F238E27FC236}">
                <a16:creationId xmlns:a16="http://schemas.microsoft.com/office/drawing/2014/main" id="{E6FD8788-44D4-B932-BC2D-FB229B4EEF37}"/>
              </a:ext>
            </a:extLst>
          </p:cNvPr>
          <p:cNvCxnSpPr>
            <a:stCxn id="30" idx="2"/>
            <a:endCxn id="137" idx="1"/>
          </p:cNvCxnSpPr>
          <p:nvPr/>
        </p:nvCxnSpPr>
        <p:spPr>
          <a:xfrm rot="16200000" flipH="1">
            <a:off x="2731413" y="4050466"/>
            <a:ext cx="883920" cy="389246"/>
          </a:xfrm>
          <a:prstGeom prst="bentConnector2">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05C7855F-A842-5C5E-AEBE-6CC728FCF043}"/>
              </a:ext>
            </a:extLst>
          </p:cNvPr>
          <p:cNvCxnSpPr>
            <a:stCxn id="139" idx="2"/>
            <a:endCxn id="140" idx="0"/>
          </p:cNvCxnSpPr>
          <p:nvPr/>
        </p:nvCxnSpPr>
        <p:spPr>
          <a:xfrm rot="5400000">
            <a:off x="7674305" y="4247964"/>
            <a:ext cx="413608" cy="2155378"/>
          </a:xfrm>
          <a:prstGeom prst="bentConnector3">
            <a:avLst/>
          </a:prstGeom>
          <a:ln w="50800" cmpd="thickThin">
            <a:solidFill>
              <a:srgbClr val="002060"/>
            </a:solidFill>
            <a:round/>
            <a:tailEnd type="stealth" w="lg" len="lg"/>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78E318EE-45A0-B95A-9FBB-C985EB300D42}"/>
              </a:ext>
            </a:extLst>
          </p:cNvPr>
          <p:cNvSpPr/>
          <p:nvPr/>
        </p:nvSpPr>
        <p:spPr>
          <a:xfrm>
            <a:off x="3929739" y="2993574"/>
            <a:ext cx="578188" cy="2449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Yes</a:t>
            </a:r>
            <a:endParaRPr lang="en-IN" sz="1400" b="1" dirty="0">
              <a:solidFill>
                <a:schemeClr val="tx1"/>
              </a:solidFill>
            </a:endParaRPr>
          </a:p>
        </p:txBody>
      </p:sp>
      <p:sp>
        <p:nvSpPr>
          <p:cNvPr id="10" name="Rectangle 9">
            <a:extLst>
              <a:ext uri="{FF2B5EF4-FFF2-40B4-BE49-F238E27FC236}">
                <a16:creationId xmlns:a16="http://schemas.microsoft.com/office/drawing/2014/main" id="{2EC6BC9C-6C7E-D7AB-6EA1-7E8E14C569A4}"/>
              </a:ext>
            </a:extLst>
          </p:cNvPr>
          <p:cNvSpPr/>
          <p:nvPr/>
        </p:nvSpPr>
        <p:spPr>
          <a:xfrm>
            <a:off x="4835534" y="5693480"/>
            <a:ext cx="769569" cy="2226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Major</a:t>
            </a:r>
            <a:endParaRPr lang="en-IN" sz="1400" b="1" dirty="0">
              <a:solidFill>
                <a:schemeClr val="tx1"/>
              </a:solidFill>
            </a:endParaRPr>
          </a:p>
        </p:txBody>
      </p:sp>
      <p:sp>
        <p:nvSpPr>
          <p:cNvPr id="11" name="Rectangle 10">
            <a:extLst>
              <a:ext uri="{FF2B5EF4-FFF2-40B4-BE49-F238E27FC236}">
                <a16:creationId xmlns:a16="http://schemas.microsoft.com/office/drawing/2014/main" id="{27364AD5-DC20-2411-B510-1DDD705C1B21}"/>
              </a:ext>
            </a:extLst>
          </p:cNvPr>
          <p:cNvSpPr/>
          <p:nvPr/>
        </p:nvSpPr>
        <p:spPr>
          <a:xfrm>
            <a:off x="7872646" y="5649933"/>
            <a:ext cx="769569" cy="2226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Minor</a:t>
            </a:r>
            <a:endParaRPr lang="en-IN" sz="1400" b="1" dirty="0">
              <a:solidFill>
                <a:schemeClr val="tx1"/>
              </a:solidFill>
            </a:endParaRPr>
          </a:p>
        </p:txBody>
      </p:sp>
      <p:sp>
        <p:nvSpPr>
          <p:cNvPr id="12" name="Rectangle 11">
            <a:extLst>
              <a:ext uri="{FF2B5EF4-FFF2-40B4-BE49-F238E27FC236}">
                <a16:creationId xmlns:a16="http://schemas.microsoft.com/office/drawing/2014/main" id="{0DE25859-37B9-5036-6E04-0F7F45810CEF}"/>
              </a:ext>
            </a:extLst>
          </p:cNvPr>
          <p:cNvSpPr/>
          <p:nvPr/>
        </p:nvSpPr>
        <p:spPr>
          <a:xfrm>
            <a:off x="4855023" y="3744688"/>
            <a:ext cx="578188" cy="2449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No</a:t>
            </a:r>
            <a:endParaRPr lang="en-IN" sz="1400" b="1" dirty="0">
              <a:solidFill>
                <a:schemeClr val="tx1"/>
              </a:solidFill>
            </a:endParaRPr>
          </a:p>
        </p:txBody>
      </p:sp>
    </p:spTree>
    <p:extLst>
      <p:ext uri="{BB962C8B-B14F-4D97-AF65-F5344CB8AC3E}">
        <p14:creationId xmlns:p14="http://schemas.microsoft.com/office/powerpoint/2010/main" val="107444045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New Request Management – Process Set-Up</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21" name="object 5">
            <a:extLst>
              <a:ext uri="{FF2B5EF4-FFF2-40B4-BE49-F238E27FC236}">
                <a16:creationId xmlns:a16="http://schemas.microsoft.com/office/drawing/2014/main" id="{FC4EC4BC-DCBE-655C-3EFA-5C032C0894DE}"/>
              </a:ext>
            </a:extLst>
          </p:cNvPr>
          <p:cNvSpPr/>
          <p:nvPr/>
        </p:nvSpPr>
        <p:spPr>
          <a:xfrm flipV="1">
            <a:off x="533918" y="2693985"/>
            <a:ext cx="10907409" cy="45719"/>
          </a:xfrm>
          <a:custGeom>
            <a:avLst/>
            <a:gdLst/>
            <a:ahLst/>
            <a:cxnLst/>
            <a:rect l="l" t="t" r="r" b="b"/>
            <a:pathLst>
              <a:path w="10581640">
                <a:moveTo>
                  <a:pt x="0" y="0"/>
                </a:moveTo>
                <a:lnTo>
                  <a:pt x="10581132" y="0"/>
                </a:lnTo>
              </a:path>
            </a:pathLst>
          </a:custGeom>
          <a:ln w="9144">
            <a:solidFill>
              <a:schemeClr val="accent2"/>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0DF05794-7858-73D7-2C58-ABD4B249B40C}"/>
              </a:ext>
            </a:extLst>
          </p:cNvPr>
          <p:cNvSpPr/>
          <p:nvPr/>
        </p:nvSpPr>
        <p:spPr>
          <a:xfrm>
            <a:off x="228142" y="2812850"/>
            <a:ext cx="23429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spc="-5" dirty="0">
                <a:solidFill>
                  <a:prstClr val="black"/>
                </a:solidFill>
                <a:latin typeface="Calibri" panose="020F0502020204030204" pitchFamily="34" charset="0"/>
                <a:ea typeface="Calibri" panose="020F0502020204030204" pitchFamily="34" charset="0"/>
                <a:cs typeface="Calibri" panose="020F0502020204030204" pitchFamily="34" charset="0"/>
              </a:rPr>
              <a:t>Request Submission </a:t>
            </a:r>
            <a:endParaRPr kumimoji="0" lang="en-US" sz="1400" b="1" i="0" u="none" strike="noStrike" kern="1200" cap="none" spc="-5"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0B82673A-79EA-96F2-A6A5-6138F3090892}"/>
              </a:ext>
            </a:extLst>
          </p:cNvPr>
          <p:cNvSpPr/>
          <p:nvPr/>
        </p:nvSpPr>
        <p:spPr>
          <a:xfrm>
            <a:off x="2182810" y="2802500"/>
            <a:ext cx="1787379" cy="307777"/>
          </a:xfrm>
          <a:prstGeom prst="rect">
            <a:avLst/>
          </a:prstGeom>
        </p:spPr>
        <p:txBody>
          <a:bodyPr wrap="square">
            <a:spAutoFit/>
          </a:bodyPr>
          <a:lstStyle/>
          <a:p>
            <a:pPr lvl="0" algn="ctr">
              <a:spcBef>
                <a:spcPts val="100"/>
              </a:spcBef>
              <a:defRPr/>
            </a:pPr>
            <a:r>
              <a:rPr lang="en-IN" sz="1400" b="1" spc="-5" dirty="0">
                <a:solidFill>
                  <a:prstClr val="black"/>
                </a:solidFill>
                <a:latin typeface="Calibri" panose="020F0502020204030204" pitchFamily="34" charset="0"/>
                <a:ea typeface="Calibri" panose="020F0502020204030204" pitchFamily="34" charset="0"/>
                <a:cs typeface="Calibri" panose="020F0502020204030204" pitchFamily="34" charset="0"/>
              </a:rPr>
              <a:t>Preliminary Review</a:t>
            </a:r>
            <a:endParaRPr lang="en-US" sz="1400" b="1" spc="-5"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B457FE89-D72D-5070-0022-7960194880CE}"/>
              </a:ext>
            </a:extLst>
          </p:cNvPr>
          <p:cNvSpPr/>
          <p:nvPr/>
        </p:nvSpPr>
        <p:spPr>
          <a:xfrm>
            <a:off x="2420510" y="3383986"/>
            <a:ext cx="1770994" cy="2970044"/>
          </a:xfrm>
          <a:prstGeom prst="rect">
            <a:avLst/>
          </a:prstGeom>
        </p:spPr>
        <p:txBody>
          <a:bodyPr wrap="square">
            <a:spAutoFit/>
          </a:bodyPr>
          <a:lstStyle/>
          <a:p>
            <a:pPr marL="171450" indent="-171450" fontAlgn="base">
              <a:spcBef>
                <a:spcPts val="600"/>
              </a:spcBef>
              <a:buFont typeface="Arial" panose="020B0604020202020204" pitchFamily="34" charset="0"/>
              <a:buChar char="•"/>
              <a:defRPr/>
            </a:pPr>
            <a:r>
              <a:rPr lang="en-US" altLang="en-US" sz="1400" dirty="0">
                <a:latin typeface="Calibri" panose="020F0502020204030204" pitchFamily="34" charset="0"/>
                <a:ea typeface="Calibri" panose="020F0502020204030204" pitchFamily="34" charset="0"/>
                <a:cs typeface="Calibri" panose="020F0502020204030204" pitchFamily="34" charset="0"/>
              </a:rPr>
              <a:t>Functional Head along with Business Analyst and Functional team gathers requirements to assess the feasibility, alignment and priority</a:t>
            </a:r>
          </a:p>
          <a:p>
            <a:pPr marL="171450" indent="-171450" fontAlgn="base">
              <a:spcBef>
                <a:spcPts val="600"/>
              </a:spcBef>
              <a:buFont typeface="Arial" panose="020B0604020202020204" pitchFamily="34" charset="0"/>
              <a:buChar char="•"/>
              <a:defRPr/>
            </a:pPr>
            <a:r>
              <a:rPr lang="en-US" altLang="en-US" sz="1400" dirty="0">
                <a:latin typeface="Calibri" panose="020F0502020204030204" pitchFamily="34" charset="0"/>
                <a:ea typeface="Calibri" panose="020F0502020204030204" pitchFamily="34" charset="0"/>
                <a:cs typeface="Calibri" panose="020F0502020204030204" pitchFamily="34" charset="0"/>
              </a:rPr>
              <a:t>Request is approved and priority assigned.</a:t>
            </a:r>
          </a:p>
        </p:txBody>
      </p:sp>
      <p:sp>
        <p:nvSpPr>
          <p:cNvPr id="25" name="Rectangle 24">
            <a:extLst>
              <a:ext uri="{FF2B5EF4-FFF2-40B4-BE49-F238E27FC236}">
                <a16:creationId xmlns:a16="http://schemas.microsoft.com/office/drawing/2014/main" id="{1BD424F5-0ADB-C6A1-7ED9-69691EFE711C}"/>
              </a:ext>
            </a:extLst>
          </p:cNvPr>
          <p:cNvSpPr/>
          <p:nvPr/>
        </p:nvSpPr>
        <p:spPr>
          <a:xfrm>
            <a:off x="4192282" y="2836615"/>
            <a:ext cx="2011823" cy="307777"/>
          </a:xfrm>
          <a:prstGeom prst="rect">
            <a:avLst/>
          </a:prstGeom>
        </p:spPr>
        <p:txBody>
          <a:bodyPr wrap="square">
            <a:spAutoFit/>
          </a:bodyPr>
          <a:lstStyle/>
          <a:p>
            <a:pPr algn="ctr">
              <a:spcBef>
                <a:spcPts val="100"/>
              </a:spcBef>
              <a:defRPr/>
            </a:pPr>
            <a:r>
              <a:rPr lang="en-US" sz="1400" b="1" spc="-5" dirty="0">
                <a:solidFill>
                  <a:prstClr val="black"/>
                </a:solidFill>
                <a:latin typeface="Calibri" panose="020F0502020204030204" pitchFamily="34" charset="0"/>
                <a:ea typeface="Calibri" panose="020F0502020204030204" pitchFamily="34" charset="0"/>
                <a:cs typeface="Calibri" panose="020F0502020204030204" pitchFamily="34" charset="0"/>
              </a:rPr>
              <a:t>Team Engagement</a:t>
            </a:r>
          </a:p>
        </p:txBody>
      </p:sp>
      <p:sp>
        <p:nvSpPr>
          <p:cNvPr id="26" name="Rectangle 25">
            <a:extLst>
              <a:ext uri="{FF2B5EF4-FFF2-40B4-BE49-F238E27FC236}">
                <a16:creationId xmlns:a16="http://schemas.microsoft.com/office/drawing/2014/main" id="{61515A5E-8698-B54B-1614-3C1B9100DE16}"/>
              </a:ext>
            </a:extLst>
          </p:cNvPr>
          <p:cNvSpPr/>
          <p:nvPr/>
        </p:nvSpPr>
        <p:spPr>
          <a:xfrm>
            <a:off x="4410788" y="3356550"/>
            <a:ext cx="1810105" cy="2428870"/>
          </a:xfrm>
          <a:prstGeom prst="rect">
            <a:avLst/>
          </a:prstGeom>
        </p:spPr>
        <p:txBody>
          <a:bodyPr wrap="square">
            <a:spAutoFit/>
          </a:bodyPr>
          <a:lstStyle/>
          <a:p>
            <a:pPr marL="171450" marR="0" lvl="0" indent="-171450" fontAlgn="base">
              <a:lnSpc>
                <a:spcPct val="100000"/>
              </a:lnSpc>
              <a:spcBef>
                <a:spcPts val="600"/>
              </a:spcBef>
              <a:spcAft>
                <a:spcPct val="0"/>
              </a:spcAft>
              <a:buClrTx/>
              <a:buSzTx/>
              <a:buFont typeface="Arial" panose="020B0604020202020204" pitchFamily="34" charset="0"/>
              <a:buChar char="•"/>
              <a:tabLst/>
              <a:defRPr/>
            </a:pPr>
            <a:r>
              <a:rPr lang="en-US" altLang="en-US" sz="1400" dirty="0">
                <a:latin typeface="Calibri" panose="020F0502020204030204" pitchFamily="34" charset="0"/>
                <a:ea typeface="Calibri" panose="020F0502020204030204" pitchFamily="34" charset="0"/>
                <a:cs typeface="Calibri" panose="020F0502020204030204" pitchFamily="34" charset="0"/>
              </a:rPr>
              <a:t>Business Team connects with client to refine scope and expectations.</a:t>
            </a:r>
          </a:p>
          <a:p>
            <a:pPr marL="171450" marR="0" lvl="0" indent="-171450" fontAlgn="base">
              <a:lnSpc>
                <a:spcPct val="100000"/>
              </a:lnSpc>
              <a:spcBef>
                <a:spcPts val="600"/>
              </a:spcBef>
              <a:spcAft>
                <a:spcPct val="0"/>
              </a:spcAft>
              <a:buClrTx/>
              <a:buSzTx/>
              <a:buFont typeface="Arial" panose="020B0604020202020204" pitchFamily="34" charset="0"/>
              <a:buChar char="•"/>
              <a:tabLst/>
              <a:defRPr/>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fontAlgn="base">
              <a:lnSpc>
                <a:spcPct val="100000"/>
              </a:lnSpc>
              <a:spcBef>
                <a:spcPts val="600"/>
              </a:spcBef>
              <a:spcAft>
                <a:spcPct val="0"/>
              </a:spcAft>
              <a:buClrTx/>
              <a:buSzTx/>
              <a:buFont typeface="Arial" panose="020B0604020202020204" pitchFamily="34" charset="0"/>
              <a:buChar char="•"/>
              <a:tabLst/>
              <a:defRPr/>
            </a:pPr>
            <a:r>
              <a:rPr lang="en-US" altLang="en-US" sz="1400" dirty="0">
                <a:latin typeface="Calibri" panose="020F0502020204030204" pitchFamily="34" charset="0"/>
                <a:ea typeface="Calibri" panose="020F0502020204030204" pitchFamily="34" charset="0"/>
                <a:cs typeface="Calibri" panose="020F0502020204030204" pitchFamily="34" charset="0"/>
              </a:rPr>
              <a:t>Establishes clarity before documentation begins.</a:t>
            </a:r>
          </a:p>
          <a:p>
            <a:pPr marL="186055" marR="13335" indent="-173990">
              <a:lnSpc>
                <a:spcPct val="100000"/>
              </a:lnSpc>
              <a:spcBef>
                <a:spcPts val="110"/>
              </a:spcBef>
              <a:buFont typeface="Arial"/>
              <a:buChar char="•"/>
              <a:tabLst>
                <a:tab pos="186055" algn="l"/>
                <a:tab pos="186690" algn="l"/>
              </a:tabLst>
            </a:pP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489CAF2-760E-D67E-A9FE-55E9F5A029B2}"/>
              </a:ext>
            </a:extLst>
          </p:cNvPr>
          <p:cNvSpPr/>
          <p:nvPr/>
        </p:nvSpPr>
        <p:spPr>
          <a:xfrm>
            <a:off x="6401295" y="2802500"/>
            <a:ext cx="1578043" cy="523220"/>
          </a:xfrm>
          <a:prstGeom prst="rect">
            <a:avLst/>
          </a:prstGeom>
        </p:spPr>
        <p:txBody>
          <a:bodyPr wrap="square">
            <a:spAutoFit/>
          </a:bodyPr>
          <a:lstStyle/>
          <a:p>
            <a:pPr lvl="0" algn="ctr">
              <a:spcBef>
                <a:spcPts val="100"/>
              </a:spcBef>
              <a:defRPr/>
            </a:pPr>
            <a:r>
              <a:rPr lang="en-IN" sz="1400" b="1" spc="-5" dirty="0">
                <a:solidFill>
                  <a:prstClr val="black"/>
                </a:solidFill>
                <a:latin typeface="Calibri" panose="020F0502020204030204" pitchFamily="34" charset="0"/>
                <a:ea typeface="Calibri" panose="020F0502020204030204" pitchFamily="34" charset="0"/>
                <a:cs typeface="Calibri" panose="020F0502020204030204" pitchFamily="34" charset="0"/>
              </a:rPr>
              <a:t>Documentation &amp; Estimation </a:t>
            </a:r>
            <a:endParaRPr lang="en-US" sz="1400" b="1" spc="-5"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5701BA44-8EFE-9CFF-EF6C-13416BEBA55D}"/>
              </a:ext>
            </a:extLst>
          </p:cNvPr>
          <p:cNvSpPr/>
          <p:nvPr/>
        </p:nvSpPr>
        <p:spPr>
          <a:xfrm>
            <a:off x="8185066" y="2830117"/>
            <a:ext cx="1951357" cy="523220"/>
          </a:xfrm>
          <a:prstGeom prst="rect">
            <a:avLst/>
          </a:prstGeom>
        </p:spPr>
        <p:txBody>
          <a:bodyPr wrap="square">
            <a:spAutoFit/>
          </a:bodyPr>
          <a:lstStyle/>
          <a:p>
            <a:pPr algn="ctr">
              <a:spcBef>
                <a:spcPts val="100"/>
              </a:spcBef>
              <a:defRPr/>
            </a:pPr>
            <a:r>
              <a:rPr lang="en-IN" sz="1400" b="1" spc="-5" dirty="0">
                <a:solidFill>
                  <a:prstClr val="black"/>
                </a:solidFill>
                <a:latin typeface="Calibri" panose="020F0502020204030204" pitchFamily="34" charset="0"/>
                <a:ea typeface="Calibri" panose="020F0502020204030204" pitchFamily="34" charset="0"/>
                <a:cs typeface="Calibri" panose="020F0502020204030204" pitchFamily="34" charset="0"/>
              </a:rPr>
              <a:t>Client Validation &amp; Approval</a:t>
            </a:r>
            <a:endParaRPr lang="en-US" sz="1400" b="1" spc="-5"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B13F6D09-F323-6C01-5178-9F639E60AA4C}"/>
              </a:ext>
            </a:extLst>
          </p:cNvPr>
          <p:cNvSpPr/>
          <p:nvPr/>
        </p:nvSpPr>
        <p:spPr>
          <a:xfrm>
            <a:off x="10028064" y="2840333"/>
            <a:ext cx="1966164" cy="307777"/>
          </a:xfrm>
          <a:prstGeom prst="rect">
            <a:avLst/>
          </a:prstGeom>
        </p:spPr>
        <p:txBody>
          <a:bodyPr wrap="square">
            <a:spAutoFit/>
          </a:bodyPr>
          <a:lstStyle/>
          <a:p>
            <a:pPr lvl="0" algn="ctr">
              <a:spcBef>
                <a:spcPts val="100"/>
              </a:spcBef>
              <a:defRPr/>
            </a:pPr>
            <a:r>
              <a:rPr lang="en-IN" sz="1400" b="1" spc="-5" dirty="0">
                <a:solidFill>
                  <a:prstClr val="black"/>
                </a:solidFill>
                <a:latin typeface="Calibri" panose="020F0502020204030204" pitchFamily="34" charset="0"/>
                <a:ea typeface="Calibri" panose="020F0502020204030204" pitchFamily="34" charset="0"/>
                <a:cs typeface="Calibri" panose="020F0502020204030204" pitchFamily="34" charset="0"/>
              </a:rPr>
              <a:t>Delivery Phases</a:t>
            </a:r>
            <a:endParaRPr lang="en-US" sz="1400" b="1" spc="-5"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279A0577-9976-6E6F-A594-9AF3D7ACA836}"/>
              </a:ext>
            </a:extLst>
          </p:cNvPr>
          <p:cNvGrpSpPr/>
          <p:nvPr/>
        </p:nvGrpSpPr>
        <p:grpSpPr>
          <a:xfrm>
            <a:off x="2504650" y="1061677"/>
            <a:ext cx="3279816" cy="1676345"/>
            <a:chOff x="2444598" y="1181035"/>
            <a:chExt cx="2747621" cy="1498006"/>
          </a:xfrm>
          <a:solidFill>
            <a:schemeClr val="tx1">
              <a:lumMod val="50000"/>
              <a:lumOff val="50000"/>
            </a:schemeClr>
          </a:solidFill>
        </p:grpSpPr>
        <p:sp>
          <p:nvSpPr>
            <p:cNvPr id="137" name="object 15">
              <a:extLst>
                <a:ext uri="{FF2B5EF4-FFF2-40B4-BE49-F238E27FC236}">
                  <a16:creationId xmlns:a16="http://schemas.microsoft.com/office/drawing/2014/main" id="{EB5367FD-2410-1A35-1381-5F5EAEB2CC9B}"/>
                </a:ext>
              </a:extLst>
            </p:cNvPr>
            <p:cNvSpPr/>
            <p:nvPr/>
          </p:nvSpPr>
          <p:spPr>
            <a:xfrm>
              <a:off x="2444598" y="1196598"/>
              <a:ext cx="951754" cy="995883"/>
            </a:xfrm>
            <a:custGeom>
              <a:avLst/>
              <a:gdLst/>
              <a:ahLst/>
              <a:cxnLst/>
              <a:rect l="l" t="t" r="r" b="b"/>
              <a:pathLst>
                <a:path w="1109980" h="1122045">
                  <a:moveTo>
                    <a:pt x="554735" y="0"/>
                  </a:moveTo>
                  <a:lnTo>
                    <a:pt x="506878" y="2058"/>
                  </a:lnTo>
                  <a:lnTo>
                    <a:pt x="460149" y="8121"/>
                  </a:lnTo>
                  <a:lnTo>
                    <a:pt x="414716" y="18021"/>
                  </a:lnTo>
                  <a:lnTo>
                    <a:pt x="370745" y="31589"/>
                  </a:lnTo>
                  <a:lnTo>
                    <a:pt x="328404" y="48656"/>
                  </a:lnTo>
                  <a:lnTo>
                    <a:pt x="287858" y="69055"/>
                  </a:lnTo>
                  <a:lnTo>
                    <a:pt x="249275" y="92618"/>
                  </a:lnTo>
                  <a:lnTo>
                    <a:pt x="212821" y="119175"/>
                  </a:lnTo>
                  <a:lnTo>
                    <a:pt x="178662" y="148559"/>
                  </a:lnTo>
                  <a:lnTo>
                    <a:pt x="146966" y="180601"/>
                  </a:lnTo>
                  <a:lnTo>
                    <a:pt x="117899" y="215133"/>
                  </a:lnTo>
                  <a:lnTo>
                    <a:pt x="91627" y="251987"/>
                  </a:lnTo>
                  <a:lnTo>
                    <a:pt x="68318" y="290994"/>
                  </a:lnTo>
                  <a:lnTo>
                    <a:pt x="48137" y="331986"/>
                  </a:lnTo>
                  <a:lnTo>
                    <a:pt x="31252" y="374795"/>
                  </a:lnTo>
                  <a:lnTo>
                    <a:pt x="17829" y="419252"/>
                  </a:lnTo>
                  <a:lnTo>
                    <a:pt x="8035" y="465190"/>
                  </a:lnTo>
                  <a:lnTo>
                    <a:pt x="2036" y="512439"/>
                  </a:lnTo>
                  <a:lnTo>
                    <a:pt x="0" y="560831"/>
                  </a:lnTo>
                  <a:lnTo>
                    <a:pt x="2036" y="609224"/>
                  </a:lnTo>
                  <a:lnTo>
                    <a:pt x="8035" y="656473"/>
                  </a:lnTo>
                  <a:lnTo>
                    <a:pt x="17829" y="702411"/>
                  </a:lnTo>
                  <a:lnTo>
                    <a:pt x="31252" y="746868"/>
                  </a:lnTo>
                  <a:lnTo>
                    <a:pt x="48137" y="789677"/>
                  </a:lnTo>
                  <a:lnTo>
                    <a:pt x="68318" y="830669"/>
                  </a:lnTo>
                  <a:lnTo>
                    <a:pt x="91627" y="869676"/>
                  </a:lnTo>
                  <a:lnTo>
                    <a:pt x="117899" y="906530"/>
                  </a:lnTo>
                  <a:lnTo>
                    <a:pt x="146966" y="941062"/>
                  </a:lnTo>
                  <a:lnTo>
                    <a:pt x="178662" y="973104"/>
                  </a:lnTo>
                  <a:lnTo>
                    <a:pt x="212821" y="1002488"/>
                  </a:lnTo>
                  <a:lnTo>
                    <a:pt x="249275" y="1029045"/>
                  </a:lnTo>
                  <a:lnTo>
                    <a:pt x="287858" y="1052608"/>
                  </a:lnTo>
                  <a:lnTo>
                    <a:pt x="328404" y="1073007"/>
                  </a:lnTo>
                  <a:lnTo>
                    <a:pt x="370745" y="1090074"/>
                  </a:lnTo>
                  <a:lnTo>
                    <a:pt x="414716" y="1103642"/>
                  </a:lnTo>
                  <a:lnTo>
                    <a:pt x="460149" y="1113542"/>
                  </a:lnTo>
                  <a:lnTo>
                    <a:pt x="506878" y="1119605"/>
                  </a:lnTo>
                  <a:lnTo>
                    <a:pt x="554735" y="1121664"/>
                  </a:lnTo>
                  <a:lnTo>
                    <a:pt x="602593" y="1119605"/>
                  </a:lnTo>
                  <a:lnTo>
                    <a:pt x="649322" y="1113542"/>
                  </a:lnTo>
                  <a:lnTo>
                    <a:pt x="694755" y="1103642"/>
                  </a:lnTo>
                  <a:lnTo>
                    <a:pt x="738726" y="1090074"/>
                  </a:lnTo>
                  <a:lnTo>
                    <a:pt x="781067" y="1073007"/>
                  </a:lnTo>
                  <a:lnTo>
                    <a:pt x="821613" y="1052608"/>
                  </a:lnTo>
                  <a:lnTo>
                    <a:pt x="860196" y="1029045"/>
                  </a:lnTo>
                  <a:lnTo>
                    <a:pt x="896650" y="1002488"/>
                  </a:lnTo>
                  <a:lnTo>
                    <a:pt x="930809" y="973104"/>
                  </a:lnTo>
                  <a:lnTo>
                    <a:pt x="945538" y="958214"/>
                  </a:lnTo>
                  <a:lnTo>
                    <a:pt x="554735" y="958214"/>
                  </a:lnTo>
                  <a:lnTo>
                    <a:pt x="505642" y="955118"/>
                  </a:lnTo>
                  <a:lnTo>
                    <a:pt x="458370" y="946077"/>
                  </a:lnTo>
                  <a:lnTo>
                    <a:pt x="413285" y="931465"/>
                  </a:lnTo>
                  <a:lnTo>
                    <a:pt x="370755" y="911652"/>
                  </a:lnTo>
                  <a:lnTo>
                    <a:pt x="331145" y="887013"/>
                  </a:lnTo>
                  <a:lnTo>
                    <a:pt x="294823" y="857920"/>
                  </a:lnTo>
                  <a:lnTo>
                    <a:pt x="262154" y="824744"/>
                  </a:lnTo>
                  <a:lnTo>
                    <a:pt x="233506" y="787859"/>
                  </a:lnTo>
                  <a:lnTo>
                    <a:pt x="209244" y="747638"/>
                  </a:lnTo>
                  <a:lnTo>
                    <a:pt x="189736" y="704452"/>
                  </a:lnTo>
                  <a:lnTo>
                    <a:pt x="175348" y="658673"/>
                  </a:lnTo>
                  <a:lnTo>
                    <a:pt x="166446" y="610676"/>
                  </a:lnTo>
                  <a:lnTo>
                    <a:pt x="163398" y="560831"/>
                  </a:lnTo>
                  <a:lnTo>
                    <a:pt x="166446" y="510987"/>
                  </a:lnTo>
                  <a:lnTo>
                    <a:pt x="175348" y="462990"/>
                  </a:lnTo>
                  <a:lnTo>
                    <a:pt x="189736" y="417211"/>
                  </a:lnTo>
                  <a:lnTo>
                    <a:pt x="209244" y="374025"/>
                  </a:lnTo>
                  <a:lnTo>
                    <a:pt x="233506" y="333804"/>
                  </a:lnTo>
                  <a:lnTo>
                    <a:pt x="262154" y="296919"/>
                  </a:lnTo>
                  <a:lnTo>
                    <a:pt x="294823" y="263743"/>
                  </a:lnTo>
                  <a:lnTo>
                    <a:pt x="331145" y="234650"/>
                  </a:lnTo>
                  <a:lnTo>
                    <a:pt x="370755" y="210011"/>
                  </a:lnTo>
                  <a:lnTo>
                    <a:pt x="413285" y="190198"/>
                  </a:lnTo>
                  <a:lnTo>
                    <a:pt x="458370" y="175586"/>
                  </a:lnTo>
                  <a:lnTo>
                    <a:pt x="505642" y="166545"/>
                  </a:lnTo>
                  <a:lnTo>
                    <a:pt x="554735" y="163449"/>
                  </a:lnTo>
                  <a:lnTo>
                    <a:pt x="945538" y="163449"/>
                  </a:lnTo>
                  <a:lnTo>
                    <a:pt x="930809" y="148559"/>
                  </a:lnTo>
                  <a:lnTo>
                    <a:pt x="896650" y="119175"/>
                  </a:lnTo>
                  <a:lnTo>
                    <a:pt x="860196" y="92618"/>
                  </a:lnTo>
                  <a:lnTo>
                    <a:pt x="821613" y="69055"/>
                  </a:lnTo>
                  <a:lnTo>
                    <a:pt x="781067" y="48656"/>
                  </a:lnTo>
                  <a:lnTo>
                    <a:pt x="738726" y="31589"/>
                  </a:lnTo>
                  <a:lnTo>
                    <a:pt x="694755" y="18021"/>
                  </a:lnTo>
                  <a:lnTo>
                    <a:pt x="649322" y="8121"/>
                  </a:lnTo>
                  <a:lnTo>
                    <a:pt x="602593" y="2058"/>
                  </a:lnTo>
                  <a:lnTo>
                    <a:pt x="554735" y="0"/>
                  </a:lnTo>
                  <a:close/>
                </a:path>
                <a:path w="1109980" h="1122045">
                  <a:moveTo>
                    <a:pt x="945538" y="163449"/>
                  </a:moveTo>
                  <a:lnTo>
                    <a:pt x="554735" y="163449"/>
                  </a:lnTo>
                  <a:lnTo>
                    <a:pt x="603828" y="166545"/>
                  </a:lnTo>
                  <a:lnTo>
                    <a:pt x="651098" y="175586"/>
                  </a:lnTo>
                  <a:lnTo>
                    <a:pt x="696179" y="190198"/>
                  </a:lnTo>
                  <a:lnTo>
                    <a:pt x="738705" y="210011"/>
                  </a:lnTo>
                  <a:lnTo>
                    <a:pt x="778309" y="234650"/>
                  </a:lnTo>
                  <a:lnTo>
                    <a:pt x="814626" y="263743"/>
                  </a:lnTo>
                  <a:lnTo>
                    <a:pt x="847289" y="296919"/>
                  </a:lnTo>
                  <a:lnTo>
                    <a:pt x="875931" y="333804"/>
                  </a:lnTo>
                  <a:lnTo>
                    <a:pt x="900187" y="374025"/>
                  </a:lnTo>
                  <a:lnTo>
                    <a:pt x="919691" y="417211"/>
                  </a:lnTo>
                  <a:lnTo>
                    <a:pt x="934075" y="462990"/>
                  </a:lnTo>
                  <a:lnTo>
                    <a:pt x="942975" y="510987"/>
                  </a:lnTo>
                  <a:lnTo>
                    <a:pt x="946022" y="560831"/>
                  </a:lnTo>
                  <a:lnTo>
                    <a:pt x="942975" y="610676"/>
                  </a:lnTo>
                  <a:lnTo>
                    <a:pt x="934075" y="658673"/>
                  </a:lnTo>
                  <a:lnTo>
                    <a:pt x="919691" y="704452"/>
                  </a:lnTo>
                  <a:lnTo>
                    <a:pt x="900187" y="747638"/>
                  </a:lnTo>
                  <a:lnTo>
                    <a:pt x="875931" y="787859"/>
                  </a:lnTo>
                  <a:lnTo>
                    <a:pt x="847289" y="824744"/>
                  </a:lnTo>
                  <a:lnTo>
                    <a:pt x="814626" y="857920"/>
                  </a:lnTo>
                  <a:lnTo>
                    <a:pt x="778309" y="887013"/>
                  </a:lnTo>
                  <a:lnTo>
                    <a:pt x="738705" y="911652"/>
                  </a:lnTo>
                  <a:lnTo>
                    <a:pt x="696179" y="931465"/>
                  </a:lnTo>
                  <a:lnTo>
                    <a:pt x="651098" y="946077"/>
                  </a:lnTo>
                  <a:lnTo>
                    <a:pt x="603828" y="955118"/>
                  </a:lnTo>
                  <a:lnTo>
                    <a:pt x="554735" y="958214"/>
                  </a:lnTo>
                  <a:lnTo>
                    <a:pt x="945538" y="958214"/>
                  </a:lnTo>
                  <a:lnTo>
                    <a:pt x="991572" y="906530"/>
                  </a:lnTo>
                  <a:lnTo>
                    <a:pt x="1017844" y="869676"/>
                  </a:lnTo>
                  <a:lnTo>
                    <a:pt x="1041153" y="830669"/>
                  </a:lnTo>
                  <a:lnTo>
                    <a:pt x="1061334" y="789677"/>
                  </a:lnTo>
                  <a:lnTo>
                    <a:pt x="1078219" y="746868"/>
                  </a:lnTo>
                  <a:lnTo>
                    <a:pt x="1091642" y="702411"/>
                  </a:lnTo>
                  <a:lnTo>
                    <a:pt x="1101436" y="656473"/>
                  </a:lnTo>
                  <a:lnTo>
                    <a:pt x="1107435" y="609224"/>
                  </a:lnTo>
                  <a:lnTo>
                    <a:pt x="1109472" y="560831"/>
                  </a:lnTo>
                  <a:lnTo>
                    <a:pt x="1107435" y="512439"/>
                  </a:lnTo>
                  <a:lnTo>
                    <a:pt x="1101436" y="465190"/>
                  </a:lnTo>
                  <a:lnTo>
                    <a:pt x="1091642" y="419252"/>
                  </a:lnTo>
                  <a:lnTo>
                    <a:pt x="1078219" y="374795"/>
                  </a:lnTo>
                  <a:lnTo>
                    <a:pt x="1061334" y="331986"/>
                  </a:lnTo>
                  <a:lnTo>
                    <a:pt x="1041153" y="290994"/>
                  </a:lnTo>
                  <a:lnTo>
                    <a:pt x="1017844" y="251987"/>
                  </a:lnTo>
                  <a:lnTo>
                    <a:pt x="991572" y="215133"/>
                  </a:lnTo>
                  <a:lnTo>
                    <a:pt x="962505" y="180601"/>
                  </a:lnTo>
                  <a:lnTo>
                    <a:pt x="945538" y="163449"/>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8" name="Circle: Hollow 137">
              <a:extLst>
                <a:ext uri="{FF2B5EF4-FFF2-40B4-BE49-F238E27FC236}">
                  <a16:creationId xmlns:a16="http://schemas.microsoft.com/office/drawing/2014/main" id="{C2D3C2BA-AE44-5A7B-8FA3-D9CCB60D92B4}"/>
                </a:ext>
              </a:extLst>
            </p:cNvPr>
            <p:cNvSpPr/>
            <p:nvPr/>
          </p:nvSpPr>
          <p:spPr>
            <a:xfrm>
              <a:off x="2843803" y="2522935"/>
              <a:ext cx="164607" cy="156106"/>
            </a:xfrm>
            <a:prstGeom prst="donut">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9" name="object 19">
              <a:extLst>
                <a:ext uri="{FF2B5EF4-FFF2-40B4-BE49-F238E27FC236}">
                  <a16:creationId xmlns:a16="http://schemas.microsoft.com/office/drawing/2014/main" id="{07896C26-9E6E-8AB1-30EB-6CFA329C7B94}"/>
                </a:ext>
              </a:extLst>
            </p:cNvPr>
            <p:cNvSpPr/>
            <p:nvPr/>
          </p:nvSpPr>
          <p:spPr>
            <a:xfrm rot="21409930" flipH="1">
              <a:off x="2897353" y="2167687"/>
              <a:ext cx="38580" cy="385890"/>
            </a:xfrm>
            <a:custGeom>
              <a:avLst/>
              <a:gdLst/>
              <a:ahLst/>
              <a:cxnLst/>
              <a:rect l="l" t="t" r="r" b="b"/>
              <a:pathLst>
                <a:path w="1270" h="318769">
                  <a:moveTo>
                    <a:pt x="0" y="0"/>
                  </a:moveTo>
                  <a:lnTo>
                    <a:pt x="762" y="318642"/>
                  </a:lnTo>
                </a:path>
              </a:pathLst>
            </a:custGeom>
            <a:grpFill/>
            <a:ln w="12192">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0" name="object 15">
              <a:extLst>
                <a:ext uri="{FF2B5EF4-FFF2-40B4-BE49-F238E27FC236}">
                  <a16:creationId xmlns:a16="http://schemas.microsoft.com/office/drawing/2014/main" id="{86B2F173-A787-9E3F-F0A4-5EF5BA1ED66C}"/>
                </a:ext>
              </a:extLst>
            </p:cNvPr>
            <p:cNvSpPr/>
            <p:nvPr/>
          </p:nvSpPr>
          <p:spPr>
            <a:xfrm>
              <a:off x="4240465" y="1181035"/>
              <a:ext cx="951754" cy="995883"/>
            </a:xfrm>
            <a:custGeom>
              <a:avLst/>
              <a:gdLst/>
              <a:ahLst/>
              <a:cxnLst/>
              <a:rect l="l" t="t" r="r" b="b"/>
              <a:pathLst>
                <a:path w="1109980" h="1122045">
                  <a:moveTo>
                    <a:pt x="554735" y="0"/>
                  </a:moveTo>
                  <a:lnTo>
                    <a:pt x="506878" y="2058"/>
                  </a:lnTo>
                  <a:lnTo>
                    <a:pt x="460149" y="8121"/>
                  </a:lnTo>
                  <a:lnTo>
                    <a:pt x="414716" y="18021"/>
                  </a:lnTo>
                  <a:lnTo>
                    <a:pt x="370745" y="31589"/>
                  </a:lnTo>
                  <a:lnTo>
                    <a:pt x="328404" y="48656"/>
                  </a:lnTo>
                  <a:lnTo>
                    <a:pt x="287858" y="69055"/>
                  </a:lnTo>
                  <a:lnTo>
                    <a:pt x="249275" y="92618"/>
                  </a:lnTo>
                  <a:lnTo>
                    <a:pt x="212821" y="119175"/>
                  </a:lnTo>
                  <a:lnTo>
                    <a:pt x="178662" y="148559"/>
                  </a:lnTo>
                  <a:lnTo>
                    <a:pt x="146966" y="180601"/>
                  </a:lnTo>
                  <a:lnTo>
                    <a:pt x="117899" y="215133"/>
                  </a:lnTo>
                  <a:lnTo>
                    <a:pt x="91627" y="251987"/>
                  </a:lnTo>
                  <a:lnTo>
                    <a:pt x="68318" y="290994"/>
                  </a:lnTo>
                  <a:lnTo>
                    <a:pt x="48137" y="331986"/>
                  </a:lnTo>
                  <a:lnTo>
                    <a:pt x="31252" y="374795"/>
                  </a:lnTo>
                  <a:lnTo>
                    <a:pt x="17829" y="419252"/>
                  </a:lnTo>
                  <a:lnTo>
                    <a:pt x="8035" y="465190"/>
                  </a:lnTo>
                  <a:lnTo>
                    <a:pt x="2036" y="512439"/>
                  </a:lnTo>
                  <a:lnTo>
                    <a:pt x="0" y="560831"/>
                  </a:lnTo>
                  <a:lnTo>
                    <a:pt x="2036" y="609224"/>
                  </a:lnTo>
                  <a:lnTo>
                    <a:pt x="8035" y="656473"/>
                  </a:lnTo>
                  <a:lnTo>
                    <a:pt x="17829" y="702411"/>
                  </a:lnTo>
                  <a:lnTo>
                    <a:pt x="31252" y="746868"/>
                  </a:lnTo>
                  <a:lnTo>
                    <a:pt x="48137" y="789677"/>
                  </a:lnTo>
                  <a:lnTo>
                    <a:pt x="68318" y="830669"/>
                  </a:lnTo>
                  <a:lnTo>
                    <a:pt x="91627" y="869676"/>
                  </a:lnTo>
                  <a:lnTo>
                    <a:pt x="117899" y="906530"/>
                  </a:lnTo>
                  <a:lnTo>
                    <a:pt x="146966" y="941062"/>
                  </a:lnTo>
                  <a:lnTo>
                    <a:pt x="178662" y="973104"/>
                  </a:lnTo>
                  <a:lnTo>
                    <a:pt x="212821" y="1002488"/>
                  </a:lnTo>
                  <a:lnTo>
                    <a:pt x="249275" y="1029045"/>
                  </a:lnTo>
                  <a:lnTo>
                    <a:pt x="287858" y="1052608"/>
                  </a:lnTo>
                  <a:lnTo>
                    <a:pt x="328404" y="1073007"/>
                  </a:lnTo>
                  <a:lnTo>
                    <a:pt x="370745" y="1090074"/>
                  </a:lnTo>
                  <a:lnTo>
                    <a:pt x="414716" y="1103642"/>
                  </a:lnTo>
                  <a:lnTo>
                    <a:pt x="460149" y="1113542"/>
                  </a:lnTo>
                  <a:lnTo>
                    <a:pt x="506878" y="1119605"/>
                  </a:lnTo>
                  <a:lnTo>
                    <a:pt x="554735" y="1121664"/>
                  </a:lnTo>
                  <a:lnTo>
                    <a:pt x="602593" y="1119605"/>
                  </a:lnTo>
                  <a:lnTo>
                    <a:pt x="649322" y="1113542"/>
                  </a:lnTo>
                  <a:lnTo>
                    <a:pt x="694755" y="1103642"/>
                  </a:lnTo>
                  <a:lnTo>
                    <a:pt x="738726" y="1090074"/>
                  </a:lnTo>
                  <a:lnTo>
                    <a:pt x="781067" y="1073007"/>
                  </a:lnTo>
                  <a:lnTo>
                    <a:pt x="821613" y="1052608"/>
                  </a:lnTo>
                  <a:lnTo>
                    <a:pt x="860196" y="1029045"/>
                  </a:lnTo>
                  <a:lnTo>
                    <a:pt x="896650" y="1002488"/>
                  </a:lnTo>
                  <a:lnTo>
                    <a:pt x="930809" y="973104"/>
                  </a:lnTo>
                  <a:lnTo>
                    <a:pt x="945538" y="958214"/>
                  </a:lnTo>
                  <a:lnTo>
                    <a:pt x="554735" y="958214"/>
                  </a:lnTo>
                  <a:lnTo>
                    <a:pt x="505642" y="955118"/>
                  </a:lnTo>
                  <a:lnTo>
                    <a:pt x="458370" y="946077"/>
                  </a:lnTo>
                  <a:lnTo>
                    <a:pt x="413285" y="931465"/>
                  </a:lnTo>
                  <a:lnTo>
                    <a:pt x="370755" y="911652"/>
                  </a:lnTo>
                  <a:lnTo>
                    <a:pt x="331145" y="887013"/>
                  </a:lnTo>
                  <a:lnTo>
                    <a:pt x="294823" y="857920"/>
                  </a:lnTo>
                  <a:lnTo>
                    <a:pt x="262154" y="824744"/>
                  </a:lnTo>
                  <a:lnTo>
                    <a:pt x="233506" y="787859"/>
                  </a:lnTo>
                  <a:lnTo>
                    <a:pt x="209244" y="747638"/>
                  </a:lnTo>
                  <a:lnTo>
                    <a:pt x="189736" y="704452"/>
                  </a:lnTo>
                  <a:lnTo>
                    <a:pt x="175348" y="658673"/>
                  </a:lnTo>
                  <a:lnTo>
                    <a:pt x="166446" y="610676"/>
                  </a:lnTo>
                  <a:lnTo>
                    <a:pt x="163398" y="560831"/>
                  </a:lnTo>
                  <a:lnTo>
                    <a:pt x="166446" y="510987"/>
                  </a:lnTo>
                  <a:lnTo>
                    <a:pt x="175348" y="462990"/>
                  </a:lnTo>
                  <a:lnTo>
                    <a:pt x="189736" y="417211"/>
                  </a:lnTo>
                  <a:lnTo>
                    <a:pt x="209244" y="374025"/>
                  </a:lnTo>
                  <a:lnTo>
                    <a:pt x="233506" y="333804"/>
                  </a:lnTo>
                  <a:lnTo>
                    <a:pt x="262154" y="296919"/>
                  </a:lnTo>
                  <a:lnTo>
                    <a:pt x="294823" y="263743"/>
                  </a:lnTo>
                  <a:lnTo>
                    <a:pt x="331145" y="234650"/>
                  </a:lnTo>
                  <a:lnTo>
                    <a:pt x="370755" y="210011"/>
                  </a:lnTo>
                  <a:lnTo>
                    <a:pt x="413285" y="190198"/>
                  </a:lnTo>
                  <a:lnTo>
                    <a:pt x="458370" y="175586"/>
                  </a:lnTo>
                  <a:lnTo>
                    <a:pt x="505642" y="166545"/>
                  </a:lnTo>
                  <a:lnTo>
                    <a:pt x="554735" y="163449"/>
                  </a:lnTo>
                  <a:lnTo>
                    <a:pt x="945538" y="163449"/>
                  </a:lnTo>
                  <a:lnTo>
                    <a:pt x="930809" y="148559"/>
                  </a:lnTo>
                  <a:lnTo>
                    <a:pt x="896650" y="119175"/>
                  </a:lnTo>
                  <a:lnTo>
                    <a:pt x="860196" y="92618"/>
                  </a:lnTo>
                  <a:lnTo>
                    <a:pt x="821613" y="69055"/>
                  </a:lnTo>
                  <a:lnTo>
                    <a:pt x="781067" y="48656"/>
                  </a:lnTo>
                  <a:lnTo>
                    <a:pt x="738726" y="31589"/>
                  </a:lnTo>
                  <a:lnTo>
                    <a:pt x="694755" y="18021"/>
                  </a:lnTo>
                  <a:lnTo>
                    <a:pt x="649322" y="8121"/>
                  </a:lnTo>
                  <a:lnTo>
                    <a:pt x="602593" y="2058"/>
                  </a:lnTo>
                  <a:lnTo>
                    <a:pt x="554735" y="0"/>
                  </a:lnTo>
                  <a:close/>
                </a:path>
                <a:path w="1109980" h="1122045">
                  <a:moveTo>
                    <a:pt x="945538" y="163449"/>
                  </a:moveTo>
                  <a:lnTo>
                    <a:pt x="554735" y="163449"/>
                  </a:lnTo>
                  <a:lnTo>
                    <a:pt x="603828" y="166545"/>
                  </a:lnTo>
                  <a:lnTo>
                    <a:pt x="651098" y="175586"/>
                  </a:lnTo>
                  <a:lnTo>
                    <a:pt x="696179" y="190198"/>
                  </a:lnTo>
                  <a:lnTo>
                    <a:pt x="738705" y="210011"/>
                  </a:lnTo>
                  <a:lnTo>
                    <a:pt x="778309" y="234650"/>
                  </a:lnTo>
                  <a:lnTo>
                    <a:pt x="814626" y="263743"/>
                  </a:lnTo>
                  <a:lnTo>
                    <a:pt x="847289" y="296919"/>
                  </a:lnTo>
                  <a:lnTo>
                    <a:pt x="875931" y="333804"/>
                  </a:lnTo>
                  <a:lnTo>
                    <a:pt x="900187" y="374025"/>
                  </a:lnTo>
                  <a:lnTo>
                    <a:pt x="919691" y="417211"/>
                  </a:lnTo>
                  <a:lnTo>
                    <a:pt x="934075" y="462990"/>
                  </a:lnTo>
                  <a:lnTo>
                    <a:pt x="942975" y="510987"/>
                  </a:lnTo>
                  <a:lnTo>
                    <a:pt x="946022" y="560831"/>
                  </a:lnTo>
                  <a:lnTo>
                    <a:pt x="942975" y="610676"/>
                  </a:lnTo>
                  <a:lnTo>
                    <a:pt x="934075" y="658673"/>
                  </a:lnTo>
                  <a:lnTo>
                    <a:pt x="919691" y="704452"/>
                  </a:lnTo>
                  <a:lnTo>
                    <a:pt x="900187" y="747638"/>
                  </a:lnTo>
                  <a:lnTo>
                    <a:pt x="875931" y="787859"/>
                  </a:lnTo>
                  <a:lnTo>
                    <a:pt x="847289" y="824744"/>
                  </a:lnTo>
                  <a:lnTo>
                    <a:pt x="814626" y="857920"/>
                  </a:lnTo>
                  <a:lnTo>
                    <a:pt x="778309" y="887013"/>
                  </a:lnTo>
                  <a:lnTo>
                    <a:pt x="738705" y="911652"/>
                  </a:lnTo>
                  <a:lnTo>
                    <a:pt x="696179" y="931465"/>
                  </a:lnTo>
                  <a:lnTo>
                    <a:pt x="651098" y="946077"/>
                  </a:lnTo>
                  <a:lnTo>
                    <a:pt x="603828" y="955118"/>
                  </a:lnTo>
                  <a:lnTo>
                    <a:pt x="554735" y="958214"/>
                  </a:lnTo>
                  <a:lnTo>
                    <a:pt x="945538" y="958214"/>
                  </a:lnTo>
                  <a:lnTo>
                    <a:pt x="991572" y="906530"/>
                  </a:lnTo>
                  <a:lnTo>
                    <a:pt x="1017844" y="869676"/>
                  </a:lnTo>
                  <a:lnTo>
                    <a:pt x="1041153" y="830669"/>
                  </a:lnTo>
                  <a:lnTo>
                    <a:pt x="1061334" y="789677"/>
                  </a:lnTo>
                  <a:lnTo>
                    <a:pt x="1078219" y="746868"/>
                  </a:lnTo>
                  <a:lnTo>
                    <a:pt x="1091642" y="702411"/>
                  </a:lnTo>
                  <a:lnTo>
                    <a:pt x="1101436" y="656473"/>
                  </a:lnTo>
                  <a:lnTo>
                    <a:pt x="1107435" y="609224"/>
                  </a:lnTo>
                  <a:lnTo>
                    <a:pt x="1109472" y="560831"/>
                  </a:lnTo>
                  <a:lnTo>
                    <a:pt x="1107435" y="512439"/>
                  </a:lnTo>
                  <a:lnTo>
                    <a:pt x="1101436" y="465190"/>
                  </a:lnTo>
                  <a:lnTo>
                    <a:pt x="1091642" y="419252"/>
                  </a:lnTo>
                  <a:lnTo>
                    <a:pt x="1078219" y="374795"/>
                  </a:lnTo>
                  <a:lnTo>
                    <a:pt x="1061334" y="331986"/>
                  </a:lnTo>
                  <a:lnTo>
                    <a:pt x="1041153" y="290994"/>
                  </a:lnTo>
                  <a:lnTo>
                    <a:pt x="1017844" y="251987"/>
                  </a:lnTo>
                  <a:lnTo>
                    <a:pt x="991572" y="215133"/>
                  </a:lnTo>
                  <a:lnTo>
                    <a:pt x="962505" y="180601"/>
                  </a:lnTo>
                  <a:lnTo>
                    <a:pt x="945538" y="163449"/>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141" name="Group 140">
            <a:extLst>
              <a:ext uri="{FF2B5EF4-FFF2-40B4-BE49-F238E27FC236}">
                <a16:creationId xmlns:a16="http://schemas.microsoft.com/office/drawing/2014/main" id="{195BCD9E-8DEE-2CE2-A46F-0A286A66FD44}"/>
              </a:ext>
            </a:extLst>
          </p:cNvPr>
          <p:cNvGrpSpPr/>
          <p:nvPr/>
        </p:nvGrpSpPr>
        <p:grpSpPr>
          <a:xfrm>
            <a:off x="415393" y="1078951"/>
            <a:ext cx="1136102" cy="1689002"/>
            <a:chOff x="364302" y="1227289"/>
            <a:chExt cx="988223" cy="1475616"/>
          </a:xfrm>
          <a:solidFill>
            <a:schemeClr val="tx1">
              <a:lumMod val="50000"/>
              <a:lumOff val="50000"/>
            </a:schemeClr>
          </a:solidFill>
        </p:grpSpPr>
        <p:sp>
          <p:nvSpPr>
            <p:cNvPr id="142" name="object 15">
              <a:extLst>
                <a:ext uri="{FF2B5EF4-FFF2-40B4-BE49-F238E27FC236}">
                  <a16:creationId xmlns:a16="http://schemas.microsoft.com/office/drawing/2014/main" id="{BC1634B0-B09D-64BF-D756-9A9835EC4C55}"/>
                </a:ext>
              </a:extLst>
            </p:cNvPr>
            <p:cNvSpPr/>
            <p:nvPr/>
          </p:nvSpPr>
          <p:spPr>
            <a:xfrm>
              <a:off x="364302" y="1227289"/>
              <a:ext cx="988223" cy="973646"/>
            </a:xfrm>
            <a:custGeom>
              <a:avLst/>
              <a:gdLst/>
              <a:ahLst/>
              <a:cxnLst/>
              <a:rect l="l" t="t" r="r" b="b"/>
              <a:pathLst>
                <a:path w="1109980" h="1122045">
                  <a:moveTo>
                    <a:pt x="554735" y="0"/>
                  </a:moveTo>
                  <a:lnTo>
                    <a:pt x="506878" y="2058"/>
                  </a:lnTo>
                  <a:lnTo>
                    <a:pt x="460149" y="8121"/>
                  </a:lnTo>
                  <a:lnTo>
                    <a:pt x="414716" y="18021"/>
                  </a:lnTo>
                  <a:lnTo>
                    <a:pt x="370745" y="31589"/>
                  </a:lnTo>
                  <a:lnTo>
                    <a:pt x="328404" y="48656"/>
                  </a:lnTo>
                  <a:lnTo>
                    <a:pt x="287858" y="69055"/>
                  </a:lnTo>
                  <a:lnTo>
                    <a:pt x="249275" y="92618"/>
                  </a:lnTo>
                  <a:lnTo>
                    <a:pt x="212821" y="119175"/>
                  </a:lnTo>
                  <a:lnTo>
                    <a:pt x="178662" y="148559"/>
                  </a:lnTo>
                  <a:lnTo>
                    <a:pt x="146966" y="180601"/>
                  </a:lnTo>
                  <a:lnTo>
                    <a:pt x="117899" y="215133"/>
                  </a:lnTo>
                  <a:lnTo>
                    <a:pt x="91627" y="251987"/>
                  </a:lnTo>
                  <a:lnTo>
                    <a:pt x="68318" y="290994"/>
                  </a:lnTo>
                  <a:lnTo>
                    <a:pt x="48137" y="331986"/>
                  </a:lnTo>
                  <a:lnTo>
                    <a:pt x="31252" y="374795"/>
                  </a:lnTo>
                  <a:lnTo>
                    <a:pt x="17829" y="419252"/>
                  </a:lnTo>
                  <a:lnTo>
                    <a:pt x="8035" y="465190"/>
                  </a:lnTo>
                  <a:lnTo>
                    <a:pt x="2036" y="512439"/>
                  </a:lnTo>
                  <a:lnTo>
                    <a:pt x="0" y="560831"/>
                  </a:lnTo>
                  <a:lnTo>
                    <a:pt x="2036" y="609224"/>
                  </a:lnTo>
                  <a:lnTo>
                    <a:pt x="8035" y="656473"/>
                  </a:lnTo>
                  <a:lnTo>
                    <a:pt x="17829" y="702411"/>
                  </a:lnTo>
                  <a:lnTo>
                    <a:pt x="31252" y="746868"/>
                  </a:lnTo>
                  <a:lnTo>
                    <a:pt x="48137" y="789677"/>
                  </a:lnTo>
                  <a:lnTo>
                    <a:pt x="68318" y="830669"/>
                  </a:lnTo>
                  <a:lnTo>
                    <a:pt x="91627" y="869676"/>
                  </a:lnTo>
                  <a:lnTo>
                    <a:pt x="117899" y="906530"/>
                  </a:lnTo>
                  <a:lnTo>
                    <a:pt x="146966" y="941062"/>
                  </a:lnTo>
                  <a:lnTo>
                    <a:pt x="178662" y="973104"/>
                  </a:lnTo>
                  <a:lnTo>
                    <a:pt x="212821" y="1002488"/>
                  </a:lnTo>
                  <a:lnTo>
                    <a:pt x="249275" y="1029045"/>
                  </a:lnTo>
                  <a:lnTo>
                    <a:pt x="287858" y="1052608"/>
                  </a:lnTo>
                  <a:lnTo>
                    <a:pt x="328404" y="1073007"/>
                  </a:lnTo>
                  <a:lnTo>
                    <a:pt x="370745" y="1090074"/>
                  </a:lnTo>
                  <a:lnTo>
                    <a:pt x="414716" y="1103642"/>
                  </a:lnTo>
                  <a:lnTo>
                    <a:pt x="460149" y="1113542"/>
                  </a:lnTo>
                  <a:lnTo>
                    <a:pt x="506878" y="1119605"/>
                  </a:lnTo>
                  <a:lnTo>
                    <a:pt x="554735" y="1121664"/>
                  </a:lnTo>
                  <a:lnTo>
                    <a:pt x="602593" y="1119605"/>
                  </a:lnTo>
                  <a:lnTo>
                    <a:pt x="649322" y="1113542"/>
                  </a:lnTo>
                  <a:lnTo>
                    <a:pt x="694755" y="1103642"/>
                  </a:lnTo>
                  <a:lnTo>
                    <a:pt x="738726" y="1090074"/>
                  </a:lnTo>
                  <a:lnTo>
                    <a:pt x="781067" y="1073007"/>
                  </a:lnTo>
                  <a:lnTo>
                    <a:pt x="821613" y="1052608"/>
                  </a:lnTo>
                  <a:lnTo>
                    <a:pt x="860196" y="1029045"/>
                  </a:lnTo>
                  <a:lnTo>
                    <a:pt x="896650" y="1002488"/>
                  </a:lnTo>
                  <a:lnTo>
                    <a:pt x="930809" y="973104"/>
                  </a:lnTo>
                  <a:lnTo>
                    <a:pt x="945538" y="958214"/>
                  </a:lnTo>
                  <a:lnTo>
                    <a:pt x="554735" y="958214"/>
                  </a:lnTo>
                  <a:lnTo>
                    <a:pt x="505642" y="955118"/>
                  </a:lnTo>
                  <a:lnTo>
                    <a:pt x="458370" y="946077"/>
                  </a:lnTo>
                  <a:lnTo>
                    <a:pt x="413285" y="931465"/>
                  </a:lnTo>
                  <a:lnTo>
                    <a:pt x="370755" y="911652"/>
                  </a:lnTo>
                  <a:lnTo>
                    <a:pt x="331145" y="887013"/>
                  </a:lnTo>
                  <a:lnTo>
                    <a:pt x="294823" y="857920"/>
                  </a:lnTo>
                  <a:lnTo>
                    <a:pt x="262154" y="824744"/>
                  </a:lnTo>
                  <a:lnTo>
                    <a:pt x="233506" y="787859"/>
                  </a:lnTo>
                  <a:lnTo>
                    <a:pt x="209244" y="747638"/>
                  </a:lnTo>
                  <a:lnTo>
                    <a:pt x="189736" y="704452"/>
                  </a:lnTo>
                  <a:lnTo>
                    <a:pt x="175348" y="658673"/>
                  </a:lnTo>
                  <a:lnTo>
                    <a:pt x="166446" y="610676"/>
                  </a:lnTo>
                  <a:lnTo>
                    <a:pt x="163398" y="560831"/>
                  </a:lnTo>
                  <a:lnTo>
                    <a:pt x="166446" y="510987"/>
                  </a:lnTo>
                  <a:lnTo>
                    <a:pt x="175348" y="462990"/>
                  </a:lnTo>
                  <a:lnTo>
                    <a:pt x="189736" y="417211"/>
                  </a:lnTo>
                  <a:lnTo>
                    <a:pt x="209244" y="374025"/>
                  </a:lnTo>
                  <a:lnTo>
                    <a:pt x="233506" y="333804"/>
                  </a:lnTo>
                  <a:lnTo>
                    <a:pt x="262154" y="296919"/>
                  </a:lnTo>
                  <a:lnTo>
                    <a:pt x="294823" y="263743"/>
                  </a:lnTo>
                  <a:lnTo>
                    <a:pt x="331145" y="234650"/>
                  </a:lnTo>
                  <a:lnTo>
                    <a:pt x="370755" y="210011"/>
                  </a:lnTo>
                  <a:lnTo>
                    <a:pt x="413285" y="190198"/>
                  </a:lnTo>
                  <a:lnTo>
                    <a:pt x="458370" y="175586"/>
                  </a:lnTo>
                  <a:lnTo>
                    <a:pt x="505642" y="166545"/>
                  </a:lnTo>
                  <a:lnTo>
                    <a:pt x="554735" y="163449"/>
                  </a:lnTo>
                  <a:lnTo>
                    <a:pt x="945538" y="163449"/>
                  </a:lnTo>
                  <a:lnTo>
                    <a:pt x="930809" y="148559"/>
                  </a:lnTo>
                  <a:lnTo>
                    <a:pt x="896650" y="119175"/>
                  </a:lnTo>
                  <a:lnTo>
                    <a:pt x="860196" y="92618"/>
                  </a:lnTo>
                  <a:lnTo>
                    <a:pt x="821613" y="69055"/>
                  </a:lnTo>
                  <a:lnTo>
                    <a:pt x="781067" y="48656"/>
                  </a:lnTo>
                  <a:lnTo>
                    <a:pt x="738726" y="31589"/>
                  </a:lnTo>
                  <a:lnTo>
                    <a:pt x="694755" y="18021"/>
                  </a:lnTo>
                  <a:lnTo>
                    <a:pt x="649322" y="8121"/>
                  </a:lnTo>
                  <a:lnTo>
                    <a:pt x="602593" y="2058"/>
                  </a:lnTo>
                  <a:lnTo>
                    <a:pt x="554735" y="0"/>
                  </a:lnTo>
                  <a:close/>
                </a:path>
                <a:path w="1109980" h="1122045">
                  <a:moveTo>
                    <a:pt x="945538" y="163449"/>
                  </a:moveTo>
                  <a:lnTo>
                    <a:pt x="554735" y="163449"/>
                  </a:lnTo>
                  <a:lnTo>
                    <a:pt x="603828" y="166545"/>
                  </a:lnTo>
                  <a:lnTo>
                    <a:pt x="651098" y="175586"/>
                  </a:lnTo>
                  <a:lnTo>
                    <a:pt x="696179" y="190198"/>
                  </a:lnTo>
                  <a:lnTo>
                    <a:pt x="738705" y="210011"/>
                  </a:lnTo>
                  <a:lnTo>
                    <a:pt x="778309" y="234650"/>
                  </a:lnTo>
                  <a:lnTo>
                    <a:pt x="814626" y="263743"/>
                  </a:lnTo>
                  <a:lnTo>
                    <a:pt x="847289" y="296919"/>
                  </a:lnTo>
                  <a:lnTo>
                    <a:pt x="875931" y="333804"/>
                  </a:lnTo>
                  <a:lnTo>
                    <a:pt x="900187" y="374025"/>
                  </a:lnTo>
                  <a:lnTo>
                    <a:pt x="919691" y="417211"/>
                  </a:lnTo>
                  <a:lnTo>
                    <a:pt x="934075" y="462990"/>
                  </a:lnTo>
                  <a:lnTo>
                    <a:pt x="942975" y="510987"/>
                  </a:lnTo>
                  <a:lnTo>
                    <a:pt x="946022" y="560831"/>
                  </a:lnTo>
                  <a:lnTo>
                    <a:pt x="942975" y="610676"/>
                  </a:lnTo>
                  <a:lnTo>
                    <a:pt x="934075" y="658673"/>
                  </a:lnTo>
                  <a:lnTo>
                    <a:pt x="919691" y="704452"/>
                  </a:lnTo>
                  <a:lnTo>
                    <a:pt x="900187" y="747638"/>
                  </a:lnTo>
                  <a:lnTo>
                    <a:pt x="875931" y="787859"/>
                  </a:lnTo>
                  <a:lnTo>
                    <a:pt x="847289" y="824744"/>
                  </a:lnTo>
                  <a:lnTo>
                    <a:pt x="814626" y="857920"/>
                  </a:lnTo>
                  <a:lnTo>
                    <a:pt x="778309" y="887013"/>
                  </a:lnTo>
                  <a:lnTo>
                    <a:pt x="738705" y="911652"/>
                  </a:lnTo>
                  <a:lnTo>
                    <a:pt x="696179" y="931465"/>
                  </a:lnTo>
                  <a:lnTo>
                    <a:pt x="651098" y="946077"/>
                  </a:lnTo>
                  <a:lnTo>
                    <a:pt x="603828" y="955118"/>
                  </a:lnTo>
                  <a:lnTo>
                    <a:pt x="554735" y="958214"/>
                  </a:lnTo>
                  <a:lnTo>
                    <a:pt x="945538" y="958214"/>
                  </a:lnTo>
                  <a:lnTo>
                    <a:pt x="991572" y="906530"/>
                  </a:lnTo>
                  <a:lnTo>
                    <a:pt x="1017844" y="869676"/>
                  </a:lnTo>
                  <a:lnTo>
                    <a:pt x="1041153" y="830669"/>
                  </a:lnTo>
                  <a:lnTo>
                    <a:pt x="1061334" y="789677"/>
                  </a:lnTo>
                  <a:lnTo>
                    <a:pt x="1078219" y="746868"/>
                  </a:lnTo>
                  <a:lnTo>
                    <a:pt x="1091642" y="702411"/>
                  </a:lnTo>
                  <a:lnTo>
                    <a:pt x="1101436" y="656473"/>
                  </a:lnTo>
                  <a:lnTo>
                    <a:pt x="1107435" y="609224"/>
                  </a:lnTo>
                  <a:lnTo>
                    <a:pt x="1109472" y="560831"/>
                  </a:lnTo>
                  <a:lnTo>
                    <a:pt x="1107435" y="512439"/>
                  </a:lnTo>
                  <a:lnTo>
                    <a:pt x="1101436" y="465190"/>
                  </a:lnTo>
                  <a:lnTo>
                    <a:pt x="1091642" y="419252"/>
                  </a:lnTo>
                  <a:lnTo>
                    <a:pt x="1078219" y="374795"/>
                  </a:lnTo>
                  <a:lnTo>
                    <a:pt x="1061334" y="331986"/>
                  </a:lnTo>
                  <a:lnTo>
                    <a:pt x="1041153" y="290994"/>
                  </a:lnTo>
                  <a:lnTo>
                    <a:pt x="1017844" y="251987"/>
                  </a:lnTo>
                  <a:lnTo>
                    <a:pt x="991572" y="215133"/>
                  </a:lnTo>
                  <a:lnTo>
                    <a:pt x="962505" y="180601"/>
                  </a:lnTo>
                  <a:lnTo>
                    <a:pt x="945538" y="163449"/>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3" name="Circle: Hollow 142">
              <a:extLst>
                <a:ext uri="{FF2B5EF4-FFF2-40B4-BE49-F238E27FC236}">
                  <a16:creationId xmlns:a16="http://schemas.microsoft.com/office/drawing/2014/main" id="{031CA7F5-44E6-AB1B-E92E-E31738561901}"/>
                </a:ext>
              </a:extLst>
            </p:cNvPr>
            <p:cNvSpPr/>
            <p:nvPr/>
          </p:nvSpPr>
          <p:spPr>
            <a:xfrm>
              <a:off x="790224" y="2546799"/>
              <a:ext cx="164607" cy="156106"/>
            </a:xfrm>
            <a:prstGeom prst="donut">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4" name="object 19">
              <a:extLst>
                <a:ext uri="{FF2B5EF4-FFF2-40B4-BE49-F238E27FC236}">
                  <a16:creationId xmlns:a16="http://schemas.microsoft.com/office/drawing/2014/main" id="{7B06555D-2808-CCAE-EED4-D9B2D8F02087}"/>
                </a:ext>
              </a:extLst>
            </p:cNvPr>
            <p:cNvSpPr/>
            <p:nvPr/>
          </p:nvSpPr>
          <p:spPr>
            <a:xfrm rot="21409930" flipH="1">
              <a:off x="854409" y="2187134"/>
              <a:ext cx="38580" cy="385890"/>
            </a:xfrm>
            <a:custGeom>
              <a:avLst/>
              <a:gdLst/>
              <a:ahLst/>
              <a:cxnLst/>
              <a:rect l="l" t="t" r="r" b="b"/>
              <a:pathLst>
                <a:path w="1270" h="318769">
                  <a:moveTo>
                    <a:pt x="0" y="0"/>
                  </a:moveTo>
                  <a:lnTo>
                    <a:pt x="762" y="318642"/>
                  </a:lnTo>
                </a:path>
              </a:pathLst>
            </a:custGeom>
            <a:grpFill/>
            <a:ln w="12192">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pic>
        <p:nvPicPr>
          <p:cNvPr id="145" name="Graphic 144" descr="Magnifying glass with solid fill">
            <a:extLst>
              <a:ext uri="{FF2B5EF4-FFF2-40B4-BE49-F238E27FC236}">
                <a16:creationId xmlns:a16="http://schemas.microsoft.com/office/drawing/2014/main" id="{5A2F69F3-EDFB-0C1F-EBE4-F060DF1697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43997" y="1393182"/>
            <a:ext cx="497043" cy="497043"/>
          </a:xfrm>
          <a:prstGeom prst="rect">
            <a:avLst/>
          </a:prstGeom>
        </p:spPr>
      </p:pic>
      <p:pic>
        <p:nvPicPr>
          <p:cNvPr id="146" name="Graphic 145" descr="Double Tap Gesture with solid fill">
            <a:extLst>
              <a:ext uri="{FF2B5EF4-FFF2-40B4-BE49-F238E27FC236}">
                <a16:creationId xmlns:a16="http://schemas.microsoft.com/office/drawing/2014/main" id="{178914C9-8A23-07C0-7C16-95A0E49042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3838" y="1342307"/>
            <a:ext cx="574633" cy="574633"/>
          </a:xfrm>
          <a:prstGeom prst="rect">
            <a:avLst/>
          </a:prstGeom>
        </p:spPr>
      </p:pic>
      <p:sp>
        <p:nvSpPr>
          <p:cNvPr id="147" name="TextBox 146">
            <a:extLst>
              <a:ext uri="{FF2B5EF4-FFF2-40B4-BE49-F238E27FC236}">
                <a16:creationId xmlns:a16="http://schemas.microsoft.com/office/drawing/2014/main" id="{DB314BAC-5841-262A-8844-A722452BE05C}"/>
              </a:ext>
            </a:extLst>
          </p:cNvPr>
          <p:cNvSpPr txBox="1"/>
          <p:nvPr/>
        </p:nvSpPr>
        <p:spPr>
          <a:xfrm>
            <a:off x="436696" y="3405835"/>
            <a:ext cx="1554480" cy="2246769"/>
          </a:xfrm>
          <a:prstGeom prst="rect">
            <a:avLst/>
          </a:prstGeom>
          <a:noFill/>
        </p:spPr>
        <p:txBody>
          <a:bodyPr wrap="square">
            <a:spAutoFit/>
          </a:bodyPr>
          <a:lstStyle/>
          <a:p>
            <a:pPr marL="171450" marR="0" lvl="0" indent="-171450">
              <a:lnSpc>
                <a:spcPct val="100000"/>
              </a:lnSpc>
              <a:spcBef>
                <a:spcPts val="600"/>
              </a:spcBef>
              <a:spcAft>
                <a:spcPts val="0"/>
              </a:spcAft>
              <a:buFont typeface="Arial" panose="020B0604020202020204" pitchFamily="34" charset="0"/>
              <a:buChar char="•"/>
              <a:defRPr/>
            </a:pPr>
            <a:r>
              <a:rPr lang="en-IN" sz="1400" dirty="0">
                <a:latin typeface="Calibri" panose="020F0502020204030204" pitchFamily="34" charset="0"/>
                <a:ea typeface="Calibri" panose="020F0502020204030204" pitchFamily="34" charset="0"/>
                <a:cs typeface="Calibri" panose="020F0502020204030204" pitchFamily="34" charset="0"/>
              </a:rPr>
              <a:t>Business teams (lubes, LIG, Application teams, etc..) submits new project via email </a:t>
            </a:r>
            <a:r>
              <a:rPr lang="en-US" sz="1400" dirty="0">
                <a:latin typeface="Calibri" panose="020F0502020204030204" pitchFamily="34" charset="0"/>
                <a:ea typeface="Calibri" panose="020F0502020204030204" pitchFamily="34" charset="0"/>
                <a:cs typeface="Calibri" panose="020F0502020204030204" pitchFamily="34" charset="0"/>
              </a:rPr>
              <a:t>with supporting documents or attachments to Sudhakar sir.</a:t>
            </a:r>
          </a:p>
        </p:txBody>
      </p:sp>
      <p:sp>
        <p:nvSpPr>
          <p:cNvPr id="148" name="TextBox 147">
            <a:extLst>
              <a:ext uri="{FF2B5EF4-FFF2-40B4-BE49-F238E27FC236}">
                <a16:creationId xmlns:a16="http://schemas.microsoft.com/office/drawing/2014/main" id="{B71CF946-6DD9-42B9-F993-3C97B68DCE6E}"/>
              </a:ext>
            </a:extLst>
          </p:cNvPr>
          <p:cNvSpPr txBox="1"/>
          <p:nvPr/>
        </p:nvSpPr>
        <p:spPr>
          <a:xfrm>
            <a:off x="6401295" y="3409087"/>
            <a:ext cx="1951358" cy="2246769"/>
          </a:xfrm>
          <a:prstGeom prst="rect">
            <a:avLst/>
          </a:prstGeom>
          <a:noFill/>
        </p:spPr>
        <p:txBody>
          <a:bodyPr wrap="square" rtlCol="0">
            <a:spAutoFit/>
          </a:bodyPr>
          <a:lstStyle/>
          <a:p>
            <a:pPr marL="171450" indent="-171450" fontAlgn="base">
              <a:spcBef>
                <a:spcPts val="600"/>
              </a:spcBef>
              <a:spcAft>
                <a:spcPct val="0"/>
              </a:spcAft>
              <a:buFont typeface="Arial" panose="020B0604020202020204" pitchFamily="34" charset="0"/>
              <a:buChar char="•"/>
              <a:defRPr/>
            </a:pPr>
            <a:r>
              <a:rPr lang="en-US" altLang="en-US" sz="1400" dirty="0">
                <a:latin typeface="Calibri" panose="020F0502020204030204" pitchFamily="34" charset="0"/>
                <a:ea typeface="Calibri" panose="020F0502020204030204" pitchFamily="34" charset="0"/>
                <a:cs typeface="Calibri" panose="020F0502020204030204" pitchFamily="34" charset="0"/>
              </a:rPr>
              <a:t>Business Analyst prepares BRD/SDD (requirements, As-Is &amp; To-Be flows).</a:t>
            </a:r>
          </a:p>
          <a:p>
            <a:pPr marL="171450" indent="-171450" fontAlgn="base">
              <a:spcBef>
                <a:spcPts val="600"/>
              </a:spcBef>
              <a:spcAft>
                <a:spcPct val="0"/>
              </a:spcAft>
              <a:buFont typeface="Arial" panose="020B0604020202020204" pitchFamily="34" charset="0"/>
              <a:buChar char="•"/>
              <a:defRPr/>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171450" indent="-171450" fontAlgn="base">
              <a:spcBef>
                <a:spcPts val="600"/>
              </a:spcBef>
              <a:spcAft>
                <a:spcPct val="0"/>
              </a:spcAft>
              <a:buFont typeface="Arial" panose="020B0604020202020204" pitchFamily="34" charset="0"/>
              <a:buChar char="•"/>
              <a:defRPr/>
            </a:pPr>
            <a:r>
              <a:rPr lang="en-US" altLang="en-US" sz="1400" dirty="0">
                <a:latin typeface="Calibri" panose="020F0502020204030204" pitchFamily="34" charset="0"/>
                <a:ea typeface="Calibri" panose="020F0502020204030204" pitchFamily="34" charset="0"/>
                <a:cs typeface="Calibri" panose="020F0502020204030204" pitchFamily="34" charset="0"/>
              </a:rPr>
              <a:t>Tech Team provides a high-level effort and time estimate.</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49" name="TextBox 148">
            <a:extLst>
              <a:ext uri="{FF2B5EF4-FFF2-40B4-BE49-F238E27FC236}">
                <a16:creationId xmlns:a16="http://schemas.microsoft.com/office/drawing/2014/main" id="{DCE6186D-3F61-59CD-CC3E-16F35B6D308B}"/>
              </a:ext>
            </a:extLst>
          </p:cNvPr>
          <p:cNvSpPr txBox="1"/>
          <p:nvPr/>
        </p:nvSpPr>
        <p:spPr>
          <a:xfrm>
            <a:off x="8436285" y="3353337"/>
            <a:ext cx="1547849" cy="1954381"/>
          </a:xfrm>
          <a:prstGeom prst="rect">
            <a:avLst/>
          </a:prstGeom>
          <a:noFill/>
        </p:spPr>
        <p:txBody>
          <a:bodyPr wrap="square" rtlCol="0">
            <a:spAutoFit/>
          </a:bodyPr>
          <a:lstStyle/>
          <a:p>
            <a:pPr marL="171450" marR="0" lvl="0" indent="-171450" fontAlgn="base">
              <a:lnSpc>
                <a:spcPct val="100000"/>
              </a:lnSpc>
              <a:spcBef>
                <a:spcPts val="600"/>
              </a:spcBef>
              <a:spcAft>
                <a:spcPct val="0"/>
              </a:spcAft>
              <a:buClrTx/>
              <a:buSzTx/>
              <a:buFont typeface="Arial" panose="020B0604020202020204" pitchFamily="34" charset="0"/>
              <a:buChar char="•"/>
              <a:tabLst/>
              <a:defRPr/>
            </a:pPr>
            <a:r>
              <a:rPr lang="en-US" altLang="en-US" sz="1400" dirty="0">
                <a:latin typeface="Calibri" panose="020F0502020204030204" pitchFamily="34" charset="0"/>
                <a:ea typeface="Calibri" panose="020F0502020204030204" pitchFamily="34" charset="0"/>
                <a:cs typeface="Calibri" panose="020F0502020204030204" pitchFamily="34" charset="0"/>
              </a:rPr>
              <a:t>Business team reviews BRD/SDD and estimation.</a:t>
            </a:r>
          </a:p>
          <a:p>
            <a:pPr marL="171450" marR="0" lvl="0" indent="-171450" fontAlgn="base">
              <a:lnSpc>
                <a:spcPct val="100000"/>
              </a:lnSpc>
              <a:spcBef>
                <a:spcPts val="600"/>
              </a:spcBef>
              <a:spcAft>
                <a:spcPct val="0"/>
              </a:spcAft>
              <a:buClrTx/>
              <a:buSzTx/>
              <a:buFont typeface="Arial" panose="020B0604020202020204" pitchFamily="34" charset="0"/>
              <a:buChar char="•"/>
              <a:tabLst/>
              <a:defRPr/>
            </a:pPr>
            <a:r>
              <a:rPr lang="en-US" altLang="en-US" sz="1400" dirty="0">
                <a:latin typeface="Calibri" panose="020F0502020204030204" pitchFamily="34" charset="0"/>
                <a:ea typeface="Calibri" panose="020F0502020204030204" pitchFamily="34" charset="0"/>
                <a:cs typeface="Calibri" panose="020F0502020204030204" pitchFamily="34" charset="0"/>
              </a:rPr>
              <a:t>Provides sign-off to move into execution.</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50" name="object 15">
            <a:extLst>
              <a:ext uri="{FF2B5EF4-FFF2-40B4-BE49-F238E27FC236}">
                <a16:creationId xmlns:a16="http://schemas.microsoft.com/office/drawing/2014/main" id="{B2D4001D-FCB9-0C95-4160-4C11EAC08C0A}"/>
              </a:ext>
            </a:extLst>
          </p:cNvPr>
          <p:cNvSpPr/>
          <p:nvPr/>
        </p:nvSpPr>
        <p:spPr>
          <a:xfrm>
            <a:off x="6639868" y="1077617"/>
            <a:ext cx="1136102" cy="1114444"/>
          </a:xfrm>
          <a:custGeom>
            <a:avLst/>
            <a:gdLst/>
            <a:ahLst/>
            <a:cxnLst/>
            <a:rect l="l" t="t" r="r" b="b"/>
            <a:pathLst>
              <a:path w="1109980" h="1122045">
                <a:moveTo>
                  <a:pt x="554735" y="0"/>
                </a:moveTo>
                <a:lnTo>
                  <a:pt x="506878" y="2058"/>
                </a:lnTo>
                <a:lnTo>
                  <a:pt x="460149" y="8121"/>
                </a:lnTo>
                <a:lnTo>
                  <a:pt x="414716" y="18021"/>
                </a:lnTo>
                <a:lnTo>
                  <a:pt x="370745" y="31589"/>
                </a:lnTo>
                <a:lnTo>
                  <a:pt x="328404" y="48656"/>
                </a:lnTo>
                <a:lnTo>
                  <a:pt x="287858" y="69055"/>
                </a:lnTo>
                <a:lnTo>
                  <a:pt x="249275" y="92618"/>
                </a:lnTo>
                <a:lnTo>
                  <a:pt x="212821" y="119175"/>
                </a:lnTo>
                <a:lnTo>
                  <a:pt x="178662" y="148559"/>
                </a:lnTo>
                <a:lnTo>
                  <a:pt x="146966" y="180601"/>
                </a:lnTo>
                <a:lnTo>
                  <a:pt x="117899" y="215133"/>
                </a:lnTo>
                <a:lnTo>
                  <a:pt x="91627" y="251987"/>
                </a:lnTo>
                <a:lnTo>
                  <a:pt x="68318" y="290994"/>
                </a:lnTo>
                <a:lnTo>
                  <a:pt x="48137" y="331986"/>
                </a:lnTo>
                <a:lnTo>
                  <a:pt x="31252" y="374795"/>
                </a:lnTo>
                <a:lnTo>
                  <a:pt x="17829" y="419252"/>
                </a:lnTo>
                <a:lnTo>
                  <a:pt x="8035" y="465190"/>
                </a:lnTo>
                <a:lnTo>
                  <a:pt x="2036" y="512439"/>
                </a:lnTo>
                <a:lnTo>
                  <a:pt x="0" y="560831"/>
                </a:lnTo>
                <a:lnTo>
                  <a:pt x="2036" y="609224"/>
                </a:lnTo>
                <a:lnTo>
                  <a:pt x="8035" y="656473"/>
                </a:lnTo>
                <a:lnTo>
                  <a:pt x="17829" y="702411"/>
                </a:lnTo>
                <a:lnTo>
                  <a:pt x="31252" y="746868"/>
                </a:lnTo>
                <a:lnTo>
                  <a:pt x="48137" y="789677"/>
                </a:lnTo>
                <a:lnTo>
                  <a:pt x="68318" y="830669"/>
                </a:lnTo>
                <a:lnTo>
                  <a:pt x="91627" y="869676"/>
                </a:lnTo>
                <a:lnTo>
                  <a:pt x="117899" y="906530"/>
                </a:lnTo>
                <a:lnTo>
                  <a:pt x="146966" y="941062"/>
                </a:lnTo>
                <a:lnTo>
                  <a:pt x="178662" y="973104"/>
                </a:lnTo>
                <a:lnTo>
                  <a:pt x="212821" y="1002488"/>
                </a:lnTo>
                <a:lnTo>
                  <a:pt x="249275" y="1029045"/>
                </a:lnTo>
                <a:lnTo>
                  <a:pt x="287858" y="1052608"/>
                </a:lnTo>
                <a:lnTo>
                  <a:pt x="328404" y="1073007"/>
                </a:lnTo>
                <a:lnTo>
                  <a:pt x="370745" y="1090074"/>
                </a:lnTo>
                <a:lnTo>
                  <a:pt x="414716" y="1103642"/>
                </a:lnTo>
                <a:lnTo>
                  <a:pt x="460149" y="1113542"/>
                </a:lnTo>
                <a:lnTo>
                  <a:pt x="506878" y="1119605"/>
                </a:lnTo>
                <a:lnTo>
                  <a:pt x="554735" y="1121664"/>
                </a:lnTo>
                <a:lnTo>
                  <a:pt x="602593" y="1119605"/>
                </a:lnTo>
                <a:lnTo>
                  <a:pt x="649322" y="1113542"/>
                </a:lnTo>
                <a:lnTo>
                  <a:pt x="694755" y="1103642"/>
                </a:lnTo>
                <a:lnTo>
                  <a:pt x="738726" y="1090074"/>
                </a:lnTo>
                <a:lnTo>
                  <a:pt x="781067" y="1073007"/>
                </a:lnTo>
                <a:lnTo>
                  <a:pt x="821613" y="1052608"/>
                </a:lnTo>
                <a:lnTo>
                  <a:pt x="860196" y="1029045"/>
                </a:lnTo>
                <a:lnTo>
                  <a:pt x="896650" y="1002488"/>
                </a:lnTo>
                <a:lnTo>
                  <a:pt x="930809" y="973104"/>
                </a:lnTo>
                <a:lnTo>
                  <a:pt x="945538" y="958214"/>
                </a:lnTo>
                <a:lnTo>
                  <a:pt x="554735" y="958214"/>
                </a:lnTo>
                <a:lnTo>
                  <a:pt x="505642" y="955118"/>
                </a:lnTo>
                <a:lnTo>
                  <a:pt x="458370" y="946077"/>
                </a:lnTo>
                <a:lnTo>
                  <a:pt x="413285" y="931465"/>
                </a:lnTo>
                <a:lnTo>
                  <a:pt x="370755" y="911652"/>
                </a:lnTo>
                <a:lnTo>
                  <a:pt x="331145" y="887013"/>
                </a:lnTo>
                <a:lnTo>
                  <a:pt x="294823" y="857920"/>
                </a:lnTo>
                <a:lnTo>
                  <a:pt x="262154" y="824744"/>
                </a:lnTo>
                <a:lnTo>
                  <a:pt x="233506" y="787859"/>
                </a:lnTo>
                <a:lnTo>
                  <a:pt x="209244" y="747638"/>
                </a:lnTo>
                <a:lnTo>
                  <a:pt x="189736" y="704452"/>
                </a:lnTo>
                <a:lnTo>
                  <a:pt x="175348" y="658673"/>
                </a:lnTo>
                <a:lnTo>
                  <a:pt x="166446" y="610676"/>
                </a:lnTo>
                <a:lnTo>
                  <a:pt x="163398" y="560831"/>
                </a:lnTo>
                <a:lnTo>
                  <a:pt x="166446" y="510987"/>
                </a:lnTo>
                <a:lnTo>
                  <a:pt x="175348" y="462990"/>
                </a:lnTo>
                <a:lnTo>
                  <a:pt x="189736" y="417211"/>
                </a:lnTo>
                <a:lnTo>
                  <a:pt x="209244" y="374025"/>
                </a:lnTo>
                <a:lnTo>
                  <a:pt x="233506" y="333804"/>
                </a:lnTo>
                <a:lnTo>
                  <a:pt x="262154" y="296919"/>
                </a:lnTo>
                <a:lnTo>
                  <a:pt x="294823" y="263743"/>
                </a:lnTo>
                <a:lnTo>
                  <a:pt x="331145" y="234650"/>
                </a:lnTo>
                <a:lnTo>
                  <a:pt x="370755" y="210011"/>
                </a:lnTo>
                <a:lnTo>
                  <a:pt x="413285" y="190198"/>
                </a:lnTo>
                <a:lnTo>
                  <a:pt x="458370" y="175586"/>
                </a:lnTo>
                <a:lnTo>
                  <a:pt x="505642" y="166545"/>
                </a:lnTo>
                <a:lnTo>
                  <a:pt x="554735" y="163449"/>
                </a:lnTo>
                <a:lnTo>
                  <a:pt x="945538" y="163449"/>
                </a:lnTo>
                <a:lnTo>
                  <a:pt x="930809" y="148559"/>
                </a:lnTo>
                <a:lnTo>
                  <a:pt x="896650" y="119175"/>
                </a:lnTo>
                <a:lnTo>
                  <a:pt x="860196" y="92618"/>
                </a:lnTo>
                <a:lnTo>
                  <a:pt x="821613" y="69055"/>
                </a:lnTo>
                <a:lnTo>
                  <a:pt x="781067" y="48656"/>
                </a:lnTo>
                <a:lnTo>
                  <a:pt x="738726" y="31589"/>
                </a:lnTo>
                <a:lnTo>
                  <a:pt x="694755" y="18021"/>
                </a:lnTo>
                <a:lnTo>
                  <a:pt x="649322" y="8121"/>
                </a:lnTo>
                <a:lnTo>
                  <a:pt x="602593" y="2058"/>
                </a:lnTo>
                <a:lnTo>
                  <a:pt x="554735" y="0"/>
                </a:lnTo>
                <a:close/>
              </a:path>
              <a:path w="1109980" h="1122045">
                <a:moveTo>
                  <a:pt x="945538" y="163449"/>
                </a:moveTo>
                <a:lnTo>
                  <a:pt x="554735" y="163449"/>
                </a:lnTo>
                <a:lnTo>
                  <a:pt x="603828" y="166545"/>
                </a:lnTo>
                <a:lnTo>
                  <a:pt x="651098" y="175586"/>
                </a:lnTo>
                <a:lnTo>
                  <a:pt x="696179" y="190198"/>
                </a:lnTo>
                <a:lnTo>
                  <a:pt x="738705" y="210011"/>
                </a:lnTo>
                <a:lnTo>
                  <a:pt x="778309" y="234650"/>
                </a:lnTo>
                <a:lnTo>
                  <a:pt x="814626" y="263743"/>
                </a:lnTo>
                <a:lnTo>
                  <a:pt x="847289" y="296919"/>
                </a:lnTo>
                <a:lnTo>
                  <a:pt x="875931" y="333804"/>
                </a:lnTo>
                <a:lnTo>
                  <a:pt x="900187" y="374025"/>
                </a:lnTo>
                <a:lnTo>
                  <a:pt x="919691" y="417211"/>
                </a:lnTo>
                <a:lnTo>
                  <a:pt x="934075" y="462990"/>
                </a:lnTo>
                <a:lnTo>
                  <a:pt x="942975" y="510987"/>
                </a:lnTo>
                <a:lnTo>
                  <a:pt x="946022" y="560831"/>
                </a:lnTo>
                <a:lnTo>
                  <a:pt x="942975" y="610676"/>
                </a:lnTo>
                <a:lnTo>
                  <a:pt x="934075" y="658673"/>
                </a:lnTo>
                <a:lnTo>
                  <a:pt x="919691" y="704452"/>
                </a:lnTo>
                <a:lnTo>
                  <a:pt x="900187" y="747638"/>
                </a:lnTo>
                <a:lnTo>
                  <a:pt x="875931" y="787859"/>
                </a:lnTo>
                <a:lnTo>
                  <a:pt x="847289" y="824744"/>
                </a:lnTo>
                <a:lnTo>
                  <a:pt x="814626" y="857920"/>
                </a:lnTo>
                <a:lnTo>
                  <a:pt x="778309" y="887013"/>
                </a:lnTo>
                <a:lnTo>
                  <a:pt x="738705" y="911652"/>
                </a:lnTo>
                <a:lnTo>
                  <a:pt x="696179" y="931465"/>
                </a:lnTo>
                <a:lnTo>
                  <a:pt x="651098" y="946077"/>
                </a:lnTo>
                <a:lnTo>
                  <a:pt x="603828" y="955118"/>
                </a:lnTo>
                <a:lnTo>
                  <a:pt x="554735" y="958214"/>
                </a:lnTo>
                <a:lnTo>
                  <a:pt x="945538" y="958214"/>
                </a:lnTo>
                <a:lnTo>
                  <a:pt x="991572" y="906530"/>
                </a:lnTo>
                <a:lnTo>
                  <a:pt x="1017844" y="869676"/>
                </a:lnTo>
                <a:lnTo>
                  <a:pt x="1041153" y="830669"/>
                </a:lnTo>
                <a:lnTo>
                  <a:pt x="1061334" y="789677"/>
                </a:lnTo>
                <a:lnTo>
                  <a:pt x="1078219" y="746868"/>
                </a:lnTo>
                <a:lnTo>
                  <a:pt x="1091642" y="702411"/>
                </a:lnTo>
                <a:lnTo>
                  <a:pt x="1101436" y="656473"/>
                </a:lnTo>
                <a:lnTo>
                  <a:pt x="1107435" y="609224"/>
                </a:lnTo>
                <a:lnTo>
                  <a:pt x="1109472" y="560831"/>
                </a:lnTo>
                <a:lnTo>
                  <a:pt x="1107435" y="512439"/>
                </a:lnTo>
                <a:lnTo>
                  <a:pt x="1101436" y="465190"/>
                </a:lnTo>
                <a:lnTo>
                  <a:pt x="1091642" y="419252"/>
                </a:lnTo>
                <a:lnTo>
                  <a:pt x="1078219" y="374795"/>
                </a:lnTo>
                <a:lnTo>
                  <a:pt x="1061334" y="331986"/>
                </a:lnTo>
                <a:lnTo>
                  <a:pt x="1041153" y="290994"/>
                </a:lnTo>
                <a:lnTo>
                  <a:pt x="1017844" y="251987"/>
                </a:lnTo>
                <a:lnTo>
                  <a:pt x="991572" y="215133"/>
                </a:lnTo>
                <a:lnTo>
                  <a:pt x="962505" y="180601"/>
                </a:lnTo>
                <a:lnTo>
                  <a:pt x="945538" y="163449"/>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1" name="object 15">
            <a:extLst>
              <a:ext uri="{FF2B5EF4-FFF2-40B4-BE49-F238E27FC236}">
                <a16:creationId xmlns:a16="http://schemas.microsoft.com/office/drawing/2014/main" id="{A174B9D5-7815-50C1-9476-8767CD771A66}"/>
              </a:ext>
            </a:extLst>
          </p:cNvPr>
          <p:cNvSpPr/>
          <p:nvPr/>
        </p:nvSpPr>
        <p:spPr>
          <a:xfrm>
            <a:off x="8460357" y="1093194"/>
            <a:ext cx="1136102" cy="1114444"/>
          </a:xfrm>
          <a:custGeom>
            <a:avLst/>
            <a:gdLst/>
            <a:ahLst/>
            <a:cxnLst/>
            <a:rect l="l" t="t" r="r" b="b"/>
            <a:pathLst>
              <a:path w="1109980" h="1122045">
                <a:moveTo>
                  <a:pt x="554735" y="0"/>
                </a:moveTo>
                <a:lnTo>
                  <a:pt x="506878" y="2058"/>
                </a:lnTo>
                <a:lnTo>
                  <a:pt x="460149" y="8121"/>
                </a:lnTo>
                <a:lnTo>
                  <a:pt x="414716" y="18021"/>
                </a:lnTo>
                <a:lnTo>
                  <a:pt x="370745" y="31589"/>
                </a:lnTo>
                <a:lnTo>
                  <a:pt x="328404" y="48656"/>
                </a:lnTo>
                <a:lnTo>
                  <a:pt x="287858" y="69055"/>
                </a:lnTo>
                <a:lnTo>
                  <a:pt x="249275" y="92618"/>
                </a:lnTo>
                <a:lnTo>
                  <a:pt x="212821" y="119175"/>
                </a:lnTo>
                <a:lnTo>
                  <a:pt x="178662" y="148559"/>
                </a:lnTo>
                <a:lnTo>
                  <a:pt x="146966" y="180601"/>
                </a:lnTo>
                <a:lnTo>
                  <a:pt x="117899" y="215133"/>
                </a:lnTo>
                <a:lnTo>
                  <a:pt x="91627" y="251987"/>
                </a:lnTo>
                <a:lnTo>
                  <a:pt x="68318" y="290994"/>
                </a:lnTo>
                <a:lnTo>
                  <a:pt x="48137" y="331986"/>
                </a:lnTo>
                <a:lnTo>
                  <a:pt x="31252" y="374795"/>
                </a:lnTo>
                <a:lnTo>
                  <a:pt x="17829" y="419252"/>
                </a:lnTo>
                <a:lnTo>
                  <a:pt x="8035" y="465190"/>
                </a:lnTo>
                <a:lnTo>
                  <a:pt x="2036" y="512439"/>
                </a:lnTo>
                <a:lnTo>
                  <a:pt x="0" y="560831"/>
                </a:lnTo>
                <a:lnTo>
                  <a:pt x="2036" y="609224"/>
                </a:lnTo>
                <a:lnTo>
                  <a:pt x="8035" y="656473"/>
                </a:lnTo>
                <a:lnTo>
                  <a:pt x="17829" y="702411"/>
                </a:lnTo>
                <a:lnTo>
                  <a:pt x="31252" y="746868"/>
                </a:lnTo>
                <a:lnTo>
                  <a:pt x="48137" y="789677"/>
                </a:lnTo>
                <a:lnTo>
                  <a:pt x="68318" y="830669"/>
                </a:lnTo>
                <a:lnTo>
                  <a:pt x="91627" y="869676"/>
                </a:lnTo>
                <a:lnTo>
                  <a:pt x="117899" y="906530"/>
                </a:lnTo>
                <a:lnTo>
                  <a:pt x="146966" y="941062"/>
                </a:lnTo>
                <a:lnTo>
                  <a:pt x="178662" y="973104"/>
                </a:lnTo>
                <a:lnTo>
                  <a:pt x="212821" y="1002488"/>
                </a:lnTo>
                <a:lnTo>
                  <a:pt x="249275" y="1029045"/>
                </a:lnTo>
                <a:lnTo>
                  <a:pt x="287858" y="1052608"/>
                </a:lnTo>
                <a:lnTo>
                  <a:pt x="328404" y="1073007"/>
                </a:lnTo>
                <a:lnTo>
                  <a:pt x="370745" y="1090074"/>
                </a:lnTo>
                <a:lnTo>
                  <a:pt x="414716" y="1103642"/>
                </a:lnTo>
                <a:lnTo>
                  <a:pt x="460149" y="1113542"/>
                </a:lnTo>
                <a:lnTo>
                  <a:pt x="506878" y="1119605"/>
                </a:lnTo>
                <a:lnTo>
                  <a:pt x="554735" y="1121664"/>
                </a:lnTo>
                <a:lnTo>
                  <a:pt x="602593" y="1119605"/>
                </a:lnTo>
                <a:lnTo>
                  <a:pt x="649322" y="1113542"/>
                </a:lnTo>
                <a:lnTo>
                  <a:pt x="694755" y="1103642"/>
                </a:lnTo>
                <a:lnTo>
                  <a:pt x="738726" y="1090074"/>
                </a:lnTo>
                <a:lnTo>
                  <a:pt x="781067" y="1073007"/>
                </a:lnTo>
                <a:lnTo>
                  <a:pt x="821613" y="1052608"/>
                </a:lnTo>
                <a:lnTo>
                  <a:pt x="860196" y="1029045"/>
                </a:lnTo>
                <a:lnTo>
                  <a:pt x="896650" y="1002488"/>
                </a:lnTo>
                <a:lnTo>
                  <a:pt x="930809" y="973104"/>
                </a:lnTo>
                <a:lnTo>
                  <a:pt x="945538" y="958214"/>
                </a:lnTo>
                <a:lnTo>
                  <a:pt x="554735" y="958214"/>
                </a:lnTo>
                <a:lnTo>
                  <a:pt x="505642" y="955118"/>
                </a:lnTo>
                <a:lnTo>
                  <a:pt x="458370" y="946077"/>
                </a:lnTo>
                <a:lnTo>
                  <a:pt x="413285" y="931465"/>
                </a:lnTo>
                <a:lnTo>
                  <a:pt x="370755" y="911652"/>
                </a:lnTo>
                <a:lnTo>
                  <a:pt x="331145" y="887013"/>
                </a:lnTo>
                <a:lnTo>
                  <a:pt x="294823" y="857920"/>
                </a:lnTo>
                <a:lnTo>
                  <a:pt x="262154" y="824744"/>
                </a:lnTo>
                <a:lnTo>
                  <a:pt x="233506" y="787859"/>
                </a:lnTo>
                <a:lnTo>
                  <a:pt x="209244" y="747638"/>
                </a:lnTo>
                <a:lnTo>
                  <a:pt x="189736" y="704452"/>
                </a:lnTo>
                <a:lnTo>
                  <a:pt x="175348" y="658673"/>
                </a:lnTo>
                <a:lnTo>
                  <a:pt x="166446" y="610676"/>
                </a:lnTo>
                <a:lnTo>
                  <a:pt x="163398" y="560831"/>
                </a:lnTo>
                <a:lnTo>
                  <a:pt x="166446" y="510987"/>
                </a:lnTo>
                <a:lnTo>
                  <a:pt x="175348" y="462990"/>
                </a:lnTo>
                <a:lnTo>
                  <a:pt x="189736" y="417211"/>
                </a:lnTo>
                <a:lnTo>
                  <a:pt x="209244" y="374025"/>
                </a:lnTo>
                <a:lnTo>
                  <a:pt x="233506" y="333804"/>
                </a:lnTo>
                <a:lnTo>
                  <a:pt x="262154" y="296919"/>
                </a:lnTo>
                <a:lnTo>
                  <a:pt x="294823" y="263743"/>
                </a:lnTo>
                <a:lnTo>
                  <a:pt x="331145" y="234650"/>
                </a:lnTo>
                <a:lnTo>
                  <a:pt x="370755" y="210011"/>
                </a:lnTo>
                <a:lnTo>
                  <a:pt x="413285" y="190198"/>
                </a:lnTo>
                <a:lnTo>
                  <a:pt x="458370" y="175586"/>
                </a:lnTo>
                <a:lnTo>
                  <a:pt x="505642" y="166545"/>
                </a:lnTo>
                <a:lnTo>
                  <a:pt x="554735" y="163449"/>
                </a:lnTo>
                <a:lnTo>
                  <a:pt x="945538" y="163449"/>
                </a:lnTo>
                <a:lnTo>
                  <a:pt x="930809" y="148559"/>
                </a:lnTo>
                <a:lnTo>
                  <a:pt x="896650" y="119175"/>
                </a:lnTo>
                <a:lnTo>
                  <a:pt x="860196" y="92618"/>
                </a:lnTo>
                <a:lnTo>
                  <a:pt x="821613" y="69055"/>
                </a:lnTo>
                <a:lnTo>
                  <a:pt x="781067" y="48656"/>
                </a:lnTo>
                <a:lnTo>
                  <a:pt x="738726" y="31589"/>
                </a:lnTo>
                <a:lnTo>
                  <a:pt x="694755" y="18021"/>
                </a:lnTo>
                <a:lnTo>
                  <a:pt x="649322" y="8121"/>
                </a:lnTo>
                <a:lnTo>
                  <a:pt x="602593" y="2058"/>
                </a:lnTo>
                <a:lnTo>
                  <a:pt x="554735" y="0"/>
                </a:lnTo>
                <a:close/>
              </a:path>
              <a:path w="1109980" h="1122045">
                <a:moveTo>
                  <a:pt x="945538" y="163449"/>
                </a:moveTo>
                <a:lnTo>
                  <a:pt x="554735" y="163449"/>
                </a:lnTo>
                <a:lnTo>
                  <a:pt x="603828" y="166545"/>
                </a:lnTo>
                <a:lnTo>
                  <a:pt x="651098" y="175586"/>
                </a:lnTo>
                <a:lnTo>
                  <a:pt x="696179" y="190198"/>
                </a:lnTo>
                <a:lnTo>
                  <a:pt x="738705" y="210011"/>
                </a:lnTo>
                <a:lnTo>
                  <a:pt x="778309" y="234650"/>
                </a:lnTo>
                <a:lnTo>
                  <a:pt x="814626" y="263743"/>
                </a:lnTo>
                <a:lnTo>
                  <a:pt x="847289" y="296919"/>
                </a:lnTo>
                <a:lnTo>
                  <a:pt x="875931" y="333804"/>
                </a:lnTo>
                <a:lnTo>
                  <a:pt x="900187" y="374025"/>
                </a:lnTo>
                <a:lnTo>
                  <a:pt x="919691" y="417211"/>
                </a:lnTo>
                <a:lnTo>
                  <a:pt x="934075" y="462990"/>
                </a:lnTo>
                <a:lnTo>
                  <a:pt x="942975" y="510987"/>
                </a:lnTo>
                <a:lnTo>
                  <a:pt x="946022" y="560831"/>
                </a:lnTo>
                <a:lnTo>
                  <a:pt x="942975" y="610676"/>
                </a:lnTo>
                <a:lnTo>
                  <a:pt x="934075" y="658673"/>
                </a:lnTo>
                <a:lnTo>
                  <a:pt x="919691" y="704452"/>
                </a:lnTo>
                <a:lnTo>
                  <a:pt x="900187" y="747638"/>
                </a:lnTo>
                <a:lnTo>
                  <a:pt x="875931" y="787859"/>
                </a:lnTo>
                <a:lnTo>
                  <a:pt x="847289" y="824744"/>
                </a:lnTo>
                <a:lnTo>
                  <a:pt x="814626" y="857920"/>
                </a:lnTo>
                <a:lnTo>
                  <a:pt x="778309" y="887013"/>
                </a:lnTo>
                <a:lnTo>
                  <a:pt x="738705" y="911652"/>
                </a:lnTo>
                <a:lnTo>
                  <a:pt x="696179" y="931465"/>
                </a:lnTo>
                <a:lnTo>
                  <a:pt x="651098" y="946077"/>
                </a:lnTo>
                <a:lnTo>
                  <a:pt x="603828" y="955118"/>
                </a:lnTo>
                <a:lnTo>
                  <a:pt x="554735" y="958214"/>
                </a:lnTo>
                <a:lnTo>
                  <a:pt x="945538" y="958214"/>
                </a:lnTo>
                <a:lnTo>
                  <a:pt x="991572" y="906530"/>
                </a:lnTo>
                <a:lnTo>
                  <a:pt x="1017844" y="869676"/>
                </a:lnTo>
                <a:lnTo>
                  <a:pt x="1041153" y="830669"/>
                </a:lnTo>
                <a:lnTo>
                  <a:pt x="1061334" y="789677"/>
                </a:lnTo>
                <a:lnTo>
                  <a:pt x="1078219" y="746868"/>
                </a:lnTo>
                <a:lnTo>
                  <a:pt x="1091642" y="702411"/>
                </a:lnTo>
                <a:lnTo>
                  <a:pt x="1101436" y="656473"/>
                </a:lnTo>
                <a:lnTo>
                  <a:pt x="1107435" y="609224"/>
                </a:lnTo>
                <a:lnTo>
                  <a:pt x="1109472" y="560831"/>
                </a:lnTo>
                <a:lnTo>
                  <a:pt x="1107435" y="512439"/>
                </a:lnTo>
                <a:lnTo>
                  <a:pt x="1101436" y="465190"/>
                </a:lnTo>
                <a:lnTo>
                  <a:pt x="1091642" y="419252"/>
                </a:lnTo>
                <a:lnTo>
                  <a:pt x="1078219" y="374795"/>
                </a:lnTo>
                <a:lnTo>
                  <a:pt x="1061334" y="331986"/>
                </a:lnTo>
                <a:lnTo>
                  <a:pt x="1041153" y="290994"/>
                </a:lnTo>
                <a:lnTo>
                  <a:pt x="1017844" y="251987"/>
                </a:lnTo>
                <a:lnTo>
                  <a:pt x="991572" y="215133"/>
                </a:lnTo>
                <a:lnTo>
                  <a:pt x="962505" y="180601"/>
                </a:lnTo>
                <a:lnTo>
                  <a:pt x="945538" y="163449"/>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2" name="object 15">
            <a:extLst>
              <a:ext uri="{FF2B5EF4-FFF2-40B4-BE49-F238E27FC236}">
                <a16:creationId xmlns:a16="http://schemas.microsoft.com/office/drawing/2014/main" id="{E3BE0580-2E47-B231-8F2C-335A6B127EAC}"/>
              </a:ext>
            </a:extLst>
          </p:cNvPr>
          <p:cNvSpPr/>
          <p:nvPr/>
        </p:nvSpPr>
        <p:spPr>
          <a:xfrm>
            <a:off x="10430551" y="1077617"/>
            <a:ext cx="1136102" cy="1114444"/>
          </a:xfrm>
          <a:custGeom>
            <a:avLst/>
            <a:gdLst/>
            <a:ahLst/>
            <a:cxnLst/>
            <a:rect l="l" t="t" r="r" b="b"/>
            <a:pathLst>
              <a:path w="1109980" h="1122045">
                <a:moveTo>
                  <a:pt x="554735" y="0"/>
                </a:moveTo>
                <a:lnTo>
                  <a:pt x="506878" y="2058"/>
                </a:lnTo>
                <a:lnTo>
                  <a:pt x="460149" y="8121"/>
                </a:lnTo>
                <a:lnTo>
                  <a:pt x="414716" y="18021"/>
                </a:lnTo>
                <a:lnTo>
                  <a:pt x="370745" y="31589"/>
                </a:lnTo>
                <a:lnTo>
                  <a:pt x="328404" y="48656"/>
                </a:lnTo>
                <a:lnTo>
                  <a:pt x="287858" y="69055"/>
                </a:lnTo>
                <a:lnTo>
                  <a:pt x="249275" y="92618"/>
                </a:lnTo>
                <a:lnTo>
                  <a:pt x="212821" y="119175"/>
                </a:lnTo>
                <a:lnTo>
                  <a:pt x="178662" y="148559"/>
                </a:lnTo>
                <a:lnTo>
                  <a:pt x="146966" y="180601"/>
                </a:lnTo>
                <a:lnTo>
                  <a:pt x="117899" y="215133"/>
                </a:lnTo>
                <a:lnTo>
                  <a:pt x="91627" y="251987"/>
                </a:lnTo>
                <a:lnTo>
                  <a:pt x="68318" y="290994"/>
                </a:lnTo>
                <a:lnTo>
                  <a:pt x="48137" y="331986"/>
                </a:lnTo>
                <a:lnTo>
                  <a:pt x="31252" y="374795"/>
                </a:lnTo>
                <a:lnTo>
                  <a:pt x="17829" y="419252"/>
                </a:lnTo>
                <a:lnTo>
                  <a:pt x="8035" y="465190"/>
                </a:lnTo>
                <a:lnTo>
                  <a:pt x="2036" y="512439"/>
                </a:lnTo>
                <a:lnTo>
                  <a:pt x="0" y="560831"/>
                </a:lnTo>
                <a:lnTo>
                  <a:pt x="2036" y="609224"/>
                </a:lnTo>
                <a:lnTo>
                  <a:pt x="8035" y="656473"/>
                </a:lnTo>
                <a:lnTo>
                  <a:pt x="17829" y="702411"/>
                </a:lnTo>
                <a:lnTo>
                  <a:pt x="31252" y="746868"/>
                </a:lnTo>
                <a:lnTo>
                  <a:pt x="48137" y="789677"/>
                </a:lnTo>
                <a:lnTo>
                  <a:pt x="68318" y="830669"/>
                </a:lnTo>
                <a:lnTo>
                  <a:pt x="91627" y="869676"/>
                </a:lnTo>
                <a:lnTo>
                  <a:pt x="117899" y="906530"/>
                </a:lnTo>
                <a:lnTo>
                  <a:pt x="146966" y="941062"/>
                </a:lnTo>
                <a:lnTo>
                  <a:pt x="178662" y="973104"/>
                </a:lnTo>
                <a:lnTo>
                  <a:pt x="212821" y="1002488"/>
                </a:lnTo>
                <a:lnTo>
                  <a:pt x="249275" y="1029045"/>
                </a:lnTo>
                <a:lnTo>
                  <a:pt x="287858" y="1052608"/>
                </a:lnTo>
                <a:lnTo>
                  <a:pt x="328404" y="1073007"/>
                </a:lnTo>
                <a:lnTo>
                  <a:pt x="370745" y="1090074"/>
                </a:lnTo>
                <a:lnTo>
                  <a:pt x="414716" y="1103642"/>
                </a:lnTo>
                <a:lnTo>
                  <a:pt x="460149" y="1113542"/>
                </a:lnTo>
                <a:lnTo>
                  <a:pt x="506878" y="1119605"/>
                </a:lnTo>
                <a:lnTo>
                  <a:pt x="554735" y="1121664"/>
                </a:lnTo>
                <a:lnTo>
                  <a:pt x="602593" y="1119605"/>
                </a:lnTo>
                <a:lnTo>
                  <a:pt x="649322" y="1113542"/>
                </a:lnTo>
                <a:lnTo>
                  <a:pt x="694755" y="1103642"/>
                </a:lnTo>
                <a:lnTo>
                  <a:pt x="738726" y="1090074"/>
                </a:lnTo>
                <a:lnTo>
                  <a:pt x="781067" y="1073007"/>
                </a:lnTo>
                <a:lnTo>
                  <a:pt x="821613" y="1052608"/>
                </a:lnTo>
                <a:lnTo>
                  <a:pt x="860196" y="1029045"/>
                </a:lnTo>
                <a:lnTo>
                  <a:pt x="896650" y="1002488"/>
                </a:lnTo>
                <a:lnTo>
                  <a:pt x="930809" y="973104"/>
                </a:lnTo>
                <a:lnTo>
                  <a:pt x="945538" y="958214"/>
                </a:lnTo>
                <a:lnTo>
                  <a:pt x="554735" y="958214"/>
                </a:lnTo>
                <a:lnTo>
                  <a:pt x="505642" y="955118"/>
                </a:lnTo>
                <a:lnTo>
                  <a:pt x="458370" y="946077"/>
                </a:lnTo>
                <a:lnTo>
                  <a:pt x="413285" y="931465"/>
                </a:lnTo>
                <a:lnTo>
                  <a:pt x="370755" y="911652"/>
                </a:lnTo>
                <a:lnTo>
                  <a:pt x="331145" y="887013"/>
                </a:lnTo>
                <a:lnTo>
                  <a:pt x="294823" y="857920"/>
                </a:lnTo>
                <a:lnTo>
                  <a:pt x="262154" y="824744"/>
                </a:lnTo>
                <a:lnTo>
                  <a:pt x="233506" y="787859"/>
                </a:lnTo>
                <a:lnTo>
                  <a:pt x="209244" y="747638"/>
                </a:lnTo>
                <a:lnTo>
                  <a:pt x="189736" y="704452"/>
                </a:lnTo>
                <a:lnTo>
                  <a:pt x="175348" y="658673"/>
                </a:lnTo>
                <a:lnTo>
                  <a:pt x="166446" y="610676"/>
                </a:lnTo>
                <a:lnTo>
                  <a:pt x="163398" y="560831"/>
                </a:lnTo>
                <a:lnTo>
                  <a:pt x="166446" y="510987"/>
                </a:lnTo>
                <a:lnTo>
                  <a:pt x="175348" y="462990"/>
                </a:lnTo>
                <a:lnTo>
                  <a:pt x="189736" y="417211"/>
                </a:lnTo>
                <a:lnTo>
                  <a:pt x="209244" y="374025"/>
                </a:lnTo>
                <a:lnTo>
                  <a:pt x="233506" y="333804"/>
                </a:lnTo>
                <a:lnTo>
                  <a:pt x="262154" y="296919"/>
                </a:lnTo>
                <a:lnTo>
                  <a:pt x="294823" y="263743"/>
                </a:lnTo>
                <a:lnTo>
                  <a:pt x="331145" y="234650"/>
                </a:lnTo>
                <a:lnTo>
                  <a:pt x="370755" y="210011"/>
                </a:lnTo>
                <a:lnTo>
                  <a:pt x="413285" y="190198"/>
                </a:lnTo>
                <a:lnTo>
                  <a:pt x="458370" y="175586"/>
                </a:lnTo>
                <a:lnTo>
                  <a:pt x="505642" y="166545"/>
                </a:lnTo>
                <a:lnTo>
                  <a:pt x="554735" y="163449"/>
                </a:lnTo>
                <a:lnTo>
                  <a:pt x="945538" y="163449"/>
                </a:lnTo>
                <a:lnTo>
                  <a:pt x="930809" y="148559"/>
                </a:lnTo>
                <a:lnTo>
                  <a:pt x="896650" y="119175"/>
                </a:lnTo>
                <a:lnTo>
                  <a:pt x="860196" y="92618"/>
                </a:lnTo>
                <a:lnTo>
                  <a:pt x="821613" y="69055"/>
                </a:lnTo>
                <a:lnTo>
                  <a:pt x="781067" y="48656"/>
                </a:lnTo>
                <a:lnTo>
                  <a:pt x="738726" y="31589"/>
                </a:lnTo>
                <a:lnTo>
                  <a:pt x="694755" y="18021"/>
                </a:lnTo>
                <a:lnTo>
                  <a:pt x="649322" y="8121"/>
                </a:lnTo>
                <a:lnTo>
                  <a:pt x="602593" y="2058"/>
                </a:lnTo>
                <a:lnTo>
                  <a:pt x="554735" y="0"/>
                </a:lnTo>
                <a:close/>
              </a:path>
              <a:path w="1109980" h="1122045">
                <a:moveTo>
                  <a:pt x="945538" y="163449"/>
                </a:moveTo>
                <a:lnTo>
                  <a:pt x="554735" y="163449"/>
                </a:lnTo>
                <a:lnTo>
                  <a:pt x="603828" y="166545"/>
                </a:lnTo>
                <a:lnTo>
                  <a:pt x="651098" y="175586"/>
                </a:lnTo>
                <a:lnTo>
                  <a:pt x="696179" y="190198"/>
                </a:lnTo>
                <a:lnTo>
                  <a:pt x="738705" y="210011"/>
                </a:lnTo>
                <a:lnTo>
                  <a:pt x="778309" y="234650"/>
                </a:lnTo>
                <a:lnTo>
                  <a:pt x="814626" y="263743"/>
                </a:lnTo>
                <a:lnTo>
                  <a:pt x="847289" y="296919"/>
                </a:lnTo>
                <a:lnTo>
                  <a:pt x="875931" y="333804"/>
                </a:lnTo>
                <a:lnTo>
                  <a:pt x="900187" y="374025"/>
                </a:lnTo>
                <a:lnTo>
                  <a:pt x="919691" y="417211"/>
                </a:lnTo>
                <a:lnTo>
                  <a:pt x="934075" y="462990"/>
                </a:lnTo>
                <a:lnTo>
                  <a:pt x="942975" y="510987"/>
                </a:lnTo>
                <a:lnTo>
                  <a:pt x="946022" y="560831"/>
                </a:lnTo>
                <a:lnTo>
                  <a:pt x="942975" y="610676"/>
                </a:lnTo>
                <a:lnTo>
                  <a:pt x="934075" y="658673"/>
                </a:lnTo>
                <a:lnTo>
                  <a:pt x="919691" y="704452"/>
                </a:lnTo>
                <a:lnTo>
                  <a:pt x="900187" y="747638"/>
                </a:lnTo>
                <a:lnTo>
                  <a:pt x="875931" y="787859"/>
                </a:lnTo>
                <a:lnTo>
                  <a:pt x="847289" y="824744"/>
                </a:lnTo>
                <a:lnTo>
                  <a:pt x="814626" y="857920"/>
                </a:lnTo>
                <a:lnTo>
                  <a:pt x="778309" y="887013"/>
                </a:lnTo>
                <a:lnTo>
                  <a:pt x="738705" y="911652"/>
                </a:lnTo>
                <a:lnTo>
                  <a:pt x="696179" y="931465"/>
                </a:lnTo>
                <a:lnTo>
                  <a:pt x="651098" y="946077"/>
                </a:lnTo>
                <a:lnTo>
                  <a:pt x="603828" y="955118"/>
                </a:lnTo>
                <a:lnTo>
                  <a:pt x="554735" y="958214"/>
                </a:lnTo>
                <a:lnTo>
                  <a:pt x="945538" y="958214"/>
                </a:lnTo>
                <a:lnTo>
                  <a:pt x="991572" y="906530"/>
                </a:lnTo>
                <a:lnTo>
                  <a:pt x="1017844" y="869676"/>
                </a:lnTo>
                <a:lnTo>
                  <a:pt x="1041153" y="830669"/>
                </a:lnTo>
                <a:lnTo>
                  <a:pt x="1061334" y="789677"/>
                </a:lnTo>
                <a:lnTo>
                  <a:pt x="1078219" y="746868"/>
                </a:lnTo>
                <a:lnTo>
                  <a:pt x="1091642" y="702411"/>
                </a:lnTo>
                <a:lnTo>
                  <a:pt x="1101436" y="656473"/>
                </a:lnTo>
                <a:lnTo>
                  <a:pt x="1107435" y="609224"/>
                </a:lnTo>
                <a:lnTo>
                  <a:pt x="1109472" y="560831"/>
                </a:lnTo>
                <a:lnTo>
                  <a:pt x="1107435" y="512439"/>
                </a:lnTo>
                <a:lnTo>
                  <a:pt x="1101436" y="465190"/>
                </a:lnTo>
                <a:lnTo>
                  <a:pt x="1091642" y="419252"/>
                </a:lnTo>
                <a:lnTo>
                  <a:pt x="1078219" y="374795"/>
                </a:lnTo>
                <a:lnTo>
                  <a:pt x="1061334" y="331986"/>
                </a:lnTo>
                <a:lnTo>
                  <a:pt x="1041153" y="290994"/>
                </a:lnTo>
                <a:lnTo>
                  <a:pt x="1017844" y="251987"/>
                </a:lnTo>
                <a:lnTo>
                  <a:pt x="991572" y="215133"/>
                </a:lnTo>
                <a:lnTo>
                  <a:pt x="962505" y="180601"/>
                </a:lnTo>
                <a:lnTo>
                  <a:pt x="945538" y="163449"/>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53" name="Graphic 152" descr="User with solid fill">
            <a:extLst>
              <a:ext uri="{FF2B5EF4-FFF2-40B4-BE49-F238E27FC236}">
                <a16:creationId xmlns:a16="http://schemas.microsoft.com/office/drawing/2014/main" id="{295B6E7E-A3D3-6E21-2646-92B149BA93A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51053" y="1428411"/>
            <a:ext cx="307286" cy="307286"/>
          </a:xfrm>
          <a:prstGeom prst="rect">
            <a:avLst/>
          </a:prstGeom>
        </p:spPr>
      </p:pic>
      <p:pic>
        <p:nvPicPr>
          <p:cNvPr id="154" name="Graphic 153" descr="Boardroom with solid fill">
            <a:extLst>
              <a:ext uri="{FF2B5EF4-FFF2-40B4-BE49-F238E27FC236}">
                <a16:creationId xmlns:a16="http://schemas.microsoft.com/office/drawing/2014/main" id="{E3D1F278-1193-EBAD-0B58-21704A0AA3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86577" y="1316639"/>
            <a:ext cx="680257" cy="680257"/>
          </a:xfrm>
          <a:prstGeom prst="rect">
            <a:avLst/>
          </a:prstGeom>
        </p:spPr>
      </p:pic>
      <p:pic>
        <p:nvPicPr>
          <p:cNvPr id="155" name="Graphic 154" descr="Document with solid fill">
            <a:extLst>
              <a:ext uri="{FF2B5EF4-FFF2-40B4-BE49-F238E27FC236}">
                <a16:creationId xmlns:a16="http://schemas.microsoft.com/office/drawing/2014/main" id="{67967B94-ADA8-21EA-8F29-768623075FF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927059" y="1352468"/>
            <a:ext cx="558078" cy="558078"/>
          </a:xfrm>
          <a:prstGeom prst="rect">
            <a:avLst/>
          </a:prstGeom>
        </p:spPr>
      </p:pic>
      <p:sp>
        <p:nvSpPr>
          <p:cNvPr id="156" name="object 19">
            <a:extLst>
              <a:ext uri="{FF2B5EF4-FFF2-40B4-BE49-F238E27FC236}">
                <a16:creationId xmlns:a16="http://schemas.microsoft.com/office/drawing/2014/main" id="{F6E4C294-62CD-5E0E-749F-57A820356ABE}"/>
              </a:ext>
            </a:extLst>
          </p:cNvPr>
          <p:cNvSpPr/>
          <p:nvPr/>
        </p:nvSpPr>
        <p:spPr>
          <a:xfrm rot="21409930" flipH="1">
            <a:off x="5180536" y="2165791"/>
            <a:ext cx="46053" cy="431831"/>
          </a:xfrm>
          <a:custGeom>
            <a:avLst/>
            <a:gdLst/>
            <a:ahLst/>
            <a:cxnLst/>
            <a:rect l="l" t="t" r="r" b="b"/>
            <a:pathLst>
              <a:path w="1270" h="318769">
                <a:moveTo>
                  <a:pt x="0" y="0"/>
                </a:moveTo>
                <a:lnTo>
                  <a:pt x="762" y="318642"/>
                </a:lnTo>
              </a:path>
            </a:pathLst>
          </a:custGeom>
          <a:solidFill>
            <a:schemeClr val="tx1">
              <a:lumMod val="50000"/>
              <a:lumOff val="50000"/>
            </a:schemeClr>
          </a:solidFill>
          <a:ln w="12192">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7" name="object 19">
            <a:extLst>
              <a:ext uri="{FF2B5EF4-FFF2-40B4-BE49-F238E27FC236}">
                <a16:creationId xmlns:a16="http://schemas.microsoft.com/office/drawing/2014/main" id="{8B222431-814E-8FAD-D6BA-0F515D655390}"/>
              </a:ext>
            </a:extLst>
          </p:cNvPr>
          <p:cNvSpPr/>
          <p:nvPr/>
        </p:nvSpPr>
        <p:spPr>
          <a:xfrm rot="21409930" flipH="1">
            <a:off x="7171507" y="2193663"/>
            <a:ext cx="46053" cy="431831"/>
          </a:xfrm>
          <a:custGeom>
            <a:avLst/>
            <a:gdLst/>
            <a:ahLst/>
            <a:cxnLst/>
            <a:rect l="l" t="t" r="r" b="b"/>
            <a:pathLst>
              <a:path w="1270" h="318769">
                <a:moveTo>
                  <a:pt x="0" y="0"/>
                </a:moveTo>
                <a:lnTo>
                  <a:pt x="762" y="318642"/>
                </a:lnTo>
              </a:path>
            </a:pathLst>
          </a:custGeom>
          <a:solidFill>
            <a:schemeClr val="tx1">
              <a:lumMod val="50000"/>
              <a:lumOff val="50000"/>
            </a:schemeClr>
          </a:solidFill>
          <a:ln w="12192">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8" name="object 19">
            <a:extLst>
              <a:ext uri="{FF2B5EF4-FFF2-40B4-BE49-F238E27FC236}">
                <a16:creationId xmlns:a16="http://schemas.microsoft.com/office/drawing/2014/main" id="{3D2DC7A9-3E14-9DA1-12BF-9F2C82B9E38A}"/>
              </a:ext>
            </a:extLst>
          </p:cNvPr>
          <p:cNvSpPr/>
          <p:nvPr/>
        </p:nvSpPr>
        <p:spPr>
          <a:xfrm rot="21409930" flipH="1">
            <a:off x="9013579" y="2207425"/>
            <a:ext cx="46053" cy="431831"/>
          </a:xfrm>
          <a:custGeom>
            <a:avLst/>
            <a:gdLst/>
            <a:ahLst/>
            <a:cxnLst/>
            <a:rect l="l" t="t" r="r" b="b"/>
            <a:pathLst>
              <a:path w="1270" h="318769">
                <a:moveTo>
                  <a:pt x="0" y="0"/>
                </a:moveTo>
                <a:lnTo>
                  <a:pt x="762" y="318642"/>
                </a:lnTo>
              </a:path>
            </a:pathLst>
          </a:custGeom>
          <a:solidFill>
            <a:schemeClr val="tx1">
              <a:lumMod val="50000"/>
              <a:lumOff val="50000"/>
            </a:schemeClr>
          </a:solidFill>
          <a:ln w="12192">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9" name="object 19">
            <a:extLst>
              <a:ext uri="{FF2B5EF4-FFF2-40B4-BE49-F238E27FC236}">
                <a16:creationId xmlns:a16="http://schemas.microsoft.com/office/drawing/2014/main" id="{25608F2B-86B0-AE68-E5D5-5809EE5A39BA}"/>
              </a:ext>
            </a:extLst>
          </p:cNvPr>
          <p:cNvSpPr/>
          <p:nvPr/>
        </p:nvSpPr>
        <p:spPr>
          <a:xfrm rot="21409930" flipH="1">
            <a:off x="10974816" y="2175964"/>
            <a:ext cx="46053" cy="431831"/>
          </a:xfrm>
          <a:custGeom>
            <a:avLst/>
            <a:gdLst/>
            <a:ahLst/>
            <a:cxnLst/>
            <a:rect l="l" t="t" r="r" b="b"/>
            <a:pathLst>
              <a:path w="1270" h="318769">
                <a:moveTo>
                  <a:pt x="0" y="0"/>
                </a:moveTo>
                <a:lnTo>
                  <a:pt x="762" y="318642"/>
                </a:lnTo>
              </a:path>
            </a:pathLst>
          </a:custGeom>
          <a:solidFill>
            <a:schemeClr val="tx1">
              <a:lumMod val="50000"/>
              <a:lumOff val="50000"/>
            </a:schemeClr>
          </a:solidFill>
          <a:ln w="12192">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0" name="Circle: Hollow 159">
            <a:extLst>
              <a:ext uri="{FF2B5EF4-FFF2-40B4-BE49-F238E27FC236}">
                <a16:creationId xmlns:a16="http://schemas.microsoft.com/office/drawing/2014/main" id="{0193C61B-D42E-216A-6677-C0F5ADBC7299}"/>
              </a:ext>
            </a:extLst>
          </p:cNvPr>
          <p:cNvSpPr/>
          <p:nvPr/>
        </p:nvSpPr>
        <p:spPr>
          <a:xfrm>
            <a:off x="5118170" y="2603658"/>
            <a:ext cx="196490" cy="174691"/>
          </a:xfrm>
          <a:prstGeom prst="donut">
            <a:avLst/>
          </a:prstGeom>
          <a:solidFill>
            <a:schemeClr val="tx1">
              <a:lumMod val="50000"/>
              <a:lumOff val="5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1" name="Circle: Hollow 160">
            <a:extLst>
              <a:ext uri="{FF2B5EF4-FFF2-40B4-BE49-F238E27FC236}">
                <a16:creationId xmlns:a16="http://schemas.microsoft.com/office/drawing/2014/main" id="{E080C5B9-632E-CC9A-60B2-D3EC787D7992}"/>
              </a:ext>
            </a:extLst>
          </p:cNvPr>
          <p:cNvSpPr/>
          <p:nvPr/>
        </p:nvSpPr>
        <p:spPr>
          <a:xfrm>
            <a:off x="7119277" y="2588527"/>
            <a:ext cx="196490" cy="174691"/>
          </a:xfrm>
          <a:prstGeom prst="donut">
            <a:avLst/>
          </a:prstGeom>
          <a:solidFill>
            <a:schemeClr val="tx1">
              <a:lumMod val="50000"/>
              <a:lumOff val="5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2" name="Circle: Hollow 161">
            <a:extLst>
              <a:ext uri="{FF2B5EF4-FFF2-40B4-BE49-F238E27FC236}">
                <a16:creationId xmlns:a16="http://schemas.microsoft.com/office/drawing/2014/main" id="{76960515-4A62-22C8-EDE0-8D8305C06CB3}"/>
              </a:ext>
            </a:extLst>
          </p:cNvPr>
          <p:cNvSpPr/>
          <p:nvPr/>
        </p:nvSpPr>
        <p:spPr>
          <a:xfrm>
            <a:off x="8957884" y="2588527"/>
            <a:ext cx="196490" cy="174691"/>
          </a:xfrm>
          <a:prstGeom prst="donut">
            <a:avLst/>
          </a:prstGeom>
          <a:solidFill>
            <a:schemeClr val="tx1">
              <a:lumMod val="50000"/>
              <a:lumOff val="5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3" name="Circle: Hollow 162">
            <a:extLst>
              <a:ext uri="{FF2B5EF4-FFF2-40B4-BE49-F238E27FC236}">
                <a16:creationId xmlns:a16="http://schemas.microsoft.com/office/drawing/2014/main" id="{8D7BA9AC-277A-8ACB-7D4D-D0FCADB0D33B}"/>
              </a:ext>
            </a:extLst>
          </p:cNvPr>
          <p:cNvSpPr/>
          <p:nvPr/>
        </p:nvSpPr>
        <p:spPr>
          <a:xfrm>
            <a:off x="10898228" y="2620179"/>
            <a:ext cx="196490" cy="174691"/>
          </a:xfrm>
          <a:prstGeom prst="donut">
            <a:avLst/>
          </a:prstGeom>
          <a:solidFill>
            <a:schemeClr val="tx1">
              <a:lumMod val="50000"/>
              <a:lumOff val="5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64" name="Graphic 163" descr="Thumbs up sign with solid fill">
            <a:extLst>
              <a:ext uri="{FF2B5EF4-FFF2-40B4-BE49-F238E27FC236}">
                <a16:creationId xmlns:a16="http://schemas.microsoft.com/office/drawing/2014/main" id="{187BF1C5-03A7-1620-3213-37DEB73D1EF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56211" y="1327207"/>
            <a:ext cx="583339" cy="583339"/>
          </a:xfrm>
          <a:prstGeom prst="rect">
            <a:avLst/>
          </a:prstGeom>
        </p:spPr>
      </p:pic>
      <p:pic>
        <p:nvPicPr>
          <p:cNvPr id="165" name="Graphic 164" descr="Ui Ux with solid fill">
            <a:extLst>
              <a:ext uri="{FF2B5EF4-FFF2-40B4-BE49-F238E27FC236}">
                <a16:creationId xmlns:a16="http://schemas.microsoft.com/office/drawing/2014/main" id="{B5626AB8-0B6C-15B2-7DAA-02C02668861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707008" y="1316639"/>
            <a:ext cx="604211" cy="604211"/>
          </a:xfrm>
          <a:prstGeom prst="rect">
            <a:avLst/>
          </a:prstGeom>
        </p:spPr>
      </p:pic>
      <p:sp>
        <p:nvSpPr>
          <p:cNvPr id="166" name="TextBox 165">
            <a:extLst>
              <a:ext uri="{FF2B5EF4-FFF2-40B4-BE49-F238E27FC236}">
                <a16:creationId xmlns:a16="http://schemas.microsoft.com/office/drawing/2014/main" id="{CC8C8BD1-4D3B-4927-1282-6F6881E5AAA1}"/>
              </a:ext>
            </a:extLst>
          </p:cNvPr>
          <p:cNvSpPr txBox="1"/>
          <p:nvPr/>
        </p:nvSpPr>
        <p:spPr>
          <a:xfrm>
            <a:off x="10183948" y="3330295"/>
            <a:ext cx="1810105" cy="2754600"/>
          </a:xfrm>
          <a:prstGeom prst="rect">
            <a:avLst/>
          </a:prstGeom>
          <a:noFill/>
        </p:spPr>
        <p:txBody>
          <a:bodyPr wrap="square" rtlCol="0">
            <a:spAutoFit/>
          </a:bodyPr>
          <a:lstStyle/>
          <a:p>
            <a:pPr marL="171450" indent="-171450" fontAlgn="base">
              <a:spcBef>
                <a:spcPts val="600"/>
              </a:spcBef>
              <a:spcAft>
                <a:spcPct val="0"/>
              </a:spcAft>
              <a:buFont typeface="Arial" panose="020B0604020202020204" pitchFamily="34" charset="0"/>
              <a:buChar char="•"/>
              <a:defRPr/>
            </a:pPr>
            <a:r>
              <a:rPr lang="en-IN" sz="1400" dirty="0">
                <a:latin typeface="Calibri" panose="020F0502020204030204" pitchFamily="34" charset="0"/>
                <a:ea typeface="Calibri" panose="020F0502020204030204" pitchFamily="34" charset="0"/>
                <a:cs typeface="Calibri" panose="020F0502020204030204" pitchFamily="34" charset="0"/>
              </a:rPr>
              <a:t>Structured execution in stages:</a:t>
            </a:r>
          </a:p>
          <a:p>
            <a:pPr marL="171450" indent="-171450" fontAlgn="base">
              <a:spcBef>
                <a:spcPts val="600"/>
              </a:spcBef>
              <a:spcAft>
                <a:spcPct val="0"/>
              </a:spcAft>
              <a:buFont typeface="Arial" panose="020B0604020202020204" pitchFamily="34" charset="0"/>
              <a:buChar char="•"/>
              <a:defRPr/>
            </a:pPr>
            <a:r>
              <a:rPr lang="en-IN" sz="1400" b="1" dirty="0">
                <a:latin typeface="Calibri" panose="020F0502020204030204" pitchFamily="34" charset="0"/>
                <a:ea typeface="Calibri" panose="020F0502020204030204" pitchFamily="34" charset="0"/>
                <a:cs typeface="Calibri" panose="020F0502020204030204" pitchFamily="34" charset="0"/>
              </a:rPr>
              <a:t>Development </a:t>
            </a:r>
            <a:r>
              <a:rPr lang="en-IN" sz="1400" dirty="0">
                <a:latin typeface="Calibri" panose="020F0502020204030204" pitchFamily="34" charset="0"/>
                <a:ea typeface="Calibri" panose="020F0502020204030204" pitchFamily="34" charset="0"/>
                <a:cs typeface="Calibri" panose="020F0502020204030204" pitchFamily="34" charset="0"/>
              </a:rPr>
              <a:t>(DEV) – Build/configure solution</a:t>
            </a:r>
          </a:p>
          <a:p>
            <a:pPr marL="171450" indent="-171450" fontAlgn="base">
              <a:spcBef>
                <a:spcPts val="600"/>
              </a:spcBef>
              <a:spcAft>
                <a:spcPct val="0"/>
              </a:spcAft>
              <a:buFont typeface="Arial" panose="020B0604020202020204" pitchFamily="34" charset="0"/>
              <a:buChar char="•"/>
              <a:defRPr/>
            </a:pPr>
            <a:r>
              <a:rPr lang="en-IN" sz="1400" b="1" dirty="0">
                <a:latin typeface="Calibri" panose="020F0502020204030204" pitchFamily="34" charset="0"/>
                <a:ea typeface="Calibri" panose="020F0502020204030204" pitchFamily="34" charset="0"/>
                <a:cs typeface="Calibri" panose="020F0502020204030204" pitchFamily="34" charset="0"/>
              </a:rPr>
              <a:t>UAT </a:t>
            </a:r>
            <a:r>
              <a:rPr lang="en-IN" sz="1400" dirty="0">
                <a:latin typeface="Calibri" panose="020F0502020204030204" pitchFamily="34" charset="0"/>
                <a:ea typeface="Calibri" panose="020F0502020204030204" pitchFamily="34" charset="0"/>
                <a:cs typeface="Calibri" panose="020F0502020204030204" pitchFamily="34" charset="0"/>
              </a:rPr>
              <a:t>– Client validates solution</a:t>
            </a:r>
          </a:p>
          <a:p>
            <a:pPr marL="171450" indent="-171450" fontAlgn="base">
              <a:spcBef>
                <a:spcPts val="600"/>
              </a:spcBef>
              <a:spcAft>
                <a:spcPct val="0"/>
              </a:spcAft>
              <a:buFont typeface="Arial" panose="020B0604020202020204" pitchFamily="34" charset="0"/>
              <a:buChar char="•"/>
              <a:defRPr/>
            </a:pPr>
            <a:r>
              <a:rPr lang="en-IN" sz="1400" b="1" dirty="0">
                <a:latin typeface="Calibri" panose="020F0502020204030204" pitchFamily="34" charset="0"/>
                <a:ea typeface="Calibri" panose="020F0502020204030204" pitchFamily="34" charset="0"/>
                <a:cs typeface="Calibri" panose="020F0502020204030204" pitchFamily="34" charset="0"/>
              </a:rPr>
              <a:t>Implementation</a:t>
            </a:r>
            <a:r>
              <a:rPr lang="en-IN" sz="1400" dirty="0">
                <a:latin typeface="Calibri" panose="020F0502020204030204" pitchFamily="34" charset="0"/>
                <a:ea typeface="Calibri" panose="020F0502020204030204" pitchFamily="34" charset="0"/>
                <a:cs typeface="Calibri" panose="020F0502020204030204" pitchFamily="34" charset="0"/>
              </a:rPr>
              <a:t> – Rollout into production</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68257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AI Enabled Chatbot – Features and Benefits</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2" name="Freeform 5">
            <a:extLst>
              <a:ext uri="{FF2B5EF4-FFF2-40B4-BE49-F238E27FC236}">
                <a16:creationId xmlns:a16="http://schemas.microsoft.com/office/drawing/2014/main" id="{D3D96FE3-F7AB-A1CB-C846-20BC7AE27FD9}"/>
              </a:ext>
            </a:extLst>
          </p:cNvPr>
          <p:cNvSpPr>
            <a:spLocks noEditPoints="1"/>
          </p:cNvSpPr>
          <p:nvPr/>
        </p:nvSpPr>
        <p:spPr bwMode="auto">
          <a:xfrm>
            <a:off x="3186372" y="962920"/>
            <a:ext cx="4927607" cy="2760690"/>
          </a:xfrm>
          <a:custGeom>
            <a:avLst/>
            <a:gdLst>
              <a:gd name="T0" fmla="*/ 252 w 1184"/>
              <a:gd name="T1" fmla="*/ 328 h 665"/>
              <a:gd name="T2" fmla="*/ 252 w 1184"/>
              <a:gd name="T3" fmla="*/ 285 h 665"/>
              <a:gd name="T4" fmla="*/ 252 w 1184"/>
              <a:gd name="T5" fmla="*/ 272 h 665"/>
              <a:gd name="T6" fmla="*/ 459 w 1184"/>
              <a:gd name="T7" fmla="*/ 65 h 665"/>
              <a:gd name="T8" fmla="*/ 657 w 1184"/>
              <a:gd name="T9" fmla="*/ 216 h 665"/>
              <a:gd name="T10" fmla="*/ 665 w 1184"/>
              <a:gd name="T11" fmla="*/ 251 h 665"/>
              <a:gd name="T12" fmla="*/ 700 w 1184"/>
              <a:gd name="T13" fmla="*/ 242 h 665"/>
              <a:gd name="T14" fmla="*/ 747 w 1184"/>
              <a:gd name="T15" fmla="*/ 238 h 665"/>
              <a:gd name="T16" fmla="*/ 912 w 1184"/>
              <a:gd name="T17" fmla="*/ 364 h 665"/>
              <a:gd name="T18" fmla="*/ 988 w 1184"/>
              <a:gd name="T19" fmla="*/ 338 h 665"/>
              <a:gd name="T20" fmla="*/ 1112 w 1184"/>
              <a:gd name="T21" fmla="*/ 463 h 665"/>
              <a:gd name="T22" fmla="*/ 988 w 1184"/>
              <a:gd name="T23" fmla="*/ 587 h 665"/>
              <a:gd name="T24" fmla="*/ 980 w 1184"/>
              <a:gd name="T25" fmla="*/ 587 h 665"/>
              <a:gd name="T26" fmla="*/ 976 w 1184"/>
              <a:gd name="T27" fmla="*/ 587 h 665"/>
              <a:gd name="T28" fmla="*/ 747 w 1184"/>
              <a:gd name="T29" fmla="*/ 587 h 665"/>
              <a:gd name="T30" fmla="*/ 618 w 1184"/>
              <a:gd name="T31" fmla="*/ 587 h 665"/>
              <a:gd name="T32" fmla="*/ 205 w 1184"/>
              <a:gd name="T33" fmla="*/ 587 h 665"/>
              <a:gd name="T34" fmla="*/ 72 w 1184"/>
              <a:gd name="T35" fmla="*/ 458 h 665"/>
              <a:gd name="T36" fmla="*/ 205 w 1184"/>
              <a:gd name="T37" fmla="*/ 324 h 665"/>
              <a:gd name="T38" fmla="*/ 214 w 1184"/>
              <a:gd name="T39" fmla="*/ 324 h 665"/>
              <a:gd name="T40" fmla="*/ 252 w 1184"/>
              <a:gd name="T41" fmla="*/ 328 h 665"/>
              <a:gd name="T42" fmla="*/ 459 w 1184"/>
              <a:gd name="T43" fmla="*/ 0 h 665"/>
              <a:gd name="T44" fmla="*/ 181 w 1184"/>
              <a:gd name="T45" fmla="*/ 260 h 665"/>
              <a:gd name="T46" fmla="*/ 0 w 1184"/>
              <a:gd name="T47" fmla="*/ 464 h 665"/>
              <a:gd name="T48" fmla="*/ 205 w 1184"/>
              <a:gd name="T49" fmla="*/ 665 h 665"/>
              <a:gd name="T50" fmla="*/ 1013 w 1184"/>
              <a:gd name="T51" fmla="*/ 665 h 665"/>
              <a:gd name="T52" fmla="*/ 1048 w 1184"/>
              <a:gd name="T53" fmla="*/ 656 h 665"/>
              <a:gd name="T54" fmla="*/ 1184 w 1184"/>
              <a:gd name="T55" fmla="*/ 469 h 665"/>
              <a:gd name="T56" fmla="*/ 988 w 1184"/>
              <a:gd name="T57" fmla="*/ 272 h 665"/>
              <a:gd name="T58" fmla="*/ 947 w 1184"/>
              <a:gd name="T59" fmla="*/ 277 h 665"/>
              <a:gd name="T60" fmla="*/ 747 w 1184"/>
              <a:gd name="T61" fmla="*/ 172 h 665"/>
              <a:gd name="T62" fmla="*/ 717 w 1184"/>
              <a:gd name="T63" fmla="*/ 173 h 665"/>
              <a:gd name="T64" fmla="*/ 459 w 1184"/>
              <a:gd name="T65" fmla="*/ 0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84" h="665">
                <a:moveTo>
                  <a:pt x="252" y="328"/>
                </a:moveTo>
                <a:cubicBezTo>
                  <a:pt x="252" y="328"/>
                  <a:pt x="252" y="328"/>
                  <a:pt x="252" y="285"/>
                </a:cubicBezTo>
                <a:cubicBezTo>
                  <a:pt x="252" y="272"/>
                  <a:pt x="252" y="272"/>
                  <a:pt x="252" y="272"/>
                </a:cubicBezTo>
                <a:cubicBezTo>
                  <a:pt x="252" y="156"/>
                  <a:pt x="343" y="65"/>
                  <a:pt x="459" y="65"/>
                </a:cubicBezTo>
                <a:cubicBezTo>
                  <a:pt x="553" y="65"/>
                  <a:pt x="635" y="126"/>
                  <a:pt x="657" y="216"/>
                </a:cubicBezTo>
                <a:cubicBezTo>
                  <a:pt x="657" y="216"/>
                  <a:pt x="657" y="216"/>
                  <a:pt x="665" y="251"/>
                </a:cubicBezTo>
                <a:cubicBezTo>
                  <a:pt x="665" y="251"/>
                  <a:pt x="665" y="251"/>
                  <a:pt x="700" y="242"/>
                </a:cubicBezTo>
                <a:cubicBezTo>
                  <a:pt x="717" y="238"/>
                  <a:pt x="730" y="238"/>
                  <a:pt x="747" y="238"/>
                </a:cubicBezTo>
                <a:cubicBezTo>
                  <a:pt x="825" y="238"/>
                  <a:pt x="892" y="291"/>
                  <a:pt x="912" y="364"/>
                </a:cubicBezTo>
                <a:cubicBezTo>
                  <a:pt x="933" y="348"/>
                  <a:pt x="960" y="338"/>
                  <a:pt x="988" y="338"/>
                </a:cubicBezTo>
                <a:cubicBezTo>
                  <a:pt x="1057" y="338"/>
                  <a:pt x="1112" y="394"/>
                  <a:pt x="1112" y="463"/>
                </a:cubicBezTo>
                <a:cubicBezTo>
                  <a:pt x="1112" y="531"/>
                  <a:pt x="1057" y="587"/>
                  <a:pt x="988" y="587"/>
                </a:cubicBezTo>
                <a:cubicBezTo>
                  <a:pt x="985" y="587"/>
                  <a:pt x="983" y="587"/>
                  <a:pt x="980" y="587"/>
                </a:cubicBezTo>
                <a:cubicBezTo>
                  <a:pt x="979" y="587"/>
                  <a:pt x="977" y="587"/>
                  <a:pt x="976" y="587"/>
                </a:cubicBezTo>
                <a:cubicBezTo>
                  <a:pt x="747" y="587"/>
                  <a:pt x="747" y="587"/>
                  <a:pt x="747" y="587"/>
                </a:cubicBezTo>
                <a:cubicBezTo>
                  <a:pt x="747" y="587"/>
                  <a:pt x="747" y="587"/>
                  <a:pt x="618" y="587"/>
                </a:cubicBezTo>
                <a:cubicBezTo>
                  <a:pt x="539" y="587"/>
                  <a:pt x="412" y="587"/>
                  <a:pt x="205" y="587"/>
                </a:cubicBezTo>
                <a:cubicBezTo>
                  <a:pt x="132" y="587"/>
                  <a:pt x="72" y="527"/>
                  <a:pt x="72" y="458"/>
                </a:cubicBezTo>
                <a:cubicBezTo>
                  <a:pt x="72" y="385"/>
                  <a:pt x="132" y="324"/>
                  <a:pt x="205" y="324"/>
                </a:cubicBezTo>
                <a:cubicBezTo>
                  <a:pt x="205" y="324"/>
                  <a:pt x="209" y="324"/>
                  <a:pt x="214" y="324"/>
                </a:cubicBezTo>
                <a:cubicBezTo>
                  <a:pt x="214" y="324"/>
                  <a:pt x="214" y="324"/>
                  <a:pt x="252" y="328"/>
                </a:cubicBezTo>
                <a:moveTo>
                  <a:pt x="459" y="0"/>
                </a:moveTo>
                <a:cubicBezTo>
                  <a:pt x="309" y="0"/>
                  <a:pt x="190" y="112"/>
                  <a:pt x="181" y="260"/>
                </a:cubicBezTo>
                <a:cubicBezTo>
                  <a:pt x="79" y="272"/>
                  <a:pt x="0" y="359"/>
                  <a:pt x="0" y="464"/>
                </a:cubicBezTo>
                <a:cubicBezTo>
                  <a:pt x="0" y="573"/>
                  <a:pt x="94" y="665"/>
                  <a:pt x="205" y="665"/>
                </a:cubicBezTo>
                <a:cubicBezTo>
                  <a:pt x="1013" y="665"/>
                  <a:pt x="1013" y="665"/>
                  <a:pt x="1013" y="665"/>
                </a:cubicBezTo>
                <a:cubicBezTo>
                  <a:pt x="1048" y="656"/>
                  <a:pt x="1048" y="656"/>
                  <a:pt x="1048" y="656"/>
                </a:cubicBezTo>
                <a:cubicBezTo>
                  <a:pt x="1126" y="624"/>
                  <a:pt x="1184" y="556"/>
                  <a:pt x="1184" y="469"/>
                </a:cubicBezTo>
                <a:cubicBezTo>
                  <a:pt x="1184" y="361"/>
                  <a:pt x="1096" y="272"/>
                  <a:pt x="988" y="272"/>
                </a:cubicBezTo>
                <a:cubicBezTo>
                  <a:pt x="974" y="272"/>
                  <a:pt x="960" y="274"/>
                  <a:pt x="947" y="277"/>
                </a:cubicBezTo>
                <a:cubicBezTo>
                  <a:pt x="902" y="213"/>
                  <a:pt x="828" y="172"/>
                  <a:pt x="747" y="172"/>
                </a:cubicBezTo>
                <a:cubicBezTo>
                  <a:pt x="737" y="172"/>
                  <a:pt x="727" y="172"/>
                  <a:pt x="717" y="173"/>
                </a:cubicBezTo>
                <a:cubicBezTo>
                  <a:pt x="677" y="69"/>
                  <a:pt x="576" y="0"/>
                  <a:pt x="459" y="0"/>
                </a:cubicBezTo>
              </a:path>
            </a:pathLst>
          </a:custGeom>
          <a:solidFill>
            <a:schemeClr val="bg1">
              <a:lumMod val="75000"/>
              <a:alpha val="49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1" name="组合 39">
            <a:extLst>
              <a:ext uri="{FF2B5EF4-FFF2-40B4-BE49-F238E27FC236}">
                <a16:creationId xmlns:a16="http://schemas.microsoft.com/office/drawing/2014/main" id="{3D3431F8-85BF-678C-0DE0-3E26B22375D0}"/>
              </a:ext>
            </a:extLst>
          </p:cNvPr>
          <p:cNvGrpSpPr/>
          <p:nvPr/>
        </p:nvGrpSpPr>
        <p:grpSpPr>
          <a:xfrm>
            <a:off x="2142424" y="2646756"/>
            <a:ext cx="921433" cy="359357"/>
            <a:chOff x="1690512" y="3587757"/>
            <a:chExt cx="1339482" cy="298255"/>
          </a:xfrm>
          <a:solidFill>
            <a:schemeClr val="tx1">
              <a:lumMod val="50000"/>
              <a:lumOff val="50000"/>
            </a:schemeClr>
          </a:solidFill>
        </p:grpSpPr>
        <p:sp>
          <p:nvSpPr>
            <p:cNvPr id="12" name="右箭头 40">
              <a:extLst>
                <a:ext uri="{FF2B5EF4-FFF2-40B4-BE49-F238E27FC236}">
                  <a16:creationId xmlns:a16="http://schemas.microsoft.com/office/drawing/2014/main" id="{8C27055C-CB4C-0C0F-7F0F-4410DC6D52AA}"/>
                </a:ext>
              </a:extLst>
            </p:cNvPr>
            <p:cNvSpPr/>
            <p:nvPr/>
          </p:nvSpPr>
          <p:spPr bwMode="gray">
            <a:xfrm>
              <a:off x="2260797" y="3587757"/>
              <a:ext cx="769197" cy="298255"/>
            </a:xfrm>
            <a:prstGeom prst="rightArrow">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 name="矩形 41">
              <a:extLst>
                <a:ext uri="{FF2B5EF4-FFF2-40B4-BE49-F238E27FC236}">
                  <a16:creationId xmlns:a16="http://schemas.microsoft.com/office/drawing/2014/main" id="{8F28A8F0-F328-1EB0-3D09-8D4A0000F963}"/>
                </a:ext>
              </a:extLst>
            </p:cNvPr>
            <p:cNvSpPr/>
            <p:nvPr/>
          </p:nvSpPr>
          <p:spPr bwMode="gray">
            <a:xfrm>
              <a:off x="1969832" y="3663665"/>
              <a:ext cx="258094"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 name="矩形 42">
              <a:extLst>
                <a:ext uri="{FF2B5EF4-FFF2-40B4-BE49-F238E27FC236}">
                  <a16:creationId xmlns:a16="http://schemas.microsoft.com/office/drawing/2014/main" id="{44029397-F885-C49F-8352-B549DB7930BD}"/>
                </a:ext>
              </a:extLst>
            </p:cNvPr>
            <p:cNvSpPr/>
            <p:nvPr/>
          </p:nvSpPr>
          <p:spPr bwMode="gray">
            <a:xfrm>
              <a:off x="1805939" y="3663665"/>
              <a:ext cx="120685"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矩形 43">
              <a:extLst>
                <a:ext uri="{FF2B5EF4-FFF2-40B4-BE49-F238E27FC236}">
                  <a16:creationId xmlns:a16="http://schemas.microsoft.com/office/drawing/2014/main" id="{A09915EE-BEBB-9547-EF25-51B4FF88BC14}"/>
                </a:ext>
              </a:extLst>
            </p:cNvPr>
            <p:cNvSpPr/>
            <p:nvPr/>
          </p:nvSpPr>
          <p:spPr bwMode="gray">
            <a:xfrm>
              <a:off x="1690512" y="3663665"/>
              <a:ext cx="78944"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19" name="组合 47">
            <a:extLst>
              <a:ext uri="{FF2B5EF4-FFF2-40B4-BE49-F238E27FC236}">
                <a16:creationId xmlns:a16="http://schemas.microsoft.com/office/drawing/2014/main" id="{8A6FA497-A2BC-F150-714D-1B5615176DE8}"/>
              </a:ext>
            </a:extLst>
          </p:cNvPr>
          <p:cNvGrpSpPr/>
          <p:nvPr/>
        </p:nvGrpSpPr>
        <p:grpSpPr>
          <a:xfrm rot="10800000">
            <a:off x="8257773" y="2824112"/>
            <a:ext cx="1521415" cy="298255"/>
            <a:chOff x="1690512" y="3587758"/>
            <a:chExt cx="1521415" cy="298255"/>
          </a:xfrm>
          <a:solidFill>
            <a:schemeClr val="tx1">
              <a:lumMod val="50000"/>
              <a:lumOff val="50000"/>
            </a:schemeClr>
          </a:solidFill>
        </p:grpSpPr>
        <p:sp>
          <p:nvSpPr>
            <p:cNvPr id="20" name="右箭头 48">
              <a:extLst>
                <a:ext uri="{FF2B5EF4-FFF2-40B4-BE49-F238E27FC236}">
                  <a16:creationId xmlns:a16="http://schemas.microsoft.com/office/drawing/2014/main" id="{93ED8C72-BC5E-C3AC-54BC-901342A9FDE5}"/>
                </a:ext>
              </a:extLst>
            </p:cNvPr>
            <p:cNvSpPr/>
            <p:nvPr/>
          </p:nvSpPr>
          <p:spPr bwMode="gray">
            <a:xfrm>
              <a:off x="2606454" y="3587758"/>
              <a:ext cx="605473" cy="298255"/>
            </a:xfrm>
            <a:prstGeom prst="rightArrow">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 name="矩形 49">
              <a:extLst>
                <a:ext uri="{FF2B5EF4-FFF2-40B4-BE49-F238E27FC236}">
                  <a16:creationId xmlns:a16="http://schemas.microsoft.com/office/drawing/2014/main" id="{E900DB5B-8005-8CCD-F81B-656EF8427857}"/>
                </a:ext>
              </a:extLst>
            </p:cNvPr>
            <p:cNvSpPr/>
            <p:nvPr/>
          </p:nvSpPr>
          <p:spPr bwMode="gray">
            <a:xfrm>
              <a:off x="2267998" y="3663665"/>
              <a:ext cx="301973"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2" name="矩形 50">
              <a:extLst>
                <a:ext uri="{FF2B5EF4-FFF2-40B4-BE49-F238E27FC236}">
                  <a16:creationId xmlns:a16="http://schemas.microsoft.com/office/drawing/2014/main" id="{572F84BC-6C00-269B-1843-EDBE34D419E3}"/>
                </a:ext>
              </a:extLst>
            </p:cNvPr>
            <p:cNvSpPr/>
            <p:nvPr/>
          </p:nvSpPr>
          <p:spPr bwMode="gray">
            <a:xfrm>
              <a:off x="1969832" y="3663665"/>
              <a:ext cx="258094"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3" name="矩形 51">
              <a:extLst>
                <a:ext uri="{FF2B5EF4-FFF2-40B4-BE49-F238E27FC236}">
                  <a16:creationId xmlns:a16="http://schemas.microsoft.com/office/drawing/2014/main" id="{5F69B7F5-010A-7719-83D3-1CD16F237E2A}"/>
                </a:ext>
              </a:extLst>
            </p:cNvPr>
            <p:cNvSpPr/>
            <p:nvPr/>
          </p:nvSpPr>
          <p:spPr bwMode="gray">
            <a:xfrm>
              <a:off x="1805939" y="3663665"/>
              <a:ext cx="120685"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4" name="矩形 52">
              <a:extLst>
                <a:ext uri="{FF2B5EF4-FFF2-40B4-BE49-F238E27FC236}">
                  <a16:creationId xmlns:a16="http://schemas.microsoft.com/office/drawing/2014/main" id="{BCD9945A-321D-95D2-8DBF-80FF496942FE}"/>
                </a:ext>
              </a:extLst>
            </p:cNvPr>
            <p:cNvSpPr/>
            <p:nvPr/>
          </p:nvSpPr>
          <p:spPr bwMode="gray">
            <a:xfrm>
              <a:off x="1690512" y="3663665"/>
              <a:ext cx="78944"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26" name="组合 61">
            <a:extLst>
              <a:ext uri="{FF2B5EF4-FFF2-40B4-BE49-F238E27FC236}">
                <a16:creationId xmlns:a16="http://schemas.microsoft.com/office/drawing/2014/main" id="{90E12308-F55F-8E71-7880-C3C8A65451E7}"/>
              </a:ext>
            </a:extLst>
          </p:cNvPr>
          <p:cNvGrpSpPr/>
          <p:nvPr/>
        </p:nvGrpSpPr>
        <p:grpSpPr>
          <a:xfrm>
            <a:off x="4892895" y="4041271"/>
            <a:ext cx="2354074" cy="319165"/>
            <a:chOff x="4892895" y="5118961"/>
            <a:chExt cx="2354074" cy="319165"/>
          </a:xfrm>
        </p:grpSpPr>
        <p:cxnSp>
          <p:nvCxnSpPr>
            <p:cNvPr id="27" name="直接连接符 67">
              <a:extLst>
                <a:ext uri="{FF2B5EF4-FFF2-40B4-BE49-F238E27FC236}">
                  <a16:creationId xmlns:a16="http://schemas.microsoft.com/office/drawing/2014/main" id="{4AD7FD70-A8EA-5E83-20E8-1311648E7E8E}"/>
                </a:ext>
              </a:extLst>
            </p:cNvPr>
            <p:cNvCxnSpPr/>
            <p:nvPr/>
          </p:nvCxnSpPr>
          <p:spPr>
            <a:xfrm>
              <a:off x="5309646" y="5169473"/>
              <a:ext cx="0" cy="26865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68">
              <a:extLst>
                <a:ext uri="{FF2B5EF4-FFF2-40B4-BE49-F238E27FC236}">
                  <a16:creationId xmlns:a16="http://schemas.microsoft.com/office/drawing/2014/main" id="{6EA58454-6C51-9B74-7DEA-3E37423C0808}"/>
                </a:ext>
              </a:extLst>
            </p:cNvPr>
            <p:cNvCxnSpPr/>
            <p:nvPr/>
          </p:nvCxnSpPr>
          <p:spPr>
            <a:xfrm>
              <a:off x="6128903" y="5152825"/>
              <a:ext cx="0" cy="26865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69">
              <a:extLst>
                <a:ext uri="{FF2B5EF4-FFF2-40B4-BE49-F238E27FC236}">
                  <a16:creationId xmlns:a16="http://schemas.microsoft.com/office/drawing/2014/main" id="{261F801B-39B8-A40F-9E6A-82A2136E1A23}"/>
                </a:ext>
              </a:extLst>
            </p:cNvPr>
            <p:cNvCxnSpPr/>
            <p:nvPr/>
          </p:nvCxnSpPr>
          <p:spPr>
            <a:xfrm>
              <a:off x="7246969" y="5145086"/>
              <a:ext cx="0" cy="26865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70">
              <a:extLst>
                <a:ext uri="{FF2B5EF4-FFF2-40B4-BE49-F238E27FC236}">
                  <a16:creationId xmlns:a16="http://schemas.microsoft.com/office/drawing/2014/main" id="{30D77B6B-AA04-C1BA-AC8B-BA35B48F033B}"/>
                </a:ext>
              </a:extLst>
            </p:cNvPr>
            <p:cNvCxnSpPr/>
            <p:nvPr/>
          </p:nvCxnSpPr>
          <p:spPr>
            <a:xfrm>
              <a:off x="4892895" y="5118961"/>
              <a:ext cx="291493"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 name="组合 75">
            <a:extLst>
              <a:ext uri="{FF2B5EF4-FFF2-40B4-BE49-F238E27FC236}">
                <a16:creationId xmlns:a16="http://schemas.microsoft.com/office/drawing/2014/main" id="{0F27F449-72EB-149D-2583-1480A658DC6C}"/>
              </a:ext>
            </a:extLst>
          </p:cNvPr>
          <p:cNvGrpSpPr/>
          <p:nvPr/>
        </p:nvGrpSpPr>
        <p:grpSpPr>
          <a:xfrm>
            <a:off x="8270357" y="2481503"/>
            <a:ext cx="1521415" cy="298255"/>
            <a:chOff x="1690512" y="3587758"/>
            <a:chExt cx="1521415" cy="298255"/>
          </a:xfrm>
          <a:solidFill>
            <a:schemeClr val="tx1">
              <a:lumMod val="50000"/>
              <a:lumOff val="50000"/>
            </a:schemeClr>
          </a:solidFill>
        </p:grpSpPr>
        <p:sp>
          <p:nvSpPr>
            <p:cNvPr id="34" name="右箭头 86">
              <a:extLst>
                <a:ext uri="{FF2B5EF4-FFF2-40B4-BE49-F238E27FC236}">
                  <a16:creationId xmlns:a16="http://schemas.microsoft.com/office/drawing/2014/main" id="{C47FE13D-60E6-614B-3749-3C09C15DE976}"/>
                </a:ext>
              </a:extLst>
            </p:cNvPr>
            <p:cNvSpPr/>
            <p:nvPr/>
          </p:nvSpPr>
          <p:spPr bwMode="gray">
            <a:xfrm>
              <a:off x="2606454" y="3587758"/>
              <a:ext cx="605473" cy="298255"/>
            </a:xfrm>
            <a:prstGeom prst="rightArrow">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5" name="矩形 87">
              <a:extLst>
                <a:ext uri="{FF2B5EF4-FFF2-40B4-BE49-F238E27FC236}">
                  <a16:creationId xmlns:a16="http://schemas.microsoft.com/office/drawing/2014/main" id="{06E1B964-2427-88BF-1CD1-59A8DCE09D1F}"/>
                </a:ext>
              </a:extLst>
            </p:cNvPr>
            <p:cNvSpPr/>
            <p:nvPr/>
          </p:nvSpPr>
          <p:spPr bwMode="gray">
            <a:xfrm>
              <a:off x="2267998" y="3663665"/>
              <a:ext cx="301973"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6" name="矩形 88">
              <a:extLst>
                <a:ext uri="{FF2B5EF4-FFF2-40B4-BE49-F238E27FC236}">
                  <a16:creationId xmlns:a16="http://schemas.microsoft.com/office/drawing/2014/main" id="{957B0C93-2A59-020A-D511-121C5096C109}"/>
                </a:ext>
              </a:extLst>
            </p:cNvPr>
            <p:cNvSpPr/>
            <p:nvPr/>
          </p:nvSpPr>
          <p:spPr bwMode="gray">
            <a:xfrm>
              <a:off x="1969832" y="3663665"/>
              <a:ext cx="258094"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7" name="矩形 89">
              <a:extLst>
                <a:ext uri="{FF2B5EF4-FFF2-40B4-BE49-F238E27FC236}">
                  <a16:creationId xmlns:a16="http://schemas.microsoft.com/office/drawing/2014/main" id="{7335839E-B1BD-3876-BE1B-0959DE8C3583}"/>
                </a:ext>
              </a:extLst>
            </p:cNvPr>
            <p:cNvSpPr/>
            <p:nvPr/>
          </p:nvSpPr>
          <p:spPr bwMode="gray">
            <a:xfrm>
              <a:off x="1805939" y="3663665"/>
              <a:ext cx="120685"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8" name="矩形 90">
              <a:extLst>
                <a:ext uri="{FF2B5EF4-FFF2-40B4-BE49-F238E27FC236}">
                  <a16:creationId xmlns:a16="http://schemas.microsoft.com/office/drawing/2014/main" id="{E909710E-C9DD-5279-1D55-D2BDEFE3F831}"/>
                </a:ext>
              </a:extLst>
            </p:cNvPr>
            <p:cNvSpPr/>
            <p:nvPr/>
          </p:nvSpPr>
          <p:spPr bwMode="gray">
            <a:xfrm>
              <a:off x="1690512" y="3663665"/>
              <a:ext cx="78944" cy="146438"/>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40" name="椭圆 92">
            <a:extLst>
              <a:ext uri="{FF2B5EF4-FFF2-40B4-BE49-F238E27FC236}">
                <a16:creationId xmlns:a16="http://schemas.microsoft.com/office/drawing/2014/main" id="{6ACA2CC8-C8A5-6747-E926-F0EF1699C28D}"/>
              </a:ext>
            </a:extLst>
          </p:cNvPr>
          <p:cNvSpPr/>
          <p:nvPr/>
        </p:nvSpPr>
        <p:spPr bwMode="gray">
          <a:xfrm>
            <a:off x="5431445" y="1912800"/>
            <a:ext cx="1638587" cy="1638587"/>
          </a:xfrm>
          <a:prstGeom prst="ellipse">
            <a:avLst/>
          </a:prstGeom>
          <a:solidFill>
            <a:srgbClr val="0097A9"/>
          </a:solidFill>
          <a:ln w="698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1" name="TextBox 31">
            <a:extLst>
              <a:ext uri="{FF2B5EF4-FFF2-40B4-BE49-F238E27FC236}">
                <a16:creationId xmlns:a16="http://schemas.microsoft.com/office/drawing/2014/main" id="{AD480EA9-CB30-90AF-A0E0-98F78C74C2BE}"/>
              </a:ext>
            </a:extLst>
          </p:cNvPr>
          <p:cNvSpPr txBox="1"/>
          <p:nvPr/>
        </p:nvSpPr>
        <p:spPr>
          <a:xfrm>
            <a:off x="5781242" y="2604678"/>
            <a:ext cx="1059786" cy="161583"/>
          </a:xfrm>
          <a:prstGeom prst="rect">
            <a:avLst/>
          </a:prstGeom>
          <a:noFill/>
        </p:spPr>
        <p:txBody>
          <a:bodyPr wrap="square" lIns="0" tIns="0" rIns="0" bIns="0" rtlCol="0">
            <a:spAutoFit/>
          </a:bodyPr>
          <a:lstStyle/>
          <a:p>
            <a:pPr algn="ctr" defTabSz="957263"/>
            <a:r>
              <a:rPr lang="en-US" sz="1050" b="1" dirty="0">
                <a:solidFill>
                  <a:schemeClr val="bg1"/>
                </a:solidFill>
                <a:cs typeface="Calibri" panose="020F0502020204030204" pitchFamily="34" charset="0"/>
              </a:rPr>
              <a:t>Chat Interface</a:t>
            </a:r>
          </a:p>
        </p:txBody>
      </p:sp>
      <p:grpSp>
        <p:nvGrpSpPr>
          <p:cNvPr id="48" name="组合 100">
            <a:extLst>
              <a:ext uri="{FF2B5EF4-FFF2-40B4-BE49-F238E27FC236}">
                <a16:creationId xmlns:a16="http://schemas.microsoft.com/office/drawing/2014/main" id="{1CD59138-1E4A-C5B9-AA26-9FD2518662DF}"/>
              </a:ext>
            </a:extLst>
          </p:cNvPr>
          <p:cNvGrpSpPr/>
          <p:nvPr/>
        </p:nvGrpSpPr>
        <p:grpSpPr>
          <a:xfrm>
            <a:off x="6825568" y="2374537"/>
            <a:ext cx="1055000" cy="1055000"/>
            <a:chOff x="6675067" y="3383065"/>
            <a:chExt cx="1183527" cy="1183527"/>
          </a:xfrm>
        </p:grpSpPr>
        <p:sp>
          <p:nvSpPr>
            <p:cNvPr id="49" name="椭圆 101">
              <a:extLst>
                <a:ext uri="{FF2B5EF4-FFF2-40B4-BE49-F238E27FC236}">
                  <a16:creationId xmlns:a16="http://schemas.microsoft.com/office/drawing/2014/main" id="{FAB55E78-6994-1682-9C7F-5B8583D4293E}"/>
                </a:ext>
              </a:extLst>
            </p:cNvPr>
            <p:cNvSpPr/>
            <p:nvPr/>
          </p:nvSpPr>
          <p:spPr bwMode="gray">
            <a:xfrm>
              <a:off x="6675067" y="3383065"/>
              <a:ext cx="1183527" cy="1183527"/>
            </a:xfrm>
            <a:prstGeom prst="ellipse">
              <a:avLst/>
            </a:prstGeom>
            <a:solidFill>
              <a:srgbClr val="0097A9"/>
            </a:solidFill>
            <a:ln w="57150" algn="ctr">
              <a:solidFill>
                <a:schemeClr val="bg1"/>
              </a:solidFill>
              <a:miter lim="800000"/>
              <a:headEnd/>
              <a:tailEnd/>
            </a:ln>
          </p:spPr>
          <p:txBody>
            <a:bodyPr wrap="square" lIns="0" tIns="0" rIns="0" bIns="0" rtlCol="0" anchor="ctr"/>
            <a:lstStyle/>
            <a:p>
              <a:pPr algn="ctr">
                <a:lnSpc>
                  <a:spcPct val="106000"/>
                </a:lnSpc>
              </a:pPr>
              <a:endParaRPr lang="en-US" sz="800" b="1" dirty="0">
                <a:solidFill>
                  <a:schemeClr val="bg1"/>
                </a:solidFill>
                <a:cs typeface="Calibri" panose="020F0502020204030204" pitchFamily="34" charset="0"/>
              </a:endParaRPr>
            </a:p>
          </p:txBody>
        </p:sp>
        <p:sp>
          <p:nvSpPr>
            <p:cNvPr id="50" name="TextBox 31">
              <a:extLst>
                <a:ext uri="{FF2B5EF4-FFF2-40B4-BE49-F238E27FC236}">
                  <a16:creationId xmlns:a16="http://schemas.microsoft.com/office/drawing/2014/main" id="{E2DEF918-7150-732F-3BA0-C01239F3B7D0}"/>
                </a:ext>
              </a:extLst>
            </p:cNvPr>
            <p:cNvSpPr txBox="1"/>
            <p:nvPr/>
          </p:nvSpPr>
          <p:spPr>
            <a:xfrm>
              <a:off x="6775782" y="3724446"/>
              <a:ext cx="958006" cy="186016"/>
            </a:xfrm>
            <a:prstGeom prst="rect">
              <a:avLst/>
            </a:prstGeom>
            <a:noFill/>
          </p:spPr>
          <p:txBody>
            <a:bodyPr wrap="square" lIns="0" tIns="0" rIns="0" bIns="0" rtlCol="0">
              <a:spAutoFit/>
            </a:bodyPr>
            <a:lstStyle/>
            <a:p>
              <a:pPr algn="ctr">
                <a:lnSpc>
                  <a:spcPct val="106000"/>
                </a:lnSpc>
              </a:pPr>
              <a:r>
                <a:rPr lang="en-US" sz="1050" b="1" dirty="0">
                  <a:solidFill>
                    <a:schemeClr val="bg1"/>
                  </a:solidFill>
                  <a:cs typeface="Calibri" panose="020F0502020204030204" pitchFamily="34" charset="0"/>
                </a:rPr>
                <a:t>Intelligent OCR</a:t>
              </a:r>
            </a:p>
          </p:txBody>
        </p:sp>
      </p:grpSp>
      <p:sp>
        <p:nvSpPr>
          <p:cNvPr id="52" name="椭圆 104">
            <a:extLst>
              <a:ext uri="{FF2B5EF4-FFF2-40B4-BE49-F238E27FC236}">
                <a16:creationId xmlns:a16="http://schemas.microsoft.com/office/drawing/2014/main" id="{675118BB-B62B-D0E3-2C59-0ED7C197329F}"/>
              </a:ext>
            </a:extLst>
          </p:cNvPr>
          <p:cNvSpPr/>
          <p:nvPr/>
        </p:nvSpPr>
        <p:spPr bwMode="gray">
          <a:xfrm>
            <a:off x="4229113" y="1214119"/>
            <a:ext cx="1730096" cy="1730096"/>
          </a:xfrm>
          <a:prstGeom prst="ellipse">
            <a:avLst/>
          </a:prstGeom>
          <a:solidFill>
            <a:srgbClr val="0097A9"/>
          </a:solidFill>
          <a:ln w="698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NLP and Conversational AI Engine</a:t>
            </a:r>
          </a:p>
        </p:txBody>
      </p:sp>
      <p:grpSp>
        <p:nvGrpSpPr>
          <p:cNvPr id="56" name="组合 108">
            <a:extLst>
              <a:ext uri="{FF2B5EF4-FFF2-40B4-BE49-F238E27FC236}">
                <a16:creationId xmlns:a16="http://schemas.microsoft.com/office/drawing/2014/main" id="{75031D63-2D7D-8DF3-E22D-E41173E96AC6}"/>
              </a:ext>
            </a:extLst>
          </p:cNvPr>
          <p:cNvGrpSpPr/>
          <p:nvPr/>
        </p:nvGrpSpPr>
        <p:grpSpPr>
          <a:xfrm>
            <a:off x="3444015" y="2286492"/>
            <a:ext cx="1189291" cy="1189291"/>
            <a:chOff x="3520215" y="3359949"/>
            <a:chExt cx="1189291" cy="1189291"/>
          </a:xfrm>
        </p:grpSpPr>
        <p:sp>
          <p:nvSpPr>
            <p:cNvPr id="57" name="椭圆 109">
              <a:extLst>
                <a:ext uri="{FF2B5EF4-FFF2-40B4-BE49-F238E27FC236}">
                  <a16:creationId xmlns:a16="http://schemas.microsoft.com/office/drawing/2014/main" id="{60950202-4EB5-E10F-6DE2-56F6E1F8131E}"/>
                </a:ext>
              </a:extLst>
            </p:cNvPr>
            <p:cNvSpPr/>
            <p:nvPr/>
          </p:nvSpPr>
          <p:spPr bwMode="gray">
            <a:xfrm>
              <a:off x="3520215" y="3359949"/>
              <a:ext cx="1189291" cy="1189291"/>
            </a:xfrm>
            <a:prstGeom prst="ellipse">
              <a:avLst/>
            </a:prstGeom>
            <a:solidFill>
              <a:srgbClr val="0097A9"/>
            </a:solidFill>
            <a:ln w="57150" algn="ctr">
              <a:solidFill>
                <a:schemeClr val="bg1"/>
              </a:solidFill>
              <a:miter lim="800000"/>
              <a:headEnd/>
              <a:tailEnd/>
            </a:ln>
          </p:spPr>
          <p:txBody>
            <a:bodyPr wrap="square" lIns="0" tIns="0" rIns="0" bIns="0" rtlCol="0" anchor="ctr"/>
            <a:lstStyle/>
            <a:p>
              <a:pPr algn="ctr">
                <a:lnSpc>
                  <a:spcPct val="106000"/>
                </a:lnSpc>
              </a:pPr>
              <a:endParaRPr lang="en-US" sz="800" b="1" dirty="0">
                <a:solidFill>
                  <a:schemeClr val="bg1"/>
                </a:solidFill>
                <a:cs typeface="Calibri" panose="020F0502020204030204" pitchFamily="34" charset="0"/>
              </a:endParaRPr>
            </a:p>
          </p:txBody>
        </p:sp>
        <p:sp>
          <p:nvSpPr>
            <p:cNvPr id="58" name="TextBox 31">
              <a:extLst>
                <a:ext uri="{FF2B5EF4-FFF2-40B4-BE49-F238E27FC236}">
                  <a16:creationId xmlns:a16="http://schemas.microsoft.com/office/drawing/2014/main" id="{F4539A28-7235-645E-1F1C-79D2DF05782E}"/>
                </a:ext>
              </a:extLst>
            </p:cNvPr>
            <p:cNvSpPr txBox="1"/>
            <p:nvPr/>
          </p:nvSpPr>
          <p:spPr>
            <a:xfrm>
              <a:off x="3590262" y="3742490"/>
              <a:ext cx="1053807" cy="337080"/>
            </a:xfrm>
            <a:prstGeom prst="rect">
              <a:avLst/>
            </a:prstGeom>
            <a:noFill/>
          </p:spPr>
          <p:txBody>
            <a:bodyPr wrap="square" lIns="0" tIns="0" rIns="0" bIns="0" rtlCol="0">
              <a:spAutoFit/>
            </a:bodyPr>
            <a:lstStyle/>
            <a:p>
              <a:pPr algn="ctr">
                <a:lnSpc>
                  <a:spcPct val="106000"/>
                </a:lnSpc>
              </a:pPr>
              <a:r>
                <a:rPr lang="en-US" sz="1050" b="1" dirty="0">
                  <a:solidFill>
                    <a:schemeClr val="bg1"/>
                  </a:solidFill>
                  <a:cs typeface="Calibri" panose="020F0502020204030204" pitchFamily="34" charset="0"/>
                </a:rPr>
                <a:t>LLM Based search Engine</a:t>
              </a:r>
            </a:p>
          </p:txBody>
        </p:sp>
      </p:grpSp>
      <p:grpSp>
        <p:nvGrpSpPr>
          <p:cNvPr id="62" name="Group 61">
            <a:extLst>
              <a:ext uri="{FF2B5EF4-FFF2-40B4-BE49-F238E27FC236}">
                <a16:creationId xmlns:a16="http://schemas.microsoft.com/office/drawing/2014/main" id="{4360C6AB-F225-734E-A259-C9409A1F6B33}"/>
              </a:ext>
            </a:extLst>
          </p:cNvPr>
          <p:cNvGrpSpPr/>
          <p:nvPr/>
        </p:nvGrpSpPr>
        <p:grpSpPr>
          <a:xfrm>
            <a:off x="304322" y="1425641"/>
            <a:ext cx="2352346" cy="2111722"/>
            <a:chOff x="4098749" y="1956495"/>
            <a:chExt cx="3788477" cy="3741043"/>
          </a:xfrm>
        </p:grpSpPr>
        <p:grpSp>
          <p:nvGrpSpPr>
            <p:cNvPr id="63" name="Group 18">
              <a:extLst>
                <a:ext uri="{FF2B5EF4-FFF2-40B4-BE49-F238E27FC236}">
                  <a16:creationId xmlns:a16="http://schemas.microsoft.com/office/drawing/2014/main" id="{19A4A2C0-6F0A-935C-8F19-691DD38A0664}"/>
                </a:ext>
              </a:extLst>
            </p:cNvPr>
            <p:cNvGrpSpPr/>
            <p:nvPr/>
          </p:nvGrpSpPr>
          <p:grpSpPr>
            <a:xfrm>
              <a:off x="4238831" y="3190030"/>
              <a:ext cx="290433" cy="1718127"/>
              <a:chOff x="3411744" y="3709142"/>
              <a:chExt cx="290433" cy="1718127"/>
            </a:xfrm>
            <a:solidFill>
              <a:srgbClr val="D0D0CE"/>
            </a:solidFill>
          </p:grpSpPr>
          <p:sp>
            <p:nvSpPr>
              <p:cNvPr id="276" name="Freeform 5">
                <a:extLst>
                  <a:ext uri="{FF2B5EF4-FFF2-40B4-BE49-F238E27FC236}">
                    <a16:creationId xmlns:a16="http://schemas.microsoft.com/office/drawing/2014/main" id="{B0CCD55D-C0AB-A150-B1A2-ABA3470B8200}"/>
                  </a:ext>
                </a:extLst>
              </p:cNvPr>
              <p:cNvSpPr>
                <a:spLocks/>
              </p:cNvSpPr>
              <p:nvPr/>
            </p:nvSpPr>
            <p:spPr bwMode="auto">
              <a:xfrm>
                <a:off x="3622387" y="3714461"/>
                <a:ext cx="41490" cy="50001"/>
              </a:xfrm>
              <a:custGeom>
                <a:avLst/>
                <a:gdLst>
                  <a:gd name="T0" fmla="*/ 4 w 28"/>
                  <a:gd name="T1" fmla="*/ 19 h 33"/>
                  <a:gd name="T2" fmla="*/ 15 w 28"/>
                  <a:gd name="T3" fmla="*/ 28 h 33"/>
                  <a:gd name="T4" fmla="*/ 16 w 28"/>
                  <a:gd name="T5" fmla="*/ 26 h 33"/>
                  <a:gd name="T6" fmla="*/ 17 w 28"/>
                  <a:gd name="T7" fmla="*/ 25 h 33"/>
                  <a:gd name="T8" fmla="*/ 19 w 28"/>
                  <a:gd name="T9" fmla="*/ 22 h 33"/>
                  <a:gd name="T10" fmla="*/ 21 w 28"/>
                  <a:gd name="T11" fmla="*/ 18 h 33"/>
                  <a:gd name="T12" fmla="*/ 23 w 28"/>
                  <a:gd name="T13" fmla="*/ 15 h 33"/>
                  <a:gd name="T14" fmla="*/ 24 w 28"/>
                  <a:gd name="T15" fmla="*/ 14 h 33"/>
                  <a:gd name="T16" fmla="*/ 14 w 28"/>
                  <a:gd name="T17" fmla="*/ 4 h 33"/>
                  <a:gd name="T18" fmla="*/ 12 w 28"/>
                  <a:gd name="T19" fmla="*/ 6 h 33"/>
                  <a:gd name="T20" fmla="*/ 11 w 28"/>
                  <a:gd name="T21" fmla="*/ 7 h 33"/>
                  <a:gd name="T22" fmla="*/ 9 w 28"/>
                  <a:gd name="T23" fmla="*/ 11 h 33"/>
                  <a:gd name="T24" fmla="*/ 7 w 28"/>
                  <a:gd name="T25" fmla="*/ 14 h 33"/>
                  <a:gd name="T26" fmla="*/ 5 w 28"/>
                  <a:gd name="T27" fmla="*/ 17 h 33"/>
                  <a:gd name="T28" fmla="*/ 4 w 28"/>
                  <a:gd name="T29" fmla="*/ 1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3">
                    <a:moveTo>
                      <a:pt x="4" y="19"/>
                    </a:moveTo>
                    <a:cubicBezTo>
                      <a:pt x="0" y="25"/>
                      <a:pt x="8" y="33"/>
                      <a:pt x="15" y="28"/>
                    </a:cubicBezTo>
                    <a:cubicBezTo>
                      <a:pt x="15" y="27"/>
                      <a:pt x="16" y="27"/>
                      <a:pt x="16" y="26"/>
                    </a:cubicBezTo>
                    <a:cubicBezTo>
                      <a:pt x="17" y="25"/>
                      <a:pt x="17" y="25"/>
                      <a:pt x="17" y="25"/>
                    </a:cubicBezTo>
                    <a:cubicBezTo>
                      <a:pt x="19" y="22"/>
                      <a:pt x="19" y="22"/>
                      <a:pt x="19" y="22"/>
                    </a:cubicBezTo>
                    <a:cubicBezTo>
                      <a:pt x="21" y="18"/>
                      <a:pt x="21" y="18"/>
                      <a:pt x="21" y="18"/>
                    </a:cubicBezTo>
                    <a:cubicBezTo>
                      <a:pt x="23" y="15"/>
                      <a:pt x="23" y="15"/>
                      <a:pt x="23" y="15"/>
                    </a:cubicBezTo>
                    <a:cubicBezTo>
                      <a:pt x="24" y="14"/>
                      <a:pt x="24" y="14"/>
                      <a:pt x="24" y="14"/>
                    </a:cubicBezTo>
                    <a:cubicBezTo>
                      <a:pt x="28" y="8"/>
                      <a:pt x="20" y="0"/>
                      <a:pt x="14" y="4"/>
                    </a:cubicBezTo>
                    <a:cubicBezTo>
                      <a:pt x="13" y="5"/>
                      <a:pt x="12" y="6"/>
                      <a:pt x="12" y="6"/>
                    </a:cubicBezTo>
                    <a:cubicBezTo>
                      <a:pt x="11" y="7"/>
                      <a:pt x="11" y="7"/>
                      <a:pt x="11" y="7"/>
                    </a:cubicBezTo>
                    <a:cubicBezTo>
                      <a:pt x="9" y="11"/>
                      <a:pt x="9" y="11"/>
                      <a:pt x="9" y="11"/>
                    </a:cubicBezTo>
                    <a:cubicBezTo>
                      <a:pt x="7" y="14"/>
                      <a:pt x="7" y="14"/>
                      <a:pt x="7" y="14"/>
                    </a:cubicBezTo>
                    <a:cubicBezTo>
                      <a:pt x="5" y="17"/>
                      <a:pt x="5" y="17"/>
                      <a:pt x="5" y="17"/>
                    </a:cubicBezTo>
                    <a:lnTo>
                      <a:pt x="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7" name="Freeform 6">
                <a:extLst>
                  <a:ext uri="{FF2B5EF4-FFF2-40B4-BE49-F238E27FC236}">
                    <a16:creationId xmlns:a16="http://schemas.microsoft.com/office/drawing/2014/main" id="{9E5F60B5-299D-4DE0-EAEC-A7A1C2A555B3}"/>
                  </a:ext>
                </a:extLst>
              </p:cNvPr>
              <p:cNvSpPr>
                <a:spLocks/>
              </p:cNvSpPr>
              <p:nvPr/>
            </p:nvSpPr>
            <p:spPr bwMode="auto">
              <a:xfrm>
                <a:off x="3617068" y="3709142"/>
                <a:ext cx="52129" cy="59576"/>
              </a:xfrm>
              <a:custGeom>
                <a:avLst/>
                <a:gdLst>
                  <a:gd name="T0" fmla="*/ 2 w 34"/>
                  <a:gd name="T1" fmla="*/ 18 h 39"/>
                  <a:gd name="T2" fmla="*/ 4 w 34"/>
                  <a:gd name="T3" fmla="*/ 35 h 39"/>
                  <a:gd name="T4" fmla="*/ 21 w 34"/>
                  <a:gd name="T5" fmla="*/ 36 h 39"/>
                  <a:gd name="T6" fmla="*/ 22 w 34"/>
                  <a:gd name="T7" fmla="*/ 35 h 39"/>
                  <a:gd name="T8" fmla="*/ 24 w 34"/>
                  <a:gd name="T9" fmla="*/ 32 h 39"/>
                  <a:gd name="T10" fmla="*/ 25 w 34"/>
                  <a:gd name="T11" fmla="*/ 31 h 39"/>
                  <a:gd name="T12" fmla="*/ 27 w 34"/>
                  <a:gd name="T13" fmla="*/ 28 h 39"/>
                  <a:gd name="T14" fmla="*/ 29 w 34"/>
                  <a:gd name="T15" fmla="*/ 25 h 39"/>
                  <a:gd name="T16" fmla="*/ 32 w 34"/>
                  <a:gd name="T17" fmla="*/ 20 h 39"/>
                  <a:gd name="T18" fmla="*/ 34 w 34"/>
                  <a:gd name="T19" fmla="*/ 13 h 39"/>
                  <a:gd name="T20" fmla="*/ 21 w 34"/>
                  <a:gd name="T21" fmla="*/ 0 h 39"/>
                  <a:gd name="T22" fmla="*/ 13 w 34"/>
                  <a:gd name="T23" fmla="*/ 3 h 39"/>
                  <a:gd name="T24" fmla="*/ 10 w 34"/>
                  <a:gd name="T25" fmla="*/ 6 h 39"/>
                  <a:gd name="T26" fmla="*/ 9 w 34"/>
                  <a:gd name="T27" fmla="*/ 7 h 39"/>
                  <a:gd name="T28" fmla="*/ 7 w 34"/>
                  <a:gd name="T29" fmla="*/ 10 h 39"/>
                  <a:gd name="T30" fmla="*/ 3 w 34"/>
                  <a:gd name="T31" fmla="*/ 17 h 39"/>
                  <a:gd name="T32" fmla="*/ 7 w 34"/>
                  <a:gd name="T33" fmla="*/ 22 h 39"/>
                  <a:gd name="T34" fmla="*/ 13 w 34"/>
                  <a:gd name="T35" fmla="*/ 23 h 39"/>
                  <a:gd name="T36" fmla="*/ 15 w 34"/>
                  <a:gd name="T37" fmla="*/ 20 h 39"/>
                  <a:gd name="T38" fmla="*/ 19 w 34"/>
                  <a:gd name="T39" fmla="*/ 14 h 39"/>
                  <a:gd name="T40" fmla="*/ 20 w 34"/>
                  <a:gd name="T41" fmla="*/ 12 h 39"/>
                  <a:gd name="T42" fmla="*/ 20 w 34"/>
                  <a:gd name="T43" fmla="*/ 12 h 39"/>
                  <a:gd name="T44" fmla="*/ 20 w 34"/>
                  <a:gd name="T45" fmla="*/ 12 h 39"/>
                  <a:gd name="T46" fmla="*/ 22 w 34"/>
                  <a:gd name="T47" fmla="*/ 12 h 39"/>
                  <a:gd name="T48" fmla="*/ 22 w 34"/>
                  <a:gd name="T49" fmla="*/ 14 h 39"/>
                  <a:gd name="T50" fmla="*/ 21 w 34"/>
                  <a:gd name="T51" fmla="*/ 15 h 39"/>
                  <a:gd name="T52" fmla="*/ 19 w 34"/>
                  <a:gd name="T53" fmla="*/ 18 h 39"/>
                  <a:gd name="T54" fmla="*/ 17 w 34"/>
                  <a:gd name="T55" fmla="*/ 21 h 39"/>
                  <a:gd name="T56" fmla="*/ 15 w 34"/>
                  <a:gd name="T57" fmla="*/ 25 h 39"/>
                  <a:gd name="T58" fmla="*/ 14 w 34"/>
                  <a:gd name="T59" fmla="*/ 26 h 39"/>
                  <a:gd name="T60" fmla="*/ 14 w 34"/>
                  <a:gd name="T61" fmla="*/ 26 h 39"/>
                  <a:gd name="T62" fmla="*/ 18 w 34"/>
                  <a:gd name="T63" fmla="*/ 31 h 39"/>
                  <a:gd name="T64" fmla="*/ 13 w 34"/>
                  <a:gd name="T65" fmla="*/ 27 h 39"/>
                  <a:gd name="T66" fmla="*/ 12 w 34"/>
                  <a:gd name="T67" fmla="*/ 25 h 39"/>
                  <a:gd name="T68" fmla="*/ 7 w 34"/>
                  <a:gd name="T69" fmla="*/ 2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 h="39">
                    <a:moveTo>
                      <a:pt x="7" y="22"/>
                    </a:moveTo>
                    <a:cubicBezTo>
                      <a:pt x="2" y="18"/>
                      <a:pt x="2" y="18"/>
                      <a:pt x="2" y="18"/>
                    </a:cubicBezTo>
                    <a:cubicBezTo>
                      <a:pt x="1" y="21"/>
                      <a:pt x="0" y="23"/>
                      <a:pt x="0" y="25"/>
                    </a:cubicBezTo>
                    <a:cubicBezTo>
                      <a:pt x="0" y="29"/>
                      <a:pt x="2" y="32"/>
                      <a:pt x="4" y="35"/>
                    </a:cubicBezTo>
                    <a:cubicBezTo>
                      <a:pt x="6" y="37"/>
                      <a:pt x="10" y="38"/>
                      <a:pt x="13" y="38"/>
                    </a:cubicBezTo>
                    <a:cubicBezTo>
                      <a:pt x="16" y="39"/>
                      <a:pt x="19" y="37"/>
                      <a:pt x="21" y="36"/>
                    </a:cubicBezTo>
                    <a:cubicBezTo>
                      <a:pt x="22" y="35"/>
                      <a:pt x="22" y="35"/>
                      <a:pt x="22" y="35"/>
                    </a:cubicBezTo>
                    <a:cubicBezTo>
                      <a:pt x="22" y="35"/>
                      <a:pt x="22" y="35"/>
                      <a:pt x="22" y="35"/>
                    </a:cubicBezTo>
                    <a:cubicBezTo>
                      <a:pt x="22" y="35"/>
                      <a:pt x="23" y="34"/>
                      <a:pt x="24" y="32"/>
                    </a:cubicBezTo>
                    <a:cubicBezTo>
                      <a:pt x="24" y="32"/>
                      <a:pt x="24" y="32"/>
                      <a:pt x="24" y="32"/>
                    </a:cubicBezTo>
                    <a:cubicBezTo>
                      <a:pt x="25" y="31"/>
                      <a:pt x="25" y="31"/>
                      <a:pt x="25" y="31"/>
                    </a:cubicBezTo>
                    <a:cubicBezTo>
                      <a:pt x="25" y="31"/>
                      <a:pt x="25" y="31"/>
                      <a:pt x="25" y="31"/>
                    </a:cubicBezTo>
                    <a:cubicBezTo>
                      <a:pt x="27" y="28"/>
                      <a:pt x="27" y="28"/>
                      <a:pt x="27" y="28"/>
                    </a:cubicBezTo>
                    <a:cubicBezTo>
                      <a:pt x="27" y="28"/>
                      <a:pt x="27" y="28"/>
                      <a:pt x="27" y="28"/>
                    </a:cubicBezTo>
                    <a:cubicBezTo>
                      <a:pt x="29" y="25"/>
                      <a:pt x="29" y="25"/>
                      <a:pt x="29" y="25"/>
                    </a:cubicBezTo>
                    <a:cubicBezTo>
                      <a:pt x="29" y="25"/>
                      <a:pt x="29" y="25"/>
                      <a:pt x="29" y="25"/>
                    </a:cubicBezTo>
                    <a:cubicBezTo>
                      <a:pt x="31" y="21"/>
                      <a:pt x="31" y="21"/>
                      <a:pt x="31" y="21"/>
                    </a:cubicBezTo>
                    <a:cubicBezTo>
                      <a:pt x="32" y="20"/>
                      <a:pt x="32" y="20"/>
                      <a:pt x="32" y="20"/>
                    </a:cubicBezTo>
                    <a:cubicBezTo>
                      <a:pt x="32" y="21"/>
                      <a:pt x="32" y="21"/>
                      <a:pt x="32" y="21"/>
                    </a:cubicBezTo>
                    <a:cubicBezTo>
                      <a:pt x="33" y="18"/>
                      <a:pt x="34" y="16"/>
                      <a:pt x="34" y="13"/>
                    </a:cubicBezTo>
                    <a:cubicBezTo>
                      <a:pt x="34" y="10"/>
                      <a:pt x="32" y="6"/>
                      <a:pt x="30" y="4"/>
                    </a:cubicBezTo>
                    <a:cubicBezTo>
                      <a:pt x="28" y="2"/>
                      <a:pt x="25" y="0"/>
                      <a:pt x="21" y="0"/>
                    </a:cubicBezTo>
                    <a:cubicBezTo>
                      <a:pt x="18" y="0"/>
                      <a:pt x="16" y="1"/>
                      <a:pt x="13" y="3"/>
                    </a:cubicBezTo>
                    <a:cubicBezTo>
                      <a:pt x="13" y="3"/>
                      <a:pt x="13" y="3"/>
                      <a:pt x="13" y="3"/>
                    </a:cubicBezTo>
                    <a:cubicBezTo>
                      <a:pt x="13" y="3"/>
                      <a:pt x="13" y="3"/>
                      <a:pt x="13" y="3"/>
                    </a:cubicBezTo>
                    <a:cubicBezTo>
                      <a:pt x="12" y="4"/>
                      <a:pt x="11" y="5"/>
                      <a:pt x="10" y="6"/>
                    </a:cubicBezTo>
                    <a:cubicBezTo>
                      <a:pt x="10" y="6"/>
                      <a:pt x="10" y="6"/>
                      <a:pt x="10" y="6"/>
                    </a:cubicBezTo>
                    <a:cubicBezTo>
                      <a:pt x="9" y="7"/>
                      <a:pt x="9" y="7"/>
                      <a:pt x="9" y="7"/>
                    </a:cubicBezTo>
                    <a:cubicBezTo>
                      <a:pt x="9" y="7"/>
                      <a:pt x="9" y="7"/>
                      <a:pt x="9" y="7"/>
                    </a:cubicBezTo>
                    <a:cubicBezTo>
                      <a:pt x="7" y="10"/>
                      <a:pt x="7" y="10"/>
                      <a:pt x="7" y="10"/>
                    </a:cubicBezTo>
                    <a:cubicBezTo>
                      <a:pt x="5" y="14"/>
                      <a:pt x="5" y="14"/>
                      <a:pt x="5" y="14"/>
                    </a:cubicBezTo>
                    <a:cubicBezTo>
                      <a:pt x="3" y="17"/>
                      <a:pt x="3" y="17"/>
                      <a:pt x="3" y="17"/>
                    </a:cubicBezTo>
                    <a:cubicBezTo>
                      <a:pt x="2" y="19"/>
                      <a:pt x="2" y="19"/>
                      <a:pt x="2" y="19"/>
                    </a:cubicBezTo>
                    <a:cubicBezTo>
                      <a:pt x="7" y="22"/>
                      <a:pt x="7" y="22"/>
                      <a:pt x="7" y="22"/>
                    </a:cubicBezTo>
                    <a:cubicBezTo>
                      <a:pt x="12" y="25"/>
                      <a:pt x="12" y="25"/>
                      <a:pt x="12" y="25"/>
                    </a:cubicBezTo>
                    <a:cubicBezTo>
                      <a:pt x="13" y="23"/>
                      <a:pt x="13" y="23"/>
                      <a:pt x="13" y="23"/>
                    </a:cubicBezTo>
                    <a:cubicBezTo>
                      <a:pt x="15" y="20"/>
                      <a:pt x="15" y="20"/>
                      <a:pt x="15" y="20"/>
                    </a:cubicBezTo>
                    <a:cubicBezTo>
                      <a:pt x="15" y="20"/>
                      <a:pt x="15" y="20"/>
                      <a:pt x="15" y="20"/>
                    </a:cubicBezTo>
                    <a:cubicBezTo>
                      <a:pt x="17" y="17"/>
                      <a:pt x="17" y="17"/>
                      <a:pt x="17" y="17"/>
                    </a:cubicBezTo>
                    <a:cubicBezTo>
                      <a:pt x="19" y="14"/>
                      <a:pt x="19" y="14"/>
                      <a:pt x="19" y="14"/>
                    </a:cubicBezTo>
                    <a:cubicBezTo>
                      <a:pt x="19" y="14"/>
                      <a:pt x="19" y="14"/>
                      <a:pt x="19" y="14"/>
                    </a:cubicBezTo>
                    <a:cubicBezTo>
                      <a:pt x="20" y="12"/>
                      <a:pt x="20" y="12"/>
                      <a:pt x="20" y="12"/>
                    </a:cubicBezTo>
                    <a:cubicBezTo>
                      <a:pt x="20" y="13"/>
                      <a:pt x="20" y="13"/>
                      <a:pt x="20" y="13"/>
                    </a:cubicBezTo>
                    <a:cubicBezTo>
                      <a:pt x="20" y="12"/>
                      <a:pt x="20" y="12"/>
                      <a:pt x="20" y="12"/>
                    </a:cubicBezTo>
                    <a:cubicBezTo>
                      <a:pt x="17" y="7"/>
                      <a:pt x="17" y="7"/>
                      <a:pt x="17" y="7"/>
                    </a:cubicBezTo>
                    <a:cubicBezTo>
                      <a:pt x="20" y="12"/>
                      <a:pt x="20" y="12"/>
                      <a:pt x="20" y="12"/>
                    </a:cubicBezTo>
                    <a:cubicBezTo>
                      <a:pt x="21" y="12"/>
                      <a:pt x="21" y="12"/>
                      <a:pt x="21" y="12"/>
                    </a:cubicBezTo>
                    <a:cubicBezTo>
                      <a:pt x="22" y="12"/>
                      <a:pt x="22" y="12"/>
                      <a:pt x="22" y="12"/>
                    </a:cubicBezTo>
                    <a:cubicBezTo>
                      <a:pt x="22" y="13"/>
                      <a:pt x="22" y="13"/>
                      <a:pt x="22" y="13"/>
                    </a:cubicBezTo>
                    <a:cubicBezTo>
                      <a:pt x="22" y="13"/>
                      <a:pt x="22" y="14"/>
                      <a:pt x="22" y="14"/>
                    </a:cubicBezTo>
                    <a:cubicBezTo>
                      <a:pt x="22" y="14"/>
                      <a:pt x="22" y="14"/>
                      <a:pt x="22" y="14"/>
                    </a:cubicBezTo>
                    <a:cubicBezTo>
                      <a:pt x="21" y="15"/>
                      <a:pt x="21" y="15"/>
                      <a:pt x="21" y="15"/>
                    </a:cubicBezTo>
                    <a:cubicBezTo>
                      <a:pt x="21" y="15"/>
                      <a:pt x="21" y="15"/>
                      <a:pt x="21" y="15"/>
                    </a:cubicBezTo>
                    <a:cubicBezTo>
                      <a:pt x="19" y="18"/>
                      <a:pt x="19" y="18"/>
                      <a:pt x="19" y="18"/>
                    </a:cubicBezTo>
                    <a:cubicBezTo>
                      <a:pt x="19" y="18"/>
                      <a:pt x="19" y="18"/>
                      <a:pt x="19" y="18"/>
                    </a:cubicBezTo>
                    <a:cubicBezTo>
                      <a:pt x="17" y="21"/>
                      <a:pt x="17" y="21"/>
                      <a:pt x="17" y="21"/>
                    </a:cubicBezTo>
                    <a:cubicBezTo>
                      <a:pt x="17" y="21"/>
                      <a:pt x="17" y="21"/>
                      <a:pt x="17" y="21"/>
                    </a:cubicBezTo>
                    <a:cubicBezTo>
                      <a:pt x="15" y="25"/>
                      <a:pt x="15" y="25"/>
                      <a:pt x="15" y="25"/>
                    </a:cubicBezTo>
                    <a:cubicBezTo>
                      <a:pt x="15" y="25"/>
                      <a:pt x="15" y="25"/>
                      <a:pt x="15" y="25"/>
                    </a:cubicBezTo>
                    <a:cubicBezTo>
                      <a:pt x="14" y="26"/>
                      <a:pt x="14" y="26"/>
                      <a:pt x="14" y="26"/>
                    </a:cubicBezTo>
                    <a:cubicBezTo>
                      <a:pt x="14" y="26"/>
                      <a:pt x="14" y="26"/>
                      <a:pt x="14" y="26"/>
                    </a:cubicBezTo>
                    <a:cubicBezTo>
                      <a:pt x="14" y="26"/>
                      <a:pt x="14" y="26"/>
                      <a:pt x="14" y="26"/>
                    </a:cubicBezTo>
                    <a:cubicBezTo>
                      <a:pt x="14" y="27"/>
                      <a:pt x="14" y="27"/>
                      <a:pt x="14" y="27"/>
                    </a:cubicBezTo>
                    <a:cubicBezTo>
                      <a:pt x="18" y="31"/>
                      <a:pt x="18" y="31"/>
                      <a:pt x="18" y="31"/>
                    </a:cubicBezTo>
                    <a:cubicBezTo>
                      <a:pt x="14" y="26"/>
                      <a:pt x="14" y="26"/>
                      <a:pt x="14" y="26"/>
                    </a:cubicBezTo>
                    <a:cubicBezTo>
                      <a:pt x="14" y="27"/>
                      <a:pt x="13" y="27"/>
                      <a:pt x="13" y="27"/>
                    </a:cubicBezTo>
                    <a:cubicBezTo>
                      <a:pt x="12" y="26"/>
                      <a:pt x="12" y="26"/>
                      <a:pt x="12" y="26"/>
                    </a:cubicBezTo>
                    <a:cubicBezTo>
                      <a:pt x="12" y="25"/>
                      <a:pt x="12" y="25"/>
                      <a:pt x="12" y="25"/>
                    </a:cubicBezTo>
                    <a:cubicBezTo>
                      <a:pt x="12" y="25"/>
                      <a:pt x="12" y="25"/>
                      <a:pt x="12" y="25"/>
                    </a:cubicBezTo>
                    <a:lnTo>
                      <a:pt x="7"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8" name="Freeform 7">
                <a:extLst>
                  <a:ext uri="{FF2B5EF4-FFF2-40B4-BE49-F238E27FC236}">
                    <a16:creationId xmlns:a16="http://schemas.microsoft.com/office/drawing/2014/main" id="{EA03D127-F292-6AF9-3CD3-F6FE722C917C}"/>
                  </a:ext>
                </a:extLst>
              </p:cNvPr>
              <p:cNvSpPr>
                <a:spLocks/>
              </p:cNvSpPr>
              <p:nvPr/>
            </p:nvSpPr>
            <p:spPr bwMode="auto">
              <a:xfrm>
                <a:off x="3561748" y="3827230"/>
                <a:ext cx="39363" cy="53193"/>
              </a:xfrm>
              <a:custGeom>
                <a:avLst/>
                <a:gdLst>
                  <a:gd name="T0" fmla="*/ 3 w 26"/>
                  <a:gd name="T1" fmla="*/ 21 h 35"/>
                  <a:gd name="T2" fmla="*/ 16 w 26"/>
                  <a:gd name="T3" fmla="*/ 28 h 35"/>
                  <a:gd name="T4" fmla="*/ 16 w 26"/>
                  <a:gd name="T5" fmla="*/ 27 h 35"/>
                  <a:gd name="T6" fmla="*/ 18 w 26"/>
                  <a:gd name="T7" fmla="*/ 24 h 35"/>
                  <a:gd name="T8" fmla="*/ 20 w 26"/>
                  <a:gd name="T9" fmla="*/ 20 h 35"/>
                  <a:gd name="T10" fmla="*/ 22 w 26"/>
                  <a:gd name="T11" fmla="*/ 16 h 35"/>
                  <a:gd name="T12" fmla="*/ 22 w 26"/>
                  <a:gd name="T13" fmla="*/ 14 h 35"/>
                  <a:gd name="T14" fmla="*/ 11 w 26"/>
                  <a:gd name="T15" fmla="*/ 6 h 35"/>
                  <a:gd name="T16" fmla="*/ 9 w 26"/>
                  <a:gd name="T17" fmla="*/ 8 h 35"/>
                  <a:gd name="T18" fmla="*/ 9 w 26"/>
                  <a:gd name="T19" fmla="*/ 10 h 35"/>
                  <a:gd name="T20" fmla="*/ 7 w 26"/>
                  <a:gd name="T21" fmla="*/ 14 h 35"/>
                  <a:gd name="T22" fmla="*/ 5 w 26"/>
                  <a:gd name="T23" fmla="*/ 18 h 35"/>
                  <a:gd name="T24" fmla="*/ 3 w 26"/>
                  <a:gd name="T25" fmla="*/ 2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35">
                    <a:moveTo>
                      <a:pt x="3" y="21"/>
                    </a:moveTo>
                    <a:cubicBezTo>
                      <a:pt x="0" y="29"/>
                      <a:pt x="11" y="35"/>
                      <a:pt x="16" y="28"/>
                    </a:cubicBezTo>
                    <a:cubicBezTo>
                      <a:pt x="16" y="28"/>
                      <a:pt x="16" y="27"/>
                      <a:pt x="16" y="27"/>
                    </a:cubicBezTo>
                    <a:cubicBezTo>
                      <a:pt x="18" y="24"/>
                      <a:pt x="18" y="24"/>
                      <a:pt x="18" y="24"/>
                    </a:cubicBezTo>
                    <a:cubicBezTo>
                      <a:pt x="20" y="20"/>
                      <a:pt x="20" y="20"/>
                      <a:pt x="20" y="20"/>
                    </a:cubicBezTo>
                    <a:cubicBezTo>
                      <a:pt x="22" y="16"/>
                      <a:pt x="22" y="16"/>
                      <a:pt x="22" y="16"/>
                    </a:cubicBezTo>
                    <a:cubicBezTo>
                      <a:pt x="22" y="14"/>
                      <a:pt x="22" y="14"/>
                      <a:pt x="22" y="14"/>
                    </a:cubicBezTo>
                    <a:cubicBezTo>
                      <a:pt x="26" y="7"/>
                      <a:pt x="17" y="0"/>
                      <a:pt x="11" y="6"/>
                    </a:cubicBezTo>
                    <a:cubicBezTo>
                      <a:pt x="10" y="6"/>
                      <a:pt x="10" y="7"/>
                      <a:pt x="9" y="8"/>
                    </a:cubicBezTo>
                    <a:cubicBezTo>
                      <a:pt x="9" y="10"/>
                      <a:pt x="9" y="10"/>
                      <a:pt x="9" y="10"/>
                    </a:cubicBezTo>
                    <a:cubicBezTo>
                      <a:pt x="7" y="14"/>
                      <a:pt x="7" y="14"/>
                      <a:pt x="7" y="14"/>
                    </a:cubicBezTo>
                    <a:cubicBezTo>
                      <a:pt x="5" y="18"/>
                      <a:pt x="5" y="18"/>
                      <a:pt x="5" y="18"/>
                    </a:cubicBezTo>
                    <a:lnTo>
                      <a:pt x="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9" name="Freeform 8">
                <a:extLst>
                  <a:ext uri="{FF2B5EF4-FFF2-40B4-BE49-F238E27FC236}">
                    <a16:creationId xmlns:a16="http://schemas.microsoft.com/office/drawing/2014/main" id="{16A32D9D-FA3D-366C-BD71-092DD31AE053}"/>
                  </a:ext>
                </a:extLst>
              </p:cNvPr>
              <p:cNvSpPr>
                <a:spLocks/>
              </p:cNvSpPr>
              <p:nvPr/>
            </p:nvSpPr>
            <p:spPr bwMode="auto">
              <a:xfrm>
                <a:off x="3556428" y="3825102"/>
                <a:ext cx="48937" cy="58512"/>
              </a:xfrm>
              <a:custGeom>
                <a:avLst/>
                <a:gdLst>
                  <a:gd name="T0" fmla="*/ 1 w 32"/>
                  <a:gd name="T1" fmla="*/ 20 h 39"/>
                  <a:gd name="T2" fmla="*/ 4 w 32"/>
                  <a:gd name="T3" fmla="*/ 35 h 39"/>
                  <a:gd name="T4" fmla="*/ 19 w 32"/>
                  <a:gd name="T5" fmla="*/ 38 h 39"/>
                  <a:gd name="T6" fmla="*/ 24 w 32"/>
                  <a:gd name="T7" fmla="*/ 33 h 39"/>
                  <a:gd name="T8" fmla="*/ 25 w 32"/>
                  <a:gd name="T9" fmla="*/ 31 h 39"/>
                  <a:gd name="T10" fmla="*/ 26 w 32"/>
                  <a:gd name="T11" fmla="*/ 28 h 39"/>
                  <a:gd name="T12" fmla="*/ 28 w 32"/>
                  <a:gd name="T13" fmla="*/ 24 h 39"/>
                  <a:gd name="T14" fmla="*/ 30 w 32"/>
                  <a:gd name="T15" fmla="*/ 20 h 39"/>
                  <a:gd name="T16" fmla="*/ 31 w 32"/>
                  <a:gd name="T17" fmla="*/ 18 h 39"/>
                  <a:gd name="T18" fmla="*/ 28 w 32"/>
                  <a:gd name="T19" fmla="*/ 3 h 39"/>
                  <a:gd name="T20" fmla="*/ 10 w 32"/>
                  <a:gd name="T21" fmla="*/ 4 h 39"/>
                  <a:gd name="T22" fmla="*/ 10 w 32"/>
                  <a:gd name="T23" fmla="*/ 4 h 39"/>
                  <a:gd name="T24" fmla="*/ 7 w 32"/>
                  <a:gd name="T25" fmla="*/ 7 h 39"/>
                  <a:gd name="T26" fmla="*/ 6 w 32"/>
                  <a:gd name="T27" fmla="*/ 9 h 39"/>
                  <a:gd name="T28" fmla="*/ 2 w 32"/>
                  <a:gd name="T29" fmla="*/ 17 h 39"/>
                  <a:gd name="T30" fmla="*/ 1 w 32"/>
                  <a:gd name="T31" fmla="*/ 20 h 39"/>
                  <a:gd name="T32" fmla="*/ 6 w 32"/>
                  <a:gd name="T33" fmla="*/ 23 h 39"/>
                  <a:gd name="T34" fmla="*/ 13 w 32"/>
                  <a:gd name="T35" fmla="*/ 22 h 39"/>
                  <a:gd name="T36" fmla="*/ 15 w 32"/>
                  <a:gd name="T37" fmla="*/ 18 h 39"/>
                  <a:gd name="T38" fmla="*/ 17 w 32"/>
                  <a:gd name="T39" fmla="*/ 14 h 39"/>
                  <a:gd name="T40" fmla="*/ 18 w 32"/>
                  <a:gd name="T41" fmla="*/ 12 h 39"/>
                  <a:gd name="T42" fmla="*/ 18 w 32"/>
                  <a:gd name="T43" fmla="*/ 12 h 39"/>
                  <a:gd name="T44" fmla="*/ 14 w 32"/>
                  <a:gd name="T45" fmla="*/ 8 h 39"/>
                  <a:gd name="T46" fmla="*/ 19 w 32"/>
                  <a:gd name="T47" fmla="*/ 11 h 39"/>
                  <a:gd name="T48" fmla="*/ 20 w 32"/>
                  <a:gd name="T49" fmla="*/ 13 h 39"/>
                  <a:gd name="T50" fmla="*/ 20 w 32"/>
                  <a:gd name="T51" fmla="*/ 13 h 39"/>
                  <a:gd name="T52" fmla="*/ 17 w 32"/>
                  <a:gd name="T53" fmla="*/ 19 h 39"/>
                  <a:gd name="T54" fmla="*/ 14 w 32"/>
                  <a:gd name="T55" fmla="*/ 26 h 39"/>
                  <a:gd name="T56" fmla="*/ 14 w 32"/>
                  <a:gd name="T57" fmla="*/ 26 h 39"/>
                  <a:gd name="T58" fmla="*/ 19 w 32"/>
                  <a:gd name="T59" fmla="*/ 30 h 39"/>
                  <a:gd name="T60" fmla="*/ 13 w 32"/>
                  <a:gd name="T61" fmla="*/ 27 h 39"/>
                  <a:gd name="T62" fmla="*/ 12 w 32"/>
                  <a:gd name="T63" fmla="*/ 27 h 39"/>
                  <a:gd name="T64" fmla="*/ 12 w 32"/>
                  <a:gd name="T65" fmla="*/ 25 h 39"/>
                  <a:gd name="T66" fmla="*/ 12 w 32"/>
                  <a:gd name="T67" fmla="*/ 2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39">
                    <a:moveTo>
                      <a:pt x="6" y="23"/>
                    </a:moveTo>
                    <a:cubicBezTo>
                      <a:pt x="1" y="20"/>
                      <a:pt x="1" y="20"/>
                      <a:pt x="1" y="20"/>
                    </a:cubicBezTo>
                    <a:cubicBezTo>
                      <a:pt x="0" y="22"/>
                      <a:pt x="0" y="24"/>
                      <a:pt x="0" y="26"/>
                    </a:cubicBezTo>
                    <a:cubicBezTo>
                      <a:pt x="0" y="30"/>
                      <a:pt x="2" y="33"/>
                      <a:pt x="4" y="35"/>
                    </a:cubicBezTo>
                    <a:cubicBezTo>
                      <a:pt x="6" y="38"/>
                      <a:pt x="10" y="39"/>
                      <a:pt x="13" y="39"/>
                    </a:cubicBezTo>
                    <a:cubicBezTo>
                      <a:pt x="15" y="39"/>
                      <a:pt x="17" y="38"/>
                      <a:pt x="19" y="38"/>
                    </a:cubicBezTo>
                    <a:cubicBezTo>
                      <a:pt x="20" y="37"/>
                      <a:pt x="22" y="35"/>
                      <a:pt x="23" y="34"/>
                    </a:cubicBezTo>
                    <a:cubicBezTo>
                      <a:pt x="24" y="33"/>
                      <a:pt x="24" y="33"/>
                      <a:pt x="24" y="33"/>
                    </a:cubicBezTo>
                    <a:cubicBezTo>
                      <a:pt x="24" y="33"/>
                      <a:pt x="24" y="33"/>
                      <a:pt x="24" y="33"/>
                    </a:cubicBezTo>
                    <a:cubicBezTo>
                      <a:pt x="24" y="33"/>
                      <a:pt x="24" y="32"/>
                      <a:pt x="25" y="31"/>
                    </a:cubicBezTo>
                    <a:cubicBezTo>
                      <a:pt x="25" y="31"/>
                      <a:pt x="25" y="31"/>
                      <a:pt x="25" y="31"/>
                    </a:cubicBezTo>
                    <a:cubicBezTo>
                      <a:pt x="26" y="28"/>
                      <a:pt x="26" y="28"/>
                      <a:pt x="26" y="28"/>
                    </a:cubicBezTo>
                    <a:cubicBezTo>
                      <a:pt x="26" y="28"/>
                      <a:pt x="26" y="28"/>
                      <a:pt x="26" y="28"/>
                    </a:cubicBezTo>
                    <a:cubicBezTo>
                      <a:pt x="28" y="24"/>
                      <a:pt x="28" y="24"/>
                      <a:pt x="28" y="24"/>
                    </a:cubicBezTo>
                    <a:cubicBezTo>
                      <a:pt x="28" y="24"/>
                      <a:pt x="28" y="24"/>
                      <a:pt x="28" y="24"/>
                    </a:cubicBezTo>
                    <a:cubicBezTo>
                      <a:pt x="30" y="20"/>
                      <a:pt x="30" y="20"/>
                      <a:pt x="30" y="20"/>
                    </a:cubicBezTo>
                    <a:cubicBezTo>
                      <a:pt x="31" y="18"/>
                      <a:pt x="31" y="18"/>
                      <a:pt x="31" y="18"/>
                    </a:cubicBezTo>
                    <a:cubicBezTo>
                      <a:pt x="31" y="18"/>
                      <a:pt x="31" y="18"/>
                      <a:pt x="31" y="18"/>
                    </a:cubicBezTo>
                    <a:cubicBezTo>
                      <a:pt x="32" y="17"/>
                      <a:pt x="32" y="15"/>
                      <a:pt x="32" y="13"/>
                    </a:cubicBezTo>
                    <a:cubicBezTo>
                      <a:pt x="32" y="9"/>
                      <a:pt x="30" y="6"/>
                      <a:pt x="28" y="3"/>
                    </a:cubicBezTo>
                    <a:cubicBezTo>
                      <a:pt x="26" y="1"/>
                      <a:pt x="22" y="0"/>
                      <a:pt x="19" y="0"/>
                    </a:cubicBezTo>
                    <a:cubicBezTo>
                      <a:pt x="16" y="0"/>
                      <a:pt x="12" y="1"/>
                      <a:pt x="10" y="4"/>
                    </a:cubicBezTo>
                    <a:cubicBezTo>
                      <a:pt x="10" y="4"/>
                      <a:pt x="10" y="4"/>
                      <a:pt x="10" y="4"/>
                    </a:cubicBezTo>
                    <a:cubicBezTo>
                      <a:pt x="10" y="4"/>
                      <a:pt x="10" y="4"/>
                      <a:pt x="10" y="4"/>
                    </a:cubicBezTo>
                    <a:cubicBezTo>
                      <a:pt x="9" y="5"/>
                      <a:pt x="8" y="6"/>
                      <a:pt x="7" y="7"/>
                    </a:cubicBezTo>
                    <a:cubicBezTo>
                      <a:pt x="7" y="7"/>
                      <a:pt x="7" y="7"/>
                      <a:pt x="7" y="7"/>
                    </a:cubicBezTo>
                    <a:cubicBezTo>
                      <a:pt x="6" y="9"/>
                      <a:pt x="6" y="9"/>
                      <a:pt x="6" y="9"/>
                    </a:cubicBezTo>
                    <a:cubicBezTo>
                      <a:pt x="6" y="9"/>
                      <a:pt x="6" y="9"/>
                      <a:pt x="6" y="9"/>
                    </a:cubicBezTo>
                    <a:cubicBezTo>
                      <a:pt x="4" y="13"/>
                      <a:pt x="4" y="13"/>
                      <a:pt x="4" y="13"/>
                    </a:cubicBezTo>
                    <a:cubicBezTo>
                      <a:pt x="2" y="17"/>
                      <a:pt x="2" y="17"/>
                      <a:pt x="2" y="17"/>
                    </a:cubicBezTo>
                    <a:cubicBezTo>
                      <a:pt x="1" y="20"/>
                      <a:pt x="1" y="20"/>
                      <a:pt x="1" y="20"/>
                    </a:cubicBezTo>
                    <a:cubicBezTo>
                      <a:pt x="1" y="20"/>
                      <a:pt x="1" y="20"/>
                      <a:pt x="1" y="20"/>
                    </a:cubicBezTo>
                    <a:cubicBezTo>
                      <a:pt x="1" y="20"/>
                      <a:pt x="1" y="20"/>
                      <a:pt x="1" y="20"/>
                    </a:cubicBezTo>
                    <a:cubicBezTo>
                      <a:pt x="6" y="23"/>
                      <a:pt x="6" y="23"/>
                      <a:pt x="6" y="23"/>
                    </a:cubicBezTo>
                    <a:cubicBezTo>
                      <a:pt x="12" y="25"/>
                      <a:pt x="12" y="25"/>
                      <a:pt x="12" y="25"/>
                    </a:cubicBezTo>
                    <a:cubicBezTo>
                      <a:pt x="13" y="22"/>
                      <a:pt x="13" y="22"/>
                      <a:pt x="13" y="22"/>
                    </a:cubicBezTo>
                    <a:cubicBezTo>
                      <a:pt x="13" y="22"/>
                      <a:pt x="13" y="22"/>
                      <a:pt x="13" y="22"/>
                    </a:cubicBezTo>
                    <a:cubicBezTo>
                      <a:pt x="15" y="18"/>
                      <a:pt x="15" y="18"/>
                      <a:pt x="15" y="18"/>
                    </a:cubicBezTo>
                    <a:cubicBezTo>
                      <a:pt x="15" y="18"/>
                      <a:pt x="15" y="18"/>
                      <a:pt x="15" y="18"/>
                    </a:cubicBezTo>
                    <a:cubicBezTo>
                      <a:pt x="17" y="14"/>
                      <a:pt x="17" y="14"/>
                      <a:pt x="17" y="14"/>
                    </a:cubicBezTo>
                    <a:cubicBezTo>
                      <a:pt x="17" y="14"/>
                      <a:pt x="17" y="14"/>
                      <a:pt x="17" y="14"/>
                    </a:cubicBezTo>
                    <a:cubicBezTo>
                      <a:pt x="18" y="12"/>
                      <a:pt x="18" y="12"/>
                      <a:pt x="18" y="12"/>
                    </a:cubicBezTo>
                    <a:cubicBezTo>
                      <a:pt x="18" y="12"/>
                      <a:pt x="18" y="12"/>
                      <a:pt x="18" y="12"/>
                    </a:cubicBezTo>
                    <a:cubicBezTo>
                      <a:pt x="18" y="12"/>
                      <a:pt x="18" y="12"/>
                      <a:pt x="18" y="12"/>
                    </a:cubicBezTo>
                    <a:cubicBezTo>
                      <a:pt x="18" y="12"/>
                      <a:pt x="18" y="12"/>
                      <a:pt x="18" y="12"/>
                    </a:cubicBezTo>
                    <a:cubicBezTo>
                      <a:pt x="14" y="8"/>
                      <a:pt x="14" y="8"/>
                      <a:pt x="14" y="8"/>
                    </a:cubicBezTo>
                    <a:cubicBezTo>
                      <a:pt x="18" y="12"/>
                      <a:pt x="18" y="12"/>
                      <a:pt x="18" y="12"/>
                    </a:cubicBezTo>
                    <a:cubicBezTo>
                      <a:pt x="19" y="11"/>
                      <a:pt x="19" y="11"/>
                      <a:pt x="19" y="11"/>
                    </a:cubicBezTo>
                    <a:cubicBezTo>
                      <a:pt x="20" y="12"/>
                      <a:pt x="20" y="12"/>
                      <a:pt x="20" y="12"/>
                    </a:cubicBezTo>
                    <a:cubicBezTo>
                      <a:pt x="20" y="13"/>
                      <a:pt x="20" y="13"/>
                      <a:pt x="20" y="13"/>
                    </a:cubicBezTo>
                    <a:cubicBezTo>
                      <a:pt x="20" y="13"/>
                      <a:pt x="20" y="13"/>
                      <a:pt x="20" y="13"/>
                    </a:cubicBezTo>
                    <a:cubicBezTo>
                      <a:pt x="20" y="13"/>
                      <a:pt x="20" y="13"/>
                      <a:pt x="20" y="13"/>
                    </a:cubicBezTo>
                    <a:cubicBezTo>
                      <a:pt x="19" y="15"/>
                      <a:pt x="19" y="15"/>
                      <a:pt x="19" y="15"/>
                    </a:cubicBezTo>
                    <a:cubicBezTo>
                      <a:pt x="17" y="19"/>
                      <a:pt x="17" y="19"/>
                      <a:pt x="17" y="19"/>
                    </a:cubicBezTo>
                    <a:cubicBezTo>
                      <a:pt x="15" y="23"/>
                      <a:pt x="15" y="23"/>
                      <a:pt x="15" y="23"/>
                    </a:cubicBezTo>
                    <a:cubicBezTo>
                      <a:pt x="14" y="26"/>
                      <a:pt x="14" y="26"/>
                      <a:pt x="14" y="26"/>
                    </a:cubicBezTo>
                    <a:cubicBezTo>
                      <a:pt x="19" y="29"/>
                      <a:pt x="19" y="29"/>
                      <a:pt x="19" y="29"/>
                    </a:cubicBezTo>
                    <a:cubicBezTo>
                      <a:pt x="14" y="26"/>
                      <a:pt x="14" y="26"/>
                      <a:pt x="14" y="26"/>
                    </a:cubicBezTo>
                    <a:cubicBezTo>
                      <a:pt x="14" y="27"/>
                      <a:pt x="14" y="27"/>
                      <a:pt x="14" y="27"/>
                    </a:cubicBezTo>
                    <a:cubicBezTo>
                      <a:pt x="19" y="30"/>
                      <a:pt x="19" y="30"/>
                      <a:pt x="19" y="30"/>
                    </a:cubicBezTo>
                    <a:cubicBezTo>
                      <a:pt x="14" y="27"/>
                      <a:pt x="14" y="27"/>
                      <a:pt x="14" y="27"/>
                    </a:cubicBezTo>
                    <a:cubicBezTo>
                      <a:pt x="14" y="27"/>
                      <a:pt x="14" y="27"/>
                      <a:pt x="13" y="27"/>
                    </a:cubicBezTo>
                    <a:cubicBezTo>
                      <a:pt x="13" y="27"/>
                      <a:pt x="13" y="27"/>
                      <a:pt x="13" y="27"/>
                    </a:cubicBezTo>
                    <a:cubicBezTo>
                      <a:pt x="12" y="27"/>
                      <a:pt x="12" y="27"/>
                      <a:pt x="12" y="27"/>
                    </a:cubicBezTo>
                    <a:cubicBezTo>
                      <a:pt x="12" y="26"/>
                      <a:pt x="12" y="26"/>
                      <a:pt x="12" y="26"/>
                    </a:cubicBezTo>
                    <a:cubicBezTo>
                      <a:pt x="12" y="26"/>
                      <a:pt x="12" y="26"/>
                      <a:pt x="12" y="25"/>
                    </a:cubicBezTo>
                    <a:cubicBezTo>
                      <a:pt x="6" y="23"/>
                      <a:pt x="6" y="23"/>
                      <a:pt x="6" y="23"/>
                    </a:cubicBezTo>
                    <a:cubicBezTo>
                      <a:pt x="12" y="25"/>
                      <a:pt x="12" y="25"/>
                      <a:pt x="12" y="25"/>
                    </a:cubicBezTo>
                    <a:lnTo>
                      <a:pt x="6"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0" name="Freeform 9">
                <a:extLst>
                  <a:ext uri="{FF2B5EF4-FFF2-40B4-BE49-F238E27FC236}">
                    <a16:creationId xmlns:a16="http://schemas.microsoft.com/office/drawing/2014/main" id="{C6C3F6B3-8251-40F6-EE76-FAC096A83076}"/>
                  </a:ext>
                </a:extLst>
              </p:cNvPr>
              <p:cNvSpPr>
                <a:spLocks/>
              </p:cNvSpPr>
              <p:nvPr/>
            </p:nvSpPr>
            <p:spPr bwMode="auto">
              <a:xfrm>
                <a:off x="3514938" y="3948509"/>
                <a:ext cx="36171" cy="53193"/>
              </a:xfrm>
              <a:custGeom>
                <a:avLst/>
                <a:gdLst>
                  <a:gd name="T0" fmla="*/ 2 w 24"/>
                  <a:gd name="T1" fmla="*/ 22 h 35"/>
                  <a:gd name="T2" fmla="*/ 15 w 24"/>
                  <a:gd name="T3" fmla="*/ 29 h 35"/>
                  <a:gd name="T4" fmla="*/ 16 w 24"/>
                  <a:gd name="T5" fmla="*/ 27 h 35"/>
                  <a:gd name="T6" fmla="*/ 17 w 24"/>
                  <a:gd name="T7" fmla="*/ 24 h 35"/>
                  <a:gd name="T8" fmla="*/ 19 w 24"/>
                  <a:gd name="T9" fmla="*/ 19 h 35"/>
                  <a:gd name="T10" fmla="*/ 20 w 24"/>
                  <a:gd name="T11" fmla="*/ 15 h 35"/>
                  <a:gd name="T12" fmla="*/ 21 w 24"/>
                  <a:gd name="T13" fmla="*/ 13 h 35"/>
                  <a:gd name="T14" fmla="*/ 8 w 24"/>
                  <a:gd name="T15" fmla="*/ 7 h 35"/>
                  <a:gd name="T16" fmla="*/ 7 w 24"/>
                  <a:gd name="T17" fmla="*/ 8 h 35"/>
                  <a:gd name="T18" fmla="*/ 7 w 24"/>
                  <a:gd name="T19" fmla="*/ 10 h 35"/>
                  <a:gd name="T20" fmla="*/ 5 w 24"/>
                  <a:gd name="T21" fmla="*/ 14 h 35"/>
                  <a:gd name="T22" fmla="*/ 3 w 24"/>
                  <a:gd name="T23" fmla="*/ 19 h 35"/>
                  <a:gd name="T24" fmla="*/ 2 w 24"/>
                  <a:gd name="T2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35">
                    <a:moveTo>
                      <a:pt x="2" y="22"/>
                    </a:moveTo>
                    <a:cubicBezTo>
                      <a:pt x="0" y="29"/>
                      <a:pt x="9" y="35"/>
                      <a:pt x="15" y="29"/>
                    </a:cubicBezTo>
                    <a:cubicBezTo>
                      <a:pt x="15" y="28"/>
                      <a:pt x="16" y="28"/>
                      <a:pt x="16" y="27"/>
                    </a:cubicBezTo>
                    <a:cubicBezTo>
                      <a:pt x="17" y="24"/>
                      <a:pt x="17" y="24"/>
                      <a:pt x="17" y="24"/>
                    </a:cubicBezTo>
                    <a:cubicBezTo>
                      <a:pt x="19" y="19"/>
                      <a:pt x="19" y="19"/>
                      <a:pt x="19" y="19"/>
                    </a:cubicBezTo>
                    <a:cubicBezTo>
                      <a:pt x="20" y="15"/>
                      <a:pt x="20" y="15"/>
                      <a:pt x="20" y="15"/>
                    </a:cubicBezTo>
                    <a:cubicBezTo>
                      <a:pt x="21" y="13"/>
                      <a:pt x="21" y="13"/>
                      <a:pt x="21" y="13"/>
                    </a:cubicBezTo>
                    <a:cubicBezTo>
                      <a:pt x="24" y="5"/>
                      <a:pt x="13" y="0"/>
                      <a:pt x="8" y="7"/>
                    </a:cubicBezTo>
                    <a:cubicBezTo>
                      <a:pt x="8" y="7"/>
                      <a:pt x="7" y="8"/>
                      <a:pt x="7" y="8"/>
                    </a:cubicBezTo>
                    <a:cubicBezTo>
                      <a:pt x="7" y="10"/>
                      <a:pt x="7" y="10"/>
                      <a:pt x="7" y="10"/>
                    </a:cubicBezTo>
                    <a:cubicBezTo>
                      <a:pt x="5" y="14"/>
                      <a:pt x="5" y="14"/>
                      <a:pt x="5" y="14"/>
                    </a:cubicBezTo>
                    <a:cubicBezTo>
                      <a:pt x="3" y="19"/>
                      <a:pt x="3" y="19"/>
                      <a:pt x="3" y="19"/>
                    </a:cubicBezTo>
                    <a:lnTo>
                      <a:pt x="2"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1" name="Freeform 10">
                <a:extLst>
                  <a:ext uri="{FF2B5EF4-FFF2-40B4-BE49-F238E27FC236}">
                    <a16:creationId xmlns:a16="http://schemas.microsoft.com/office/drawing/2014/main" id="{62EE4C57-1AE1-3F03-DE66-62A780F277AF}"/>
                  </a:ext>
                </a:extLst>
              </p:cNvPr>
              <p:cNvSpPr>
                <a:spLocks/>
              </p:cNvSpPr>
              <p:nvPr/>
            </p:nvSpPr>
            <p:spPr bwMode="auto">
              <a:xfrm>
                <a:off x="3508555" y="3944254"/>
                <a:ext cx="46810" cy="60640"/>
              </a:xfrm>
              <a:custGeom>
                <a:avLst/>
                <a:gdLst>
                  <a:gd name="T0" fmla="*/ 1 w 31"/>
                  <a:gd name="T1" fmla="*/ 23 h 40"/>
                  <a:gd name="T2" fmla="*/ 4 w 31"/>
                  <a:gd name="T3" fmla="*/ 37 h 40"/>
                  <a:gd name="T4" fmla="*/ 23 w 31"/>
                  <a:gd name="T5" fmla="*/ 36 h 40"/>
                  <a:gd name="T6" fmla="*/ 23 w 31"/>
                  <a:gd name="T7" fmla="*/ 36 h 40"/>
                  <a:gd name="T8" fmla="*/ 26 w 31"/>
                  <a:gd name="T9" fmla="*/ 31 h 40"/>
                  <a:gd name="T10" fmla="*/ 26 w 31"/>
                  <a:gd name="T11" fmla="*/ 29 h 40"/>
                  <a:gd name="T12" fmla="*/ 28 w 31"/>
                  <a:gd name="T13" fmla="*/ 24 h 40"/>
                  <a:gd name="T14" fmla="*/ 30 w 31"/>
                  <a:gd name="T15" fmla="*/ 20 h 40"/>
                  <a:gd name="T16" fmla="*/ 30 w 31"/>
                  <a:gd name="T17" fmla="*/ 18 h 40"/>
                  <a:gd name="T18" fmla="*/ 31 w 31"/>
                  <a:gd name="T19" fmla="*/ 13 h 40"/>
                  <a:gd name="T20" fmla="*/ 18 w 31"/>
                  <a:gd name="T21" fmla="*/ 0 h 40"/>
                  <a:gd name="T22" fmla="*/ 7 w 31"/>
                  <a:gd name="T23" fmla="*/ 6 h 40"/>
                  <a:gd name="T24" fmla="*/ 7 w 31"/>
                  <a:gd name="T25" fmla="*/ 6 h 40"/>
                  <a:gd name="T26" fmla="*/ 6 w 31"/>
                  <a:gd name="T27" fmla="*/ 9 h 40"/>
                  <a:gd name="T28" fmla="*/ 3 w 31"/>
                  <a:gd name="T29" fmla="*/ 15 h 40"/>
                  <a:gd name="T30" fmla="*/ 1 w 31"/>
                  <a:gd name="T31" fmla="*/ 23 h 40"/>
                  <a:gd name="T32" fmla="*/ 1 w 31"/>
                  <a:gd name="T33" fmla="*/ 23 h 40"/>
                  <a:gd name="T34" fmla="*/ 12 w 31"/>
                  <a:gd name="T35" fmla="*/ 27 h 40"/>
                  <a:gd name="T36" fmla="*/ 13 w 31"/>
                  <a:gd name="T37" fmla="*/ 24 h 40"/>
                  <a:gd name="T38" fmla="*/ 15 w 31"/>
                  <a:gd name="T39" fmla="*/ 19 h 40"/>
                  <a:gd name="T40" fmla="*/ 16 w 31"/>
                  <a:gd name="T41" fmla="*/ 15 h 40"/>
                  <a:gd name="T42" fmla="*/ 17 w 31"/>
                  <a:gd name="T43" fmla="*/ 13 h 40"/>
                  <a:gd name="T44" fmla="*/ 17 w 31"/>
                  <a:gd name="T45" fmla="*/ 13 h 40"/>
                  <a:gd name="T46" fmla="*/ 17 w 31"/>
                  <a:gd name="T47" fmla="*/ 13 h 40"/>
                  <a:gd name="T48" fmla="*/ 17 w 31"/>
                  <a:gd name="T49" fmla="*/ 13 h 40"/>
                  <a:gd name="T50" fmla="*/ 12 w 31"/>
                  <a:gd name="T51" fmla="*/ 10 h 40"/>
                  <a:gd name="T52" fmla="*/ 17 w 31"/>
                  <a:gd name="T53" fmla="*/ 12 h 40"/>
                  <a:gd name="T54" fmla="*/ 19 w 31"/>
                  <a:gd name="T55" fmla="*/ 13 h 40"/>
                  <a:gd name="T56" fmla="*/ 19 w 31"/>
                  <a:gd name="T57" fmla="*/ 14 h 40"/>
                  <a:gd name="T58" fmla="*/ 19 w 31"/>
                  <a:gd name="T59" fmla="*/ 16 h 40"/>
                  <a:gd name="T60" fmla="*/ 17 w 31"/>
                  <a:gd name="T61" fmla="*/ 20 h 40"/>
                  <a:gd name="T62" fmla="*/ 14 w 31"/>
                  <a:gd name="T63" fmla="*/ 28 h 40"/>
                  <a:gd name="T64" fmla="*/ 14 w 31"/>
                  <a:gd name="T65" fmla="*/ 28 h 40"/>
                  <a:gd name="T66" fmla="*/ 14 w 31"/>
                  <a:gd name="T67" fmla="*/ 28 h 40"/>
                  <a:gd name="T68" fmla="*/ 12 w 31"/>
                  <a:gd name="T69" fmla="*/ 28 h 40"/>
                  <a:gd name="T70" fmla="*/ 12 w 31"/>
                  <a:gd name="T71" fmla="*/ 27 h 40"/>
                  <a:gd name="T72" fmla="*/ 6 w 31"/>
                  <a:gd name="T73"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40">
                    <a:moveTo>
                      <a:pt x="6" y="25"/>
                    </a:moveTo>
                    <a:cubicBezTo>
                      <a:pt x="1" y="23"/>
                      <a:pt x="1" y="23"/>
                      <a:pt x="1" y="23"/>
                    </a:cubicBezTo>
                    <a:cubicBezTo>
                      <a:pt x="0" y="24"/>
                      <a:pt x="0" y="26"/>
                      <a:pt x="0" y="27"/>
                    </a:cubicBezTo>
                    <a:cubicBezTo>
                      <a:pt x="0" y="31"/>
                      <a:pt x="2" y="34"/>
                      <a:pt x="4" y="37"/>
                    </a:cubicBezTo>
                    <a:cubicBezTo>
                      <a:pt x="7" y="39"/>
                      <a:pt x="10" y="40"/>
                      <a:pt x="13" y="40"/>
                    </a:cubicBezTo>
                    <a:cubicBezTo>
                      <a:pt x="17" y="40"/>
                      <a:pt x="20" y="39"/>
                      <a:pt x="23" y="36"/>
                    </a:cubicBezTo>
                    <a:cubicBezTo>
                      <a:pt x="23" y="36"/>
                      <a:pt x="23" y="36"/>
                      <a:pt x="23" y="36"/>
                    </a:cubicBezTo>
                    <a:cubicBezTo>
                      <a:pt x="23" y="36"/>
                      <a:pt x="23" y="36"/>
                      <a:pt x="23" y="36"/>
                    </a:cubicBezTo>
                    <a:cubicBezTo>
                      <a:pt x="24" y="35"/>
                      <a:pt x="25" y="33"/>
                      <a:pt x="26" y="31"/>
                    </a:cubicBezTo>
                    <a:cubicBezTo>
                      <a:pt x="26" y="31"/>
                      <a:pt x="26" y="31"/>
                      <a:pt x="26" y="31"/>
                    </a:cubicBezTo>
                    <a:cubicBezTo>
                      <a:pt x="26" y="29"/>
                      <a:pt x="26" y="29"/>
                      <a:pt x="26" y="29"/>
                    </a:cubicBezTo>
                    <a:cubicBezTo>
                      <a:pt x="26" y="29"/>
                      <a:pt x="26" y="29"/>
                      <a:pt x="26" y="29"/>
                    </a:cubicBezTo>
                    <a:cubicBezTo>
                      <a:pt x="28" y="24"/>
                      <a:pt x="28" y="24"/>
                      <a:pt x="28" y="24"/>
                    </a:cubicBezTo>
                    <a:cubicBezTo>
                      <a:pt x="28" y="24"/>
                      <a:pt x="28" y="24"/>
                      <a:pt x="28" y="24"/>
                    </a:cubicBezTo>
                    <a:cubicBezTo>
                      <a:pt x="30" y="19"/>
                      <a:pt x="30" y="19"/>
                      <a:pt x="30" y="19"/>
                    </a:cubicBezTo>
                    <a:cubicBezTo>
                      <a:pt x="30" y="20"/>
                      <a:pt x="30" y="20"/>
                      <a:pt x="30" y="20"/>
                    </a:cubicBezTo>
                    <a:cubicBezTo>
                      <a:pt x="30" y="18"/>
                      <a:pt x="30" y="18"/>
                      <a:pt x="30" y="18"/>
                    </a:cubicBezTo>
                    <a:cubicBezTo>
                      <a:pt x="30" y="18"/>
                      <a:pt x="30" y="18"/>
                      <a:pt x="30" y="18"/>
                    </a:cubicBezTo>
                    <a:cubicBezTo>
                      <a:pt x="30" y="18"/>
                      <a:pt x="30" y="18"/>
                      <a:pt x="30" y="18"/>
                    </a:cubicBezTo>
                    <a:cubicBezTo>
                      <a:pt x="31" y="17"/>
                      <a:pt x="31" y="15"/>
                      <a:pt x="31" y="13"/>
                    </a:cubicBezTo>
                    <a:cubicBezTo>
                      <a:pt x="31" y="10"/>
                      <a:pt x="29" y="6"/>
                      <a:pt x="27" y="4"/>
                    </a:cubicBezTo>
                    <a:cubicBezTo>
                      <a:pt x="24" y="2"/>
                      <a:pt x="21" y="1"/>
                      <a:pt x="18" y="0"/>
                    </a:cubicBezTo>
                    <a:cubicBezTo>
                      <a:pt x="16" y="0"/>
                      <a:pt x="14" y="1"/>
                      <a:pt x="12" y="2"/>
                    </a:cubicBezTo>
                    <a:cubicBezTo>
                      <a:pt x="10" y="3"/>
                      <a:pt x="8" y="4"/>
                      <a:pt x="7" y="6"/>
                    </a:cubicBezTo>
                    <a:cubicBezTo>
                      <a:pt x="7" y="6"/>
                      <a:pt x="7" y="6"/>
                      <a:pt x="7" y="6"/>
                    </a:cubicBezTo>
                    <a:cubicBezTo>
                      <a:pt x="7" y="6"/>
                      <a:pt x="7" y="6"/>
                      <a:pt x="7" y="6"/>
                    </a:cubicBezTo>
                    <a:cubicBezTo>
                      <a:pt x="7" y="7"/>
                      <a:pt x="6" y="8"/>
                      <a:pt x="6" y="9"/>
                    </a:cubicBezTo>
                    <a:cubicBezTo>
                      <a:pt x="6" y="9"/>
                      <a:pt x="6" y="9"/>
                      <a:pt x="6" y="9"/>
                    </a:cubicBezTo>
                    <a:cubicBezTo>
                      <a:pt x="5" y="11"/>
                      <a:pt x="5" y="11"/>
                      <a:pt x="5" y="11"/>
                    </a:cubicBezTo>
                    <a:cubicBezTo>
                      <a:pt x="3" y="15"/>
                      <a:pt x="3" y="15"/>
                      <a:pt x="3" y="15"/>
                    </a:cubicBezTo>
                    <a:cubicBezTo>
                      <a:pt x="2" y="20"/>
                      <a:pt x="2" y="20"/>
                      <a:pt x="2" y="20"/>
                    </a:cubicBezTo>
                    <a:cubicBezTo>
                      <a:pt x="1" y="23"/>
                      <a:pt x="1" y="23"/>
                      <a:pt x="1" y="23"/>
                    </a:cubicBezTo>
                    <a:cubicBezTo>
                      <a:pt x="1" y="23"/>
                      <a:pt x="1" y="23"/>
                      <a:pt x="1" y="23"/>
                    </a:cubicBezTo>
                    <a:cubicBezTo>
                      <a:pt x="1" y="23"/>
                      <a:pt x="1" y="23"/>
                      <a:pt x="1" y="23"/>
                    </a:cubicBezTo>
                    <a:cubicBezTo>
                      <a:pt x="6" y="25"/>
                      <a:pt x="6" y="25"/>
                      <a:pt x="6" y="25"/>
                    </a:cubicBezTo>
                    <a:cubicBezTo>
                      <a:pt x="12" y="27"/>
                      <a:pt x="12" y="27"/>
                      <a:pt x="12" y="27"/>
                    </a:cubicBezTo>
                    <a:cubicBezTo>
                      <a:pt x="13" y="24"/>
                      <a:pt x="13" y="24"/>
                      <a:pt x="13" y="24"/>
                    </a:cubicBezTo>
                    <a:cubicBezTo>
                      <a:pt x="13" y="24"/>
                      <a:pt x="13" y="24"/>
                      <a:pt x="13" y="24"/>
                    </a:cubicBezTo>
                    <a:cubicBezTo>
                      <a:pt x="15" y="19"/>
                      <a:pt x="15" y="19"/>
                      <a:pt x="15" y="19"/>
                    </a:cubicBezTo>
                    <a:cubicBezTo>
                      <a:pt x="15" y="19"/>
                      <a:pt x="15" y="19"/>
                      <a:pt x="15" y="19"/>
                    </a:cubicBezTo>
                    <a:cubicBezTo>
                      <a:pt x="16" y="15"/>
                      <a:pt x="16" y="15"/>
                      <a:pt x="16" y="15"/>
                    </a:cubicBezTo>
                    <a:cubicBezTo>
                      <a:pt x="16" y="15"/>
                      <a:pt x="16" y="15"/>
                      <a:pt x="16" y="15"/>
                    </a:cubicBezTo>
                    <a:cubicBezTo>
                      <a:pt x="17" y="13"/>
                      <a:pt x="17" y="13"/>
                      <a:pt x="17" y="13"/>
                    </a:cubicBezTo>
                    <a:cubicBezTo>
                      <a:pt x="17" y="13"/>
                      <a:pt x="17" y="13"/>
                      <a:pt x="17" y="13"/>
                    </a:cubicBezTo>
                    <a:cubicBezTo>
                      <a:pt x="17" y="13"/>
                      <a:pt x="17" y="13"/>
                      <a:pt x="17" y="13"/>
                    </a:cubicBezTo>
                    <a:cubicBezTo>
                      <a:pt x="17" y="13"/>
                      <a:pt x="17" y="13"/>
                      <a:pt x="17" y="13"/>
                    </a:cubicBezTo>
                    <a:cubicBezTo>
                      <a:pt x="17" y="13"/>
                      <a:pt x="17" y="13"/>
                      <a:pt x="17" y="13"/>
                    </a:cubicBezTo>
                    <a:cubicBezTo>
                      <a:pt x="17" y="13"/>
                      <a:pt x="17" y="13"/>
                      <a:pt x="17" y="13"/>
                    </a:cubicBezTo>
                    <a:cubicBezTo>
                      <a:pt x="17" y="13"/>
                      <a:pt x="17" y="13"/>
                      <a:pt x="17" y="13"/>
                    </a:cubicBezTo>
                    <a:cubicBezTo>
                      <a:pt x="17" y="13"/>
                      <a:pt x="17" y="13"/>
                      <a:pt x="17" y="13"/>
                    </a:cubicBezTo>
                    <a:cubicBezTo>
                      <a:pt x="17" y="13"/>
                      <a:pt x="17" y="13"/>
                      <a:pt x="17" y="13"/>
                    </a:cubicBezTo>
                    <a:cubicBezTo>
                      <a:pt x="12" y="10"/>
                      <a:pt x="12" y="10"/>
                      <a:pt x="12" y="10"/>
                    </a:cubicBezTo>
                    <a:cubicBezTo>
                      <a:pt x="17" y="13"/>
                      <a:pt x="17" y="13"/>
                      <a:pt x="17" y="13"/>
                    </a:cubicBezTo>
                    <a:cubicBezTo>
                      <a:pt x="17" y="13"/>
                      <a:pt x="17" y="12"/>
                      <a:pt x="17" y="12"/>
                    </a:cubicBezTo>
                    <a:cubicBezTo>
                      <a:pt x="18" y="12"/>
                      <a:pt x="18" y="12"/>
                      <a:pt x="18" y="12"/>
                    </a:cubicBezTo>
                    <a:cubicBezTo>
                      <a:pt x="19" y="13"/>
                      <a:pt x="19" y="13"/>
                      <a:pt x="19" y="13"/>
                    </a:cubicBezTo>
                    <a:cubicBezTo>
                      <a:pt x="19" y="13"/>
                      <a:pt x="19" y="13"/>
                      <a:pt x="19" y="13"/>
                    </a:cubicBezTo>
                    <a:cubicBezTo>
                      <a:pt x="19" y="14"/>
                      <a:pt x="19" y="14"/>
                      <a:pt x="19" y="14"/>
                    </a:cubicBezTo>
                    <a:cubicBezTo>
                      <a:pt x="19" y="14"/>
                      <a:pt x="19" y="14"/>
                      <a:pt x="19" y="14"/>
                    </a:cubicBezTo>
                    <a:cubicBezTo>
                      <a:pt x="19" y="16"/>
                      <a:pt x="19" y="16"/>
                      <a:pt x="19" y="16"/>
                    </a:cubicBezTo>
                    <a:cubicBezTo>
                      <a:pt x="19" y="16"/>
                      <a:pt x="19" y="16"/>
                      <a:pt x="19" y="16"/>
                    </a:cubicBezTo>
                    <a:cubicBezTo>
                      <a:pt x="17" y="20"/>
                      <a:pt x="17" y="20"/>
                      <a:pt x="17" y="20"/>
                    </a:cubicBezTo>
                    <a:cubicBezTo>
                      <a:pt x="15" y="25"/>
                      <a:pt x="15" y="25"/>
                      <a:pt x="15" y="25"/>
                    </a:cubicBezTo>
                    <a:cubicBezTo>
                      <a:pt x="14" y="28"/>
                      <a:pt x="14" y="28"/>
                      <a:pt x="14" y="28"/>
                    </a:cubicBezTo>
                    <a:cubicBezTo>
                      <a:pt x="14" y="28"/>
                      <a:pt x="14" y="28"/>
                      <a:pt x="14" y="28"/>
                    </a:cubicBezTo>
                    <a:cubicBezTo>
                      <a:pt x="14" y="28"/>
                      <a:pt x="14" y="28"/>
                      <a:pt x="14" y="28"/>
                    </a:cubicBezTo>
                    <a:cubicBezTo>
                      <a:pt x="19" y="32"/>
                      <a:pt x="19" y="32"/>
                      <a:pt x="19" y="32"/>
                    </a:cubicBezTo>
                    <a:cubicBezTo>
                      <a:pt x="14" y="28"/>
                      <a:pt x="14" y="28"/>
                      <a:pt x="14" y="28"/>
                    </a:cubicBezTo>
                    <a:cubicBezTo>
                      <a:pt x="14" y="29"/>
                      <a:pt x="14" y="28"/>
                      <a:pt x="13" y="29"/>
                    </a:cubicBezTo>
                    <a:cubicBezTo>
                      <a:pt x="12" y="28"/>
                      <a:pt x="12" y="28"/>
                      <a:pt x="12" y="28"/>
                    </a:cubicBezTo>
                    <a:cubicBezTo>
                      <a:pt x="12" y="27"/>
                      <a:pt x="12" y="27"/>
                      <a:pt x="12" y="27"/>
                    </a:cubicBezTo>
                    <a:cubicBezTo>
                      <a:pt x="12" y="27"/>
                      <a:pt x="12" y="27"/>
                      <a:pt x="12" y="27"/>
                    </a:cubicBezTo>
                    <a:cubicBezTo>
                      <a:pt x="12" y="27"/>
                      <a:pt x="12" y="27"/>
                      <a:pt x="12" y="27"/>
                    </a:cubicBezTo>
                    <a:lnTo>
                      <a:pt x="6"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2" name="Freeform 11">
                <a:extLst>
                  <a:ext uri="{FF2B5EF4-FFF2-40B4-BE49-F238E27FC236}">
                    <a16:creationId xmlns:a16="http://schemas.microsoft.com/office/drawing/2014/main" id="{2F68CC79-31AB-9D9E-BE99-4DDA3EE08408}"/>
                  </a:ext>
                </a:extLst>
              </p:cNvPr>
              <p:cNvSpPr>
                <a:spLocks/>
              </p:cNvSpPr>
              <p:nvPr/>
            </p:nvSpPr>
            <p:spPr bwMode="auto">
              <a:xfrm>
                <a:off x="3479831" y="4075108"/>
                <a:ext cx="29788" cy="48937"/>
              </a:xfrm>
              <a:custGeom>
                <a:avLst/>
                <a:gdLst>
                  <a:gd name="T0" fmla="*/ 0 w 20"/>
                  <a:gd name="T1" fmla="*/ 22 h 33"/>
                  <a:gd name="T2" fmla="*/ 3 w 20"/>
                  <a:gd name="T3" fmla="*/ 30 h 33"/>
                  <a:gd name="T4" fmla="*/ 14 w 20"/>
                  <a:gd name="T5" fmla="*/ 26 h 33"/>
                  <a:gd name="T6" fmla="*/ 16 w 20"/>
                  <a:gd name="T7" fmla="*/ 21 h 33"/>
                  <a:gd name="T8" fmla="*/ 17 w 20"/>
                  <a:gd name="T9" fmla="*/ 16 h 33"/>
                  <a:gd name="T10" fmla="*/ 18 w 20"/>
                  <a:gd name="T11" fmla="*/ 12 h 33"/>
                  <a:gd name="T12" fmla="*/ 6 w 20"/>
                  <a:gd name="T13" fmla="*/ 5 h 33"/>
                  <a:gd name="T14" fmla="*/ 4 w 20"/>
                  <a:gd name="T15" fmla="*/ 8 h 33"/>
                  <a:gd name="T16" fmla="*/ 3 w 20"/>
                  <a:gd name="T17" fmla="*/ 12 h 33"/>
                  <a:gd name="T18" fmla="*/ 2 w 20"/>
                  <a:gd name="T19" fmla="*/ 17 h 33"/>
                  <a:gd name="T20" fmla="*/ 0 w 20"/>
                  <a:gd name="T2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33">
                    <a:moveTo>
                      <a:pt x="0" y="22"/>
                    </a:moveTo>
                    <a:cubicBezTo>
                      <a:pt x="0" y="25"/>
                      <a:pt x="1" y="28"/>
                      <a:pt x="3" y="30"/>
                    </a:cubicBezTo>
                    <a:cubicBezTo>
                      <a:pt x="7" y="33"/>
                      <a:pt x="13" y="30"/>
                      <a:pt x="14" y="26"/>
                    </a:cubicBezTo>
                    <a:cubicBezTo>
                      <a:pt x="16" y="21"/>
                      <a:pt x="16" y="21"/>
                      <a:pt x="16" y="21"/>
                    </a:cubicBezTo>
                    <a:cubicBezTo>
                      <a:pt x="17" y="16"/>
                      <a:pt x="17" y="16"/>
                      <a:pt x="17" y="16"/>
                    </a:cubicBezTo>
                    <a:cubicBezTo>
                      <a:pt x="18" y="12"/>
                      <a:pt x="18" y="12"/>
                      <a:pt x="18" y="12"/>
                    </a:cubicBezTo>
                    <a:cubicBezTo>
                      <a:pt x="20" y="5"/>
                      <a:pt x="11" y="0"/>
                      <a:pt x="6" y="5"/>
                    </a:cubicBezTo>
                    <a:cubicBezTo>
                      <a:pt x="5" y="6"/>
                      <a:pt x="4" y="7"/>
                      <a:pt x="4" y="8"/>
                    </a:cubicBezTo>
                    <a:cubicBezTo>
                      <a:pt x="3" y="12"/>
                      <a:pt x="3" y="12"/>
                      <a:pt x="3" y="12"/>
                    </a:cubicBezTo>
                    <a:cubicBezTo>
                      <a:pt x="2" y="17"/>
                      <a:pt x="2" y="17"/>
                      <a:pt x="2" y="17"/>
                    </a:cubicBez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3" name="Freeform 12">
                <a:extLst>
                  <a:ext uri="{FF2B5EF4-FFF2-40B4-BE49-F238E27FC236}">
                    <a16:creationId xmlns:a16="http://schemas.microsoft.com/office/drawing/2014/main" id="{71BDD71C-CF6E-1673-41B7-D755BC35FEB0}"/>
                  </a:ext>
                </a:extLst>
              </p:cNvPr>
              <p:cNvSpPr>
                <a:spLocks/>
              </p:cNvSpPr>
              <p:nvPr/>
            </p:nvSpPr>
            <p:spPr bwMode="auto">
              <a:xfrm>
                <a:off x="3470256" y="4069789"/>
                <a:ext cx="45746" cy="60640"/>
              </a:xfrm>
              <a:custGeom>
                <a:avLst/>
                <a:gdLst>
                  <a:gd name="T0" fmla="*/ 6 w 30"/>
                  <a:gd name="T1" fmla="*/ 25 h 40"/>
                  <a:gd name="T2" fmla="*/ 1 w 30"/>
                  <a:gd name="T3" fmla="*/ 24 h 40"/>
                  <a:gd name="T4" fmla="*/ 0 w 30"/>
                  <a:gd name="T5" fmla="*/ 27 h 40"/>
                  <a:gd name="T6" fmla="*/ 6 w 30"/>
                  <a:gd name="T7" fmla="*/ 38 h 40"/>
                  <a:gd name="T8" fmla="*/ 6 w 30"/>
                  <a:gd name="T9" fmla="*/ 38 h 40"/>
                  <a:gd name="T10" fmla="*/ 13 w 30"/>
                  <a:gd name="T11" fmla="*/ 40 h 40"/>
                  <a:gd name="T12" fmla="*/ 21 w 30"/>
                  <a:gd name="T13" fmla="*/ 37 h 40"/>
                  <a:gd name="T14" fmla="*/ 26 w 30"/>
                  <a:gd name="T15" fmla="*/ 30 h 40"/>
                  <a:gd name="T16" fmla="*/ 26 w 30"/>
                  <a:gd name="T17" fmla="*/ 30 h 40"/>
                  <a:gd name="T18" fmla="*/ 27 w 30"/>
                  <a:gd name="T19" fmla="*/ 25 h 40"/>
                  <a:gd name="T20" fmla="*/ 27 w 30"/>
                  <a:gd name="T21" fmla="*/ 26 h 40"/>
                  <a:gd name="T22" fmla="*/ 29 w 30"/>
                  <a:gd name="T23" fmla="*/ 20 h 40"/>
                  <a:gd name="T24" fmla="*/ 29 w 30"/>
                  <a:gd name="T25" fmla="*/ 20 h 40"/>
                  <a:gd name="T26" fmla="*/ 30 w 30"/>
                  <a:gd name="T27" fmla="*/ 16 h 40"/>
                  <a:gd name="T28" fmla="*/ 30 w 30"/>
                  <a:gd name="T29" fmla="*/ 16 h 40"/>
                  <a:gd name="T30" fmla="*/ 30 w 30"/>
                  <a:gd name="T31" fmla="*/ 16 h 40"/>
                  <a:gd name="T32" fmla="*/ 30 w 30"/>
                  <a:gd name="T33" fmla="*/ 13 h 40"/>
                  <a:gd name="T34" fmla="*/ 26 w 30"/>
                  <a:gd name="T35" fmla="*/ 4 h 40"/>
                  <a:gd name="T36" fmla="*/ 17 w 30"/>
                  <a:gd name="T37" fmla="*/ 0 h 40"/>
                  <a:gd name="T38" fmla="*/ 8 w 30"/>
                  <a:gd name="T39" fmla="*/ 4 h 40"/>
                  <a:gd name="T40" fmla="*/ 8 w 30"/>
                  <a:gd name="T41" fmla="*/ 4 h 40"/>
                  <a:gd name="T42" fmla="*/ 8 w 30"/>
                  <a:gd name="T43" fmla="*/ 4 h 40"/>
                  <a:gd name="T44" fmla="*/ 4 w 30"/>
                  <a:gd name="T45" fmla="*/ 10 h 40"/>
                  <a:gd name="T46" fmla="*/ 10 w 30"/>
                  <a:gd name="T47" fmla="*/ 11 h 40"/>
                  <a:gd name="T48" fmla="*/ 4 w 30"/>
                  <a:gd name="T49" fmla="*/ 10 h 40"/>
                  <a:gd name="T50" fmla="*/ 3 w 30"/>
                  <a:gd name="T51" fmla="*/ 14 h 40"/>
                  <a:gd name="T52" fmla="*/ 3 w 30"/>
                  <a:gd name="T53" fmla="*/ 14 h 40"/>
                  <a:gd name="T54" fmla="*/ 2 w 30"/>
                  <a:gd name="T55" fmla="*/ 19 h 40"/>
                  <a:gd name="T56" fmla="*/ 1 w 30"/>
                  <a:gd name="T57" fmla="*/ 24 h 40"/>
                  <a:gd name="T58" fmla="*/ 1 w 30"/>
                  <a:gd name="T59" fmla="*/ 24 h 40"/>
                  <a:gd name="T60" fmla="*/ 6 w 30"/>
                  <a:gd name="T61" fmla="*/ 25 h 40"/>
                  <a:gd name="T62" fmla="*/ 12 w 30"/>
                  <a:gd name="T63" fmla="*/ 27 h 40"/>
                  <a:gd name="T64" fmla="*/ 13 w 30"/>
                  <a:gd name="T65" fmla="*/ 22 h 40"/>
                  <a:gd name="T66" fmla="*/ 13 w 30"/>
                  <a:gd name="T67" fmla="*/ 22 h 40"/>
                  <a:gd name="T68" fmla="*/ 15 w 30"/>
                  <a:gd name="T69" fmla="*/ 17 h 40"/>
                  <a:gd name="T70" fmla="*/ 15 w 30"/>
                  <a:gd name="T71" fmla="*/ 17 h 40"/>
                  <a:gd name="T72" fmla="*/ 16 w 30"/>
                  <a:gd name="T73" fmla="*/ 13 h 40"/>
                  <a:gd name="T74" fmla="*/ 16 w 30"/>
                  <a:gd name="T75" fmla="*/ 13 h 40"/>
                  <a:gd name="T76" fmla="*/ 16 w 30"/>
                  <a:gd name="T77" fmla="*/ 13 h 40"/>
                  <a:gd name="T78" fmla="*/ 16 w 30"/>
                  <a:gd name="T79" fmla="*/ 12 h 40"/>
                  <a:gd name="T80" fmla="*/ 12 w 30"/>
                  <a:gd name="T81" fmla="*/ 8 h 40"/>
                  <a:gd name="T82" fmla="*/ 16 w 30"/>
                  <a:gd name="T83" fmla="*/ 12 h 40"/>
                  <a:gd name="T84" fmla="*/ 17 w 30"/>
                  <a:gd name="T85" fmla="*/ 12 h 40"/>
                  <a:gd name="T86" fmla="*/ 18 w 30"/>
                  <a:gd name="T87" fmla="*/ 12 h 40"/>
                  <a:gd name="T88" fmla="*/ 18 w 30"/>
                  <a:gd name="T89" fmla="*/ 13 h 40"/>
                  <a:gd name="T90" fmla="*/ 18 w 30"/>
                  <a:gd name="T91" fmla="*/ 13 h 40"/>
                  <a:gd name="T92" fmla="*/ 24 w 30"/>
                  <a:gd name="T93" fmla="*/ 15 h 40"/>
                  <a:gd name="T94" fmla="*/ 18 w 30"/>
                  <a:gd name="T95" fmla="*/ 13 h 40"/>
                  <a:gd name="T96" fmla="*/ 17 w 30"/>
                  <a:gd name="T97" fmla="*/ 17 h 40"/>
                  <a:gd name="T98" fmla="*/ 17 w 30"/>
                  <a:gd name="T99" fmla="*/ 17 h 40"/>
                  <a:gd name="T100" fmla="*/ 16 w 30"/>
                  <a:gd name="T101" fmla="*/ 23 h 40"/>
                  <a:gd name="T102" fmla="*/ 15 w 30"/>
                  <a:gd name="T103" fmla="*/ 27 h 40"/>
                  <a:gd name="T104" fmla="*/ 15 w 30"/>
                  <a:gd name="T105" fmla="*/ 27 h 40"/>
                  <a:gd name="T106" fmla="*/ 14 w 30"/>
                  <a:gd name="T107" fmla="*/ 28 h 40"/>
                  <a:gd name="T108" fmla="*/ 13 w 30"/>
                  <a:gd name="T109" fmla="*/ 28 h 40"/>
                  <a:gd name="T110" fmla="*/ 13 w 30"/>
                  <a:gd name="T111" fmla="*/ 28 h 40"/>
                  <a:gd name="T112" fmla="*/ 13 w 30"/>
                  <a:gd name="T113" fmla="*/ 28 h 40"/>
                  <a:gd name="T114" fmla="*/ 13 w 30"/>
                  <a:gd name="T115" fmla="*/ 28 h 40"/>
                  <a:gd name="T116" fmla="*/ 12 w 30"/>
                  <a:gd name="T117" fmla="*/ 27 h 40"/>
                  <a:gd name="T118" fmla="*/ 12 w 30"/>
                  <a:gd name="T119" fmla="*/ 27 h 40"/>
                  <a:gd name="T120" fmla="*/ 12 w 30"/>
                  <a:gd name="T121" fmla="*/ 27 h 40"/>
                  <a:gd name="T122" fmla="*/ 6 w 30"/>
                  <a:gd name="T123"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 h="40">
                    <a:moveTo>
                      <a:pt x="6" y="25"/>
                    </a:moveTo>
                    <a:cubicBezTo>
                      <a:pt x="1" y="24"/>
                      <a:pt x="1" y="24"/>
                      <a:pt x="1" y="24"/>
                    </a:cubicBezTo>
                    <a:cubicBezTo>
                      <a:pt x="0" y="25"/>
                      <a:pt x="0" y="26"/>
                      <a:pt x="0" y="27"/>
                    </a:cubicBezTo>
                    <a:cubicBezTo>
                      <a:pt x="0" y="31"/>
                      <a:pt x="2" y="35"/>
                      <a:pt x="6" y="38"/>
                    </a:cubicBezTo>
                    <a:cubicBezTo>
                      <a:pt x="6" y="38"/>
                      <a:pt x="6" y="38"/>
                      <a:pt x="6" y="38"/>
                    </a:cubicBezTo>
                    <a:cubicBezTo>
                      <a:pt x="8" y="39"/>
                      <a:pt x="11" y="40"/>
                      <a:pt x="13" y="40"/>
                    </a:cubicBezTo>
                    <a:cubicBezTo>
                      <a:pt x="16" y="40"/>
                      <a:pt x="19" y="39"/>
                      <a:pt x="21" y="37"/>
                    </a:cubicBezTo>
                    <a:cubicBezTo>
                      <a:pt x="23" y="36"/>
                      <a:pt x="25" y="33"/>
                      <a:pt x="26" y="30"/>
                    </a:cubicBezTo>
                    <a:cubicBezTo>
                      <a:pt x="26" y="30"/>
                      <a:pt x="26" y="30"/>
                      <a:pt x="26" y="30"/>
                    </a:cubicBezTo>
                    <a:cubicBezTo>
                      <a:pt x="27" y="25"/>
                      <a:pt x="27" y="25"/>
                      <a:pt x="27" y="25"/>
                    </a:cubicBezTo>
                    <a:cubicBezTo>
                      <a:pt x="27" y="26"/>
                      <a:pt x="27" y="26"/>
                      <a:pt x="27" y="26"/>
                    </a:cubicBezTo>
                    <a:cubicBezTo>
                      <a:pt x="29" y="20"/>
                      <a:pt x="29" y="20"/>
                      <a:pt x="29" y="20"/>
                    </a:cubicBezTo>
                    <a:cubicBezTo>
                      <a:pt x="29" y="20"/>
                      <a:pt x="29" y="20"/>
                      <a:pt x="29" y="20"/>
                    </a:cubicBezTo>
                    <a:cubicBezTo>
                      <a:pt x="30" y="16"/>
                      <a:pt x="30" y="16"/>
                      <a:pt x="30" y="16"/>
                    </a:cubicBezTo>
                    <a:cubicBezTo>
                      <a:pt x="30" y="16"/>
                      <a:pt x="30" y="16"/>
                      <a:pt x="30" y="16"/>
                    </a:cubicBezTo>
                    <a:cubicBezTo>
                      <a:pt x="30" y="16"/>
                      <a:pt x="30" y="16"/>
                      <a:pt x="30" y="16"/>
                    </a:cubicBezTo>
                    <a:cubicBezTo>
                      <a:pt x="30" y="15"/>
                      <a:pt x="30" y="14"/>
                      <a:pt x="30" y="13"/>
                    </a:cubicBezTo>
                    <a:cubicBezTo>
                      <a:pt x="30" y="9"/>
                      <a:pt x="28" y="6"/>
                      <a:pt x="26" y="4"/>
                    </a:cubicBezTo>
                    <a:cubicBezTo>
                      <a:pt x="24" y="1"/>
                      <a:pt x="20" y="0"/>
                      <a:pt x="17" y="0"/>
                    </a:cubicBezTo>
                    <a:cubicBezTo>
                      <a:pt x="14" y="0"/>
                      <a:pt x="10" y="1"/>
                      <a:pt x="8" y="4"/>
                    </a:cubicBezTo>
                    <a:cubicBezTo>
                      <a:pt x="8" y="4"/>
                      <a:pt x="8" y="4"/>
                      <a:pt x="8" y="4"/>
                    </a:cubicBezTo>
                    <a:cubicBezTo>
                      <a:pt x="8" y="4"/>
                      <a:pt x="8" y="4"/>
                      <a:pt x="8" y="4"/>
                    </a:cubicBezTo>
                    <a:cubicBezTo>
                      <a:pt x="6" y="5"/>
                      <a:pt x="5" y="7"/>
                      <a:pt x="4" y="10"/>
                    </a:cubicBezTo>
                    <a:cubicBezTo>
                      <a:pt x="10" y="11"/>
                      <a:pt x="10" y="11"/>
                      <a:pt x="10" y="11"/>
                    </a:cubicBezTo>
                    <a:cubicBezTo>
                      <a:pt x="4" y="10"/>
                      <a:pt x="4" y="10"/>
                      <a:pt x="4" y="10"/>
                    </a:cubicBezTo>
                    <a:cubicBezTo>
                      <a:pt x="3" y="14"/>
                      <a:pt x="3" y="14"/>
                      <a:pt x="3" y="14"/>
                    </a:cubicBezTo>
                    <a:cubicBezTo>
                      <a:pt x="3" y="14"/>
                      <a:pt x="3" y="14"/>
                      <a:pt x="3" y="14"/>
                    </a:cubicBezTo>
                    <a:cubicBezTo>
                      <a:pt x="2" y="19"/>
                      <a:pt x="2" y="19"/>
                      <a:pt x="2" y="19"/>
                    </a:cubicBezTo>
                    <a:cubicBezTo>
                      <a:pt x="1" y="24"/>
                      <a:pt x="1" y="24"/>
                      <a:pt x="1" y="24"/>
                    </a:cubicBezTo>
                    <a:cubicBezTo>
                      <a:pt x="1" y="24"/>
                      <a:pt x="1" y="24"/>
                      <a:pt x="1" y="24"/>
                    </a:cubicBezTo>
                    <a:cubicBezTo>
                      <a:pt x="6" y="25"/>
                      <a:pt x="6" y="25"/>
                      <a:pt x="6" y="25"/>
                    </a:cubicBezTo>
                    <a:cubicBezTo>
                      <a:pt x="12" y="27"/>
                      <a:pt x="12" y="27"/>
                      <a:pt x="12" y="27"/>
                    </a:cubicBezTo>
                    <a:cubicBezTo>
                      <a:pt x="13" y="22"/>
                      <a:pt x="13" y="22"/>
                      <a:pt x="13" y="22"/>
                    </a:cubicBezTo>
                    <a:cubicBezTo>
                      <a:pt x="13" y="22"/>
                      <a:pt x="13" y="22"/>
                      <a:pt x="13" y="22"/>
                    </a:cubicBezTo>
                    <a:cubicBezTo>
                      <a:pt x="15" y="17"/>
                      <a:pt x="15" y="17"/>
                      <a:pt x="15" y="17"/>
                    </a:cubicBezTo>
                    <a:cubicBezTo>
                      <a:pt x="15" y="17"/>
                      <a:pt x="15" y="17"/>
                      <a:pt x="15" y="17"/>
                    </a:cubicBezTo>
                    <a:cubicBezTo>
                      <a:pt x="16" y="13"/>
                      <a:pt x="16" y="13"/>
                      <a:pt x="16" y="13"/>
                    </a:cubicBezTo>
                    <a:cubicBezTo>
                      <a:pt x="16" y="13"/>
                      <a:pt x="16" y="13"/>
                      <a:pt x="16" y="13"/>
                    </a:cubicBezTo>
                    <a:cubicBezTo>
                      <a:pt x="16" y="13"/>
                      <a:pt x="16" y="13"/>
                      <a:pt x="16" y="13"/>
                    </a:cubicBezTo>
                    <a:cubicBezTo>
                      <a:pt x="16" y="13"/>
                      <a:pt x="16" y="12"/>
                      <a:pt x="16" y="12"/>
                    </a:cubicBezTo>
                    <a:cubicBezTo>
                      <a:pt x="12" y="8"/>
                      <a:pt x="12" y="8"/>
                      <a:pt x="12" y="8"/>
                    </a:cubicBezTo>
                    <a:cubicBezTo>
                      <a:pt x="16" y="12"/>
                      <a:pt x="16" y="12"/>
                      <a:pt x="16" y="12"/>
                    </a:cubicBezTo>
                    <a:cubicBezTo>
                      <a:pt x="17" y="12"/>
                      <a:pt x="17" y="12"/>
                      <a:pt x="17" y="12"/>
                    </a:cubicBezTo>
                    <a:cubicBezTo>
                      <a:pt x="18" y="12"/>
                      <a:pt x="18" y="12"/>
                      <a:pt x="18" y="12"/>
                    </a:cubicBezTo>
                    <a:cubicBezTo>
                      <a:pt x="18" y="12"/>
                      <a:pt x="18" y="13"/>
                      <a:pt x="18" y="13"/>
                    </a:cubicBezTo>
                    <a:cubicBezTo>
                      <a:pt x="18" y="13"/>
                      <a:pt x="18" y="13"/>
                      <a:pt x="18" y="13"/>
                    </a:cubicBezTo>
                    <a:cubicBezTo>
                      <a:pt x="24" y="15"/>
                      <a:pt x="24" y="15"/>
                      <a:pt x="24" y="15"/>
                    </a:cubicBezTo>
                    <a:cubicBezTo>
                      <a:pt x="18" y="13"/>
                      <a:pt x="18" y="13"/>
                      <a:pt x="18" y="13"/>
                    </a:cubicBezTo>
                    <a:cubicBezTo>
                      <a:pt x="17" y="17"/>
                      <a:pt x="17" y="17"/>
                      <a:pt x="17" y="17"/>
                    </a:cubicBezTo>
                    <a:cubicBezTo>
                      <a:pt x="17" y="17"/>
                      <a:pt x="17" y="17"/>
                      <a:pt x="17" y="17"/>
                    </a:cubicBezTo>
                    <a:cubicBezTo>
                      <a:pt x="16" y="23"/>
                      <a:pt x="16" y="23"/>
                      <a:pt x="16" y="23"/>
                    </a:cubicBezTo>
                    <a:cubicBezTo>
                      <a:pt x="15" y="27"/>
                      <a:pt x="15" y="27"/>
                      <a:pt x="15" y="27"/>
                    </a:cubicBezTo>
                    <a:cubicBezTo>
                      <a:pt x="15" y="27"/>
                      <a:pt x="15" y="27"/>
                      <a:pt x="15" y="27"/>
                    </a:cubicBezTo>
                    <a:cubicBezTo>
                      <a:pt x="14" y="28"/>
                      <a:pt x="14" y="28"/>
                      <a:pt x="14" y="28"/>
                    </a:cubicBezTo>
                    <a:cubicBezTo>
                      <a:pt x="13" y="28"/>
                      <a:pt x="13" y="28"/>
                      <a:pt x="13" y="28"/>
                    </a:cubicBezTo>
                    <a:cubicBezTo>
                      <a:pt x="13" y="28"/>
                      <a:pt x="13" y="28"/>
                      <a:pt x="13" y="28"/>
                    </a:cubicBezTo>
                    <a:cubicBezTo>
                      <a:pt x="13" y="28"/>
                      <a:pt x="13" y="28"/>
                      <a:pt x="13" y="28"/>
                    </a:cubicBezTo>
                    <a:cubicBezTo>
                      <a:pt x="13" y="28"/>
                      <a:pt x="13" y="28"/>
                      <a:pt x="13" y="28"/>
                    </a:cubicBezTo>
                    <a:cubicBezTo>
                      <a:pt x="12" y="28"/>
                      <a:pt x="12" y="27"/>
                      <a:pt x="12" y="27"/>
                    </a:cubicBezTo>
                    <a:cubicBezTo>
                      <a:pt x="12" y="27"/>
                      <a:pt x="12" y="27"/>
                      <a:pt x="12" y="27"/>
                    </a:cubicBezTo>
                    <a:cubicBezTo>
                      <a:pt x="12" y="27"/>
                      <a:pt x="12" y="27"/>
                      <a:pt x="12" y="27"/>
                    </a:cubicBezTo>
                    <a:lnTo>
                      <a:pt x="6"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4" name="Freeform 13">
                <a:extLst>
                  <a:ext uri="{FF2B5EF4-FFF2-40B4-BE49-F238E27FC236}">
                    <a16:creationId xmlns:a16="http://schemas.microsoft.com/office/drawing/2014/main" id="{8E5A645E-7BAA-3350-421D-D2CB9AFF72FD}"/>
                  </a:ext>
                </a:extLst>
              </p:cNvPr>
              <p:cNvSpPr>
                <a:spLocks/>
              </p:cNvSpPr>
              <p:nvPr/>
            </p:nvSpPr>
            <p:spPr bwMode="auto">
              <a:xfrm>
                <a:off x="3448979" y="4200643"/>
                <a:ext cx="30852" cy="54257"/>
              </a:xfrm>
              <a:custGeom>
                <a:avLst/>
                <a:gdLst>
                  <a:gd name="T0" fmla="*/ 1 w 20"/>
                  <a:gd name="T1" fmla="*/ 24 h 36"/>
                  <a:gd name="T2" fmla="*/ 15 w 20"/>
                  <a:gd name="T3" fmla="*/ 28 h 36"/>
                  <a:gd name="T4" fmla="*/ 16 w 20"/>
                  <a:gd name="T5" fmla="*/ 27 h 36"/>
                  <a:gd name="T6" fmla="*/ 16 w 20"/>
                  <a:gd name="T7" fmla="*/ 25 h 36"/>
                  <a:gd name="T8" fmla="*/ 17 w 20"/>
                  <a:gd name="T9" fmla="*/ 19 h 36"/>
                  <a:gd name="T10" fmla="*/ 18 w 20"/>
                  <a:gd name="T11" fmla="*/ 14 h 36"/>
                  <a:gd name="T12" fmla="*/ 18 w 20"/>
                  <a:gd name="T13" fmla="*/ 13 h 36"/>
                  <a:gd name="T14" fmla="*/ 5 w 20"/>
                  <a:gd name="T15" fmla="*/ 7 h 36"/>
                  <a:gd name="T16" fmla="*/ 4 w 20"/>
                  <a:gd name="T17" fmla="*/ 10 h 36"/>
                  <a:gd name="T18" fmla="*/ 4 w 20"/>
                  <a:gd name="T19" fmla="*/ 11 h 36"/>
                  <a:gd name="T20" fmla="*/ 3 w 20"/>
                  <a:gd name="T21" fmla="*/ 16 h 36"/>
                  <a:gd name="T22" fmla="*/ 2 w 20"/>
                  <a:gd name="T23" fmla="*/ 22 h 36"/>
                  <a:gd name="T24" fmla="*/ 1 w 20"/>
                  <a:gd name="T25"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36">
                    <a:moveTo>
                      <a:pt x="1" y="24"/>
                    </a:moveTo>
                    <a:cubicBezTo>
                      <a:pt x="0" y="32"/>
                      <a:pt x="12" y="36"/>
                      <a:pt x="15" y="28"/>
                    </a:cubicBezTo>
                    <a:cubicBezTo>
                      <a:pt x="15" y="28"/>
                      <a:pt x="16" y="27"/>
                      <a:pt x="16" y="27"/>
                    </a:cubicBezTo>
                    <a:cubicBezTo>
                      <a:pt x="16" y="25"/>
                      <a:pt x="16" y="25"/>
                      <a:pt x="16" y="25"/>
                    </a:cubicBezTo>
                    <a:cubicBezTo>
                      <a:pt x="17" y="19"/>
                      <a:pt x="17" y="19"/>
                      <a:pt x="17" y="19"/>
                    </a:cubicBezTo>
                    <a:cubicBezTo>
                      <a:pt x="18" y="14"/>
                      <a:pt x="18" y="14"/>
                      <a:pt x="18" y="14"/>
                    </a:cubicBezTo>
                    <a:cubicBezTo>
                      <a:pt x="18" y="13"/>
                      <a:pt x="18" y="13"/>
                      <a:pt x="18" y="13"/>
                    </a:cubicBezTo>
                    <a:cubicBezTo>
                      <a:pt x="20" y="5"/>
                      <a:pt x="10" y="0"/>
                      <a:pt x="5" y="7"/>
                    </a:cubicBezTo>
                    <a:cubicBezTo>
                      <a:pt x="5" y="8"/>
                      <a:pt x="4" y="9"/>
                      <a:pt x="4" y="10"/>
                    </a:cubicBezTo>
                    <a:cubicBezTo>
                      <a:pt x="4" y="11"/>
                      <a:pt x="4" y="11"/>
                      <a:pt x="4" y="11"/>
                    </a:cubicBezTo>
                    <a:cubicBezTo>
                      <a:pt x="3" y="16"/>
                      <a:pt x="3" y="16"/>
                      <a:pt x="3" y="16"/>
                    </a:cubicBezTo>
                    <a:cubicBezTo>
                      <a:pt x="2" y="22"/>
                      <a:pt x="2" y="22"/>
                      <a:pt x="2" y="22"/>
                    </a:cubicBezTo>
                    <a:lnTo>
                      <a:pt x="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5" name="Freeform 14">
                <a:extLst>
                  <a:ext uri="{FF2B5EF4-FFF2-40B4-BE49-F238E27FC236}">
                    <a16:creationId xmlns:a16="http://schemas.microsoft.com/office/drawing/2014/main" id="{205F6D66-412B-47F9-CF29-3BE68AB64A29}"/>
                  </a:ext>
                </a:extLst>
              </p:cNvPr>
              <p:cNvSpPr>
                <a:spLocks/>
              </p:cNvSpPr>
              <p:nvPr/>
            </p:nvSpPr>
            <p:spPr bwMode="auto">
              <a:xfrm>
                <a:off x="3441532" y="4197452"/>
                <a:ext cx="43618" cy="60640"/>
              </a:xfrm>
              <a:custGeom>
                <a:avLst/>
                <a:gdLst>
                  <a:gd name="T0" fmla="*/ 1 w 29"/>
                  <a:gd name="T1" fmla="*/ 25 h 40"/>
                  <a:gd name="T2" fmla="*/ 5 w 29"/>
                  <a:gd name="T3" fmla="*/ 37 h 40"/>
                  <a:gd name="T4" fmla="*/ 20 w 29"/>
                  <a:gd name="T5" fmla="*/ 38 h 40"/>
                  <a:gd name="T6" fmla="*/ 26 w 29"/>
                  <a:gd name="T7" fmla="*/ 32 h 40"/>
                  <a:gd name="T8" fmla="*/ 26 w 29"/>
                  <a:gd name="T9" fmla="*/ 30 h 40"/>
                  <a:gd name="T10" fmla="*/ 27 w 29"/>
                  <a:gd name="T11" fmla="*/ 28 h 40"/>
                  <a:gd name="T12" fmla="*/ 28 w 29"/>
                  <a:gd name="T13" fmla="*/ 22 h 40"/>
                  <a:gd name="T14" fmla="*/ 29 w 29"/>
                  <a:gd name="T15" fmla="*/ 17 h 40"/>
                  <a:gd name="T16" fmla="*/ 29 w 29"/>
                  <a:gd name="T17" fmla="*/ 16 h 40"/>
                  <a:gd name="T18" fmla="*/ 25 w 29"/>
                  <a:gd name="T19" fmla="*/ 4 h 40"/>
                  <a:gd name="T20" fmla="*/ 10 w 29"/>
                  <a:gd name="T21" fmla="*/ 1 h 40"/>
                  <a:gd name="T22" fmla="*/ 5 w 29"/>
                  <a:gd name="T23" fmla="*/ 6 h 40"/>
                  <a:gd name="T24" fmla="*/ 3 w 29"/>
                  <a:gd name="T25" fmla="*/ 10 h 40"/>
                  <a:gd name="T26" fmla="*/ 3 w 29"/>
                  <a:gd name="T27" fmla="*/ 12 h 40"/>
                  <a:gd name="T28" fmla="*/ 1 w 29"/>
                  <a:gd name="T29" fmla="*/ 23 h 40"/>
                  <a:gd name="T30" fmla="*/ 1 w 29"/>
                  <a:gd name="T31" fmla="*/ 25 h 40"/>
                  <a:gd name="T32" fmla="*/ 6 w 29"/>
                  <a:gd name="T33" fmla="*/ 26 h 40"/>
                  <a:gd name="T34" fmla="*/ 13 w 29"/>
                  <a:gd name="T35" fmla="*/ 25 h 40"/>
                  <a:gd name="T36" fmla="*/ 14 w 29"/>
                  <a:gd name="T37" fmla="*/ 20 h 40"/>
                  <a:gd name="T38" fmla="*/ 15 w 29"/>
                  <a:gd name="T39" fmla="*/ 14 h 40"/>
                  <a:gd name="T40" fmla="*/ 15 w 29"/>
                  <a:gd name="T41" fmla="*/ 13 h 40"/>
                  <a:gd name="T42" fmla="*/ 15 w 29"/>
                  <a:gd name="T43" fmla="*/ 12 h 40"/>
                  <a:gd name="T44" fmla="*/ 15 w 29"/>
                  <a:gd name="T45" fmla="*/ 12 h 40"/>
                  <a:gd name="T46" fmla="*/ 16 w 29"/>
                  <a:gd name="T47" fmla="*/ 12 h 40"/>
                  <a:gd name="T48" fmla="*/ 18 w 29"/>
                  <a:gd name="T49" fmla="*/ 13 h 40"/>
                  <a:gd name="T50" fmla="*/ 18 w 29"/>
                  <a:gd name="T51" fmla="*/ 13 h 40"/>
                  <a:gd name="T52" fmla="*/ 17 w 29"/>
                  <a:gd name="T53" fmla="*/ 14 h 40"/>
                  <a:gd name="T54" fmla="*/ 15 w 29"/>
                  <a:gd name="T55" fmla="*/ 26 h 40"/>
                  <a:gd name="T56" fmla="*/ 21 w 29"/>
                  <a:gd name="T57" fmla="*/ 29 h 40"/>
                  <a:gd name="T58" fmla="*/ 15 w 29"/>
                  <a:gd name="T59" fmla="*/ 28 h 40"/>
                  <a:gd name="T60" fmla="*/ 15 w 29"/>
                  <a:gd name="T61" fmla="*/ 28 h 40"/>
                  <a:gd name="T62" fmla="*/ 14 w 29"/>
                  <a:gd name="T63" fmla="*/ 29 h 40"/>
                  <a:gd name="T64" fmla="*/ 12 w 29"/>
                  <a:gd name="T65" fmla="*/ 27 h 40"/>
                  <a:gd name="T66" fmla="*/ 12 w 29"/>
                  <a:gd name="T67"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9" h="40">
                    <a:moveTo>
                      <a:pt x="6" y="26"/>
                    </a:moveTo>
                    <a:cubicBezTo>
                      <a:pt x="1" y="25"/>
                      <a:pt x="1" y="25"/>
                      <a:pt x="1" y="25"/>
                    </a:cubicBezTo>
                    <a:cubicBezTo>
                      <a:pt x="1" y="26"/>
                      <a:pt x="0" y="27"/>
                      <a:pt x="0" y="27"/>
                    </a:cubicBezTo>
                    <a:cubicBezTo>
                      <a:pt x="0" y="31"/>
                      <a:pt x="2" y="35"/>
                      <a:pt x="5" y="37"/>
                    </a:cubicBezTo>
                    <a:cubicBezTo>
                      <a:pt x="7" y="39"/>
                      <a:pt x="10" y="40"/>
                      <a:pt x="14" y="40"/>
                    </a:cubicBezTo>
                    <a:cubicBezTo>
                      <a:pt x="16" y="40"/>
                      <a:pt x="18" y="40"/>
                      <a:pt x="20" y="38"/>
                    </a:cubicBezTo>
                    <a:cubicBezTo>
                      <a:pt x="23" y="37"/>
                      <a:pt x="24" y="35"/>
                      <a:pt x="26" y="33"/>
                    </a:cubicBezTo>
                    <a:cubicBezTo>
                      <a:pt x="26" y="32"/>
                      <a:pt x="26" y="32"/>
                      <a:pt x="26" y="32"/>
                    </a:cubicBezTo>
                    <a:cubicBezTo>
                      <a:pt x="26" y="32"/>
                      <a:pt x="26" y="32"/>
                      <a:pt x="26" y="32"/>
                    </a:cubicBezTo>
                    <a:cubicBezTo>
                      <a:pt x="26" y="31"/>
                      <a:pt x="26" y="31"/>
                      <a:pt x="26" y="30"/>
                    </a:cubicBezTo>
                    <a:cubicBezTo>
                      <a:pt x="26" y="30"/>
                      <a:pt x="26" y="30"/>
                      <a:pt x="26" y="30"/>
                    </a:cubicBezTo>
                    <a:cubicBezTo>
                      <a:pt x="27" y="28"/>
                      <a:pt x="27" y="28"/>
                      <a:pt x="27" y="28"/>
                    </a:cubicBezTo>
                    <a:cubicBezTo>
                      <a:pt x="28" y="22"/>
                      <a:pt x="28" y="22"/>
                      <a:pt x="28" y="22"/>
                    </a:cubicBezTo>
                    <a:cubicBezTo>
                      <a:pt x="28" y="22"/>
                      <a:pt x="28" y="22"/>
                      <a:pt x="28" y="22"/>
                    </a:cubicBezTo>
                    <a:cubicBezTo>
                      <a:pt x="29" y="17"/>
                      <a:pt x="29" y="17"/>
                      <a:pt x="29" y="17"/>
                    </a:cubicBezTo>
                    <a:cubicBezTo>
                      <a:pt x="29" y="17"/>
                      <a:pt x="29" y="17"/>
                      <a:pt x="29" y="17"/>
                    </a:cubicBezTo>
                    <a:cubicBezTo>
                      <a:pt x="29" y="16"/>
                      <a:pt x="29" y="16"/>
                      <a:pt x="29" y="16"/>
                    </a:cubicBezTo>
                    <a:cubicBezTo>
                      <a:pt x="29" y="16"/>
                      <a:pt x="29" y="16"/>
                      <a:pt x="29" y="16"/>
                    </a:cubicBezTo>
                    <a:cubicBezTo>
                      <a:pt x="29" y="15"/>
                      <a:pt x="29" y="14"/>
                      <a:pt x="29" y="13"/>
                    </a:cubicBezTo>
                    <a:cubicBezTo>
                      <a:pt x="29" y="9"/>
                      <a:pt x="28" y="6"/>
                      <a:pt x="25" y="4"/>
                    </a:cubicBezTo>
                    <a:cubicBezTo>
                      <a:pt x="23" y="1"/>
                      <a:pt x="20" y="0"/>
                      <a:pt x="16" y="0"/>
                    </a:cubicBezTo>
                    <a:cubicBezTo>
                      <a:pt x="14" y="0"/>
                      <a:pt x="12" y="0"/>
                      <a:pt x="10" y="1"/>
                    </a:cubicBezTo>
                    <a:cubicBezTo>
                      <a:pt x="8" y="2"/>
                      <a:pt x="7" y="4"/>
                      <a:pt x="5" y="6"/>
                    </a:cubicBezTo>
                    <a:cubicBezTo>
                      <a:pt x="5" y="6"/>
                      <a:pt x="5" y="6"/>
                      <a:pt x="5" y="6"/>
                    </a:cubicBezTo>
                    <a:cubicBezTo>
                      <a:pt x="5" y="6"/>
                      <a:pt x="5" y="6"/>
                      <a:pt x="5" y="6"/>
                    </a:cubicBezTo>
                    <a:cubicBezTo>
                      <a:pt x="4" y="7"/>
                      <a:pt x="4" y="9"/>
                      <a:pt x="3" y="10"/>
                    </a:cubicBezTo>
                    <a:cubicBezTo>
                      <a:pt x="3" y="11"/>
                      <a:pt x="3" y="11"/>
                      <a:pt x="3" y="11"/>
                    </a:cubicBezTo>
                    <a:cubicBezTo>
                      <a:pt x="3" y="12"/>
                      <a:pt x="3" y="12"/>
                      <a:pt x="3" y="12"/>
                    </a:cubicBezTo>
                    <a:cubicBezTo>
                      <a:pt x="2" y="17"/>
                      <a:pt x="2" y="17"/>
                      <a:pt x="2" y="17"/>
                    </a:cubicBezTo>
                    <a:cubicBezTo>
                      <a:pt x="1" y="23"/>
                      <a:pt x="1" y="23"/>
                      <a:pt x="1" y="23"/>
                    </a:cubicBezTo>
                    <a:cubicBezTo>
                      <a:pt x="1" y="25"/>
                      <a:pt x="1" y="25"/>
                      <a:pt x="1" y="25"/>
                    </a:cubicBezTo>
                    <a:cubicBezTo>
                      <a:pt x="1" y="25"/>
                      <a:pt x="1" y="25"/>
                      <a:pt x="1" y="25"/>
                    </a:cubicBezTo>
                    <a:cubicBezTo>
                      <a:pt x="1" y="25"/>
                      <a:pt x="1" y="25"/>
                      <a:pt x="1" y="25"/>
                    </a:cubicBezTo>
                    <a:cubicBezTo>
                      <a:pt x="6" y="26"/>
                      <a:pt x="6" y="26"/>
                      <a:pt x="6" y="26"/>
                    </a:cubicBezTo>
                    <a:cubicBezTo>
                      <a:pt x="12" y="27"/>
                      <a:pt x="12" y="27"/>
                      <a:pt x="12" y="27"/>
                    </a:cubicBezTo>
                    <a:cubicBezTo>
                      <a:pt x="13" y="25"/>
                      <a:pt x="13" y="25"/>
                      <a:pt x="13" y="25"/>
                    </a:cubicBezTo>
                    <a:cubicBezTo>
                      <a:pt x="13" y="25"/>
                      <a:pt x="13" y="25"/>
                      <a:pt x="13" y="25"/>
                    </a:cubicBezTo>
                    <a:cubicBezTo>
                      <a:pt x="14" y="20"/>
                      <a:pt x="14" y="20"/>
                      <a:pt x="14" y="20"/>
                    </a:cubicBezTo>
                    <a:cubicBezTo>
                      <a:pt x="14" y="20"/>
                      <a:pt x="14" y="20"/>
                      <a:pt x="14" y="20"/>
                    </a:cubicBezTo>
                    <a:cubicBezTo>
                      <a:pt x="15" y="14"/>
                      <a:pt x="15" y="14"/>
                      <a:pt x="15" y="14"/>
                    </a:cubicBezTo>
                    <a:cubicBezTo>
                      <a:pt x="15" y="14"/>
                      <a:pt x="15" y="14"/>
                      <a:pt x="15" y="14"/>
                    </a:cubicBezTo>
                    <a:cubicBezTo>
                      <a:pt x="15" y="13"/>
                      <a:pt x="15" y="13"/>
                      <a:pt x="15" y="13"/>
                    </a:cubicBezTo>
                    <a:cubicBezTo>
                      <a:pt x="15" y="13"/>
                      <a:pt x="15" y="13"/>
                      <a:pt x="15" y="13"/>
                    </a:cubicBezTo>
                    <a:cubicBezTo>
                      <a:pt x="15" y="12"/>
                      <a:pt x="15" y="12"/>
                      <a:pt x="15" y="12"/>
                    </a:cubicBezTo>
                    <a:cubicBezTo>
                      <a:pt x="10" y="9"/>
                      <a:pt x="10" y="9"/>
                      <a:pt x="10" y="9"/>
                    </a:cubicBezTo>
                    <a:cubicBezTo>
                      <a:pt x="15" y="12"/>
                      <a:pt x="15" y="12"/>
                      <a:pt x="15" y="12"/>
                    </a:cubicBezTo>
                    <a:cubicBezTo>
                      <a:pt x="15" y="12"/>
                      <a:pt x="16" y="12"/>
                      <a:pt x="16" y="12"/>
                    </a:cubicBezTo>
                    <a:cubicBezTo>
                      <a:pt x="16" y="12"/>
                      <a:pt x="16" y="12"/>
                      <a:pt x="16" y="12"/>
                    </a:cubicBezTo>
                    <a:cubicBezTo>
                      <a:pt x="17" y="12"/>
                      <a:pt x="17" y="12"/>
                      <a:pt x="17" y="12"/>
                    </a:cubicBezTo>
                    <a:cubicBezTo>
                      <a:pt x="18" y="13"/>
                      <a:pt x="18" y="13"/>
                      <a:pt x="18" y="13"/>
                    </a:cubicBezTo>
                    <a:cubicBezTo>
                      <a:pt x="18" y="13"/>
                      <a:pt x="18" y="13"/>
                      <a:pt x="18" y="13"/>
                    </a:cubicBezTo>
                    <a:cubicBezTo>
                      <a:pt x="18" y="13"/>
                      <a:pt x="18" y="13"/>
                      <a:pt x="18" y="13"/>
                    </a:cubicBezTo>
                    <a:cubicBezTo>
                      <a:pt x="17" y="14"/>
                      <a:pt x="17" y="14"/>
                      <a:pt x="17" y="14"/>
                    </a:cubicBezTo>
                    <a:cubicBezTo>
                      <a:pt x="17" y="14"/>
                      <a:pt x="17" y="14"/>
                      <a:pt x="17" y="14"/>
                    </a:cubicBezTo>
                    <a:cubicBezTo>
                      <a:pt x="16" y="20"/>
                      <a:pt x="16" y="20"/>
                      <a:pt x="16" y="20"/>
                    </a:cubicBezTo>
                    <a:cubicBezTo>
                      <a:pt x="15" y="26"/>
                      <a:pt x="15" y="26"/>
                      <a:pt x="15" y="26"/>
                    </a:cubicBezTo>
                    <a:cubicBezTo>
                      <a:pt x="15" y="28"/>
                      <a:pt x="15" y="28"/>
                      <a:pt x="15" y="28"/>
                    </a:cubicBezTo>
                    <a:cubicBezTo>
                      <a:pt x="21" y="29"/>
                      <a:pt x="21" y="29"/>
                      <a:pt x="21" y="29"/>
                    </a:cubicBezTo>
                    <a:cubicBezTo>
                      <a:pt x="15" y="27"/>
                      <a:pt x="15" y="27"/>
                      <a:pt x="15" y="27"/>
                    </a:cubicBezTo>
                    <a:cubicBezTo>
                      <a:pt x="15" y="28"/>
                      <a:pt x="15" y="28"/>
                      <a:pt x="15" y="28"/>
                    </a:cubicBezTo>
                    <a:cubicBezTo>
                      <a:pt x="20" y="30"/>
                      <a:pt x="20" y="30"/>
                      <a:pt x="20" y="30"/>
                    </a:cubicBezTo>
                    <a:cubicBezTo>
                      <a:pt x="15" y="28"/>
                      <a:pt x="15" y="28"/>
                      <a:pt x="15" y="28"/>
                    </a:cubicBezTo>
                    <a:cubicBezTo>
                      <a:pt x="15" y="28"/>
                      <a:pt x="14" y="28"/>
                      <a:pt x="14" y="28"/>
                    </a:cubicBezTo>
                    <a:cubicBezTo>
                      <a:pt x="14" y="29"/>
                      <a:pt x="14" y="29"/>
                      <a:pt x="14" y="29"/>
                    </a:cubicBezTo>
                    <a:cubicBezTo>
                      <a:pt x="13" y="29"/>
                      <a:pt x="13" y="28"/>
                      <a:pt x="13" y="28"/>
                    </a:cubicBezTo>
                    <a:cubicBezTo>
                      <a:pt x="12" y="28"/>
                      <a:pt x="12" y="28"/>
                      <a:pt x="12" y="27"/>
                    </a:cubicBezTo>
                    <a:cubicBezTo>
                      <a:pt x="12" y="27"/>
                      <a:pt x="12" y="27"/>
                      <a:pt x="12" y="27"/>
                    </a:cubicBezTo>
                    <a:cubicBezTo>
                      <a:pt x="12" y="27"/>
                      <a:pt x="12" y="27"/>
                      <a:pt x="12" y="27"/>
                    </a:cubicBezTo>
                    <a:lnTo>
                      <a:pt x="6"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6" name="Freeform 15">
                <a:extLst>
                  <a:ext uri="{FF2B5EF4-FFF2-40B4-BE49-F238E27FC236}">
                    <a16:creationId xmlns:a16="http://schemas.microsoft.com/office/drawing/2014/main" id="{5EDBDD99-16CA-6311-EB06-0B0E321CF146}"/>
                  </a:ext>
                </a:extLst>
              </p:cNvPr>
              <p:cNvSpPr>
                <a:spLocks/>
              </p:cNvSpPr>
              <p:nvPr/>
            </p:nvSpPr>
            <p:spPr bwMode="auto">
              <a:xfrm>
                <a:off x="3430893" y="4333625"/>
                <a:ext cx="25533" cy="50001"/>
              </a:xfrm>
              <a:custGeom>
                <a:avLst/>
                <a:gdLst>
                  <a:gd name="T0" fmla="*/ 1 w 17"/>
                  <a:gd name="T1" fmla="*/ 22 h 33"/>
                  <a:gd name="T2" fmla="*/ 14 w 17"/>
                  <a:gd name="T3" fmla="*/ 25 h 33"/>
                  <a:gd name="T4" fmla="*/ 15 w 17"/>
                  <a:gd name="T5" fmla="*/ 24 h 33"/>
                  <a:gd name="T6" fmla="*/ 15 w 17"/>
                  <a:gd name="T7" fmla="*/ 23 h 33"/>
                  <a:gd name="T8" fmla="*/ 16 w 17"/>
                  <a:gd name="T9" fmla="*/ 17 h 33"/>
                  <a:gd name="T10" fmla="*/ 16 w 17"/>
                  <a:gd name="T11" fmla="*/ 11 h 33"/>
                  <a:gd name="T12" fmla="*/ 17 w 17"/>
                  <a:gd name="T13" fmla="*/ 9 h 33"/>
                  <a:gd name="T14" fmla="*/ 13 w 17"/>
                  <a:gd name="T15" fmla="*/ 2 h 33"/>
                  <a:gd name="T16" fmla="*/ 2 w 17"/>
                  <a:gd name="T17" fmla="*/ 7 h 33"/>
                  <a:gd name="T18" fmla="*/ 2 w 17"/>
                  <a:gd name="T19" fmla="*/ 9 h 33"/>
                  <a:gd name="T20" fmla="*/ 1 w 17"/>
                  <a:gd name="T21" fmla="*/ 15 h 33"/>
                  <a:gd name="T22" fmla="*/ 1 w 17"/>
                  <a:gd name="T23" fmla="*/ 21 h 33"/>
                  <a:gd name="T24" fmla="*/ 1 w 17"/>
                  <a:gd name="T25"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3">
                    <a:moveTo>
                      <a:pt x="1" y="22"/>
                    </a:moveTo>
                    <a:cubicBezTo>
                      <a:pt x="0" y="30"/>
                      <a:pt x="11" y="33"/>
                      <a:pt x="14" y="25"/>
                    </a:cubicBezTo>
                    <a:cubicBezTo>
                      <a:pt x="15" y="25"/>
                      <a:pt x="15" y="24"/>
                      <a:pt x="15" y="24"/>
                    </a:cubicBezTo>
                    <a:cubicBezTo>
                      <a:pt x="15" y="23"/>
                      <a:pt x="15" y="23"/>
                      <a:pt x="15" y="23"/>
                    </a:cubicBezTo>
                    <a:cubicBezTo>
                      <a:pt x="16" y="17"/>
                      <a:pt x="16" y="17"/>
                      <a:pt x="16" y="17"/>
                    </a:cubicBezTo>
                    <a:cubicBezTo>
                      <a:pt x="16" y="11"/>
                      <a:pt x="16" y="11"/>
                      <a:pt x="16" y="11"/>
                    </a:cubicBezTo>
                    <a:cubicBezTo>
                      <a:pt x="17" y="9"/>
                      <a:pt x="17" y="9"/>
                      <a:pt x="17" y="9"/>
                    </a:cubicBezTo>
                    <a:cubicBezTo>
                      <a:pt x="17" y="6"/>
                      <a:pt x="15" y="4"/>
                      <a:pt x="13" y="2"/>
                    </a:cubicBezTo>
                    <a:cubicBezTo>
                      <a:pt x="8" y="0"/>
                      <a:pt x="3" y="2"/>
                      <a:pt x="2" y="7"/>
                    </a:cubicBezTo>
                    <a:cubicBezTo>
                      <a:pt x="2" y="9"/>
                      <a:pt x="2" y="9"/>
                      <a:pt x="2" y="9"/>
                    </a:cubicBezTo>
                    <a:cubicBezTo>
                      <a:pt x="1" y="15"/>
                      <a:pt x="1" y="15"/>
                      <a:pt x="1" y="15"/>
                    </a:cubicBezTo>
                    <a:cubicBezTo>
                      <a:pt x="1" y="21"/>
                      <a:pt x="1" y="21"/>
                      <a:pt x="1" y="21"/>
                    </a:cubicBezTo>
                    <a:lnTo>
                      <a:pt x="1"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7" name="Freeform 16">
                <a:extLst>
                  <a:ext uri="{FF2B5EF4-FFF2-40B4-BE49-F238E27FC236}">
                    <a16:creationId xmlns:a16="http://schemas.microsoft.com/office/drawing/2014/main" id="{86C539C9-751B-AA33-F439-E8EF41B6771A}"/>
                  </a:ext>
                </a:extLst>
              </p:cNvPr>
              <p:cNvSpPr>
                <a:spLocks/>
              </p:cNvSpPr>
              <p:nvPr/>
            </p:nvSpPr>
            <p:spPr bwMode="auto">
              <a:xfrm>
                <a:off x="3423446" y="4326178"/>
                <a:ext cx="42554" cy="61704"/>
              </a:xfrm>
              <a:custGeom>
                <a:avLst/>
                <a:gdLst>
                  <a:gd name="T0" fmla="*/ 0 w 28"/>
                  <a:gd name="T1" fmla="*/ 26 h 41"/>
                  <a:gd name="T2" fmla="*/ 4 w 28"/>
                  <a:gd name="T3" fmla="*/ 37 h 41"/>
                  <a:gd name="T4" fmla="*/ 20 w 28"/>
                  <a:gd name="T5" fmla="*/ 39 h 41"/>
                  <a:gd name="T6" fmla="*/ 25 w 28"/>
                  <a:gd name="T7" fmla="*/ 32 h 41"/>
                  <a:gd name="T8" fmla="*/ 26 w 28"/>
                  <a:gd name="T9" fmla="*/ 29 h 41"/>
                  <a:gd name="T10" fmla="*/ 26 w 28"/>
                  <a:gd name="T11" fmla="*/ 28 h 41"/>
                  <a:gd name="T12" fmla="*/ 26 w 28"/>
                  <a:gd name="T13" fmla="*/ 23 h 41"/>
                  <a:gd name="T14" fmla="*/ 27 w 28"/>
                  <a:gd name="T15" fmla="*/ 17 h 41"/>
                  <a:gd name="T16" fmla="*/ 27 w 28"/>
                  <a:gd name="T17" fmla="*/ 15 h 41"/>
                  <a:gd name="T18" fmla="*/ 21 w 28"/>
                  <a:gd name="T19" fmla="*/ 2 h 41"/>
                  <a:gd name="T20" fmla="*/ 21 w 28"/>
                  <a:gd name="T21" fmla="*/ 2 h 41"/>
                  <a:gd name="T22" fmla="*/ 6 w 28"/>
                  <a:gd name="T23" fmla="*/ 3 h 41"/>
                  <a:gd name="T24" fmla="*/ 1 w 28"/>
                  <a:gd name="T25" fmla="*/ 12 h 41"/>
                  <a:gd name="T26" fmla="*/ 1 w 28"/>
                  <a:gd name="T27" fmla="*/ 13 h 41"/>
                  <a:gd name="T28" fmla="*/ 0 w 28"/>
                  <a:gd name="T29" fmla="*/ 25 h 41"/>
                  <a:gd name="T30" fmla="*/ 0 w 28"/>
                  <a:gd name="T31" fmla="*/ 26 h 41"/>
                  <a:gd name="T32" fmla="*/ 6 w 28"/>
                  <a:gd name="T33" fmla="*/ 27 h 41"/>
                  <a:gd name="T34" fmla="*/ 11 w 28"/>
                  <a:gd name="T35" fmla="*/ 27 h 41"/>
                  <a:gd name="T36" fmla="*/ 12 w 28"/>
                  <a:gd name="T37" fmla="*/ 21 h 41"/>
                  <a:gd name="T38" fmla="*/ 13 w 28"/>
                  <a:gd name="T39" fmla="*/ 15 h 41"/>
                  <a:gd name="T40" fmla="*/ 13 w 28"/>
                  <a:gd name="T41" fmla="*/ 13 h 41"/>
                  <a:gd name="T42" fmla="*/ 14 w 28"/>
                  <a:gd name="T43" fmla="*/ 12 h 41"/>
                  <a:gd name="T44" fmla="*/ 15 w 28"/>
                  <a:gd name="T45" fmla="*/ 12 h 41"/>
                  <a:gd name="T46" fmla="*/ 15 w 28"/>
                  <a:gd name="T47" fmla="*/ 12 h 41"/>
                  <a:gd name="T48" fmla="*/ 16 w 28"/>
                  <a:gd name="T49" fmla="*/ 14 h 41"/>
                  <a:gd name="T50" fmla="*/ 16 w 28"/>
                  <a:gd name="T51" fmla="*/ 15 h 41"/>
                  <a:gd name="T52" fmla="*/ 14 w 28"/>
                  <a:gd name="T53" fmla="*/ 27 h 41"/>
                  <a:gd name="T54" fmla="*/ 20 w 28"/>
                  <a:gd name="T55" fmla="*/ 29 h 41"/>
                  <a:gd name="T56" fmla="*/ 14 w 28"/>
                  <a:gd name="T57" fmla="*/ 28 h 41"/>
                  <a:gd name="T58" fmla="*/ 14 w 28"/>
                  <a:gd name="T59" fmla="*/ 28 h 41"/>
                  <a:gd name="T60" fmla="*/ 13 w 28"/>
                  <a:gd name="T61" fmla="*/ 29 h 41"/>
                  <a:gd name="T62" fmla="*/ 11 w 28"/>
                  <a:gd name="T63" fmla="*/ 28 h 41"/>
                  <a:gd name="T64" fmla="*/ 11 w 28"/>
                  <a:gd name="T65"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41">
                    <a:moveTo>
                      <a:pt x="6" y="27"/>
                    </a:moveTo>
                    <a:cubicBezTo>
                      <a:pt x="0" y="26"/>
                      <a:pt x="0" y="26"/>
                      <a:pt x="0" y="26"/>
                    </a:cubicBezTo>
                    <a:cubicBezTo>
                      <a:pt x="0" y="27"/>
                      <a:pt x="0" y="27"/>
                      <a:pt x="0" y="28"/>
                    </a:cubicBezTo>
                    <a:cubicBezTo>
                      <a:pt x="0" y="32"/>
                      <a:pt x="1" y="35"/>
                      <a:pt x="4" y="37"/>
                    </a:cubicBezTo>
                    <a:cubicBezTo>
                      <a:pt x="6" y="40"/>
                      <a:pt x="10" y="41"/>
                      <a:pt x="13" y="41"/>
                    </a:cubicBezTo>
                    <a:cubicBezTo>
                      <a:pt x="15" y="41"/>
                      <a:pt x="18" y="40"/>
                      <a:pt x="20" y="39"/>
                    </a:cubicBezTo>
                    <a:cubicBezTo>
                      <a:pt x="22" y="37"/>
                      <a:pt x="24" y="35"/>
                      <a:pt x="25" y="32"/>
                    </a:cubicBezTo>
                    <a:cubicBezTo>
                      <a:pt x="25" y="32"/>
                      <a:pt x="25" y="32"/>
                      <a:pt x="25" y="32"/>
                    </a:cubicBezTo>
                    <a:cubicBezTo>
                      <a:pt x="25" y="32"/>
                      <a:pt x="25" y="32"/>
                      <a:pt x="25" y="32"/>
                    </a:cubicBezTo>
                    <a:cubicBezTo>
                      <a:pt x="25" y="31"/>
                      <a:pt x="26" y="30"/>
                      <a:pt x="26" y="29"/>
                    </a:cubicBezTo>
                    <a:cubicBezTo>
                      <a:pt x="26" y="29"/>
                      <a:pt x="26" y="29"/>
                      <a:pt x="26" y="29"/>
                    </a:cubicBezTo>
                    <a:cubicBezTo>
                      <a:pt x="26" y="28"/>
                      <a:pt x="26" y="28"/>
                      <a:pt x="26" y="28"/>
                    </a:cubicBezTo>
                    <a:cubicBezTo>
                      <a:pt x="26" y="22"/>
                      <a:pt x="26" y="22"/>
                      <a:pt x="26" y="22"/>
                    </a:cubicBezTo>
                    <a:cubicBezTo>
                      <a:pt x="26" y="23"/>
                      <a:pt x="26" y="23"/>
                      <a:pt x="26" y="23"/>
                    </a:cubicBezTo>
                    <a:cubicBezTo>
                      <a:pt x="27" y="17"/>
                      <a:pt x="27" y="17"/>
                      <a:pt x="27" y="17"/>
                    </a:cubicBezTo>
                    <a:cubicBezTo>
                      <a:pt x="27" y="17"/>
                      <a:pt x="27" y="17"/>
                      <a:pt x="27" y="17"/>
                    </a:cubicBezTo>
                    <a:cubicBezTo>
                      <a:pt x="27" y="15"/>
                      <a:pt x="27" y="15"/>
                      <a:pt x="27" y="15"/>
                    </a:cubicBezTo>
                    <a:cubicBezTo>
                      <a:pt x="27" y="15"/>
                      <a:pt x="27" y="15"/>
                      <a:pt x="27" y="15"/>
                    </a:cubicBezTo>
                    <a:cubicBezTo>
                      <a:pt x="27" y="15"/>
                      <a:pt x="28" y="14"/>
                      <a:pt x="28" y="13"/>
                    </a:cubicBezTo>
                    <a:cubicBezTo>
                      <a:pt x="28" y="9"/>
                      <a:pt x="25" y="4"/>
                      <a:pt x="21" y="2"/>
                    </a:cubicBezTo>
                    <a:cubicBezTo>
                      <a:pt x="21" y="2"/>
                      <a:pt x="21" y="2"/>
                      <a:pt x="21" y="2"/>
                    </a:cubicBezTo>
                    <a:cubicBezTo>
                      <a:pt x="21" y="2"/>
                      <a:pt x="21" y="2"/>
                      <a:pt x="21" y="2"/>
                    </a:cubicBezTo>
                    <a:cubicBezTo>
                      <a:pt x="19" y="1"/>
                      <a:pt x="17" y="0"/>
                      <a:pt x="14" y="0"/>
                    </a:cubicBezTo>
                    <a:cubicBezTo>
                      <a:pt x="11" y="0"/>
                      <a:pt x="8" y="1"/>
                      <a:pt x="6" y="3"/>
                    </a:cubicBezTo>
                    <a:cubicBezTo>
                      <a:pt x="4" y="5"/>
                      <a:pt x="2" y="8"/>
                      <a:pt x="1" y="12"/>
                    </a:cubicBezTo>
                    <a:cubicBezTo>
                      <a:pt x="1" y="12"/>
                      <a:pt x="1" y="12"/>
                      <a:pt x="1" y="12"/>
                    </a:cubicBezTo>
                    <a:cubicBezTo>
                      <a:pt x="1" y="13"/>
                      <a:pt x="1" y="13"/>
                      <a:pt x="1" y="13"/>
                    </a:cubicBezTo>
                    <a:cubicBezTo>
                      <a:pt x="1" y="13"/>
                      <a:pt x="1" y="13"/>
                      <a:pt x="1" y="13"/>
                    </a:cubicBezTo>
                    <a:cubicBezTo>
                      <a:pt x="1" y="19"/>
                      <a:pt x="1" y="19"/>
                      <a:pt x="1" y="19"/>
                    </a:cubicBezTo>
                    <a:cubicBezTo>
                      <a:pt x="0" y="25"/>
                      <a:pt x="0" y="25"/>
                      <a:pt x="0" y="25"/>
                    </a:cubicBezTo>
                    <a:cubicBezTo>
                      <a:pt x="0" y="26"/>
                      <a:pt x="0" y="26"/>
                      <a:pt x="0" y="26"/>
                    </a:cubicBezTo>
                    <a:cubicBezTo>
                      <a:pt x="0" y="26"/>
                      <a:pt x="0" y="26"/>
                      <a:pt x="0" y="26"/>
                    </a:cubicBezTo>
                    <a:cubicBezTo>
                      <a:pt x="0" y="26"/>
                      <a:pt x="0" y="26"/>
                      <a:pt x="0" y="26"/>
                    </a:cubicBezTo>
                    <a:cubicBezTo>
                      <a:pt x="6" y="27"/>
                      <a:pt x="6" y="27"/>
                      <a:pt x="6" y="27"/>
                    </a:cubicBezTo>
                    <a:cubicBezTo>
                      <a:pt x="11" y="28"/>
                      <a:pt x="11" y="28"/>
                      <a:pt x="11" y="28"/>
                    </a:cubicBezTo>
                    <a:cubicBezTo>
                      <a:pt x="11" y="27"/>
                      <a:pt x="11" y="27"/>
                      <a:pt x="11" y="27"/>
                    </a:cubicBezTo>
                    <a:cubicBezTo>
                      <a:pt x="11" y="27"/>
                      <a:pt x="11" y="27"/>
                      <a:pt x="11" y="27"/>
                    </a:cubicBezTo>
                    <a:cubicBezTo>
                      <a:pt x="12" y="21"/>
                      <a:pt x="12" y="21"/>
                      <a:pt x="12" y="21"/>
                    </a:cubicBezTo>
                    <a:cubicBezTo>
                      <a:pt x="12" y="21"/>
                      <a:pt x="12" y="21"/>
                      <a:pt x="12" y="21"/>
                    </a:cubicBezTo>
                    <a:cubicBezTo>
                      <a:pt x="13" y="15"/>
                      <a:pt x="13" y="15"/>
                      <a:pt x="13" y="15"/>
                    </a:cubicBezTo>
                    <a:cubicBezTo>
                      <a:pt x="13" y="15"/>
                      <a:pt x="13" y="15"/>
                      <a:pt x="13" y="15"/>
                    </a:cubicBezTo>
                    <a:cubicBezTo>
                      <a:pt x="13" y="13"/>
                      <a:pt x="13" y="13"/>
                      <a:pt x="13" y="13"/>
                    </a:cubicBezTo>
                    <a:cubicBezTo>
                      <a:pt x="13" y="13"/>
                      <a:pt x="13" y="13"/>
                      <a:pt x="13" y="13"/>
                    </a:cubicBezTo>
                    <a:cubicBezTo>
                      <a:pt x="13" y="13"/>
                      <a:pt x="13" y="13"/>
                      <a:pt x="14" y="12"/>
                    </a:cubicBezTo>
                    <a:cubicBezTo>
                      <a:pt x="14" y="12"/>
                      <a:pt x="14" y="12"/>
                      <a:pt x="14" y="12"/>
                    </a:cubicBezTo>
                    <a:cubicBezTo>
                      <a:pt x="15" y="12"/>
                      <a:pt x="15" y="12"/>
                      <a:pt x="15" y="12"/>
                    </a:cubicBezTo>
                    <a:cubicBezTo>
                      <a:pt x="18" y="7"/>
                      <a:pt x="18" y="7"/>
                      <a:pt x="18" y="7"/>
                    </a:cubicBezTo>
                    <a:cubicBezTo>
                      <a:pt x="15" y="12"/>
                      <a:pt x="15" y="12"/>
                      <a:pt x="15" y="12"/>
                    </a:cubicBezTo>
                    <a:cubicBezTo>
                      <a:pt x="16" y="12"/>
                      <a:pt x="16" y="13"/>
                      <a:pt x="16" y="13"/>
                    </a:cubicBezTo>
                    <a:cubicBezTo>
                      <a:pt x="16" y="14"/>
                      <a:pt x="16" y="14"/>
                      <a:pt x="16" y="14"/>
                    </a:cubicBezTo>
                    <a:cubicBezTo>
                      <a:pt x="16" y="15"/>
                      <a:pt x="16" y="15"/>
                      <a:pt x="16" y="15"/>
                    </a:cubicBezTo>
                    <a:cubicBezTo>
                      <a:pt x="16" y="15"/>
                      <a:pt x="16" y="15"/>
                      <a:pt x="16" y="15"/>
                    </a:cubicBezTo>
                    <a:cubicBezTo>
                      <a:pt x="15" y="21"/>
                      <a:pt x="15" y="21"/>
                      <a:pt x="15" y="21"/>
                    </a:cubicBezTo>
                    <a:cubicBezTo>
                      <a:pt x="14" y="27"/>
                      <a:pt x="14" y="27"/>
                      <a:pt x="14" y="27"/>
                    </a:cubicBezTo>
                    <a:cubicBezTo>
                      <a:pt x="14" y="28"/>
                      <a:pt x="14" y="28"/>
                      <a:pt x="14" y="28"/>
                    </a:cubicBezTo>
                    <a:cubicBezTo>
                      <a:pt x="20" y="29"/>
                      <a:pt x="20" y="29"/>
                      <a:pt x="20" y="29"/>
                    </a:cubicBezTo>
                    <a:cubicBezTo>
                      <a:pt x="14" y="28"/>
                      <a:pt x="14" y="28"/>
                      <a:pt x="14" y="28"/>
                    </a:cubicBezTo>
                    <a:cubicBezTo>
                      <a:pt x="14" y="28"/>
                      <a:pt x="14" y="28"/>
                      <a:pt x="14" y="28"/>
                    </a:cubicBezTo>
                    <a:cubicBezTo>
                      <a:pt x="19" y="30"/>
                      <a:pt x="19" y="30"/>
                      <a:pt x="19" y="30"/>
                    </a:cubicBezTo>
                    <a:cubicBezTo>
                      <a:pt x="14" y="28"/>
                      <a:pt x="14" y="28"/>
                      <a:pt x="14" y="28"/>
                    </a:cubicBezTo>
                    <a:cubicBezTo>
                      <a:pt x="14" y="29"/>
                      <a:pt x="14" y="29"/>
                      <a:pt x="13" y="29"/>
                    </a:cubicBezTo>
                    <a:cubicBezTo>
                      <a:pt x="13" y="29"/>
                      <a:pt x="13" y="29"/>
                      <a:pt x="13" y="29"/>
                    </a:cubicBezTo>
                    <a:cubicBezTo>
                      <a:pt x="12" y="29"/>
                      <a:pt x="12" y="29"/>
                      <a:pt x="12" y="29"/>
                    </a:cubicBezTo>
                    <a:cubicBezTo>
                      <a:pt x="11" y="28"/>
                      <a:pt x="11" y="28"/>
                      <a:pt x="11" y="28"/>
                    </a:cubicBezTo>
                    <a:cubicBezTo>
                      <a:pt x="11" y="28"/>
                      <a:pt x="11" y="28"/>
                      <a:pt x="11" y="28"/>
                    </a:cubicBezTo>
                    <a:cubicBezTo>
                      <a:pt x="11" y="28"/>
                      <a:pt x="11" y="28"/>
                      <a:pt x="11" y="28"/>
                    </a:cubicBez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8" name="Freeform 17">
                <a:extLst>
                  <a:ext uri="{FF2B5EF4-FFF2-40B4-BE49-F238E27FC236}">
                    <a16:creationId xmlns:a16="http://schemas.microsoft.com/office/drawing/2014/main" id="{915C9071-DAC7-7AAF-163A-26948CF0A89C}"/>
                  </a:ext>
                </a:extLst>
              </p:cNvPr>
              <p:cNvSpPr>
                <a:spLocks/>
              </p:cNvSpPr>
              <p:nvPr/>
            </p:nvSpPr>
            <p:spPr bwMode="auto">
              <a:xfrm>
                <a:off x="3422382" y="4461288"/>
                <a:ext cx="22341" cy="52129"/>
              </a:xfrm>
              <a:custGeom>
                <a:avLst/>
                <a:gdLst>
                  <a:gd name="T0" fmla="*/ 0 w 15"/>
                  <a:gd name="T1" fmla="*/ 25 h 35"/>
                  <a:gd name="T2" fmla="*/ 1 w 15"/>
                  <a:gd name="T3" fmla="*/ 29 h 35"/>
                  <a:gd name="T4" fmla="*/ 14 w 15"/>
                  <a:gd name="T5" fmla="*/ 25 h 35"/>
                  <a:gd name="T6" fmla="*/ 14 w 15"/>
                  <a:gd name="T7" fmla="*/ 22 h 35"/>
                  <a:gd name="T8" fmla="*/ 14 w 15"/>
                  <a:gd name="T9" fmla="*/ 16 h 35"/>
                  <a:gd name="T10" fmla="*/ 15 w 15"/>
                  <a:gd name="T11" fmla="*/ 11 h 35"/>
                  <a:gd name="T12" fmla="*/ 1 w 15"/>
                  <a:gd name="T13" fmla="*/ 7 h 35"/>
                  <a:gd name="T14" fmla="*/ 0 w 15"/>
                  <a:gd name="T15" fmla="*/ 10 h 35"/>
                  <a:gd name="T16" fmla="*/ 0 w 15"/>
                  <a:gd name="T17" fmla="*/ 15 h 35"/>
                  <a:gd name="T18" fmla="*/ 0 w 15"/>
                  <a:gd name="T19" fmla="*/ 21 h 35"/>
                  <a:gd name="T20" fmla="*/ 0 w 15"/>
                  <a:gd name="T21" fmla="*/ 2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35">
                    <a:moveTo>
                      <a:pt x="0" y="25"/>
                    </a:moveTo>
                    <a:cubicBezTo>
                      <a:pt x="0" y="26"/>
                      <a:pt x="0" y="28"/>
                      <a:pt x="1" y="29"/>
                    </a:cubicBezTo>
                    <a:cubicBezTo>
                      <a:pt x="5" y="35"/>
                      <a:pt x="14" y="32"/>
                      <a:pt x="14" y="25"/>
                    </a:cubicBezTo>
                    <a:cubicBezTo>
                      <a:pt x="14" y="22"/>
                      <a:pt x="14" y="22"/>
                      <a:pt x="14" y="22"/>
                    </a:cubicBezTo>
                    <a:cubicBezTo>
                      <a:pt x="14" y="16"/>
                      <a:pt x="14" y="16"/>
                      <a:pt x="14" y="16"/>
                    </a:cubicBezTo>
                    <a:cubicBezTo>
                      <a:pt x="15" y="11"/>
                      <a:pt x="15" y="11"/>
                      <a:pt x="15" y="11"/>
                    </a:cubicBezTo>
                    <a:cubicBezTo>
                      <a:pt x="15" y="3"/>
                      <a:pt x="5" y="0"/>
                      <a:pt x="1" y="7"/>
                    </a:cubicBezTo>
                    <a:cubicBezTo>
                      <a:pt x="1" y="8"/>
                      <a:pt x="0" y="9"/>
                      <a:pt x="0" y="10"/>
                    </a:cubicBezTo>
                    <a:cubicBezTo>
                      <a:pt x="0" y="15"/>
                      <a:pt x="0" y="15"/>
                      <a:pt x="0" y="15"/>
                    </a:cubicBezTo>
                    <a:cubicBezTo>
                      <a:pt x="0" y="21"/>
                      <a:pt x="0" y="21"/>
                      <a:pt x="0" y="21"/>
                    </a:cubicBez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89" name="Freeform 18">
                <a:extLst>
                  <a:ext uri="{FF2B5EF4-FFF2-40B4-BE49-F238E27FC236}">
                    <a16:creationId xmlns:a16="http://schemas.microsoft.com/office/drawing/2014/main" id="{B2A8482A-9123-63EA-502E-7F249F8D17A0}"/>
                  </a:ext>
                </a:extLst>
              </p:cNvPr>
              <p:cNvSpPr>
                <a:spLocks/>
              </p:cNvSpPr>
              <p:nvPr/>
            </p:nvSpPr>
            <p:spPr bwMode="auto">
              <a:xfrm>
                <a:off x="3412808" y="4455968"/>
                <a:ext cx="41490" cy="62767"/>
              </a:xfrm>
              <a:custGeom>
                <a:avLst/>
                <a:gdLst>
                  <a:gd name="T0" fmla="*/ 6 w 27"/>
                  <a:gd name="T1" fmla="*/ 28 h 41"/>
                  <a:gd name="T2" fmla="*/ 0 w 27"/>
                  <a:gd name="T3" fmla="*/ 27 h 41"/>
                  <a:gd name="T4" fmla="*/ 0 w 27"/>
                  <a:gd name="T5" fmla="*/ 28 h 41"/>
                  <a:gd name="T6" fmla="*/ 3 w 27"/>
                  <a:gd name="T7" fmla="*/ 36 h 41"/>
                  <a:gd name="T8" fmla="*/ 3 w 27"/>
                  <a:gd name="T9" fmla="*/ 36 h 41"/>
                  <a:gd name="T10" fmla="*/ 3 w 27"/>
                  <a:gd name="T11" fmla="*/ 36 h 41"/>
                  <a:gd name="T12" fmla="*/ 13 w 27"/>
                  <a:gd name="T13" fmla="*/ 41 h 41"/>
                  <a:gd name="T14" fmla="*/ 22 w 27"/>
                  <a:gd name="T15" fmla="*/ 38 h 41"/>
                  <a:gd name="T16" fmla="*/ 26 w 27"/>
                  <a:gd name="T17" fmla="*/ 29 h 41"/>
                  <a:gd name="T18" fmla="*/ 26 w 27"/>
                  <a:gd name="T19" fmla="*/ 28 h 41"/>
                  <a:gd name="T20" fmla="*/ 26 w 27"/>
                  <a:gd name="T21" fmla="*/ 25 h 41"/>
                  <a:gd name="T22" fmla="*/ 26 w 27"/>
                  <a:gd name="T23" fmla="*/ 25 h 41"/>
                  <a:gd name="T24" fmla="*/ 26 w 27"/>
                  <a:gd name="T25" fmla="*/ 19 h 41"/>
                  <a:gd name="T26" fmla="*/ 26 w 27"/>
                  <a:gd name="T27" fmla="*/ 19 h 41"/>
                  <a:gd name="T28" fmla="*/ 27 w 27"/>
                  <a:gd name="T29" fmla="*/ 14 h 41"/>
                  <a:gd name="T30" fmla="*/ 27 w 27"/>
                  <a:gd name="T31" fmla="*/ 14 h 41"/>
                  <a:gd name="T32" fmla="*/ 27 w 27"/>
                  <a:gd name="T33" fmla="*/ 13 h 41"/>
                  <a:gd name="T34" fmla="*/ 22 w 27"/>
                  <a:gd name="T35" fmla="*/ 4 h 41"/>
                  <a:gd name="T36" fmla="*/ 13 w 27"/>
                  <a:gd name="T37" fmla="*/ 0 h 41"/>
                  <a:gd name="T38" fmla="*/ 7 w 27"/>
                  <a:gd name="T39" fmla="*/ 2 h 41"/>
                  <a:gd name="T40" fmla="*/ 2 w 27"/>
                  <a:gd name="T41" fmla="*/ 7 h 41"/>
                  <a:gd name="T42" fmla="*/ 2 w 27"/>
                  <a:gd name="T43" fmla="*/ 7 h 41"/>
                  <a:gd name="T44" fmla="*/ 2 w 27"/>
                  <a:gd name="T45" fmla="*/ 8 h 41"/>
                  <a:gd name="T46" fmla="*/ 1 w 27"/>
                  <a:gd name="T47" fmla="*/ 13 h 41"/>
                  <a:gd name="T48" fmla="*/ 1 w 27"/>
                  <a:gd name="T49" fmla="*/ 13 h 41"/>
                  <a:gd name="T50" fmla="*/ 0 w 27"/>
                  <a:gd name="T51" fmla="*/ 18 h 41"/>
                  <a:gd name="T52" fmla="*/ 0 w 27"/>
                  <a:gd name="T53" fmla="*/ 18 h 41"/>
                  <a:gd name="T54" fmla="*/ 0 w 27"/>
                  <a:gd name="T55" fmla="*/ 24 h 41"/>
                  <a:gd name="T56" fmla="*/ 0 w 27"/>
                  <a:gd name="T57" fmla="*/ 27 h 41"/>
                  <a:gd name="T58" fmla="*/ 0 w 27"/>
                  <a:gd name="T59" fmla="*/ 27 h 41"/>
                  <a:gd name="T60" fmla="*/ 6 w 27"/>
                  <a:gd name="T61" fmla="*/ 28 h 41"/>
                  <a:gd name="T62" fmla="*/ 12 w 27"/>
                  <a:gd name="T63" fmla="*/ 28 h 41"/>
                  <a:gd name="T64" fmla="*/ 12 w 27"/>
                  <a:gd name="T65" fmla="*/ 24 h 41"/>
                  <a:gd name="T66" fmla="*/ 12 w 27"/>
                  <a:gd name="T67" fmla="*/ 24 h 41"/>
                  <a:gd name="T68" fmla="*/ 12 w 27"/>
                  <a:gd name="T69" fmla="*/ 18 h 41"/>
                  <a:gd name="T70" fmla="*/ 12 w 27"/>
                  <a:gd name="T71" fmla="*/ 18 h 41"/>
                  <a:gd name="T72" fmla="*/ 12 w 27"/>
                  <a:gd name="T73" fmla="*/ 13 h 41"/>
                  <a:gd name="T74" fmla="*/ 12 w 27"/>
                  <a:gd name="T75" fmla="*/ 13 h 41"/>
                  <a:gd name="T76" fmla="*/ 12 w 27"/>
                  <a:gd name="T77" fmla="*/ 13 h 41"/>
                  <a:gd name="T78" fmla="*/ 7 w 27"/>
                  <a:gd name="T79" fmla="*/ 10 h 41"/>
                  <a:gd name="T80" fmla="*/ 12 w 27"/>
                  <a:gd name="T81" fmla="*/ 13 h 41"/>
                  <a:gd name="T82" fmla="*/ 13 w 27"/>
                  <a:gd name="T83" fmla="*/ 12 h 41"/>
                  <a:gd name="T84" fmla="*/ 13 w 27"/>
                  <a:gd name="T85" fmla="*/ 12 h 41"/>
                  <a:gd name="T86" fmla="*/ 15 w 27"/>
                  <a:gd name="T87" fmla="*/ 13 h 41"/>
                  <a:gd name="T88" fmla="*/ 15 w 27"/>
                  <a:gd name="T89" fmla="*/ 13 h 41"/>
                  <a:gd name="T90" fmla="*/ 15 w 27"/>
                  <a:gd name="T91" fmla="*/ 14 h 41"/>
                  <a:gd name="T92" fmla="*/ 15 w 27"/>
                  <a:gd name="T93" fmla="*/ 14 h 41"/>
                  <a:gd name="T94" fmla="*/ 15 w 27"/>
                  <a:gd name="T95" fmla="*/ 18 h 41"/>
                  <a:gd name="T96" fmla="*/ 15 w 27"/>
                  <a:gd name="T97" fmla="*/ 18 h 41"/>
                  <a:gd name="T98" fmla="*/ 14 w 27"/>
                  <a:gd name="T99" fmla="*/ 24 h 41"/>
                  <a:gd name="T100" fmla="*/ 14 w 27"/>
                  <a:gd name="T101" fmla="*/ 28 h 41"/>
                  <a:gd name="T102" fmla="*/ 20 w 27"/>
                  <a:gd name="T103" fmla="*/ 28 h 41"/>
                  <a:gd name="T104" fmla="*/ 14 w 27"/>
                  <a:gd name="T105" fmla="*/ 28 h 41"/>
                  <a:gd name="T106" fmla="*/ 14 w 27"/>
                  <a:gd name="T107" fmla="*/ 29 h 41"/>
                  <a:gd name="T108" fmla="*/ 13 w 27"/>
                  <a:gd name="T109" fmla="*/ 29 h 41"/>
                  <a:gd name="T110" fmla="*/ 12 w 27"/>
                  <a:gd name="T111" fmla="*/ 29 h 41"/>
                  <a:gd name="T112" fmla="*/ 12 w 27"/>
                  <a:gd name="T113" fmla="*/ 29 h 41"/>
                  <a:gd name="T114" fmla="*/ 12 w 27"/>
                  <a:gd name="T115" fmla="*/ 28 h 41"/>
                  <a:gd name="T116" fmla="*/ 12 w 27"/>
                  <a:gd name="T117" fmla="*/ 28 h 41"/>
                  <a:gd name="T118" fmla="*/ 12 w 27"/>
                  <a:gd name="T119" fmla="*/ 28 h 41"/>
                  <a:gd name="T120" fmla="*/ 6 w 27"/>
                  <a:gd name="T121"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 h="41">
                    <a:moveTo>
                      <a:pt x="6" y="28"/>
                    </a:moveTo>
                    <a:cubicBezTo>
                      <a:pt x="0" y="27"/>
                      <a:pt x="0" y="27"/>
                      <a:pt x="0" y="27"/>
                    </a:cubicBezTo>
                    <a:cubicBezTo>
                      <a:pt x="0" y="28"/>
                      <a:pt x="0" y="28"/>
                      <a:pt x="0" y="28"/>
                    </a:cubicBezTo>
                    <a:cubicBezTo>
                      <a:pt x="0" y="31"/>
                      <a:pt x="1" y="34"/>
                      <a:pt x="3" y="36"/>
                    </a:cubicBezTo>
                    <a:cubicBezTo>
                      <a:pt x="3" y="36"/>
                      <a:pt x="3" y="36"/>
                      <a:pt x="3" y="36"/>
                    </a:cubicBezTo>
                    <a:cubicBezTo>
                      <a:pt x="3" y="36"/>
                      <a:pt x="3" y="36"/>
                      <a:pt x="3" y="36"/>
                    </a:cubicBezTo>
                    <a:cubicBezTo>
                      <a:pt x="5" y="39"/>
                      <a:pt x="9" y="41"/>
                      <a:pt x="13" y="41"/>
                    </a:cubicBezTo>
                    <a:cubicBezTo>
                      <a:pt x="16" y="41"/>
                      <a:pt x="19" y="40"/>
                      <a:pt x="22" y="38"/>
                    </a:cubicBezTo>
                    <a:cubicBezTo>
                      <a:pt x="24" y="35"/>
                      <a:pt x="26" y="32"/>
                      <a:pt x="26" y="29"/>
                    </a:cubicBezTo>
                    <a:cubicBezTo>
                      <a:pt x="26" y="28"/>
                      <a:pt x="26" y="28"/>
                      <a:pt x="26" y="28"/>
                    </a:cubicBezTo>
                    <a:cubicBezTo>
                      <a:pt x="26" y="25"/>
                      <a:pt x="26" y="25"/>
                      <a:pt x="26" y="25"/>
                    </a:cubicBezTo>
                    <a:cubicBezTo>
                      <a:pt x="26" y="25"/>
                      <a:pt x="26" y="25"/>
                      <a:pt x="26" y="25"/>
                    </a:cubicBezTo>
                    <a:cubicBezTo>
                      <a:pt x="26" y="19"/>
                      <a:pt x="26" y="19"/>
                      <a:pt x="26" y="19"/>
                    </a:cubicBezTo>
                    <a:cubicBezTo>
                      <a:pt x="26" y="19"/>
                      <a:pt x="26" y="19"/>
                      <a:pt x="26" y="19"/>
                    </a:cubicBezTo>
                    <a:cubicBezTo>
                      <a:pt x="27" y="14"/>
                      <a:pt x="27" y="14"/>
                      <a:pt x="27" y="14"/>
                    </a:cubicBezTo>
                    <a:cubicBezTo>
                      <a:pt x="27" y="14"/>
                      <a:pt x="27" y="14"/>
                      <a:pt x="27" y="14"/>
                    </a:cubicBezTo>
                    <a:cubicBezTo>
                      <a:pt x="27" y="13"/>
                      <a:pt x="27" y="13"/>
                      <a:pt x="27" y="13"/>
                    </a:cubicBezTo>
                    <a:cubicBezTo>
                      <a:pt x="27" y="10"/>
                      <a:pt x="25" y="6"/>
                      <a:pt x="22" y="4"/>
                    </a:cubicBezTo>
                    <a:cubicBezTo>
                      <a:pt x="20" y="2"/>
                      <a:pt x="17" y="0"/>
                      <a:pt x="13" y="0"/>
                    </a:cubicBezTo>
                    <a:cubicBezTo>
                      <a:pt x="11" y="0"/>
                      <a:pt x="9" y="1"/>
                      <a:pt x="7" y="2"/>
                    </a:cubicBezTo>
                    <a:cubicBezTo>
                      <a:pt x="5" y="3"/>
                      <a:pt x="3" y="5"/>
                      <a:pt x="2" y="7"/>
                    </a:cubicBezTo>
                    <a:cubicBezTo>
                      <a:pt x="2" y="7"/>
                      <a:pt x="2" y="7"/>
                      <a:pt x="2" y="7"/>
                    </a:cubicBezTo>
                    <a:cubicBezTo>
                      <a:pt x="2" y="8"/>
                      <a:pt x="2" y="8"/>
                      <a:pt x="2" y="8"/>
                    </a:cubicBezTo>
                    <a:cubicBezTo>
                      <a:pt x="1" y="9"/>
                      <a:pt x="1" y="11"/>
                      <a:pt x="1" y="13"/>
                    </a:cubicBezTo>
                    <a:cubicBezTo>
                      <a:pt x="1" y="13"/>
                      <a:pt x="1" y="13"/>
                      <a:pt x="1" y="13"/>
                    </a:cubicBezTo>
                    <a:cubicBezTo>
                      <a:pt x="0" y="18"/>
                      <a:pt x="0" y="18"/>
                      <a:pt x="0" y="18"/>
                    </a:cubicBezTo>
                    <a:cubicBezTo>
                      <a:pt x="0" y="18"/>
                      <a:pt x="0" y="18"/>
                      <a:pt x="0" y="18"/>
                    </a:cubicBezTo>
                    <a:cubicBezTo>
                      <a:pt x="0" y="24"/>
                      <a:pt x="0" y="24"/>
                      <a:pt x="0" y="24"/>
                    </a:cubicBezTo>
                    <a:cubicBezTo>
                      <a:pt x="0" y="27"/>
                      <a:pt x="0" y="27"/>
                      <a:pt x="0" y="27"/>
                    </a:cubicBezTo>
                    <a:cubicBezTo>
                      <a:pt x="0" y="27"/>
                      <a:pt x="0" y="27"/>
                      <a:pt x="0" y="27"/>
                    </a:cubicBezTo>
                    <a:cubicBezTo>
                      <a:pt x="6" y="28"/>
                      <a:pt x="6" y="28"/>
                      <a:pt x="6" y="28"/>
                    </a:cubicBezTo>
                    <a:cubicBezTo>
                      <a:pt x="12" y="28"/>
                      <a:pt x="12" y="28"/>
                      <a:pt x="12" y="28"/>
                    </a:cubicBezTo>
                    <a:cubicBezTo>
                      <a:pt x="12" y="24"/>
                      <a:pt x="12" y="24"/>
                      <a:pt x="12" y="24"/>
                    </a:cubicBezTo>
                    <a:cubicBezTo>
                      <a:pt x="12" y="24"/>
                      <a:pt x="12" y="24"/>
                      <a:pt x="12" y="24"/>
                    </a:cubicBezTo>
                    <a:cubicBezTo>
                      <a:pt x="12" y="18"/>
                      <a:pt x="12" y="18"/>
                      <a:pt x="12" y="18"/>
                    </a:cubicBezTo>
                    <a:cubicBezTo>
                      <a:pt x="12" y="18"/>
                      <a:pt x="12" y="18"/>
                      <a:pt x="12" y="18"/>
                    </a:cubicBezTo>
                    <a:cubicBezTo>
                      <a:pt x="12" y="13"/>
                      <a:pt x="12" y="13"/>
                      <a:pt x="12" y="13"/>
                    </a:cubicBezTo>
                    <a:cubicBezTo>
                      <a:pt x="12" y="13"/>
                      <a:pt x="12" y="13"/>
                      <a:pt x="12" y="13"/>
                    </a:cubicBezTo>
                    <a:cubicBezTo>
                      <a:pt x="12" y="13"/>
                      <a:pt x="12" y="13"/>
                      <a:pt x="12" y="13"/>
                    </a:cubicBezTo>
                    <a:cubicBezTo>
                      <a:pt x="7" y="10"/>
                      <a:pt x="7" y="10"/>
                      <a:pt x="7" y="10"/>
                    </a:cubicBezTo>
                    <a:cubicBezTo>
                      <a:pt x="12" y="13"/>
                      <a:pt x="12" y="13"/>
                      <a:pt x="12" y="13"/>
                    </a:cubicBezTo>
                    <a:cubicBezTo>
                      <a:pt x="13" y="12"/>
                      <a:pt x="13" y="12"/>
                      <a:pt x="13" y="12"/>
                    </a:cubicBezTo>
                    <a:cubicBezTo>
                      <a:pt x="13" y="12"/>
                      <a:pt x="13" y="12"/>
                      <a:pt x="13" y="12"/>
                    </a:cubicBezTo>
                    <a:cubicBezTo>
                      <a:pt x="14" y="12"/>
                      <a:pt x="14" y="12"/>
                      <a:pt x="15" y="13"/>
                    </a:cubicBezTo>
                    <a:cubicBezTo>
                      <a:pt x="15" y="13"/>
                      <a:pt x="15" y="13"/>
                      <a:pt x="15" y="13"/>
                    </a:cubicBezTo>
                    <a:cubicBezTo>
                      <a:pt x="15" y="14"/>
                      <a:pt x="15" y="14"/>
                      <a:pt x="15" y="14"/>
                    </a:cubicBezTo>
                    <a:cubicBezTo>
                      <a:pt x="15" y="14"/>
                      <a:pt x="15" y="14"/>
                      <a:pt x="15" y="14"/>
                    </a:cubicBezTo>
                    <a:cubicBezTo>
                      <a:pt x="15" y="18"/>
                      <a:pt x="15" y="18"/>
                      <a:pt x="15" y="18"/>
                    </a:cubicBezTo>
                    <a:cubicBezTo>
                      <a:pt x="15" y="18"/>
                      <a:pt x="15" y="18"/>
                      <a:pt x="15" y="18"/>
                    </a:cubicBezTo>
                    <a:cubicBezTo>
                      <a:pt x="14" y="24"/>
                      <a:pt x="14" y="24"/>
                      <a:pt x="14" y="24"/>
                    </a:cubicBezTo>
                    <a:cubicBezTo>
                      <a:pt x="14" y="28"/>
                      <a:pt x="14" y="28"/>
                      <a:pt x="14" y="28"/>
                    </a:cubicBezTo>
                    <a:cubicBezTo>
                      <a:pt x="20" y="28"/>
                      <a:pt x="20" y="28"/>
                      <a:pt x="20" y="28"/>
                    </a:cubicBezTo>
                    <a:cubicBezTo>
                      <a:pt x="14" y="28"/>
                      <a:pt x="14" y="28"/>
                      <a:pt x="14" y="28"/>
                    </a:cubicBezTo>
                    <a:cubicBezTo>
                      <a:pt x="14" y="28"/>
                      <a:pt x="14" y="29"/>
                      <a:pt x="14" y="29"/>
                    </a:cubicBezTo>
                    <a:cubicBezTo>
                      <a:pt x="13" y="29"/>
                      <a:pt x="13" y="29"/>
                      <a:pt x="13" y="29"/>
                    </a:cubicBezTo>
                    <a:cubicBezTo>
                      <a:pt x="12" y="29"/>
                      <a:pt x="12" y="29"/>
                      <a:pt x="12" y="29"/>
                    </a:cubicBezTo>
                    <a:cubicBezTo>
                      <a:pt x="12" y="29"/>
                      <a:pt x="12" y="29"/>
                      <a:pt x="12" y="29"/>
                    </a:cubicBezTo>
                    <a:cubicBezTo>
                      <a:pt x="12" y="28"/>
                      <a:pt x="12" y="28"/>
                      <a:pt x="12" y="28"/>
                    </a:cubicBezTo>
                    <a:cubicBezTo>
                      <a:pt x="12" y="28"/>
                      <a:pt x="12" y="28"/>
                      <a:pt x="12" y="28"/>
                    </a:cubicBezTo>
                    <a:cubicBezTo>
                      <a:pt x="12" y="28"/>
                      <a:pt x="12" y="28"/>
                      <a:pt x="12" y="28"/>
                    </a:cubicBezTo>
                    <a:lnTo>
                      <a:pt x="6"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0" name="Freeform 19">
                <a:extLst>
                  <a:ext uri="{FF2B5EF4-FFF2-40B4-BE49-F238E27FC236}">
                    <a16:creationId xmlns:a16="http://schemas.microsoft.com/office/drawing/2014/main" id="{0B4382EE-A32B-8B49-1111-A1442B41E778}"/>
                  </a:ext>
                </a:extLst>
              </p:cNvPr>
              <p:cNvSpPr>
                <a:spLocks/>
              </p:cNvSpPr>
              <p:nvPr/>
            </p:nvSpPr>
            <p:spPr bwMode="auto">
              <a:xfrm>
                <a:off x="3420255" y="4592142"/>
                <a:ext cx="21277" cy="52129"/>
              </a:xfrm>
              <a:custGeom>
                <a:avLst/>
                <a:gdLst>
                  <a:gd name="T0" fmla="*/ 0 w 14"/>
                  <a:gd name="T1" fmla="*/ 24 h 34"/>
                  <a:gd name="T2" fmla="*/ 14 w 14"/>
                  <a:gd name="T3" fmla="*/ 26 h 34"/>
                  <a:gd name="T4" fmla="*/ 14 w 14"/>
                  <a:gd name="T5" fmla="*/ 24 h 34"/>
                  <a:gd name="T6" fmla="*/ 14 w 14"/>
                  <a:gd name="T7" fmla="*/ 20 h 34"/>
                  <a:gd name="T8" fmla="*/ 14 w 14"/>
                  <a:gd name="T9" fmla="*/ 13 h 34"/>
                  <a:gd name="T10" fmla="*/ 14 w 14"/>
                  <a:gd name="T11" fmla="*/ 10 h 34"/>
                  <a:gd name="T12" fmla="*/ 0 w 14"/>
                  <a:gd name="T13" fmla="*/ 8 h 34"/>
                  <a:gd name="T14" fmla="*/ 0 w 14"/>
                  <a:gd name="T15" fmla="*/ 10 h 34"/>
                  <a:gd name="T16" fmla="*/ 0 w 14"/>
                  <a:gd name="T17" fmla="*/ 14 h 34"/>
                  <a:gd name="T18" fmla="*/ 0 w 14"/>
                  <a:gd name="T19" fmla="*/ 20 h 34"/>
                  <a:gd name="T20" fmla="*/ 0 w 14"/>
                  <a:gd name="T21" fmla="*/ 2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34">
                    <a:moveTo>
                      <a:pt x="0" y="24"/>
                    </a:moveTo>
                    <a:cubicBezTo>
                      <a:pt x="0" y="32"/>
                      <a:pt x="11" y="34"/>
                      <a:pt x="14" y="26"/>
                    </a:cubicBezTo>
                    <a:cubicBezTo>
                      <a:pt x="14" y="26"/>
                      <a:pt x="14" y="25"/>
                      <a:pt x="14" y="24"/>
                    </a:cubicBezTo>
                    <a:cubicBezTo>
                      <a:pt x="14" y="20"/>
                      <a:pt x="14" y="20"/>
                      <a:pt x="14" y="20"/>
                    </a:cubicBezTo>
                    <a:cubicBezTo>
                      <a:pt x="14" y="13"/>
                      <a:pt x="14" y="13"/>
                      <a:pt x="14" y="13"/>
                    </a:cubicBezTo>
                    <a:cubicBezTo>
                      <a:pt x="14" y="10"/>
                      <a:pt x="14" y="10"/>
                      <a:pt x="14" y="10"/>
                    </a:cubicBezTo>
                    <a:cubicBezTo>
                      <a:pt x="14" y="2"/>
                      <a:pt x="3" y="0"/>
                      <a:pt x="0" y="8"/>
                    </a:cubicBezTo>
                    <a:cubicBezTo>
                      <a:pt x="0" y="8"/>
                      <a:pt x="0" y="9"/>
                      <a:pt x="0" y="10"/>
                    </a:cubicBezTo>
                    <a:cubicBezTo>
                      <a:pt x="0" y="14"/>
                      <a:pt x="0" y="14"/>
                      <a:pt x="0" y="14"/>
                    </a:cubicBezTo>
                    <a:cubicBezTo>
                      <a:pt x="0" y="20"/>
                      <a:pt x="0" y="20"/>
                      <a:pt x="0" y="20"/>
                    </a:cubicBez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1" name="Freeform 20">
                <a:extLst>
                  <a:ext uri="{FF2B5EF4-FFF2-40B4-BE49-F238E27FC236}">
                    <a16:creationId xmlns:a16="http://schemas.microsoft.com/office/drawing/2014/main" id="{3B6E3327-D337-872E-16B1-368321CB1BA4}"/>
                  </a:ext>
                </a:extLst>
              </p:cNvPr>
              <p:cNvSpPr>
                <a:spLocks/>
              </p:cNvSpPr>
              <p:nvPr/>
            </p:nvSpPr>
            <p:spPr bwMode="auto">
              <a:xfrm>
                <a:off x="3411744" y="4587887"/>
                <a:ext cx="39363" cy="60640"/>
              </a:xfrm>
              <a:custGeom>
                <a:avLst/>
                <a:gdLst>
                  <a:gd name="T0" fmla="*/ 0 w 26"/>
                  <a:gd name="T1" fmla="*/ 28 h 40"/>
                  <a:gd name="T2" fmla="*/ 13 w 26"/>
                  <a:gd name="T3" fmla="*/ 40 h 40"/>
                  <a:gd name="T4" fmla="*/ 26 w 26"/>
                  <a:gd name="T5" fmla="*/ 31 h 40"/>
                  <a:gd name="T6" fmla="*/ 26 w 26"/>
                  <a:gd name="T7" fmla="*/ 31 h 40"/>
                  <a:gd name="T8" fmla="*/ 26 w 26"/>
                  <a:gd name="T9" fmla="*/ 27 h 40"/>
                  <a:gd name="T10" fmla="*/ 26 w 26"/>
                  <a:gd name="T11" fmla="*/ 22 h 40"/>
                  <a:gd name="T12" fmla="*/ 26 w 26"/>
                  <a:gd name="T13" fmla="*/ 16 h 40"/>
                  <a:gd name="T14" fmla="*/ 26 w 26"/>
                  <a:gd name="T15" fmla="*/ 13 h 40"/>
                  <a:gd name="T16" fmla="*/ 26 w 26"/>
                  <a:gd name="T17" fmla="*/ 13 h 40"/>
                  <a:gd name="T18" fmla="*/ 13 w 26"/>
                  <a:gd name="T19" fmla="*/ 0 h 40"/>
                  <a:gd name="T20" fmla="*/ 1 w 26"/>
                  <a:gd name="T21" fmla="*/ 9 h 40"/>
                  <a:gd name="T22" fmla="*/ 0 w 26"/>
                  <a:gd name="T23" fmla="*/ 9 h 40"/>
                  <a:gd name="T24" fmla="*/ 0 w 26"/>
                  <a:gd name="T25" fmla="*/ 13 h 40"/>
                  <a:gd name="T26" fmla="*/ 0 w 26"/>
                  <a:gd name="T27" fmla="*/ 17 h 40"/>
                  <a:gd name="T28" fmla="*/ 0 w 26"/>
                  <a:gd name="T29" fmla="*/ 23 h 40"/>
                  <a:gd name="T30" fmla="*/ 0 w 26"/>
                  <a:gd name="T31" fmla="*/ 28 h 40"/>
                  <a:gd name="T32" fmla="*/ 12 w 26"/>
                  <a:gd name="T33" fmla="*/ 27 h 40"/>
                  <a:gd name="T34" fmla="*/ 12 w 26"/>
                  <a:gd name="T35" fmla="*/ 23 h 40"/>
                  <a:gd name="T36" fmla="*/ 12 w 26"/>
                  <a:gd name="T37" fmla="*/ 17 h 40"/>
                  <a:gd name="T38" fmla="*/ 12 w 26"/>
                  <a:gd name="T39" fmla="*/ 13 h 40"/>
                  <a:gd name="T40" fmla="*/ 12 w 26"/>
                  <a:gd name="T41" fmla="*/ 12 h 40"/>
                  <a:gd name="T42" fmla="*/ 12 w 26"/>
                  <a:gd name="T43" fmla="*/ 12 h 40"/>
                  <a:gd name="T44" fmla="*/ 13 w 26"/>
                  <a:gd name="T45" fmla="*/ 12 h 40"/>
                  <a:gd name="T46" fmla="*/ 14 w 26"/>
                  <a:gd name="T47" fmla="*/ 13 h 40"/>
                  <a:gd name="T48" fmla="*/ 14 w 26"/>
                  <a:gd name="T49" fmla="*/ 13 h 40"/>
                  <a:gd name="T50" fmla="*/ 14 w 26"/>
                  <a:gd name="T51" fmla="*/ 17 h 40"/>
                  <a:gd name="T52" fmla="*/ 15 w 26"/>
                  <a:gd name="T53" fmla="*/ 27 h 40"/>
                  <a:gd name="T54" fmla="*/ 15 w 26"/>
                  <a:gd name="T55" fmla="*/ 27 h 40"/>
                  <a:gd name="T56" fmla="*/ 20 w 26"/>
                  <a:gd name="T57" fmla="*/ 29 h 40"/>
                  <a:gd name="T58" fmla="*/ 14 w 26"/>
                  <a:gd name="T59" fmla="*/ 28 h 40"/>
                  <a:gd name="T60" fmla="*/ 12 w 26"/>
                  <a:gd name="T61" fmla="*/ 28 h 40"/>
                  <a:gd name="T62" fmla="*/ 12 w 26"/>
                  <a:gd name="T6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40">
                    <a:moveTo>
                      <a:pt x="6" y="27"/>
                    </a:moveTo>
                    <a:cubicBezTo>
                      <a:pt x="0" y="28"/>
                      <a:pt x="0" y="28"/>
                      <a:pt x="0" y="28"/>
                    </a:cubicBezTo>
                    <a:cubicBezTo>
                      <a:pt x="0" y="31"/>
                      <a:pt x="2" y="35"/>
                      <a:pt x="5" y="37"/>
                    </a:cubicBezTo>
                    <a:cubicBezTo>
                      <a:pt x="7" y="39"/>
                      <a:pt x="10" y="40"/>
                      <a:pt x="13" y="40"/>
                    </a:cubicBezTo>
                    <a:cubicBezTo>
                      <a:pt x="16" y="40"/>
                      <a:pt x="18" y="40"/>
                      <a:pt x="21" y="38"/>
                    </a:cubicBezTo>
                    <a:cubicBezTo>
                      <a:pt x="23" y="37"/>
                      <a:pt x="25" y="34"/>
                      <a:pt x="26" y="31"/>
                    </a:cubicBezTo>
                    <a:cubicBezTo>
                      <a:pt x="26" y="31"/>
                      <a:pt x="26" y="31"/>
                      <a:pt x="26" y="31"/>
                    </a:cubicBezTo>
                    <a:cubicBezTo>
                      <a:pt x="26" y="31"/>
                      <a:pt x="26" y="31"/>
                      <a:pt x="26" y="31"/>
                    </a:cubicBezTo>
                    <a:cubicBezTo>
                      <a:pt x="26" y="30"/>
                      <a:pt x="26" y="29"/>
                      <a:pt x="26" y="27"/>
                    </a:cubicBezTo>
                    <a:cubicBezTo>
                      <a:pt x="26" y="27"/>
                      <a:pt x="26" y="27"/>
                      <a:pt x="26" y="27"/>
                    </a:cubicBezTo>
                    <a:cubicBezTo>
                      <a:pt x="26" y="27"/>
                      <a:pt x="26" y="27"/>
                      <a:pt x="26" y="27"/>
                    </a:cubicBezTo>
                    <a:cubicBezTo>
                      <a:pt x="26" y="22"/>
                      <a:pt x="26" y="22"/>
                      <a:pt x="26" y="22"/>
                    </a:cubicBezTo>
                    <a:cubicBezTo>
                      <a:pt x="26" y="22"/>
                      <a:pt x="26" y="22"/>
                      <a:pt x="26" y="22"/>
                    </a:cubicBezTo>
                    <a:cubicBezTo>
                      <a:pt x="26" y="16"/>
                      <a:pt x="26" y="16"/>
                      <a:pt x="26" y="16"/>
                    </a:cubicBezTo>
                    <a:cubicBezTo>
                      <a:pt x="26" y="16"/>
                      <a:pt x="26" y="16"/>
                      <a:pt x="26" y="16"/>
                    </a:cubicBezTo>
                    <a:cubicBezTo>
                      <a:pt x="26" y="13"/>
                      <a:pt x="26" y="13"/>
                      <a:pt x="26" y="13"/>
                    </a:cubicBezTo>
                    <a:cubicBezTo>
                      <a:pt x="26" y="13"/>
                      <a:pt x="26" y="13"/>
                      <a:pt x="26" y="13"/>
                    </a:cubicBezTo>
                    <a:cubicBezTo>
                      <a:pt x="26" y="13"/>
                      <a:pt x="26" y="13"/>
                      <a:pt x="26" y="13"/>
                    </a:cubicBezTo>
                    <a:cubicBezTo>
                      <a:pt x="26" y="9"/>
                      <a:pt x="24" y="5"/>
                      <a:pt x="22" y="3"/>
                    </a:cubicBezTo>
                    <a:cubicBezTo>
                      <a:pt x="19" y="1"/>
                      <a:pt x="16" y="0"/>
                      <a:pt x="13" y="0"/>
                    </a:cubicBezTo>
                    <a:cubicBezTo>
                      <a:pt x="10" y="0"/>
                      <a:pt x="8" y="0"/>
                      <a:pt x="6" y="2"/>
                    </a:cubicBezTo>
                    <a:cubicBezTo>
                      <a:pt x="3" y="3"/>
                      <a:pt x="1" y="6"/>
                      <a:pt x="1" y="9"/>
                    </a:cubicBezTo>
                    <a:cubicBezTo>
                      <a:pt x="0" y="9"/>
                      <a:pt x="0" y="9"/>
                      <a:pt x="0" y="9"/>
                    </a:cubicBezTo>
                    <a:cubicBezTo>
                      <a:pt x="0" y="9"/>
                      <a:pt x="0" y="9"/>
                      <a:pt x="0" y="9"/>
                    </a:cubicBezTo>
                    <a:cubicBezTo>
                      <a:pt x="0" y="10"/>
                      <a:pt x="0" y="11"/>
                      <a:pt x="0" y="13"/>
                    </a:cubicBezTo>
                    <a:cubicBezTo>
                      <a:pt x="0" y="13"/>
                      <a:pt x="0" y="13"/>
                      <a:pt x="0" y="13"/>
                    </a:cubicBezTo>
                    <a:cubicBezTo>
                      <a:pt x="0" y="13"/>
                      <a:pt x="0" y="13"/>
                      <a:pt x="0" y="13"/>
                    </a:cubicBezTo>
                    <a:cubicBezTo>
                      <a:pt x="0" y="17"/>
                      <a:pt x="0" y="17"/>
                      <a:pt x="0" y="17"/>
                    </a:cubicBezTo>
                    <a:cubicBezTo>
                      <a:pt x="0" y="17"/>
                      <a:pt x="0" y="17"/>
                      <a:pt x="0" y="17"/>
                    </a:cubicBezTo>
                    <a:cubicBezTo>
                      <a:pt x="0" y="23"/>
                      <a:pt x="0" y="23"/>
                      <a:pt x="0" y="23"/>
                    </a:cubicBezTo>
                    <a:cubicBezTo>
                      <a:pt x="0" y="28"/>
                      <a:pt x="0" y="28"/>
                      <a:pt x="0" y="28"/>
                    </a:cubicBezTo>
                    <a:cubicBezTo>
                      <a:pt x="0" y="28"/>
                      <a:pt x="0" y="28"/>
                      <a:pt x="0" y="28"/>
                    </a:cubicBezTo>
                    <a:cubicBezTo>
                      <a:pt x="6" y="27"/>
                      <a:pt x="6" y="27"/>
                      <a:pt x="6" y="27"/>
                    </a:cubicBezTo>
                    <a:cubicBezTo>
                      <a:pt x="12" y="27"/>
                      <a:pt x="12" y="27"/>
                      <a:pt x="12" y="27"/>
                    </a:cubicBezTo>
                    <a:cubicBezTo>
                      <a:pt x="12" y="23"/>
                      <a:pt x="12" y="23"/>
                      <a:pt x="12" y="23"/>
                    </a:cubicBezTo>
                    <a:cubicBezTo>
                      <a:pt x="12" y="23"/>
                      <a:pt x="12" y="23"/>
                      <a:pt x="12" y="23"/>
                    </a:cubicBezTo>
                    <a:cubicBezTo>
                      <a:pt x="12" y="17"/>
                      <a:pt x="12" y="17"/>
                      <a:pt x="12" y="17"/>
                    </a:cubicBezTo>
                    <a:cubicBezTo>
                      <a:pt x="12" y="17"/>
                      <a:pt x="12" y="17"/>
                      <a:pt x="12" y="17"/>
                    </a:cubicBezTo>
                    <a:cubicBezTo>
                      <a:pt x="12" y="13"/>
                      <a:pt x="12" y="13"/>
                      <a:pt x="12" y="13"/>
                    </a:cubicBezTo>
                    <a:cubicBezTo>
                      <a:pt x="12" y="13"/>
                      <a:pt x="12" y="13"/>
                      <a:pt x="12" y="13"/>
                    </a:cubicBezTo>
                    <a:cubicBezTo>
                      <a:pt x="12" y="13"/>
                      <a:pt x="12" y="13"/>
                      <a:pt x="12" y="13"/>
                    </a:cubicBezTo>
                    <a:cubicBezTo>
                      <a:pt x="12" y="13"/>
                      <a:pt x="12" y="13"/>
                      <a:pt x="12" y="12"/>
                    </a:cubicBezTo>
                    <a:cubicBezTo>
                      <a:pt x="6" y="11"/>
                      <a:pt x="6" y="11"/>
                      <a:pt x="6" y="11"/>
                    </a:cubicBezTo>
                    <a:cubicBezTo>
                      <a:pt x="12" y="12"/>
                      <a:pt x="12" y="12"/>
                      <a:pt x="12" y="12"/>
                    </a:cubicBezTo>
                    <a:cubicBezTo>
                      <a:pt x="12" y="12"/>
                      <a:pt x="12" y="12"/>
                      <a:pt x="12" y="12"/>
                    </a:cubicBezTo>
                    <a:cubicBezTo>
                      <a:pt x="13" y="12"/>
                      <a:pt x="13" y="12"/>
                      <a:pt x="13" y="12"/>
                    </a:cubicBezTo>
                    <a:cubicBezTo>
                      <a:pt x="13" y="12"/>
                      <a:pt x="14" y="12"/>
                      <a:pt x="14" y="12"/>
                    </a:cubicBezTo>
                    <a:cubicBezTo>
                      <a:pt x="14" y="12"/>
                      <a:pt x="14" y="12"/>
                      <a:pt x="14" y="13"/>
                    </a:cubicBezTo>
                    <a:cubicBezTo>
                      <a:pt x="20" y="13"/>
                      <a:pt x="20" y="13"/>
                      <a:pt x="20" y="13"/>
                    </a:cubicBezTo>
                    <a:cubicBezTo>
                      <a:pt x="14" y="13"/>
                      <a:pt x="14" y="13"/>
                      <a:pt x="14" y="13"/>
                    </a:cubicBezTo>
                    <a:cubicBezTo>
                      <a:pt x="14" y="17"/>
                      <a:pt x="14" y="17"/>
                      <a:pt x="14" y="17"/>
                    </a:cubicBezTo>
                    <a:cubicBezTo>
                      <a:pt x="14" y="17"/>
                      <a:pt x="14" y="17"/>
                      <a:pt x="14" y="17"/>
                    </a:cubicBezTo>
                    <a:cubicBezTo>
                      <a:pt x="14" y="23"/>
                      <a:pt x="14" y="23"/>
                      <a:pt x="14" y="23"/>
                    </a:cubicBezTo>
                    <a:cubicBezTo>
                      <a:pt x="15" y="27"/>
                      <a:pt x="15" y="27"/>
                      <a:pt x="15" y="27"/>
                    </a:cubicBezTo>
                    <a:cubicBezTo>
                      <a:pt x="15" y="27"/>
                      <a:pt x="15" y="27"/>
                      <a:pt x="15" y="27"/>
                    </a:cubicBezTo>
                    <a:cubicBezTo>
                      <a:pt x="15" y="27"/>
                      <a:pt x="15" y="27"/>
                      <a:pt x="15" y="27"/>
                    </a:cubicBezTo>
                    <a:cubicBezTo>
                      <a:pt x="14" y="28"/>
                      <a:pt x="14" y="28"/>
                      <a:pt x="14" y="28"/>
                    </a:cubicBezTo>
                    <a:cubicBezTo>
                      <a:pt x="20" y="29"/>
                      <a:pt x="20" y="29"/>
                      <a:pt x="20" y="29"/>
                    </a:cubicBezTo>
                    <a:cubicBezTo>
                      <a:pt x="15" y="28"/>
                      <a:pt x="15" y="28"/>
                      <a:pt x="15" y="28"/>
                    </a:cubicBezTo>
                    <a:cubicBezTo>
                      <a:pt x="14" y="28"/>
                      <a:pt x="14" y="28"/>
                      <a:pt x="14" y="28"/>
                    </a:cubicBezTo>
                    <a:cubicBezTo>
                      <a:pt x="13" y="29"/>
                      <a:pt x="13" y="29"/>
                      <a:pt x="13" y="29"/>
                    </a:cubicBezTo>
                    <a:cubicBezTo>
                      <a:pt x="13" y="29"/>
                      <a:pt x="12" y="28"/>
                      <a:pt x="12" y="28"/>
                    </a:cubicBezTo>
                    <a:cubicBezTo>
                      <a:pt x="12" y="28"/>
                      <a:pt x="12" y="28"/>
                      <a:pt x="12" y="27"/>
                    </a:cubicBezTo>
                    <a:cubicBezTo>
                      <a:pt x="12" y="27"/>
                      <a:pt x="12" y="27"/>
                      <a:pt x="12" y="27"/>
                    </a:cubicBez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2" name="Freeform 21">
                <a:extLst>
                  <a:ext uri="{FF2B5EF4-FFF2-40B4-BE49-F238E27FC236}">
                    <a16:creationId xmlns:a16="http://schemas.microsoft.com/office/drawing/2014/main" id="{938B7F15-7623-6A1F-37E7-FA1045ECECB8}"/>
                  </a:ext>
                </a:extLst>
              </p:cNvPr>
              <p:cNvSpPr>
                <a:spLocks/>
              </p:cNvSpPr>
              <p:nvPr/>
            </p:nvSpPr>
            <p:spPr bwMode="auto">
              <a:xfrm>
                <a:off x="3426638" y="4724060"/>
                <a:ext cx="25533" cy="46810"/>
              </a:xfrm>
              <a:custGeom>
                <a:avLst/>
                <a:gdLst>
                  <a:gd name="T0" fmla="*/ 2 w 17"/>
                  <a:gd name="T1" fmla="*/ 24 h 31"/>
                  <a:gd name="T2" fmla="*/ 9 w 17"/>
                  <a:gd name="T3" fmla="*/ 31 h 31"/>
                  <a:gd name="T4" fmla="*/ 16 w 17"/>
                  <a:gd name="T5" fmla="*/ 23 h 31"/>
                  <a:gd name="T6" fmla="*/ 16 w 17"/>
                  <a:gd name="T7" fmla="*/ 18 h 31"/>
                  <a:gd name="T8" fmla="*/ 15 w 17"/>
                  <a:gd name="T9" fmla="*/ 12 h 31"/>
                  <a:gd name="T10" fmla="*/ 15 w 17"/>
                  <a:gd name="T11" fmla="*/ 8 h 31"/>
                  <a:gd name="T12" fmla="*/ 12 w 17"/>
                  <a:gd name="T13" fmla="*/ 3 h 31"/>
                  <a:gd name="T14" fmla="*/ 1 w 17"/>
                  <a:gd name="T15" fmla="*/ 10 h 31"/>
                  <a:gd name="T16" fmla="*/ 1 w 17"/>
                  <a:gd name="T17" fmla="*/ 13 h 31"/>
                  <a:gd name="T18" fmla="*/ 2 w 17"/>
                  <a:gd name="T19" fmla="*/ 20 h 31"/>
                  <a:gd name="T20" fmla="*/ 2 w 17"/>
                  <a:gd name="T21" fmla="*/ 2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1">
                    <a:moveTo>
                      <a:pt x="2" y="24"/>
                    </a:moveTo>
                    <a:cubicBezTo>
                      <a:pt x="3" y="28"/>
                      <a:pt x="6" y="31"/>
                      <a:pt x="9" y="31"/>
                    </a:cubicBezTo>
                    <a:cubicBezTo>
                      <a:pt x="14" y="31"/>
                      <a:pt x="17" y="27"/>
                      <a:pt x="16" y="23"/>
                    </a:cubicBezTo>
                    <a:cubicBezTo>
                      <a:pt x="16" y="18"/>
                      <a:pt x="16" y="18"/>
                      <a:pt x="16" y="18"/>
                    </a:cubicBezTo>
                    <a:cubicBezTo>
                      <a:pt x="15" y="12"/>
                      <a:pt x="15" y="12"/>
                      <a:pt x="15" y="12"/>
                    </a:cubicBezTo>
                    <a:cubicBezTo>
                      <a:pt x="15" y="8"/>
                      <a:pt x="15" y="8"/>
                      <a:pt x="15" y="8"/>
                    </a:cubicBezTo>
                    <a:cubicBezTo>
                      <a:pt x="15" y="6"/>
                      <a:pt x="14" y="4"/>
                      <a:pt x="12" y="3"/>
                    </a:cubicBezTo>
                    <a:cubicBezTo>
                      <a:pt x="7" y="0"/>
                      <a:pt x="0" y="4"/>
                      <a:pt x="1" y="10"/>
                    </a:cubicBezTo>
                    <a:cubicBezTo>
                      <a:pt x="1" y="13"/>
                      <a:pt x="1" y="13"/>
                      <a:pt x="1" y="13"/>
                    </a:cubicBezTo>
                    <a:cubicBezTo>
                      <a:pt x="2" y="20"/>
                      <a:pt x="2" y="20"/>
                      <a:pt x="2" y="20"/>
                    </a:cubicBezTo>
                    <a:lnTo>
                      <a:pt x="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3" name="Freeform 22">
                <a:extLst>
                  <a:ext uri="{FF2B5EF4-FFF2-40B4-BE49-F238E27FC236}">
                    <a16:creationId xmlns:a16="http://schemas.microsoft.com/office/drawing/2014/main" id="{2B384ABC-55E5-04CF-2787-EEE516CC8D46}"/>
                  </a:ext>
                </a:extLst>
              </p:cNvPr>
              <p:cNvSpPr>
                <a:spLocks/>
              </p:cNvSpPr>
              <p:nvPr/>
            </p:nvSpPr>
            <p:spPr bwMode="auto">
              <a:xfrm>
                <a:off x="3419191" y="4718741"/>
                <a:ext cx="40427" cy="61704"/>
              </a:xfrm>
              <a:custGeom>
                <a:avLst/>
                <a:gdLst>
                  <a:gd name="T0" fmla="*/ 7 w 27"/>
                  <a:gd name="T1" fmla="*/ 28 h 41"/>
                  <a:gd name="T2" fmla="*/ 1 w 27"/>
                  <a:gd name="T3" fmla="*/ 29 h 41"/>
                  <a:gd name="T4" fmla="*/ 14 w 27"/>
                  <a:gd name="T5" fmla="*/ 41 h 41"/>
                  <a:gd name="T6" fmla="*/ 14 w 27"/>
                  <a:gd name="T7" fmla="*/ 41 h 41"/>
                  <a:gd name="T8" fmla="*/ 15 w 27"/>
                  <a:gd name="T9" fmla="*/ 41 h 41"/>
                  <a:gd name="T10" fmla="*/ 24 w 27"/>
                  <a:gd name="T11" fmla="*/ 37 h 41"/>
                  <a:gd name="T12" fmla="*/ 27 w 27"/>
                  <a:gd name="T13" fmla="*/ 27 h 41"/>
                  <a:gd name="T14" fmla="*/ 27 w 27"/>
                  <a:gd name="T15" fmla="*/ 26 h 41"/>
                  <a:gd name="T16" fmla="*/ 27 w 27"/>
                  <a:gd name="T17" fmla="*/ 26 h 41"/>
                  <a:gd name="T18" fmla="*/ 27 w 27"/>
                  <a:gd name="T19" fmla="*/ 21 h 41"/>
                  <a:gd name="T20" fmla="*/ 27 w 27"/>
                  <a:gd name="T21" fmla="*/ 21 h 41"/>
                  <a:gd name="T22" fmla="*/ 26 w 27"/>
                  <a:gd name="T23" fmla="*/ 15 h 41"/>
                  <a:gd name="T24" fmla="*/ 26 w 27"/>
                  <a:gd name="T25" fmla="*/ 15 h 41"/>
                  <a:gd name="T26" fmla="*/ 26 w 27"/>
                  <a:gd name="T27" fmla="*/ 12 h 41"/>
                  <a:gd name="T28" fmla="*/ 20 w 27"/>
                  <a:gd name="T29" fmla="*/ 12 h 41"/>
                  <a:gd name="T30" fmla="*/ 26 w 27"/>
                  <a:gd name="T31" fmla="*/ 12 h 41"/>
                  <a:gd name="T32" fmla="*/ 20 w 27"/>
                  <a:gd name="T33" fmla="*/ 2 h 41"/>
                  <a:gd name="T34" fmla="*/ 20 w 27"/>
                  <a:gd name="T35" fmla="*/ 2 h 41"/>
                  <a:gd name="T36" fmla="*/ 13 w 27"/>
                  <a:gd name="T37" fmla="*/ 0 h 41"/>
                  <a:gd name="T38" fmla="*/ 4 w 27"/>
                  <a:gd name="T39" fmla="*/ 4 h 41"/>
                  <a:gd name="T40" fmla="*/ 0 w 27"/>
                  <a:gd name="T41" fmla="*/ 13 h 41"/>
                  <a:gd name="T42" fmla="*/ 0 w 27"/>
                  <a:gd name="T43" fmla="*/ 14 h 41"/>
                  <a:gd name="T44" fmla="*/ 0 w 27"/>
                  <a:gd name="T45" fmla="*/ 14 h 41"/>
                  <a:gd name="T46" fmla="*/ 0 w 27"/>
                  <a:gd name="T47" fmla="*/ 18 h 41"/>
                  <a:gd name="T48" fmla="*/ 0 w 27"/>
                  <a:gd name="T49" fmla="*/ 18 h 41"/>
                  <a:gd name="T50" fmla="*/ 1 w 27"/>
                  <a:gd name="T51" fmla="*/ 24 h 41"/>
                  <a:gd name="T52" fmla="*/ 1 w 27"/>
                  <a:gd name="T53" fmla="*/ 29 h 41"/>
                  <a:gd name="T54" fmla="*/ 1 w 27"/>
                  <a:gd name="T55" fmla="*/ 29 h 41"/>
                  <a:gd name="T56" fmla="*/ 7 w 27"/>
                  <a:gd name="T57" fmla="*/ 28 h 41"/>
                  <a:gd name="T58" fmla="*/ 13 w 27"/>
                  <a:gd name="T59" fmla="*/ 28 h 41"/>
                  <a:gd name="T60" fmla="*/ 12 w 27"/>
                  <a:gd name="T61" fmla="*/ 23 h 41"/>
                  <a:gd name="T62" fmla="*/ 12 w 27"/>
                  <a:gd name="T63" fmla="*/ 23 h 41"/>
                  <a:gd name="T64" fmla="*/ 12 w 27"/>
                  <a:gd name="T65" fmla="*/ 17 h 41"/>
                  <a:gd name="T66" fmla="*/ 12 w 27"/>
                  <a:gd name="T67" fmla="*/ 17 h 41"/>
                  <a:gd name="T68" fmla="*/ 11 w 27"/>
                  <a:gd name="T69" fmla="*/ 13 h 41"/>
                  <a:gd name="T70" fmla="*/ 6 w 27"/>
                  <a:gd name="T71" fmla="*/ 14 h 41"/>
                  <a:gd name="T72" fmla="*/ 11 w 27"/>
                  <a:gd name="T73" fmla="*/ 13 h 41"/>
                  <a:gd name="T74" fmla="*/ 11 w 27"/>
                  <a:gd name="T75" fmla="*/ 13 h 41"/>
                  <a:gd name="T76" fmla="*/ 12 w 27"/>
                  <a:gd name="T77" fmla="*/ 12 h 41"/>
                  <a:gd name="T78" fmla="*/ 13 w 27"/>
                  <a:gd name="T79" fmla="*/ 12 h 41"/>
                  <a:gd name="T80" fmla="*/ 14 w 27"/>
                  <a:gd name="T81" fmla="*/ 12 h 41"/>
                  <a:gd name="T82" fmla="*/ 14 w 27"/>
                  <a:gd name="T83" fmla="*/ 12 h 41"/>
                  <a:gd name="T84" fmla="*/ 14 w 27"/>
                  <a:gd name="T85" fmla="*/ 13 h 41"/>
                  <a:gd name="T86" fmla="*/ 14 w 27"/>
                  <a:gd name="T87" fmla="*/ 13 h 41"/>
                  <a:gd name="T88" fmla="*/ 14 w 27"/>
                  <a:gd name="T89" fmla="*/ 16 h 41"/>
                  <a:gd name="T90" fmla="*/ 14 w 27"/>
                  <a:gd name="T91" fmla="*/ 17 h 41"/>
                  <a:gd name="T92" fmla="*/ 15 w 27"/>
                  <a:gd name="T93" fmla="*/ 23 h 41"/>
                  <a:gd name="T94" fmla="*/ 16 w 27"/>
                  <a:gd name="T95" fmla="*/ 27 h 41"/>
                  <a:gd name="T96" fmla="*/ 16 w 27"/>
                  <a:gd name="T97" fmla="*/ 27 h 41"/>
                  <a:gd name="T98" fmla="*/ 16 w 27"/>
                  <a:gd name="T99" fmla="*/ 27 h 41"/>
                  <a:gd name="T100" fmla="*/ 15 w 27"/>
                  <a:gd name="T101" fmla="*/ 28 h 41"/>
                  <a:gd name="T102" fmla="*/ 14 w 27"/>
                  <a:gd name="T103" fmla="*/ 29 h 41"/>
                  <a:gd name="T104" fmla="*/ 14 w 27"/>
                  <a:gd name="T105" fmla="*/ 29 h 41"/>
                  <a:gd name="T106" fmla="*/ 14 w 27"/>
                  <a:gd name="T107" fmla="*/ 29 h 41"/>
                  <a:gd name="T108" fmla="*/ 13 w 27"/>
                  <a:gd name="T109" fmla="*/ 28 h 41"/>
                  <a:gd name="T110" fmla="*/ 13 w 27"/>
                  <a:gd name="T111" fmla="*/ 28 h 41"/>
                  <a:gd name="T112" fmla="*/ 7 w 27"/>
                  <a:gd name="T113"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 h="41">
                    <a:moveTo>
                      <a:pt x="7" y="28"/>
                    </a:moveTo>
                    <a:cubicBezTo>
                      <a:pt x="1" y="29"/>
                      <a:pt x="1" y="29"/>
                      <a:pt x="1" y="29"/>
                    </a:cubicBezTo>
                    <a:cubicBezTo>
                      <a:pt x="2" y="36"/>
                      <a:pt x="8" y="41"/>
                      <a:pt x="14" y="41"/>
                    </a:cubicBezTo>
                    <a:cubicBezTo>
                      <a:pt x="14" y="41"/>
                      <a:pt x="14" y="41"/>
                      <a:pt x="14" y="41"/>
                    </a:cubicBezTo>
                    <a:cubicBezTo>
                      <a:pt x="15" y="41"/>
                      <a:pt x="15" y="41"/>
                      <a:pt x="15" y="41"/>
                    </a:cubicBezTo>
                    <a:cubicBezTo>
                      <a:pt x="18" y="40"/>
                      <a:pt x="21" y="39"/>
                      <a:pt x="24" y="37"/>
                    </a:cubicBezTo>
                    <a:cubicBezTo>
                      <a:pt x="26" y="34"/>
                      <a:pt x="27" y="31"/>
                      <a:pt x="27" y="27"/>
                    </a:cubicBezTo>
                    <a:cubicBezTo>
                      <a:pt x="27" y="27"/>
                      <a:pt x="27" y="27"/>
                      <a:pt x="27" y="26"/>
                    </a:cubicBezTo>
                    <a:cubicBezTo>
                      <a:pt x="27" y="26"/>
                      <a:pt x="27" y="26"/>
                      <a:pt x="27" y="26"/>
                    </a:cubicBezTo>
                    <a:cubicBezTo>
                      <a:pt x="27" y="21"/>
                      <a:pt x="27" y="21"/>
                      <a:pt x="27" y="21"/>
                    </a:cubicBezTo>
                    <a:cubicBezTo>
                      <a:pt x="27" y="21"/>
                      <a:pt x="27" y="21"/>
                      <a:pt x="27" y="21"/>
                    </a:cubicBezTo>
                    <a:cubicBezTo>
                      <a:pt x="26" y="15"/>
                      <a:pt x="26" y="15"/>
                      <a:pt x="26" y="15"/>
                    </a:cubicBezTo>
                    <a:cubicBezTo>
                      <a:pt x="26" y="15"/>
                      <a:pt x="26" y="15"/>
                      <a:pt x="26" y="15"/>
                    </a:cubicBezTo>
                    <a:cubicBezTo>
                      <a:pt x="26" y="12"/>
                      <a:pt x="26" y="12"/>
                      <a:pt x="26" y="12"/>
                    </a:cubicBezTo>
                    <a:cubicBezTo>
                      <a:pt x="20" y="12"/>
                      <a:pt x="20" y="12"/>
                      <a:pt x="20" y="12"/>
                    </a:cubicBezTo>
                    <a:cubicBezTo>
                      <a:pt x="26" y="12"/>
                      <a:pt x="26" y="12"/>
                      <a:pt x="26" y="12"/>
                    </a:cubicBezTo>
                    <a:cubicBezTo>
                      <a:pt x="25" y="8"/>
                      <a:pt x="23" y="5"/>
                      <a:pt x="20" y="2"/>
                    </a:cubicBezTo>
                    <a:cubicBezTo>
                      <a:pt x="20" y="2"/>
                      <a:pt x="20" y="2"/>
                      <a:pt x="20" y="2"/>
                    </a:cubicBezTo>
                    <a:cubicBezTo>
                      <a:pt x="18" y="1"/>
                      <a:pt x="15" y="0"/>
                      <a:pt x="13" y="0"/>
                    </a:cubicBezTo>
                    <a:cubicBezTo>
                      <a:pt x="9" y="0"/>
                      <a:pt x="6" y="1"/>
                      <a:pt x="4" y="4"/>
                    </a:cubicBezTo>
                    <a:cubicBezTo>
                      <a:pt x="1" y="6"/>
                      <a:pt x="0" y="9"/>
                      <a:pt x="0" y="13"/>
                    </a:cubicBezTo>
                    <a:cubicBezTo>
                      <a:pt x="0" y="14"/>
                      <a:pt x="0" y="14"/>
                      <a:pt x="0" y="14"/>
                    </a:cubicBezTo>
                    <a:cubicBezTo>
                      <a:pt x="0" y="14"/>
                      <a:pt x="0" y="14"/>
                      <a:pt x="0" y="14"/>
                    </a:cubicBezTo>
                    <a:cubicBezTo>
                      <a:pt x="0" y="18"/>
                      <a:pt x="0" y="18"/>
                      <a:pt x="0" y="18"/>
                    </a:cubicBezTo>
                    <a:cubicBezTo>
                      <a:pt x="0" y="18"/>
                      <a:pt x="0" y="18"/>
                      <a:pt x="0" y="18"/>
                    </a:cubicBezTo>
                    <a:cubicBezTo>
                      <a:pt x="1" y="24"/>
                      <a:pt x="1" y="24"/>
                      <a:pt x="1" y="24"/>
                    </a:cubicBezTo>
                    <a:cubicBezTo>
                      <a:pt x="1" y="29"/>
                      <a:pt x="1" y="29"/>
                      <a:pt x="1" y="29"/>
                    </a:cubicBezTo>
                    <a:cubicBezTo>
                      <a:pt x="1" y="29"/>
                      <a:pt x="1" y="29"/>
                      <a:pt x="1" y="29"/>
                    </a:cubicBezTo>
                    <a:cubicBezTo>
                      <a:pt x="7" y="28"/>
                      <a:pt x="7" y="28"/>
                      <a:pt x="7" y="28"/>
                    </a:cubicBezTo>
                    <a:cubicBezTo>
                      <a:pt x="13" y="28"/>
                      <a:pt x="13" y="28"/>
                      <a:pt x="13" y="28"/>
                    </a:cubicBezTo>
                    <a:cubicBezTo>
                      <a:pt x="12" y="23"/>
                      <a:pt x="12" y="23"/>
                      <a:pt x="12" y="23"/>
                    </a:cubicBezTo>
                    <a:cubicBezTo>
                      <a:pt x="12" y="23"/>
                      <a:pt x="12" y="23"/>
                      <a:pt x="12" y="23"/>
                    </a:cubicBezTo>
                    <a:cubicBezTo>
                      <a:pt x="12" y="17"/>
                      <a:pt x="12" y="17"/>
                      <a:pt x="12" y="17"/>
                    </a:cubicBezTo>
                    <a:cubicBezTo>
                      <a:pt x="12" y="17"/>
                      <a:pt x="12" y="17"/>
                      <a:pt x="12" y="17"/>
                    </a:cubicBezTo>
                    <a:cubicBezTo>
                      <a:pt x="11" y="13"/>
                      <a:pt x="11" y="13"/>
                      <a:pt x="11" y="13"/>
                    </a:cubicBezTo>
                    <a:cubicBezTo>
                      <a:pt x="6" y="14"/>
                      <a:pt x="6" y="14"/>
                      <a:pt x="6" y="14"/>
                    </a:cubicBezTo>
                    <a:cubicBezTo>
                      <a:pt x="11" y="13"/>
                      <a:pt x="11" y="13"/>
                      <a:pt x="11" y="13"/>
                    </a:cubicBezTo>
                    <a:cubicBezTo>
                      <a:pt x="11" y="13"/>
                      <a:pt x="11" y="13"/>
                      <a:pt x="11" y="13"/>
                    </a:cubicBezTo>
                    <a:cubicBezTo>
                      <a:pt x="12" y="13"/>
                      <a:pt x="12" y="12"/>
                      <a:pt x="12" y="12"/>
                    </a:cubicBezTo>
                    <a:cubicBezTo>
                      <a:pt x="13" y="12"/>
                      <a:pt x="13" y="12"/>
                      <a:pt x="13" y="12"/>
                    </a:cubicBezTo>
                    <a:cubicBezTo>
                      <a:pt x="13" y="12"/>
                      <a:pt x="13" y="12"/>
                      <a:pt x="14" y="12"/>
                    </a:cubicBezTo>
                    <a:cubicBezTo>
                      <a:pt x="14" y="12"/>
                      <a:pt x="14" y="12"/>
                      <a:pt x="14" y="12"/>
                    </a:cubicBezTo>
                    <a:cubicBezTo>
                      <a:pt x="14" y="13"/>
                      <a:pt x="14" y="13"/>
                      <a:pt x="14" y="13"/>
                    </a:cubicBezTo>
                    <a:cubicBezTo>
                      <a:pt x="14" y="13"/>
                      <a:pt x="14" y="13"/>
                      <a:pt x="14" y="13"/>
                    </a:cubicBezTo>
                    <a:cubicBezTo>
                      <a:pt x="14" y="16"/>
                      <a:pt x="14" y="16"/>
                      <a:pt x="14" y="16"/>
                    </a:cubicBezTo>
                    <a:cubicBezTo>
                      <a:pt x="14" y="17"/>
                      <a:pt x="14" y="17"/>
                      <a:pt x="14" y="17"/>
                    </a:cubicBezTo>
                    <a:cubicBezTo>
                      <a:pt x="15" y="23"/>
                      <a:pt x="15" y="23"/>
                      <a:pt x="15" y="23"/>
                    </a:cubicBezTo>
                    <a:cubicBezTo>
                      <a:pt x="16" y="27"/>
                      <a:pt x="16" y="27"/>
                      <a:pt x="16" y="27"/>
                    </a:cubicBezTo>
                    <a:cubicBezTo>
                      <a:pt x="16" y="27"/>
                      <a:pt x="16" y="27"/>
                      <a:pt x="16" y="27"/>
                    </a:cubicBezTo>
                    <a:cubicBezTo>
                      <a:pt x="16" y="27"/>
                      <a:pt x="16" y="27"/>
                      <a:pt x="16" y="27"/>
                    </a:cubicBezTo>
                    <a:cubicBezTo>
                      <a:pt x="15" y="28"/>
                      <a:pt x="15" y="28"/>
                      <a:pt x="15" y="28"/>
                    </a:cubicBezTo>
                    <a:cubicBezTo>
                      <a:pt x="15" y="29"/>
                      <a:pt x="15" y="29"/>
                      <a:pt x="14" y="29"/>
                    </a:cubicBezTo>
                    <a:cubicBezTo>
                      <a:pt x="14" y="29"/>
                      <a:pt x="14" y="29"/>
                      <a:pt x="14" y="29"/>
                    </a:cubicBezTo>
                    <a:cubicBezTo>
                      <a:pt x="14" y="29"/>
                      <a:pt x="14" y="29"/>
                      <a:pt x="14" y="29"/>
                    </a:cubicBezTo>
                    <a:cubicBezTo>
                      <a:pt x="14" y="29"/>
                      <a:pt x="13" y="28"/>
                      <a:pt x="13" y="28"/>
                    </a:cubicBezTo>
                    <a:cubicBezTo>
                      <a:pt x="13" y="28"/>
                      <a:pt x="13" y="28"/>
                      <a:pt x="13" y="28"/>
                    </a:cubicBezTo>
                    <a:lnTo>
                      <a:pt x="7"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4" name="Freeform 23">
                <a:extLst>
                  <a:ext uri="{FF2B5EF4-FFF2-40B4-BE49-F238E27FC236}">
                    <a16:creationId xmlns:a16="http://schemas.microsoft.com/office/drawing/2014/main" id="{10A2D95D-3498-A4D4-4112-ED9A771A4FCD}"/>
                  </a:ext>
                </a:extLst>
              </p:cNvPr>
              <p:cNvSpPr>
                <a:spLocks/>
              </p:cNvSpPr>
              <p:nvPr/>
            </p:nvSpPr>
            <p:spPr bwMode="auto">
              <a:xfrm>
                <a:off x="3445787" y="4852787"/>
                <a:ext cx="26596" cy="50001"/>
              </a:xfrm>
              <a:custGeom>
                <a:avLst/>
                <a:gdLst>
                  <a:gd name="T0" fmla="*/ 3 w 17"/>
                  <a:gd name="T1" fmla="*/ 25 h 33"/>
                  <a:gd name="T2" fmla="*/ 17 w 17"/>
                  <a:gd name="T3" fmla="*/ 25 h 33"/>
                  <a:gd name="T4" fmla="*/ 17 w 17"/>
                  <a:gd name="T5" fmla="*/ 22 h 33"/>
                  <a:gd name="T6" fmla="*/ 16 w 17"/>
                  <a:gd name="T7" fmla="*/ 18 h 33"/>
                  <a:gd name="T8" fmla="*/ 15 w 17"/>
                  <a:gd name="T9" fmla="*/ 12 h 33"/>
                  <a:gd name="T10" fmla="*/ 14 w 17"/>
                  <a:gd name="T11" fmla="*/ 8 h 33"/>
                  <a:gd name="T12" fmla="*/ 0 w 17"/>
                  <a:gd name="T13" fmla="*/ 8 h 33"/>
                  <a:gd name="T14" fmla="*/ 0 w 17"/>
                  <a:gd name="T15" fmla="*/ 11 h 33"/>
                  <a:gd name="T16" fmla="*/ 1 w 17"/>
                  <a:gd name="T17" fmla="*/ 15 h 33"/>
                  <a:gd name="T18" fmla="*/ 2 w 17"/>
                  <a:gd name="T19" fmla="*/ 21 h 33"/>
                  <a:gd name="T20" fmla="*/ 3 w 17"/>
                  <a:gd name="T21"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3">
                    <a:moveTo>
                      <a:pt x="3" y="25"/>
                    </a:moveTo>
                    <a:cubicBezTo>
                      <a:pt x="4" y="33"/>
                      <a:pt x="15" y="33"/>
                      <a:pt x="17" y="25"/>
                    </a:cubicBezTo>
                    <a:cubicBezTo>
                      <a:pt x="17" y="24"/>
                      <a:pt x="17" y="23"/>
                      <a:pt x="17" y="22"/>
                    </a:cubicBezTo>
                    <a:cubicBezTo>
                      <a:pt x="16" y="18"/>
                      <a:pt x="16" y="18"/>
                      <a:pt x="16" y="18"/>
                    </a:cubicBezTo>
                    <a:cubicBezTo>
                      <a:pt x="15" y="12"/>
                      <a:pt x="15" y="12"/>
                      <a:pt x="15" y="12"/>
                    </a:cubicBezTo>
                    <a:cubicBezTo>
                      <a:pt x="14" y="8"/>
                      <a:pt x="14" y="8"/>
                      <a:pt x="14" y="8"/>
                    </a:cubicBezTo>
                    <a:cubicBezTo>
                      <a:pt x="12" y="1"/>
                      <a:pt x="2" y="0"/>
                      <a:pt x="0" y="8"/>
                    </a:cubicBezTo>
                    <a:cubicBezTo>
                      <a:pt x="0" y="9"/>
                      <a:pt x="0" y="10"/>
                      <a:pt x="0" y="11"/>
                    </a:cubicBezTo>
                    <a:cubicBezTo>
                      <a:pt x="1" y="15"/>
                      <a:pt x="1" y="15"/>
                      <a:pt x="1" y="15"/>
                    </a:cubicBezTo>
                    <a:cubicBezTo>
                      <a:pt x="2" y="21"/>
                      <a:pt x="2" y="21"/>
                      <a:pt x="2" y="21"/>
                    </a:cubicBezTo>
                    <a:lnTo>
                      <a:pt x="3"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5" name="Freeform 24">
                <a:extLst>
                  <a:ext uri="{FF2B5EF4-FFF2-40B4-BE49-F238E27FC236}">
                    <a16:creationId xmlns:a16="http://schemas.microsoft.com/office/drawing/2014/main" id="{673566A7-1D1F-5B2D-E884-B403A89A3E4F}"/>
                  </a:ext>
                </a:extLst>
              </p:cNvPr>
              <p:cNvSpPr>
                <a:spLocks/>
              </p:cNvSpPr>
              <p:nvPr/>
            </p:nvSpPr>
            <p:spPr bwMode="auto">
              <a:xfrm>
                <a:off x="3437276" y="4848531"/>
                <a:ext cx="43618" cy="60640"/>
              </a:xfrm>
              <a:custGeom>
                <a:avLst/>
                <a:gdLst>
                  <a:gd name="T0" fmla="*/ 3 w 29"/>
                  <a:gd name="T1" fmla="*/ 29 h 40"/>
                  <a:gd name="T2" fmla="*/ 16 w 29"/>
                  <a:gd name="T3" fmla="*/ 40 h 40"/>
                  <a:gd name="T4" fmla="*/ 29 w 29"/>
                  <a:gd name="T5" fmla="*/ 29 h 40"/>
                  <a:gd name="T6" fmla="*/ 29 w 29"/>
                  <a:gd name="T7" fmla="*/ 29 h 40"/>
                  <a:gd name="T8" fmla="*/ 28 w 29"/>
                  <a:gd name="T9" fmla="*/ 24 h 40"/>
                  <a:gd name="T10" fmla="*/ 28 w 29"/>
                  <a:gd name="T11" fmla="*/ 20 h 40"/>
                  <a:gd name="T12" fmla="*/ 26 w 29"/>
                  <a:gd name="T13" fmla="*/ 14 h 40"/>
                  <a:gd name="T14" fmla="*/ 26 w 29"/>
                  <a:gd name="T15" fmla="*/ 10 h 40"/>
                  <a:gd name="T16" fmla="*/ 21 w 29"/>
                  <a:gd name="T17" fmla="*/ 2 h 40"/>
                  <a:gd name="T18" fmla="*/ 5 w 29"/>
                  <a:gd name="T19" fmla="*/ 2 h 40"/>
                  <a:gd name="T20" fmla="*/ 0 w 29"/>
                  <a:gd name="T21" fmla="*/ 9 h 40"/>
                  <a:gd name="T22" fmla="*/ 0 w 29"/>
                  <a:gd name="T23" fmla="*/ 13 h 40"/>
                  <a:gd name="T24" fmla="*/ 0 w 29"/>
                  <a:gd name="T25" fmla="*/ 15 h 40"/>
                  <a:gd name="T26" fmla="*/ 1 w 29"/>
                  <a:gd name="T27" fmla="*/ 19 h 40"/>
                  <a:gd name="T28" fmla="*/ 3 w 29"/>
                  <a:gd name="T29" fmla="*/ 29 h 40"/>
                  <a:gd name="T30" fmla="*/ 9 w 29"/>
                  <a:gd name="T31" fmla="*/ 28 h 40"/>
                  <a:gd name="T32" fmla="*/ 13 w 29"/>
                  <a:gd name="T33" fmla="*/ 23 h 40"/>
                  <a:gd name="T34" fmla="*/ 12 w 29"/>
                  <a:gd name="T35" fmla="*/ 17 h 40"/>
                  <a:gd name="T36" fmla="*/ 12 w 29"/>
                  <a:gd name="T37" fmla="*/ 13 h 40"/>
                  <a:gd name="T38" fmla="*/ 12 w 29"/>
                  <a:gd name="T39" fmla="*/ 13 h 40"/>
                  <a:gd name="T40" fmla="*/ 6 w 29"/>
                  <a:gd name="T41" fmla="*/ 11 h 40"/>
                  <a:gd name="T42" fmla="*/ 12 w 29"/>
                  <a:gd name="T43" fmla="*/ 12 h 40"/>
                  <a:gd name="T44" fmla="*/ 14 w 29"/>
                  <a:gd name="T45" fmla="*/ 12 h 40"/>
                  <a:gd name="T46" fmla="*/ 20 w 29"/>
                  <a:gd name="T47" fmla="*/ 11 h 40"/>
                  <a:gd name="T48" fmla="*/ 15 w 29"/>
                  <a:gd name="T49" fmla="*/ 16 h 40"/>
                  <a:gd name="T50" fmla="*/ 16 w 29"/>
                  <a:gd name="T51" fmla="*/ 22 h 40"/>
                  <a:gd name="T52" fmla="*/ 17 w 29"/>
                  <a:gd name="T53" fmla="*/ 27 h 40"/>
                  <a:gd name="T54" fmla="*/ 17 w 29"/>
                  <a:gd name="T55" fmla="*/ 27 h 40"/>
                  <a:gd name="T56" fmla="*/ 17 w 29"/>
                  <a:gd name="T57" fmla="*/ 27 h 40"/>
                  <a:gd name="T58" fmla="*/ 16 w 29"/>
                  <a:gd name="T59" fmla="*/ 28 h 40"/>
                  <a:gd name="T60" fmla="*/ 14 w 29"/>
                  <a:gd name="T61" fmla="*/ 27 h 40"/>
                  <a:gd name="T62" fmla="*/ 9 w 29"/>
                  <a:gd name="T63" fmla="*/ 2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40">
                    <a:moveTo>
                      <a:pt x="9" y="28"/>
                    </a:moveTo>
                    <a:cubicBezTo>
                      <a:pt x="3" y="29"/>
                      <a:pt x="3" y="29"/>
                      <a:pt x="3" y="29"/>
                    </a:cubicBezTo>
                    <a:cubicBezTo>
                      <a:pt x="3" y="33"/>
                      <a:pt x="5" y="35"/>
                      <a:pt x="8" y="37"/>
                    </a:cubicBezTo>
                    <a:cubicBezTo>
                      <a:pt x="10" y="39"/>
                      <a:pt x="13" y="40"/>
                      <a:pt x="16" y="40"/>
                    </a:cubicBezTo>
                    <a:cubicBezTo>
                      <a:pt x="18" y="40"/>
                      <a:pt x="21" y="39"/>
                      <a:pt x="24" y="37"/>
                    </a:cubicBezTo>
                    <a:cubicBezTo>
                      <a:pt x="26" y="35"/>
                      <a:pt x="28" y="32"/>
                      <a:pt x="29" y="29"/>
                    </a:cubicBezTo>
                    <a:cubicBezTo>
                      <a:pt x="29" y="29"/>
                      <a:pt x="29" y="29"/>
                      <a:pt x="29" y="29"/>
                    </a:cubicBezTo>
                    <a:cubicBezTo>
                      <a:pt x="29" y="29"/>
                      <a:pt x="29" y="29"/>
                      <a:pt x="29" y="29"/>
                    </a:cubicBezTo>
                    <a:cubicBezTo>
                      <a:pt x="29" y="28"/>
                      <a:pt x="29" y="27"/>
                      <a:pt x="29" y="27"/>
                    </a:cubicBezTo>
                    <a:cubicBezTo>
                      <a:pt x="29" y="26"/>
                      <a:pt x="29" y="25"/>
                      <a:pt x="28" y="24"/>
                    </a:cubicBezTo>
                    <a:cubicBezTo>
                      <a:pt x="28" y="20"/>
                      <a:pt x="28" y="20"/>
                      <a:pt x="28" y="20"/>
                    </a:cubicBezTo>
                    <a:cubicBezTo>
                      <a:pt x="28" y="20"/>
                      <a:pt x="28" y="20"/>
                      <a:pt x="28" y="20"/>
                    </a:cubicBezTo>
                    <a:cubicBezTo>
                      <a:pt x="26" y="14"/>
                      <a:pt x="26" y="14"/>
                      <a:pt x="26" y="14"/>
                    </a:cubicBezTo>
                    <a:cubicBezTo>
                      <a:pt x="26" y="14"/>
                      <a:pt x="26" y="14"/>
                      <a:pt x="26" y="14"/>
                    </a:cubicBezTo>
                    <a:cubicBezTo>
                      <a:pt x="26" y="10"/>
                      <a:pt x="26" y="10"/>
                      <a:pt x="26" y="10"/>
                    </a:cubicBezTo>
                    <a:cubicBezTo>
                      <a:pt x="26" y="10"/>
                      <a:pt x="26" y="10"/>
                      <a:pt x="26" y="10"/>
                    </a:cubicBezTo>
                    <a:cubicBezTo>
                      <a:pt x="26" y="10"/>
                      <a:pt x="26" y="10"/>
                      <a:pt x="26" y="10"/>
                    </a:cubicBezTo>
                    <a:cubicBezTo>
                      <a:pt x="25" y="7"/>
                      <a:pt x="23" y="4"/>
                      <a:pt x="21" y="2"/>
                    </a:cubicBezTo>
                    <a:cubicBezTo>
                      <a:pt x="18" y="0"/>
                      <a:pt x="16" y="0"/>
                      <a:pt x="13" y="0"/>
                    </a:cubicBezTo>
                    <a:cubicBezTo>
                      <a:pt x="10" y="0"/>
                      <a:pt x="8" y="0"/>
                      <a:pt x="5" y="2"/>
                    </a:cubicBezTo>
                    <a:cubicBezTo>
                      <a:pt x="3" y="4"/>
                      <a:pt x="1" y="6"/>
                      <a:pt x="0" y="9"/>
                    </a:cubicBezTo>
                    <a:cubicBezTo>
                      <a:pt x="0" y="9"/>
                      <a:pt x="0" y="9"/>
                      <a:pt x="0" y="9"/>
                    </a:cubicBezTo>
                    <a:cubicBezTo>
                      <a:pt x="0" y="9"/>
                      <a:pt x="0" y="9"/>
                      <a:pt x="0" y="9"/>
                    </a:cubicBezTo>
                    <a:cubicBezTo>
                      <a:pt x="0" y="10"/>
                      <a:pt x="0" y="11"/>
                      <a:pt x="0" y="13"/>
                    </a:cubicBezTo>
                    <a:cubicBezTo>
                      <a:pt x="0" y="13"/>
                      <a:pt x="0" y="14"/>
                      <a:pt x="0" y="15"/>
                    </a:cubicBezTo>
                    <a:cubicBezTo>
                      <a:pt x="0" y="15"/>
                      <a:pt x="0" y="15"/>
                      <a:pt x="0" y="15"/>
                    </a:cubicBezTo>
                    <a:cubicBezTo>
                      <a:pt x="1" y="19"/>
                      <a:pt x="1" y="19"/>
                      <a:pt x="1" y="19"/>
                    </a:cubicBezTo>
                    <a:cubicBezTo>
                      <a:pt x="1" y="19"/>
                      <a:pt x="1" y="19"/>
                      <a:pt x="1" y="19"/>
                    </a:cubicBezTo>
                    <a:cubicBezTo>
                      <a:pt x="2" y="25"/>
                      <a:pt x="2" y="25"/>
                      <a:pt x="2" y="25"/>
                    </a:cubicBezTo>
                    <a:cubicBezTo>
                      <a:pt x="3" y="29"/>
                      <a:pt x="3" y="29"/>
                      <a:pt x="3" y="29"/>
                    </a:cubicBezTo>
                    <a:cubicBezTo>
                      <a:pt x="3" y="29"/>
                      <a:pt x="3" y="29"/>
                      <a:pt x="3" y="29"/>
                    </a:cubicBezTo>
                    <a:cubicBezTo>
                      <a:pt x="9" y="28"/>
                      <a:pt x="9" y="28"/>
                      <a:pt x="9" y="28"/>
                    </a:cubicBezTo>
                    <a:cubicBezTo>
                      <a:pt x="14" y="27"/>
                      <a:pt x="14" y="27"/>
                      <a:pt x="14" y="27"/>
                    </a:cubicBezTo>
                    <a:cubicBezTo>
                      <a:pt x="13" y="23"/>
                      <a:pt x="13" y="23"/>
                      <a:pt x="13" y="23"/>
                    </a:cubicBezTo>
                    <a:cubicBezTo>
                      <a:pt x="13" y="23"/>
                      <a:pt x="13" y="23"/>
                      <a:pt x="13" y="23"/>
                    </a:cubicBezTo>
                    <a:cubicBezTo>
                      <a:pt x="12" y="17"/>
                      <a:pt x="12" y="17"/>
                      <a:pt x="12" y="17"/>
                    </a:cubicBezTo>
                    <a:cubicBezTo>
                      <a:pt x="12" y="17"/>
                      <a:pt x="12" y="17"/>
                      <a:pt x="12" y="17"/>
                    </a:cubicBezTo>
                    <a:cubicBezTo>
                      <a:pt x="12" y="13"/>
                      <a:pt x="12" y="13"/>
                      <a:pt x="12" y="13"/>
                    </a:cubicBezTo>
                    <a:cubicBezTo>
                      <a:pt x="12" y="13"/>
                      <a:pt x="12" y="13"/>
                      <a:pt x="12" y="13"/>
                    </a:cubicBezTo>
                    <a:cubicBezTo>
                      <a:pt x="12" y="13"/>
                      <a:pt x="12" y="13"/>
                      <a:pt x="12" y="13"/>
                    </a:cubicBezTo>
                    <a:cubicBezTo>
                      <a:pt x="12" y="12"/>
                      <a:pt x="12" y="12"/>
                      <a:pt x="12" y="12"/>
                    </a:cubicBezTo>
                    <a:cubicBezTo>
                      <a:pt x="6" y="11"/>
                      <a:pt x="6" y="11"/>
                      <a:pt x="6" y="11"/>
                    </a:cubicBezTo>
                    <a:cubicBezTo>
                      <a:pt x="12" y="12"/>
                      <a:pt x="12" y="12"/>
                      <a:pt x="12" y="12"/>
                    </a:cubicBezTo>
                    <a:cubicBezTo>
                      <a:pt x="12" y="12"/>
                      <a:pt x="12" y="12"/>
                      <a:pt x="12" y="12"/>
                    </a:cubicBezTo>
                    <a:cubicBezTo>
                      <a:pt x="13" y="11"/>
                      <a:pt x="13" y="11"/>
                      <a:pt x="13" y="11"/>
                    </a:cubicBezTo>
                    <a:cubicBezTo>
                      <a:pt x="14" y="12"/>
                      <a:pt x="14" y="12"/>
                      <a:pt x="14" y="12"/>
                    </a:cubicBezTo>
                    <a:cubicBezTo>
                      <a:pt x="14" y="12"/>
                      <a:pt x="14" y="12"/>
                      <a:pt x="14" y="13"/>
                    </a:cubicBezTo>
                    <a:cubicBezTo>
                      <a:pt x="20" y="11"/>
                      <a:pt x="20" y="11"/>
                      <a:pt x="20" y="11"/>
                    </a:cubicBezTo>
                    <a:cubicBezTo>
                      <a:pt x="14" y="12"/>
                      <a:pt x="14" y="12"/>
                      <a:pt x="14" y="12"/>
                    </a:cubicBezTo>
                    <a:cubicBezTo>
                      <a:pt x="15" y="16"/>
                      <a:pt x="15" y="16"/>
                      <a:pt x="15" y="16"/>
                    </a:cubicBezTo>
                    <a:cubicBezTo>
                      <a:pt x="15" y="16"/>
                      <a:pt x="15" y="16"/>
                      <a:pt x="15" y="16"/>
                    </a:cubicBezTo>
                    <a:cubicBezTo>
                      <a:pt x="16" y="22"/>
                      <a:pt x="16" y="22"/>
                      <a:pt x="16" y="22"/>
                    </a:cubicBezTo>
                    <a:cubicBezTo>
                      <a:pt x="17" y="27"/>
                      <a:pt x="17" y="27"/>
                      <a:pt x="17" y="27"/>
                    </a:cubicBezTo>
                    <a:cubicBezTo>
                      <a:pt x="17" y="27"/>
                      <a:pt x="17" y="27"/>
                      <a:pt x="17" y="27"/>
                    </a:cubicBezTo>
                    <a:cubicBezTo>
                      <a:pt x="17" y="27"/>
                      <a:pt x="17" y="27"/>
                      <a:pt x="17" y="27"/>
                    </a:cubicBezTo>
                    <a:cubicBezTo>
                      <a:pt x="17" y="27"/>
                      <a:pt x="17" y="27"/>
                      <a:pt x="17" y="27"/>
                    </a:cubicBezTo>
                    <a:cubicBezTo>
                      <a:pt x="23" y="28"/>
                      <a:pt x="23" y="28"/>
                      <a:pt x="23" y="28"/>
                    </a:cubicBezTo>
                    <a:cubicBezTo>
                      <a:pt x="17" y="27"/>
                      <a:pt x="17" y="27"/>
                      <a:pt x="17" y="27"/>
                    </a:cubicBezTo>
                    <a:cubicBezTo>
                      <a:pt x="17" y="28"/>
                      <a:pt x="17" y="28"/>
                      <a:pt x="17" y="28"/>
                    </a:cubicBezTo>
                    <a:cubicBezTo>
                      <a:pt x="16" y="28"/>
                      <a:pt x="16" y="28"/>
                      <a:pt x="16" y="28"/>
                    </a:cubicBezTo>
                    <a:cubicBezTo>
                      <a:pt x="15" y="28"/>
                      <a:pt x="15" y="28"/>
                      <a:pt x="15" y="28"/>
                    </a:cubicBezTo>
                    <a:cubicBezTo>
                      <a:pt x="15" y="28"/>
                      <a:pt x="14" y="28"/>
                      <a:pt x="14" y="27"/>
                    </a:cubicBezTo>
                    <a:cubicBezTo>
                      <a:pt x="14" y="27"/>
                      <a:pt x="14" y="27"/>
                      <a:pt x="14" y="27"/>
                    </a:cubicBezTo>
                    <a:lnTo>
                      <a:pt x="9"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6" name="Freeform 25">
                <a:extLst>
                  <a:ext uri="{FF2B5EF4-FFF2-40B4-BE49-F238E27FC236}">
                    <a16:creationId xmlns:a16="http://schemas.microsoft.com/office/drawing/2014/main" id="{5BF98810-8454-C0CB-F7C2-1C26EF8A7896}"/>
                  </a:ext>
                </a:extLst>
              </p:cNvPr>
              <p:cNvSpPr>
                <a:spLocks/>
              </p:cNvSpPr>
              <p:nvPr/>
            </p:nvSpPr>
            <p:spPr bwMode="auto">
              <a:xfrm>
                <a:off x="3475575" y="4980449"/>
                <a:ext cx="29788" cy="47874"/>
              </a:xfrm>
              <a:custGeom>
                <a:avLst/>
                <a:gdLst>
                  <a:gd name="T0" fmla="*/ 5 w 20"/>
                  <a:gd name="T1" fmla="*/ 26 h 32"/>
                  <a:gd name="T2" fmla="*/ 15 w 20"/>
                  <a:gd name="T3" fmla="*/ 30 h 32"/>
                  <a:gd name="T4" fmla="*/ 19 w 20"/>
                  <a:gd name="T5" fmla="*/ 21 h 32"/>
                  <a:gd name="T6" fmla="*/ 18 w 20"/>
                  <a:gd name="T7" fmla="*/ 18 h 32"/>
                  <a:gd name="T8" fmla="*/ 16 w 20"/>
                  <a:gd name="T9" fmla="*/ 12 h 32"/>
                  <a:gd name="T10" fmla="*/ 15 w 20"/>
                  <a:gd name="T11" fmla="*/ 8 h 32"/>
                  <a:gd name="T12" fmla="*/ 1 w 20"/>
                  <a:gd name="T13" fmla="*/ 9 h 32"/>
                  <a:gd name="T14" fmla="*/ 1 w 20"/>
                  <a:gd name="T15" fmla="*/ 12 h 32"/>
                  <a:gd name="T16" fmla="*/ 2 w 20"/>
                  <a:gd name="T17" fmla="*/ 16 h 32"/>
                  <a:gd name="T18" fmla="*/ 4 w 20"/>
                  <a:gd name="T19" fmla="*/ 22 h 32"/>
                  <a:gd name="T20" fmla="*/ 5 w 20"/>
                  <a:gd name="T21"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32">
                    <a:moveTo>
                      <a:pt x="5" y="26"/>
                    </a:moveTo>
                    <a:cubicBezTo>
                      <a:pt x="6" y="30"/>
                      <a:pt x="11" y="32"/>
                      <a:pt x="15" y="30"/>
                    </a:cubicBezTo>
                    <a:cubicBezTo>
                      <a:pt x="18" y="28"/>
                      <a:pt x="20" y="25"/>
                      <a:pt x="19" y="21"/>
                    </a:cubicBezTo>
                    <a:cubicBezTo>
                      <a:pt x="18" y="18"/>
                      <a:pt x="18" y="18"/>
                      <a:pt x="18" y="18"/>
                    </a:cubicBezTo>
                    <a:cubicBezTo>
                      <a:pt x="16" y="12"/>
                      <a:pt x="16" y="12"/>
                      <a:pt x="16" y="12"/>
                    </a:cubicBezTo>
                    <a:cubicBezTo>
                      <a:pt x="15" y="8"/>
                      <a:pt x="15" y="8"/>
                      <a:pt x="15" y="8"/>
                    </a:cubicBezTo>
                    <a:cubicBezTo>
                      <a:pt x="13" y="0"/>
                      <a:pt x="2" y="1"/>
                      <a:pt x="1" y="9"/>
                    </a:cubicBezTo>
                    <a:cubicBezTo>
                      <a:pt x="0" y="10"/>
                      <a:pt x="1" y="11"/>
                      <a:pt x="1" y="12"/>
                    </a:cubicBezTo>
                    <a:cubicBezTo>
                      <a:pt x="2" y="16"/>
                      <a:pt x="2" y="16"/>
                      <a:pt x="2" y="16"/>
                    </a:cubicBezTo>
                    <a:cubicBezTo>
                      <a:pt x="4" y="22"/>
                      <a:pt x="4" y="22"/>
                      <a:pt x="4" y="22"/>
                    </a:cubicBezTo>
                    <a:lnTo>
                      <a:pt x="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7" name="Freeform 26">
                <a:extLst>
                  <a:ext uri="{FF2B5EF4-FFF2-40B4-BE49-F238E27FC236}">
                    <a16:creationId xmlns:a16="http://schemas.microsoft.com/office/drawing/2014/main" id="{A85CFA40-3F16-E431-CD88-504EC78A6101}"/>
                  </a:ext>
                </a:extLst>
              </p:cNvPr>
              <p:cNvSpPr>
                <a:spLocks/>
              </p:cNvSpPr>
              <p:nvPr/>
            </p:nvSpPr>
            <p:spPr bwMode="auto">
              <a:xfrm>
                <a:off x="3467064" y="4976194"/>
                <a:ext cx="45746" cy="60640"/>
              </a:xfrm>
              <a:custGeom>
                <a:avLst/>
                <a:gdLst>
                  <a:gd name="T0" fmla="*/ 10 w 30"/>
                  <a:gd name="T1" fmla="*/ 29 h 40"/>
                  <a:gd name="T2" fmla="*/ 4 w 30"/>
                  <a:gd name="T3" fmla="*/ 30 h 40"/>
                  <a:gd name="T4" fmla="*/ 17 w 30"/>
                  <a:gd name="T5" fmla="*/ 40 h 40"/>
                  <a:gd name="T6" fmla="*/ 23 w 30"/>
                  <a:gd name="T7" fmla="*/ 38 h 40"/>
                  <a:gd name="T8" fmla="*/ 23 w 30"/>
                  <a:gd name="T9" fmla="*/ 38 h 40"/>
                  <a:gd name="T10" fmla="*/ 30 w 30"/>
                  <a:gd name="T11" fmla="*/ 27 h 40"/>
                  <a:gd name="T12" fmla="*/ 29 w 30"/>
                  <a:gd name="T13" fmla="*/ 23 h 40"/>
                  <a:gd name="T14" fmla="*/ 29 w 30"/>
                  <a:gd name="T15" fmla="*/ 23 h 40"/>
                  <a:gd name="T16" fmla="*/ 28 w 30"/>
                  <a:gd name="T17" fmla="*/ 19 h 40"/>
                  <a:gd name="T18" fmla="*/ 28 w 30"/>
                  <a:gd name="T19" fmla="*/ 19 h 40"/>
                  <a:gd name="T20" fmla="*/ 26 w 30"/>
                  <a:gd name="T21" fmla="*/ 13 h 40"/>
                  <a:gd name="T22" fmla="*/ 26 w 30"/>
                  <a:gd name="T23" fmla="*/ 13 h 40"/>
                  <a:gd name="T24" fmla="*/ 25 w 30"/>
                  <a:gd name="T25" fmla="*/ 9 h 40"/>
                  <a:gd name="T26" fmla="*/ 20 w 30"/>
                  <a:gd name="T27" fmla="*/ 11 h 40"/>
                  <a:gd name="T28" fmla="*/ 25 w 30"/>
                  <a:gd name="T29" fmla="*/ 9 h 40"/>
                  <a:gd name="T30" fmla="*/ 20 w 30"/>
                  <a:gd name="T31" fmla="*/ 2 h 40"/>
                  <a:gd name="T32" fmla="*/ 13 w 30"/>
                  <a:gd name="T33" fmla="*/ 0 h 40"/>
                  <a:gd name="T34" fmla="*/ 4 w 30"/>
                  <a:gd name="T35" fmla="*/ 3 h 40"/>
                  <a:gd name="T36" fmla="*/ 0 w 30"/>
                  <a:gd name="T37" fmla="*/ 11 h 40"/>
                  <a:gd name="T38" fmla="*/ 0 w 30"/>
                  <a:gd name="T39" fmla="*/ 11 h 40"/>
                  <a:gd name="T40" fmla="*/ 0 w 30"/>
                  <a:gd name="T41" fmla="*/ 11 h 40"/>
                  <a:gd name="T42" fmla="*/ 0 w 30"/>
                  <a:gd name="T43" fmla="*/ 13 h 40"/>
                  <a:gd name="T44" fmla="*/ 0 w 30"/>
                  <a:gd name="T45" fmla="*/ 16 h 40"/>
                  <a:gd name="T46" fmla="*/ 0 w 30"/>
                  <a:gd name="T47" fmla="*/ 16 h 40"/>
                  <a:gd name="T48" fmla="*/ 1 w 30"/>
                  <a:gd name="T49" fmla="*/ 21 h 40"/>
                  <a:gd name="T50" fmla="*/ 3 w 30"/>
                  <a:gd name="T51" fmla="*/ 27 h 40"/>
                  <a:gd name="T52" fmla="*/ 4 w 30"/>
                  <a:gd name="T53" fmla="*/ 30 h 40"/>
                  <a:gd name="T54" fmla="*/ 4 w 30"/>
                  <a:gd name="T55" fmla="*/ 30 h 40"/>
                  <a:gd name="T56" fmla="*/ 4 w 30"/>
                  <a:gd name="T57" fmla="*/ 30 h 40"/>
                  <a:gd name="T58" fmla="*/ 10 w 30"/>
                  <a:gd name="T59" fmla="*/ 29 h 40"/>
                  <a:gd name="T60" fmla="*/ 16 w 30"/>
                  <a:gd name="T61" fmla="*/ 27 h 40"/>
                  <a:gd name="T62" fmla="*/ 14 w 30"/>
                  <a:gd name="T63" fmla="*/ 23 h 40"/>
                  <a:gd name="T64" fmla="*/ 14 w 30"/>
                  <a:gd name="T65" fmla="*/ 23 h 40"/>
                  <a:gd name="T66" fmla="*/ 13 w 30"/>
                  <a:gd name="T67" fmla="*/ 17 h 40"/>
                  <a:gd name="T68" fmla="*/ 13 w 30"/>
                  <a:gd name="T69" fmla="*/ 17 h 40"/>
                  <a:gd name="T70" fmla="*/ 11 w 30"/>
                  <a:gd name="T71" fmla="*/ 13 h 40"/>
                  <a:gd name="T72" fmla="*/ 11 w 30"/>
                  <a:gd name="T73" fmla="*/ 13 h 40"/>
                  <a:gd name="T74" fmla="*/ 11 w 30"/>
                  <a:gd name="T75" fmla="*/ 13 h 40"/>
                  <a:gd name="T76" fmla="*/ 11 w 30"/>
                  <a:gd name="T77" fmla="*/ 13 h 40"/>
                  <a:gd name="T78" fmla="*/ 6 w 30"/>
                  <a:gd name="T79" fmla="*/ 12 h 40"/>
                  <a:gd name="T80" fmla="*/ 11 w 30"/>
                  <a:gd name="T81" fmla="*/ 13 h 40"/>
                  <a:gd name="T82" fmla="*/ 12 w 30"/>
                  <a:gd name="T83" fmla="*/ 12 h 40"/>
                  <a:gd name="T84" fmla="*/ 13 w 30"/>
                  <a:gd name="T85" fmla="*/ 11 h 40"/>
                  <a:gd name="T86" fmla="*/ 14 w 30"/>
                  <a:gd name="T87" fmla="*/ 12 h 40"/>
                  <a:gd name="T88" fmla="*/ 14 w 30"/>
                  <a:gd name="T89" fmla="*/ 12 h 40"/>
                  <a:gd name="T90" fmla="*/ 14 w 30"/>
                  <a:gd name="T91" fmla="*/ 12 h 40"/>
                  <a:gd name="T92" fmla="*/ 15 w 30"/>
                  <a:gd name="T93" fmla="*/ 17 h 40"/>
                  <a:gd name="T94" fmla="*/ 17 w 30"/>
                  <a:gd name="T95" fmla="*/ 23 h 40"/>
                  <a:gd name="T96" fmla="*/ 18 w 30"/>
                  <a:gd name="T97" fmla="*/ 26 h 40"/>
                  <a:gd name="T98" fmla="*/ 18 w 30"/>
                  <a:gd name="T99" fmla="*/ 26 h 40"/>
                  <a:gd name="T100" fmla="*/ 18 w 30"/>
                  <a:gd name="T101" fmla="*/ 26 h 40"/>
                  <a:gd name="T102" fmla="*/ 18 w 30"/>
                  <a:gd name="T103" fmla="*/ 27 h 40"/>
                  <a:gd name="T104" fmla="*/ 17 w 30"/>
                  <a:gd name="T105" fmla="*/ 28 h 40"/>
                  <a:gd name="T106" fmla="*/ 17 w 30"/>
                  <a:gd name="T107" fmla="*/ 28 h 40"/>
                  <a:gd name="T108" fmla="*/ 17 w 30"/>
                  <a:gd name="T109" fmla="*/ 28 h 40"/>
                  <a:gd name="T110" fmla="*/ 16 w 30"/>
                  <a:gd name="T111" fmla="*/ 27 h 40"/>
                  <a:gd name="T112" fmla="*/ 16 w 30"/>
                  <a:gd name="T113" fmla="*/ 27 h 40"/>
                  <a:gd name="T114" fmla="*/ 10 w 30"/>
                  <a:gd name="T115" fmla="*/ 2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 h="40">
                    <a:moveTo>
                      <a:pt x="10" y="29"/>
                    </a:moveTo>
                    <a:cubicBezTo>
                      <a:pt x="4" y="30"/>
                      <a:pt x="4" y="30"/>
                      <a:pt x="4" y="30"/>
                    </a:cubicBezTo>
                    <a:cubicBezTo>
                      <a:pt x="6" y="36"/>
                      <a:pt x="11" y="40"/>
                      <a:pt x="17" y="40"/>
                    </a:cubicBezTo>
                    <a:cubicBezTo>
                      <a:pt x="19" y="40"/>
                      <a:pt x="21" y="39"/>
                      <a:pt x="23" y="38"/>
                    </a:cubicBezTo>
                    <a:cubicBezTo>
                      <a:pt x="23" y="38"/>
                      <a:pt x="23" y="38"/>
                      <a:pt x="23" y="38"/>
                    </a:cubicBezTo>
                    <a:cubicBezTo>
                      <a:pt x="27" y="36"/>
                      <a:pt x="30" y="31"/>
                      <a:pt x="30" y="27"/>
                    </a:cubicBezTo>
                    <a:cubicBezTo>
                      <a:pt x="30" y="25"/>
                      <a:pt x="30" y="24"/>
                      <a:pt x="29" y="23"/>
                    </a:cubicBezTo>
                    <a:cubicBezTo>
                      <a:pt x="29" y="23"/>
                      <a:pt x="29" y="23"/>
                      <a:pt x="29" y="23"/>
                    </a:cubicBezTo>
                    <a:cubicBezTo>
                      <a:pt x="28" y="19"/>
                      <a:pt x="28" y="19"/>
                      <a:pt x="28" y="19"/>
                    </a:cubicBezTo>
                    <a:cubicBezTo>
                      <a:pt x="28" y="19"/>
                      <a:pt x="28" y="19"/>
                      <a:pt x="28" y="19"/>
                    </a:cubicBezTo>
                    <a:cubicBezTo>
                      <a:pt x="26" y="13"/>
                      <a:pt x="26" y="13"/>
                      <a:pt x="26" y="13"/>
                    </a:cubicBezTo>
                    <a:cubicBezTo>
                      <a:pt x="26" y="13"/>
                      <a:pt x="26" y="13"/>
                      <a:pt x="26" y="13"/>
                    </a:cubicBezTo>
                    <a:cubicBezTo>
                      <a:pt x="25" y="9"/>
                      <a:pt x="25" y="9"/>
                      <a:pt x="25" y="9"/>
                    </a:cubicBezTo>
                    <a:cubicBezTo>
                      <a:pt x="20" y="11"/>
                      <a:pt x="20" y="11"/>
                      <a:pt x="20" y="11"/>
                    </a:cubicBezTo>
                    <a:cubicBezTo>
                      <a:pt x="25" y="9"/>
                      <a:pt x="25" y="9"/>
                      <a:pt x="25" y="9"/>
                    </a:cubicBezTo>
                    <a:cubicBezTo>
                      <a:pt x="24" y="6"/>
                      <a:pt x="23" y="4"/>
                      <a:pt x="20" y="2"/>
                    </a:cubicBezTo>
                    <a:cubicBezTo>
                      <a:pt x="18" y="0"/>
                      <a:pt x="15" y="0"/>
                      <a:pt x="13" y="0"/>
                    </a:cubicBezTo>
                    <a:cubicBezTo>
                      <a:pt x="10" y="0"/>
                      <a:pt x="7" y="1"/>
                      <a:pt x="4" y="3"/>
                    </a:cubicBezTo>
                    <a:cubicBezTo>
                      <a:pt x="2" y="5"/>
                      <a:pt x="0" y="8"/>
                      <a:pt x="0" y="11"/>
                    </a:cubicBezTo>
                    <a:cubicBezTo>
                      <a:pt x="0" y="11"/>
                      <a:pt x="0" y="11"/>
                      <a:pt x="0" y="11"/>
                    </a:cubicBezTo>
                    <a:cubicBezTo>
                      <a:pt x="0" y="11"/>
                      <a:pt x="0" y="11"/>
                      <a:pt x="0" y="11"/>
                    </a:cubicBezTo>
                    <a:cubicBezTo>
                      <a:pt x="0" y="12"/>
                      <a:pt x="0" y="12"/>
                      <a:pt x="0" y="13"/>
                    </a:cubicBezTo>
                    <a:cubicBezTo>
                      <a:pt x="0" y="14"/>
                      <a:pt x="0" y="15"/>
                      <a:pt x="0" y="16"/>
                    </a:cubicBezTo>
                    <a:cubicBezTo>
                      <a:pt x="0" y="16"/>
                      <a:pt x="0" y="16"/>
                      <a:pt x="0" y="16"/>
                    </a:cubicBezTo>
                    <a:cubicBezTo>
                      <a:pt x="1" y="21"/>
                      <a:pt x="1" y="21"/>
                      <a:pt x="1" y="21"/>
                    </a:cubicBezTo>
                    <a:cubicBezTo>
                      <a:pt x="3" y="27"/>
                      <a:pt x="3" y="27"/>
                      <a:pt x="3" y="27"/>
                    </a:cubicBezTo>
                    <a:cubicBezTo>
                      <a:pt x="4" y="30"/>
                      <a:pt x="4" y="30"/>
                      <a:pt x="4" y="30"/>
                    </a:cubicBezTo>
                    <a:cubicBezTo>
                      <a:pt x="4" y="30"/>
                      <a:pt x="4" y="30"/>
                      <a:pt x="4" y="30"/>
                    </a:cubicBezTo>
                    <a:cubicBezTo>
                      <a:pt x="4" y="30"/>
                      <a:pt x="4" y="30"/>
                      <a:pt x="4" y="30"/>
                    </a:cubicBezTo>
                    <a:cubicBezTo>
                      <a:pt x="10" y="29"/>
                      <a:pt x="10" y="29"/>
                      <a:pt x="10" y="29"/>
                    </a:cubicBezTo>
                    <a:cubicBezTo>
                      <a:pt x="16" y="27"/>
                      <a:pt x="16" y="27"/>
                      <a:pt x="16" y="27"/>
                    </a:cubicBezTo>
                    <a:cubicBezTo>
                      <a:pt x="14" y="23"/>
                      <a:pt x="14" y="23"/>
                      <a:pt x="14" y="23"/>
                    </a:cubicBezTo>
                    <a:cubicBezTo>
                      <a:pt x="14" y="23"/>
                      <a:pt x="14" y="23"/>
                      <a:pt x="14" y="23"/>
                    </a:cubicBezTo>
                    <a:cubicBezTo>
                      <a:pt x="13" y="17"/>
                      <a:pt x="13" y="17"/>
                      <a:pt x="13" y="17"/>
                    </a:cubicBezTo>
                    <a:cubicBezTo>
                      <a:pt x="13" y="17"/>
                      <a:pt x="13" y="17"/>
                      <a:pt x="13" y="17"/>
                    </a:cubicBezTo>
                    <a:cubicBezTo>
                      <a:pt x="11" y="13"/>
                      <a:pt x="11" y="13"/>
                      <a:pt x="11" y="13"/>
                    </a:cubicBezTo>
                    <a:cubicBezTo>
                      <a:pt x="11" y="13"/>
                      <a:pt x="11" y="13"/>
                      <a:pt x="11" y="13"/>
                    </a:cubicBezTo>
                    <a:cubicBezTo>
                      <a:pt x="11" y="13"/>
                      <a:pt x="11" y="13"/>
                      <a:pt x="11" y="13"/>
                    </a:cubicBezTo>
                    <a:cubicBezTo>
                      <a:pt x="11" y="13"/>
                      <a:pt x="11" y="13"/>
                      <a:pt x="11" y="13"/>
                    </a:cubicBezTo>
                    <a:cubicBezTo>
                      <a:pt x="6" y="12"/>
                      <a:pt x="6" y="12"/>
                      <a:pt x="6" y="12"/>
                    </a:cubicBezTo>
                    <a:cubicBezTo>
                      <a:pt x="11" y="13"/>
                      <a:pt x="11" y="13"/>
                      <a:pt x="11" y="13"/>
                    </a:cubicBezTo>
                    <a:cubicBezTo>
                      <a:pt x="11" y="12"/>
                      <a:pt x="12" y="12"/>
                      <a:pt x="12" y="12"/>
                    </a:cubicBezTo>
                    <a:cubicBezTo>
                      <a:pt x="12" y="12"/>
                      <a:pt x="12" y="11"/>
                      <a:pt x="13" y="11"/>
                    </a:cubicBezTo>
                    <a:cubicBezTo>
                      <a:pt x="14" y="12"/>
                      <a:pt x="14" y="12"/>
                      <a:pt x="14" y="12"/>
                    </a:cubicBezTo>
                    <a:cubicBezTo>
                      <a:pt x="14" y="12"/>
                      <a:pt x="14" y="12"/>
                      <a:pt x="14" y="12"/>
                    </a:cubicBezTo>
                    <a:cubicBezTo>
                      <a:pt x="14" y="12"/>
                      <a:pt x="14" y="12"/>
                      <a:pt x="14" y="12"/>
                    </a:cubicBezTo>
                    <a:cubicBezTo>
                      <a:pt x="15" y="17"/>
                      <a:pt x="15" y="17"/>
                      <a:pt x="15" y="17"/>
                    </a:cubicBezTo>
                    <a:cubicBezTo>
                      <a:pt x="17" y="23"/>
                      <a:pt x="17" y="23"/>
                      <a:pt x="17" y="23"/>
                    </a:cubicBezTo>
                    <a:cubicBezTo>
                      <a:pt x="18" y="26"/>
                      <a:pt x="18" y="26"/>
                      <a:pt x="18" y="26"/>
                    </a:cubicBezTo>
                    <a:cubicBezTo>
                      <a:pt x="18" y="26"/>
                      <a:pt x="18" y="26"/>
                      <a:pt x="18" y="26"/>
                    </a:cubicBezTo>
                    <a:cubicBezTo>
                      <a:pt x="18" y="26"/>
                      <a:pt x="18" y="26"/>
                      <a:pt x="18" y="26"/>
                    </a:cubicBezTo>
                    <a:cubicBezTo>
                      <a:pt x="18" y="27"/>
                      <a:pt x="18" y="27"/>
                      <a:pt x="18" y="27"/>
                    </a:cubicBezTo>
                    <a:cubicBezTo>
                      <a:pt x="18" y="27"/>
                      <a:pt x="18" y="28"/>
                      <a:pt x="17" y="28"/>
                    </a:cubicBezTo>
                    <a:cubicBezTo>
                      <a:pt x="17" y="28"/>
                      <a:pt x="17" y="28"/>
                      <a:pt x="17" y="28"/>
                    </a:cubicBezTo>
                    <a:cubicBezTo>
                      <a:pt x="17" y="28"/>
                      <a:pt x="17" y="28"/>
                      <a:pt x="17" y="28"/>
                    </a:cubicBezTo>
                    <a:cubicBezTo>
                      <a:pt x="16" y="28"/>
                      <a:pt x="16" y="28"/>
                      <a:pt x="16" y="27"/>
                    </a:cubicBezTo>
                    <a:cubicBezTo>
                      <a:pt x="16" y="27"/>
                      <a:pt x="16" y="27"/>
                      <a:pt x="16" y="27"/>
                    </a:cubicBezTo>
                    <a:lnTo>
                      <a:pt x="10"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8" name="Freeform 27">
                <a:extLst>
                  <a:ext uri="{FF2B5EF4-FFF2-40B4-BE49-F238E27FC236}">
                    <a16:creationId xmlns:a16="http://schemas.microsoft.com/office/drawing/2014/main" id="{5765B014-D71E-194A-3ED0-92AE2BA322FB}"/>
                  </a:ext>
                </a:extLst>
              </p:cNvPr>
              <p:cNvSpPr>
                <a:spLocks/>
              </p:cNvSpPr>
              <p:nvPr/>
            </p:nvSpPr>
            <p:spPr bwMode="auto">
              <a:xfrm>
                <a:off x="3519193" y="5104921"/>
                <a:ext cx="31916" cy="50001"/>
              </a:xfrm>
              <a:custGeom>
                <a:avLst/>
                <a:gdLst>
                  <a:gd name="T0" fmla="*/ 6 w 21"/>
                  <a:gd name="T1" fmla="*/ 26 h 33"/>
                  <a:gd name="T2" fmla="*/ 20 w 21"/>
                  <a:gd name="T3" fmla="*/ 21 h 33"/>
                  <a:gd name="T4" fmla="*/ 19 w 21"/>
                  <a:gd name="T5" fmla="*/ 20 h 33"/>
                  <a:gd name="T6" fmla="*/ 18 w 21"/>
                  <a:gd name="T7" fmla="*/ 17 h 33"/>
                  <a:gd name="T8" fmla="*/ 15 w 21"/>
                  <a:gd name="T9" fmla="*/ 11 h 33"/>
                  <a:gd name="T10" fmla="*/ 14 w 21"/>
                  <a:gd name="T11" fmla="*/ 7 h 33"/>
                  <a:gd name="T12" fmla="*/ 0 w 21"/>
                  <a:gd name="T13" fmla="*/ 9 h 33"/>
                  <a:gd name="T14" fmla="*/ 0 w 21"/>
                  <a:gd name="T15" fmla="*/ 12 h 33"/>
                  <a:gd name="T16" fmla="*/ 2 w 21"/>
                  <a:gd name="T17" fmla="*/ 17 h 33"/>
                  <a:gd name="T18" fmla="*/ 5 w 21"/>
                  <a:gd name="T19" fmla="*/ 23 h 33"/>
                  <a:gd name="T20" fmla="*/ 6 w 21"/>
                  <a:gd name="T21" fmla="*/ 2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3">
                    <a:moveTo>
                      <a:pt x="6" y="26"/>
                    </a:moveTo>
                    <a:cubicBezTo>
                      <a:pt x="9" y="33"/>
                      <a:pt x="21" y="30"/>
                      <a:pt x="20" y="21"/>
                    </a:cubicBezTo>
                    <a:cubicBezTo>
                      <a:pt x="19" y="21"/>
                      <a:pt x="19" y="20"/>
                      <a:pt x="19" y="20"/>
                    </a:cubicBezTo>
                    <a:cubicBezTo>
                      <a:pt x="18" y="17"/>
                      <a:pt x="18" y="17"/>
                      <a:pt x="18" y="17"/>
                    </a:cubicBezTo>
                    <a:cubicBezTo>
                      <a:pt x="15" y="11"/>
                      <a:pt x="15" y="11"/>
                      <a:pt x="15" y="11"/>
                    </a:cubicBezTo>
                    <a:cubicBezTo>
                      <a:pt x="14" y="7"/>
                      <a:pt x="14" y="7"/>
                      <a:pt x="14" y="7"/>
                    </a:cubicBezTo>
                    <a:cubicBezTo>
                      <a:pt x="11" y="0"/>
                      <a:pt x="0" y="1"/>
                      <a:pt x="0" y="9"/>
                    </a:cubicBezTo>
                    <a:cubicBezTo>
                      <a:pt x="0" y="10"/>
                      <a:pt x="0" y="11"/>
                      <a:pt x="0" y="12"/>
                    </a:cubicBezTo>
                    <a:cubicBezTo>
                      <a:pt x="2" y="17"/>
                      <a:pt x="2" y="17"/>
                      <a:pt x="2" y="17"/>
                    </a:cubicBezTo>
                    <a:cubicBezTo>
                      <a:pt x="5" y="23"/>
                      <a:pt x="5" y="23"/>
                      <a:pt x="5" y="23"/>
                    </a:cubicBezTo>
                    <a:lnTo>
                      <a:pt x="6"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99" name="Freeform 28">
                <a:extLst>
                  <a:ext uri="{FF2B5EF4-FFF2-40B4-BE49-F238E27FC236}">
                    <a16:creationId xmlns:a16="http://schemas.microsoft.com/office/drawing/2014/main" id="{56010BBF-66A5-7189-8942-E360E9152BA8}"/>
                  </a:ext>
                </a:extLst>
              </p:cNvPr>
              <p:cNvSpPr>
                <a:spLocks/>
              </p:cNvSpPr>
              <p:nvPr/>
            </p:nvSpPr>
            <p:spPr bwMode="auto">
              <a:xfrm>
                <a:off x="3509619" y="5098537"/>
                <a:ext cx="48937" cy="60640"/>
              </a:xfrm>
              <a:custGeom>
                <a:avLst/>
                <a:gdLst>
                  <a:gd name="T0" fmla="*/ 12 w 32"/>
                  <a:gd name="T1" fmla="*/ 30 h 40"/>
                  <a:gd name="T2" fmla="*/ 6 w 32"/>
                  <a:gd name="T3" fmla="*/ 32 h 40"/>
                  <a:gd name="T4" fmla="*/ 11 w 32"/>
                  <a:gd name="T5" fmla="*/ 38 h 40"/>
                  <a:gd name="T6" fmla="*/ 18 w 32"/>
                  <a:gd name="T7" fmla="*/ 40 h 40"/>
                  <a:gd name="T8" fmla="*/ 27 w 32"/>
                  <a:gd name="T9" fmla="*/ 36 h 40"/>
                  <a:gd name="T10" fmla="*/ 32 w 32"/>
                  <a:gd name="T11" fmla="*/ 27 h 40"/>
                  <a:gd name="T12" fmla="*/ 31 w 32"/>
                  <a:gd name="T13" fmla="*/ 24 h 40"/>
                  <a:gd name="T14" fmla="*/ 31 w 32"/>
                  <a:gd name="T15" fmla="*/ 24 h 40"/>
                  <a:gd name="T16" fmla="*/ 31 w 32"/>
                  <a:gd name="T17" fmla="*/ 24 h 40"/>
                  <a:gd name="T18" fmla="*/ 31 w 32"/>
                  <a:gd name="T19" fmla="*/ 22 h 40"/>
                  <a:gd name="T20" fmla="*/ 31 w 32"/>
                  <a:gd name="T21" fmla="*/ 22 h 40"/>
                  <a:gd name="T22" fmla="*/ 29 w 32"/>
                  <a:gd name="T23" fmla="*/ 19 h 40"/>
                  <a:gd name="T24" fmla="*/ 27 w 32"/>
                  <a:gd name="T25" fmla="*/ 13 h 40"/>
                  <a:gd name="T26" fmla="*/ 27 w 32"/>
                  <a:gd name="T27" fmla="*/ 13 h 40"/>
                  <a:gd name="T28" fmla="*/ 25 w 32"/>
                  <a:gd name="T29" fmla="*/ 8 h 40"/>
                  <a:gd name="T30" fmla="*/ 20 w 32"/>
                  <a:gd name="T31" fmla="*/ 11 h 40"/>
                  <a:gd name="T32" fmla="*/ 25 w 32"/>
                  <a:gd name="T33" fmla="*/ 9 h 40"/>
                  <a:gd name="T34" fmla="*/ 20 w 32"/>
                  <a:gd name="T35" fmla="*/ 2 h 40"/>
                  <a:gd name="T36" fmla="*/ 13 w 32"/>
                  <a:gd name="T37" fmla="*/ 0 h 40"/>
                  <a:gd name="T38" fmla="*/ 4 w 32"/>
                  <a:gd name="T39" fmla="*/ 4 h 40"/>
                  <a:gd name="T40" fmla="*/ 0 w 32"/>
                  <a:gd name="T41" fmla="*/ 13 h 40"/>
                  <a:gd name="T42" fmla="*/ 0 w 32"/>
                  <a:gd name="T43" fmla="*/ 13 h 40"/>
                  <a:gd name="T44" fmla="*/ 0 w 32"/>
                  <a:gd name="T45" fmla="*/ 13 h 40"/>
                  <a:gd name="T46" fmla="*/ 0 w 32"/>
                  <a:gd name="T47" fmla="*/ 13 h 40"/>
                  <a:gd name="T48" fmla="*/ 1 w 32"/>
                  <a:gd name="T49" fmla="*/ 18 h 40"/>
                  <a:gd name="T50" fmla="*/ 1 w 32"/>
                  <a:gd name="T51" fmla="*/ 18 h 40"/>
                  <a:gd name="T52" fmla="*/ 3 w 32"/>
                  <a:gd name="T53" fmla="*/ 23 h 40"/>
                  <a:gd name="T54" fmla="*/ 5 w 32"/>
                  <a:gd name="T55" fmla="*/ 29 h 40"/>
                  <a:gd name="T56" fmla="*/ 6 w 32"/>
                  <a:gd name="T57" fmla="*/ 32 h 40"/>
                  <a:gd name="T58" fmla="*/ 6 w 32"/>
                  <a:gd name="T59" fmla="*/ 32 h 40"/>
                  <a:gd name="T60" fmla="*/ 12 w 32"/>
                  <a:gd name="T61" fmla="*/ 30 h 40"/>
                  <a:gd name="T62" fmla="*/ 17 w 32"/>
                  <a:gd name="T63" fmla="*/ 27 h 40"/>
                  <a:gd name="T64" fmla="*/ 16 w 32"/>
                  <a:gd name="T65" fmla="*/ 24 h 40"/>
                  <a:gd name="T66" fmla="*/ 16 w 32"/>
                  <a:gd name="T67" fmla="*/ 24 h 40"/>
                  <a:gd name="T68" fmla="*/ 14 w 32"/>
                  <a:gd name="T69" fmla="*/ 19 h 40"/>
                  <a:gd name="T70" fmla="*/ 14 w 32"/>
                  <a:gd name="T71" fmla="*/ 19 h 40"/>
                  <a:gd name="T72" fmla="*/ 12 w 32"/>
                  <a:gd name="T73" fmla="*/ 14 h 40"/>
                  <a:gd name="T74" fmla="*/ 12 w 32"/>
                  <a:gd name="T75" fmla="*/ 14 h 40"/>
                  <a:gd name="T76" fmla="*/ 12 w 32"/>
                  <a:gd name="T77" fmla="*/ 13 h 40"/>
                  <a:gd name="T78" fmla="*/ 12 w 32"/>
                  <a:gd name="T79" fmla="*/ 13 h 40"/>
                  <a:gd name="T80" fmla="*/ 6 w 32"/>
                  <a:gd name="T81" fmla="*/ 13 h 40"/>
                  <a:gd name="T82" fmla="*/ 12 w 32"/>
                  <a:gd name="T83" fmla="*/ 13 h 40"/>
                  <a:gd name="T84" fmla="*/ 12 w 32"/>
                  <a:gd name="T85" fmla="*/ 12 h 40"/>
                  <a:gd name="T86" fmla="*/ 13 w 32"/>
                  <a:gd name="T87" fmla="*/ 12 h 40"/>
                  <a:gd name="T88" fmla="*/ 14 w 32"/>
                  <a:gd name="T89" fmla="*/ 12 h 40"/>
                  <a:gd name="T90" fmla="*/ 14 w 32"/>
                  <a:gd name="T91" fmla="*/ 13 h 40"/>
                  <a:gd name="T92" fmla="*/ 14 w 32"/>
                  <a:gd name="T93" fmla="*/ 13 h 40"/>
                  <a:gd name="T94" fmla="*/ 16 w 32"/>
                  <a:gd name="T95" fmla="*/ 18 h 40"/>
                  <a:gd name="T96" fmla="*/ 18 w 32"/>
                  <a:gd name="T97" fmla="*/ 23 h 40"/>
                  <a:gd name="T98" fmla="*/ 20 w 32"/>
                  <a:gd name="T99" fmla="*/ 26 h 40"/>
                  <a:gd name="T100" fmla="*/ 25 w 32"/>
                  <a:gd name="T101" fmla="*/ 24 h 40"/>
                  <a:gd name="T102" fmla="*/ 20 w 32"/>
                  <a:gd name="T103" fmla="*/ 26 h 40"/>
                  <a:gd name="T104" fmla="*/ 20 w 32"/>
                  <a:gd name="T105" fmla="*/ 26 h 40"/>
                  <a:gd name="T106" fmla="*/ 26 w 32"/>
                  <a:gd name="T107" fmla="*/ 25 h 40"/>
                  <a:gd name="T108" fmla="*/ 20 w 32"/>
                  <a:gd name="T109" fmla="*/ 26 h 40"/>
                  <a:gd name="T110" fmla="*/ 20 w 32"/>
                  <a:gd name="T111" fmla="*/ 27 h 40"/>
                  <a:gd name="T112" fmla="*/ 19 w 32"/>
                  <a:gd name="T113" fmla="*/ 28 h 40"/>
                  <a:gd name="T114" fmla="*/ 18 w 32"/>
                  <a:gd name="T115" fmla="*/ 28 h 40"/>
                  <a:gd name="T116" fmla="*/ 18 w 32"/>
                  <a:gd name="T117" fmla="*/ 28 h 40"/>
                  <a:gd name="T118" fmla="*/ 17 w 32"/>
                  <a:gd name="T119" fmla="*/ 27 h 40"/>
                  <a:gd name="T120" fmla="*/ 17 w 32"/>
                  <a:gd name="T121" fmla="*/ 27 h 40"/>
                  <a:gd name="T122" fmla="*/ 12 w 32"/>
                  <a:gd name="T123"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 h="40">
                    <a:moveTo>
                      <a:pt x="12" y="30"/>
                    </a:moveTo>
                    <a:cubicBezTo>
                      <a:pt x="6" y="32"/>
                      <a:pt x="6" y="32"/>
                      <a:pt x="6" y="32"/>
                    </a:cubicBezTo>
                    <a:cubicBezTo>
                      <a:pt x="8" y="34"/>
                      <a:pt x="9" y="36"/>
                      <a:pt x="11" y="38"/>
                    </a:cubicBezTo>
                    <a:cubicBezTo>
                      <a:pt x="14" y="39"/>
                      <a:pt x="16" y="40"/>
                      <a:pt x="18" y="40"/>
                    </a:cubicBezTo>
                    <a:cubicBezTo>
                      <a:pt x="22" y="40"/>
                      <a:pt x="25" y="39"/>
                      <a:pt x="27" y="36"/>
                    </a:cubicBezTo>
                    <a:cubicBezTo>
                      <a:pt x="30" y="34"/>
                      <a:pt x="32" y="31"/>
                      <a:pt x="32" y="27"/>
                    </a:cubicBezTo>
                    <a:cubicBezTo>
                      <a:pt x="32" y="26"/>
                      <a:pt x="31" y="25"/>
                      <a:pt x="31" y="24"/>
                    </a:cubicBezTo>
                    <a:cubicBezTo>
                      <a:pt x="31" y="24"/>
                      <a:pt x="31" y="24"/>
                      <a:pt x="31" y="24"/>
                    </a:cubicBezTo>
                    <a:cubicBezTo>
                      <a:pt x="31" y="24"/>
                      <a:pt x="31" y="24"/>
                      <a:pt x="31" y="24"/>
                    </a:cubicBezTo>
                    <a:cubicBezTo>
                      <a:pt x="31" y="23"/>
                      <a:pt x="31" y="22"/>
                      <a:pt x="31" y="22"/>
                    </a:cubicBezTo>
                    <a:cubicBezTo>
                      <a:pt x="31" y="22"/>
                      <a:pt x="31" y="22"/>
                      <a:pt x="31" y="22"/>
                    </a:cubicBezTo>
                    <a:cubicBezTo>
                      <a:pt x="29" y="19"/>
                      <a:pt x="29" y="19"/>
                      <a:pt x="29" y="19"/>
                    </a:cubicBezTo>
                    <a:cubicBezTo>
                      <a:pt x="27" y="13"/>
                      <a:pt x="27" y="13"/>
                      <a:pt x="27" y="13"/>
                    </a:cubicBezTo>
                    <a:cubicBezTo>
                      <a:pt x="27" y="13"/>
                      <a:pt x="27" y="13"/>
                      <a:pt x="27" y="13"/>
                    </a:cubicBezTo>
                    <a:cubicBezTo>
                      <a:pt x="25" y="8"/>
                      <a:pt x="25" y="8"/>
                      <a:pt x="25" y="8"/>
                    </a:cubicBezTo>
                    <a:cubicBezTo>
                      <a:pt x="20" y="11"/>
                      <a:pt x="20" y="11"/>
                      <a:pt x="20" y="11"/>
                    </a:cubicBezTo>
                    <a:cubicBezTo>
                      <a:pt x="25" y="9"/>
                      <a:pt x="25" y="9"/>
                      <a:pt x="25" y="9"/>
                    </a:cubicBezTo>
                    <a:cubicBezTo>
                      <a:pt x="24" y="6"/>
                      <a:pt x="22" y="4"/>
                      <a:pt x="20" y="2"/>
                    </a:cubicBezTo>
                    <a:cubicBezTo>
                      <a:pt x="18" y="1"/>
                      <a:pt x="15" y="0"/>
                      <a:pt x="13" y="0"/>
                    </a:cubicBezTo>
                    <a:cubicBezTo>
                      <a:pt x="10" y="0"/>
                      <a:pt x="7" y="1"/>
                      <a:pt x="4" y="4"/>
                    </a:cubicBezTo>
                    <a:cubicBezTo>
                      <a:pt x="2" y="6"/>
                      <a:pt x="0" y="9"/>
                      <a:pt x="0" y="13"/>
                    </a:cubicBezTo>
                    <a:cubicBezTo>
                      <a:pt x="0" y="13"/>
                      <a:pt x="0" y="13"/>
                      <a:pt x="0" y="13"/>
                    </a:cubicBezTo>
                    <a:cubicBezTo>
                      <a:pt x="0" y="13"/>
                      <a:pt x="0" y="13"/>
                      <a:pt x="0" y="13"/>
                    </a:cubicBezTo>
                    <a:cubicBezTo>
                      <a:pt x="0" y="13"/>
                      <a:pt x="0" y="13"/>
                      <a:pt x="0" y="13"/>
                    </a:cubicBezTo>
                    <a:cubicBezTo>
                      <a:pt x="0" y="15"/>
                      <a:pt x="0" y="17"/>
                      <a:pt x="1" y="18"/>
                    </a:cubicBezTo>
                    <a:cubicBezTo>
                      <a:pt x="1" y="18"/>
                      <a:pt x="1" y="18"/>
                      <a:pt x="1" y="18"/>
                    </a:cubicBezTo>
                    <a:cubicBezTo>
                      <a:pt x="3" y="23"/>
                      <a:pt x="3" y="23"/>
                      <a:pt x="3" y="23"/>
                    </a:cubicBezTo>
                    <a:cubicBezTo>
                      <a:pt x="5" y="29"/>
                      <a:pt x="5" y="29"/>
                      <a:pt x="5" y="29"/>
                    </a:cubicBezTo>
                    <a:cubicBezTo>
                      <a:pt x="6" y="32"/>
                      <a:pt x="6" y="32"/>
                      <a:pt x="6" y="32"/>
                    </a:cubicBezTo>
                    <a:cubicBezTo>
                      <a:pt x="6" y="32"/>
                      <a:pt x="6" y="32"/>
                      <a:pt x="6" y="32"/>
                    </a:cubicBezTo>
                    <a:cubicBezTo>
                      <a:pt x="12" y="30"/>
                      <a:pt x="12" y="30"/>
                      <a:pt x="12" y="30"/>
                    </a:cubicBezTo>
                    <a:cubicBezTo>
                      <a:pt x="17" y="27"/>
                      <a:pt x="17" y="27"/>
                      <a:pt x="17" y="27"/>
                    </a:cubicBezTo>
                    <a:cubicBezTo>
                      <a:pt x="16" y="24"/>
                      <a:pt x="16" y="24"/>
                      <a:pt x="16" y="24"/>
                    </a:cubicBezTo>
                    <a:cubicBezTo>
                      <a:pt x="16" y="24"/>
                      <a:pt x="16" y="24"/>
                      <a:pt x="16" y="24"/>
                    </a:cubicBezTo>
                    <a:cubicBezTo>
                      <a:pt x="14" y="19"/>
                      <a:pt x="14" y="19"/>
                      <a:pt x="14" y="19"/>
                    </a:cubicBezTo>
                    <a:cubicBezTo>
                      <a:pt x="14" y="19"/>
                      <a:pt x="14" y="19"/>
                      <a:pt x="14" y="19"/>
                    </a:cubicBezTo>
                    <a:cubicBezTo>
                      <a:pt x="12" y="14"/>
                      <a:pt x="12" y="14"/>
                      <a:pt x="12" y="14"/>
                    </a:cubicBezTo>
                    <a:cubicBezTo>
                      <a:pt x="12" y="14"/>
                      <a:pt x="12" y="14"/>
                      <a:pt x="12" y="14"/>
                    </a:cubicBezTo>
                    <a:cubicBezTo>
                      <a:pt x="12" y="13"/>
                      <a:pt x="12" y="13"/>
                      <a:pt x="12" y="13"/>
                    </a:cubicBezTo>
                    <a:cubicBezTo>
                      <a:pt x="12" y="13"/>
                      <a:pt x="12" y="13"/>
                      <a:pt x="12" y="13"/>
                    </a:cubicBezTo>
                    <a:cubicBezTo>
                      <a:pt x="6" y="13"/>
                      <a:pt x="6" y="13"/>
                      <a:pt x="6" y="13"/>
                    </a:cubicBezTo>
                    <a:cubicBezTo>
                      <a:pt x="12" y="13"/>
                      <a:pt x="12" y="13"/>
                      <a:pt x="12" y="13"/>
                    </a:cubicBezTo>
                    <a:cubicBezTo>
                      <a:pt x="12" y="13"/>
                      <a:pt x="12" y="13"/>
                      <a:pt x="12" y="12"/>
                    </a:cubicBezTo>
                    <a:cubicBezTo>
                      <a:pt x="12" y="12"/>
                      <a:pt x="13" y="12"/>
                      <a:pt x="13" y="12"/>
                    </a:cubicBezTo>
                    <a:cubicBezTo>
                      <a:pt x="14" y="12"/>
                      <a:pt x="14" y="12"/>
                      <a:pt x="14" y="12"/>
                    </a:cubicBezTo>
                    <a:cubicBezTo>
                      <a:pt x="14" y="12"/>
                      <a:pt x="14" y="12"/>
                      <a:pt x="14" y="13"/>
                    </a:cubicBezTo>
                    <a:cubicBezTo>
                      <a:pt x="14" y="13"/>
                      <a:pt x="14" y="13"/>
                      <a:pt x="14" y="13"/>
                    </a:cubicBezTo>
                    <a:cubicBezTo>
                      <a:pt x="16" y="18"/>
                      <a:pt x="16" y="18"/>
                      <a:pt x="16" y="18"/>
                    </a:cubicBezTo>
                    <a:cubicBezTo>
                      <a:pt x="18" y="23"/>
                      <a:pt x="18" y="23"/>
                      <a:pt x="18" y="23"/>
                    </a:cubicBezTo>
                    <a:cubicBezTo>
                      <a:pt x="20" y="26"/>
                      <a:pt x="20" y="26"/>
                      <a:pt x="20" y="26"/>
                    </a:cubicBezTo>
                    <a:cubicBezTo>
                      <a:pt x="25" y="24"/>
                      <a:pt x="25" y="24"/>
                      <a:pt x="25" y="24"/>
                    </a:cubicBezTo>
                    <a:cubicBezTo>
                      <a:pt x="20" y="26"/>
                      <a:pt x="20" y="26"/>
                      <a:pt x="20" y="26"/>
                    </a:cubicBezTo>
                    <a:cubicBezTo>
                      <a:pt x="20" y="26"/>
                      <a:pt x="20" y="26"/>
                      <a:pt x="20" y="26"/>
                    </a:cubicBezTo>
                    <a:cubicBezTo>
                      <a:pt x="26" y="25"/>
                      <a:pt x="26" y="25"/>
                      <a:pt x="26" y="25"/>
                    </a:cubicBezTo>
                    <a:cubicBezTo>
                      <a:pt x="20" y="26"/>
                      <a:pt x="20" y="26"/>
                      <a:pt x="20" y="26"/>
                    </a:cubicBezTo>
                    <a:cubicBezTo>
                      <a:pt x="20" y="27"/>
                      <a:pt x="20" y="27"/>
                      <a:pt x="20" y="27"/>
                    </a:cubicBezTo>
                    <a:cubicBezTo>
                      <a:pt x="20" y="27"/>
                      <a:pt x="20" y="27"/>
                      <a:pt x="19" y="28"/>
                    </a:cubicBezTo>
                    <a:cubicBezTo>
                      <a:pt x="19" y="28"/>
                      <a:pt x="19" y="28"/>
                      <a:pt x="18" y="28"/>
                    </a:cubicBezTo>
                    <a:cubicBezTo>
                      <a:pt x="18" y="28"/>
                      <a:pt x="18" y="28"/>
                      <a:pt x="18" y="28"/>
                    </a:cubicBezTo>
                    <a:cubicBezTo>
                      <a:pt x="18" y="28"/>
                      <a:pt x="17" y="28"/>
                      <a:pt x="17" y="27"/>
                    </a:cubicBezTo>
                    <a:cubicBezTo>
                      <a:pt x="17" y="27"/>
                      <a:pt x="17" y="27"/>
                      <a:pt x="17" y="27"/>
                    </a:cubicBezTo>
                    <a:lnTo>
                      <a:pt x="12"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300" name="Freeform 29">
                <a:extLst>
                  <a:ext uri="{FF2B5EF4-FFF2-40B4-BE49-F238E27FC236}">
                    <a16:creationId xmlns:a16="http://schemas.microsoft.com/office/drawing/2014/main" id="{DE0FE74D-8C95-595B-59C6-2A9417690F21}"/>
                  </a:ext>
                </a:extLst>
              </p:cNvPr>
              <p:cNvSpPr>
                <a:spLocks/>
              </p:cNvSpPr>
              <p:nvPr/>
            </p:nvSpPr>
            <p:spPr bwMode="auto">
              <a:xfrm>
                <a:off x="3573450" y="5220881"/>
                <a:ext cx="35107" cy="50001"/>
              </a:xfrm>
              <a:custGeom>
                <a:avLst/>
                <a:gdLst>
                  <a:gd name="T0" fmla="*/ 9 w 23"/>
                  <a:gd name="T1" fmla="*/ 27 h 33"/>
                  <a:gd name="T2" fmla="*/ 22 w 23"/>
                  <a:gd name="T3" fmla="*/ 22 h 33"/>
                  <a:gd name="T4" fmla="*/ 21 w 23"/>
                  <a:gd name="T5" fmla="*/ 19 h 33"/>
                  <a:gd name="T6" fmla="*/ 20 w 23"/>
                  <a:gd name="T7" fmla="*/ 18 h 33"/>
                  <a:gd name="T8" fmla="*/ 17 w 23"/>
                  <a:gd name="T9" fmla="*/ 12 h 33"/>
                  <a:gd name="T10" fmla="*/ 14 w 23"/>
                  <a:gd name="T11" fmla="*/ 7 h 33"/>
                  <a:gd name="T12" fmla="*/ 1 w 23"/>
                  <a:gd name="T13" fmla="*/ 12 h 33"/>
                  <a:gd name="T14" fmla="*/ 2 w 23"/>
                  <a:gd name="T15" fmla="*/ 14 h 33"/>
                  <a:gd name="T16" fmla="*/ 5 w 23"/>
                  <a:gd name="T17" fmla="*/ 19 h 33"/>
                  <a:gd name="T18" fmla="*/ 8 w 23"/>
                  <a:gd name="T19" fmla="*/ 25 h 33"/>
                  <a:gd name="T20" fmla="*/ 9 w 23"/>
                  <a:gd name="T21" fmla="*/ 27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33">
                    <a:moveTo>
                      <a:pt x="9" y="27"/>
                    </a:moveTo>
                    <a:cubicBezTo>
                      <a:pt x="12" y="33"/>
                      <a:pt x="23" y="30"/>
                      <a:pt x="22" y="22"/>
                    </a:cubicBezTo>
                    <a:cubicBezTo>
                      <a:pt x="22" y="21"/>
                      <a:pt x="22" y="20"/>
                      <a:pt x="21" y="19"/>
                    </a:cubicBezTo>
                    <a:cubicBezTo>
                      <a:pt x="20" y="18"/>
                      <a:pt x="20" y="18"/>
                      <a:pt x="20" y="18"/>
                    </a:cubicBezTo>
                    <a:cubicBezTo>
                      <a:pt x="17" y="12"/>
                      <a:pt x="17" y="12"/>
                      <a:pt x="17" y="12"/>
                    </a:cubicBezTo>
                    <a:cubicBezTo>
                      <a:pt x="14" y="7"/>
                      <a:pt x="14" y="7"/>
                      <a:pt x="14" y="7"/>
                    </a:cubicBezTo>
                    <a:cubicBezTo>
                      <a:pt x="10" y="0"/>
                      <a:pt x="0" y="4"/>
                      <a:pt x="1" y="12"/>
                    </a:cubicBezTo>
                    <a:cubicBezTo>
                      <a:pt x="1" y="13"/>
                      <a:pt x="1" y="13"/>
                      <a:pt x="2" y="14"/>
                    </a:cubicBezTo>
                    <a:cubicBezTo>
                      <a:pt x="5" y="19"/>
                      <a:pt x="5" y="19"/>
                      <a:pt x="5" y="19"/>
                    </a:cubicBezTo>
                    <a:cubicBezTo>
                      <a:pt x="8" y="25"/>
                      <a:pt x="8" y="25"/>
                      <a:pt x="8" y="25"/>
                    </a:cubicBezTo>
                    <a:lnTo>
                      <a:pt x="9"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301" name="Freeform 30">
                <a:extLst>
                  <a:ext uri="{FF2B5EF4-FFF2-40B4-BE49-F238E27FC236}">
                    <a16:creationId xmlns:a16="http://schemas.microsoft.com/office/drawing/2014/main" id="{56BA8EC9-A841-37E5-40B2-AA6A7C4EE373}"/>
                  </a:ext>
                </a:extLst>
              </p:cNvPr>
              <p:cNvSpPr>
                <a:spLocks/>
              </p:cNvSpPr>
              <p:nvPr/>
            </p:nvSpPr>
            <p:spPr bwMode="auto">
              <a:xfrm>
                <a:off x="3566003" y="5216625"/>
                <a:ext cx="50001" cy="58512"/>
              </a:xfrm>
              <a:custGeom>
                <a:avLst/>
                <a:gdLst>
                  <a:gd name="T0" fmla="*/ 14 w 33"/>
                  <a:gd name="T1" fmla="*/ 30 h 39"/>
                  <a:gd name="T2" fmla="*/ 9 w 33"/>
                  <a:gd name="T3" fmla="*/ 32 h 39"/>
                  <a:gd name="T4" fmla="*/ 14 w 33"/>
                  <a:gd name="T5" fmla="*/ 37 h 39"/>
                  <a:gd name="T6" fmla="*/ 20 w 33"/>
                  <a:gd name="T7" fmla="*/ 39 h 39"/>
                  <a:gd name="T8" fmla="*/ 29 w 33"/>
                  <a:gd name="T9" fmla="*/ 36 h 39"/>
                  <a:gd name="T10" fmla="*/ 33 w 33"/>
                  <a:gd name="T11" fmla="*/ 26 h 39"/>
                  <a:gd name="T12" fmla="*/ 33 w 33"/>
                  <a:gd name="T13" fmla="*/ 25 h 39"/>
                  <a:gd name="T14" fmla="*/ 33 w 33"/>
                  <a:gd name="T15" fmla="*/ 25 h 39"/>
                  <a:gd name="T16" fmla="*/ 33 w 33"/>
                  <a:gd name="T17" fmla="*/ 25 h 39"/>
                  <a:gd name="T18" fmla="*/ 31 w 33"/>
                  <a:gd name="T19" fmla="*/ 20 h 39"/>
                  <a:gd name="T20" fmla="*/ 31 w 33"/>
                  <a:gd name="T21" fmla="*/ 20 h 39"/>
                  <a:gd name="T22" fmla="*/ 30 w 33"/>
                  <a:gd name="T23" fmla="*/ 18 h 39"/>
                  <a:gd name="T24" fmla="*/ 30 w 33"/>
                  <a:gd name="T25" fmla="*/ 18 h 39"/>
                  <a:gd name="T26" fmla="*/ 27 w 33"/>
                  <a:gd name="T27" fmla="*/ 12 h 39"/>
                  <a:gd name="T28" fmla="*/ 27 w 33"/>
                  <a:gd name="T29" fmla="*/ 13 h 39"/>
                  <a:gd name="T30" fmla="*/ 24 w 33"/>
                  <a:gd name="T31" fmla="*/ 7 h 39"/>
                  <a:gd name="T32" fmla="*/ 24 w 33"/>
                  <a:gd name="T33" fmla="*/ 7 h 39"/>
                  <a:gd name="T34" fmla="*/ 19 w 33"/>
                  <a:gd name="T35" fmla="*/ 2 h 39"/>
                  <a:gd name="T36" fmla="*/ 13 w 33"/>
                  <a:gd name="T37" fmla="*/ 0 h 39"/>
                  <a:gd name="T38" fmla="*/ 4 w 33"/>
                  <a:gd name="T39" fmla="*/ 4 h 39"/>
                  <a:gd name="T40" fmla="*/ 0 w 33"/>
                  <a:gd name="T41" fmla="*/ 13 h 39"/>
                  <a:gd name="T42" fmla="*/ 0 w 33"/>
                  <a:gd name="T43" fmla="*/ 16 h 39"/>
                  <a:gd name="T44" fmla="*/ 0 w 33"/>
                  <a:gd name="T45" fmla="*/ 16 h 39"/>
                  <a:gd name="T46" fmla="*/ 0 w 33"/>
                  <a:gd name="T47" fmla="*/ 16 h 39"/>
                  <a:gd name="T48" fmla="*/ 2 w 33"/>
                  <a:gd name="T49" fmla="*/ 20 h 39"/>
                  <a:gd name="T50" fmla="*/ 2 w 33"/>
                  <a:gd name="T51" fmla="*/ 20 h 39"/>
                  <a:gd name="T52" fmla="*/ 5 w 33"/>
                  <a:gd name="T53" fmla="*/ 25 h 39"/>
                  <a:gd name="T54" fmla="*/ 8 w 33"/>
                  <a:gd name="T55" fmla="*/ 31 h 39"/>
                  <a:gd name="T56" fmla="*/ 9 w 33"/>
                  <a:gd name="T57" fmla="*/ 32 h 39"/>
                  <a:gd name="T58" fmla="*/ 9 w 33"/>
                  <a:gd name="T59" fmla="*/ 32 h 39"/>
                  <a:gd name="T60" fmla="*/ 14 w 33"/>
                  <a:gd name="T61" fmla="*/ 30 h 39"/>
                  <a:gd name="T62" fmla="*/ 19 w 33"/>
                  <a:gd name="T63" fmla="*/ 27 h 39"/>
                  <a:gd name="T64" fmla="*/ 18 w 33"/>
                  <a:gd name="T65" fmla="*/ 25 h 39"/>
                  <a:gd name="T66" fmla="*/ 18 w 33"/>
                  <a:gd name="T67" fmla="*/ 25 h 39"/>
                  <a:gd name="T68" fmla="*/ 15 w 33"/>
                  <a:gd name="T69" fmla="*/ 20 h 39"/>
                  <a:gd name="T70" fmla="*/ 15 w 33"/>
                  <a:gd name="T71" fmla="*/ 20 h 39"/>
                  <a:gd name="T72" fmla="*/ 12 w 33"/>
                  <a:gd name="T73" fmla="*/ 14 h 39"/>
                  <a:gd name="T74" fmla="*/ 12 w 33"/>
                  <a:gd name="T75" fmla="*/ 14 h 39"/>
                  <a:gd name="T76" fmla="*/ 12 w 33"/>
                  <a:gd name="T77" fmla="*/ 13 h 39"/>
                  <a:gd name="T78" fmla="*/ 6 w 33"/>
                  <a:gd name="T79" fmla="*/ 15 h 39"/>
                  <a:gd name="T80" fmla="*/ 12 w 33"/>
                  <a:gd name="T81" fmla="*/ 14 h 39"/>
                  <a:gd name="T82" fmla="*/ 12 w 33"/>
                  <a:gd name="T83" fmla="*/ 13 h 39"/>
                  <a:gd name="T84" fmla="*/ 12 w 33"/>
                  <a:gd name="T85" fmla="*/ 13 h 39"/>
                  <a:gd name="T86" fmla="*/ 13 w 33"/>
                  <a:gd name="T87" fmla="*/ 12 h 39"/>
                  <a:gd name="T88" fmla="*/ 14 w 33"/>
                  <a:gd name="T89" fmla="*/ 12 h 39"/>
                  <a:gd name="T90" fmla="*/ 14 w 33"/>
                  <a:gd name="T91" fmla="*/ 13 h 39"/>
                  <a:gd name="T92" fmla="*/ 14 w 33"/>
                  <a:gd name="T93" fmla="*/ 13 h 39"/>
                  <a:gd name="T94" fmla="*/ 17 w 33"/>
                  <a:gd name="T95" fmla="*/ 18 h 39"/>
                  <a:gd name="T96" fmla="*/ 20 w 33"/>
                  <a:gd name="T97" fmla="*/ 24 h 39"/>
                  <a:gd name="T98" fmla="*/ 20 w 33"/>
                  <a:gd name="T99" fmla="*/ 24 h 39"/>
                  <a:gd name="T100" fmla="*/ 21 w 33"/>
                  <a:gd name="T101" fmla="*/ 25 h 39"/>
                  <a:gd name="T102" fmla="*/ 21 w 33"/>
                  <a:gd name="T103" fmla="*/ 25 h 39"/>
                  <a:gd name="T104" fmla="*/ 21 w 33"/>
                  <a:gd name="T105" fmla="*/ 26 h 39"/>
                  <a:gd name="T106" fmla="*/ 27 w 33"/>
                  <a:gd name="T107" fmla="*/ 25 h 39"/>
                  <a:gd name="T108" fmla="*/ 21 w 33"/>
                  <a:gd name="T109" fmla="*/ 26 h 39"/>
                  <a:gd name="T110" fmla="*/ 21 w 33"/>
                  <a:gd name="T111" fmla="*/ 26 h 39"/>
                  <a:gd name="T112" fmla="*/ 21 w 33"/>
                  <a:gd name="T113" fmla="*/ 27 h 39"/>
                  <a:gd name="T114" fmla="*/ 20 w 33"/>
                  <a:gd name="T115" fmla="*/ 27 h 39"/>
                  <a:gd name="T116" fmla="*/ 19 w 33"/>
                  <a:gd name="T117" fmla="*/ 27 h 39"/>
                  <a:gd name="T118" fmla="*/ 19 w 33"/>
                  <a:gd name="T119" fmla="*/ 27 h 39"/>
                  <a:gd name="T120" fmla="*/ 19 w 33"/>
                  <a:gd name="T121" fmla="*/ 27 h 39"/>
                  <a:gd name="T122" fmla="*/ 19 w 33"/>
                  <a:gd name="T123" fmla="*/ 27 h 39"/>
                  <a:gd name="T124" fmla="*/ 14 w 33"/>
                  <a:gd name="T125" fmla="*/ 3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 h="39">
                    <a:moveTo>
                      <a:pt x="14" y="30"/>
                    </a:moveTo>
                    <a:cubicBezTo>
                      <a:pt x="9" y="32"/>
                      <a:pt x="9" y="32"/>
                      <a:pt x="9" y="32"/>
                    </a:cubicBezTo>
                    <a:cubicBezTo>
                      <a:pt x="10" y="35"/>
                      <a:pt x="12" y="36"/>
                      <a:pt x="14" y="37"/>
                    </a:cubicBezTo>
                    <a:cubicBezTo>
                      <a:pt x="16" y="39"/>
                      <a:pt x="18" y="39"/>
                      <a:pt x="20" y="39"/>
                    </a:cubicBezTo>
                    <a:cubicBezTo>
                      <a:pt x="23" y="39"/>
                      <a:pt x="26" y="38"/>
                      <a:pt x="29" y="36"/>
                    </a:cubicBezTo>
                    <a:cubicBezTo>
                      <a:pt x="31" y="33"/>
                      <a:pt x="33" y="30"/>
                      <a:pt x="33" y="26"/>
                    </a:cubicBezTo>
                    <a:cubicBezTo>
                      <a:pt x="33" y="25"/>
                      <a:pt x="33" y="25"/>
                      <a:pt x="33" y="25"/>
                    </a:cubicBezTo>
                    <a:cubicBezTo>
                      <a:pt x="33" y="25"/>
                      <a:pt x="33" y="25"/>
                      <a:pt x="33" y="25"/>
                    </a:cubicBezTo>
                    <a:cubicBezTo>
                      <a:pt x="33" y="25"/>
                      <a:pt x="33" y="25"/>
                      <a:pt x="33" y="25"/>
                    </a:cubicBezTo>
                    <a:cubicBezTo>
                      <a:pt x="33" y="23"/>
                      <a:pt x="32" y="21"/>
                      <a:pt x="31" y="20"/>
                    </a:cubicBezTo>
                    <a:cubicBezTo>
                      <a:pt x="31" y="20"/>
                      <a:pt x="31" y="20"/>
                      <a:pt x="31" y="20"/>
                    </a:cubicBezTo>
                    <a:cubicBezTo>
                      <a:pt x="30" y="18"/>
                      <a:pt x="30" y="18"/>
                      <a:pt x="30" y="18"/>
                    </a:cubicBezTo>
                    <a:cubicBezTo>
                      <a:pt x="30" y="18"/>
                      <a:pt x="30" y="18"/>
                      <a:pt x="30" y="18"/>
                    </a:cubicBezTo>
                    <a:cubicBezTo>
                      <a:pt x="27" y="12"/>
                      <a:pt x="27" y="12"/>
                      <a:pt x="27" y="12"/>
                    </a:cubicBezTo>
                    <a:cubicBezTo>
                      <a:pt x="27" y="13"/>
                      <a:pt x="27" y="13"/>
                      <a:pt x="27" y="13"/>
                    </a:cubicBezTo>
                    <a:cubicBezTo>
                      <a:pt x="24" y="7"/>
                      <a:pt x="24" y="7"/>
                      <a:pt x="24" y="7"/>
                    </a:cubicBezTo>
                    <a:cubicBezTo>
                      <a:pt x="24" y="7"/>
                      <a:pt x="24" y="7"/>
                      <a:pt x="24" y="7"/>
                    </a:cubicBezTo>
                    <a:cubicBezTo>
                      <a:pt x="23" y="5"/>
                      <a:pt x="21" y="3"/>
                      <a:pt x="19" y="2"/>
                    </a:cubicBezTo>
                    <a:cubicBezTo>
                      <a:pt x="17" y="1"/>
                      <a:pt x="15" y="0"/>
                      <a:pt x="13" y="0"/>
                    </a:cubicBezTo>
                    <a:cubicBezTo>
                      <a:pt x="10" y="0"/>
                      <a:pt x="7" y="2"/>
                      <a:pt x="4" y="4"/>
                    </a:cubicBezTo>
                    <a:cubicBezTo>
                      <a:pt x="2" y="6"/>
                      <a:pt x="0" y="10"/>
                      <a:pt x="0" y="13"/>
                    </a:cubicBezTo>
                    <a:cubicBezTo>
                      <a:pt x="0" y="14"/>
                      <a:pt x="0" y="15"/>
                      <a:pt x="0" y="16"/>
                    </a:cubicBezTo>
                    <a:cubicBezTo>
                      <a:pt x="0" y="16"/>
                      <a:pt x="0" y="16"/>
                      <a:pt x="0" y="16"/>
                    </a:cubicBezTo>
                    <a:cubicBezTo>
                      <a:pt x="0" y="16"/>
                      <a:pt x="0" y="16"/>
                      <a:pt x="0" y="16"/>
                    </a:cubicBezTo>
                    <a:cubicBezTo>
                      <a:pt x="0" y="17"/>
                      <a:pt x="1" y="18"/>
                      <a:pt x="2" y="20"/>
                    </a:cubicBezTo>
                    <a:cubicBezTo>
                      <a:pt x="2" y="20"/>
                      <a:pt x="2" y="20"/>
                      <a:pt x="2" y="20"/>
                    </a:cubicBezTo>
                    <a:cubicBezTo>
                      <a:pt x="5" y="25"/>
                      <a:pt x="5" y="25"/>
                      <a:pt x="5" y="25"/>
                    </a:cubicBezTo>
                    <a:cubicBezTo>
                      <a:pt x="8" y="31"/>
                      <a:pt x="8" y="31"/>
                      <a:pt x="8" y="31"/>
                    </a:cubicBezTo>
                    <a:cubicBezTo>
                      <a:pt x="9" y="32"/>
                      <a:pt x="9" y="32"/>
                      <a:pt x="9" y="32"/>
                    </a:cubicBezTo>
                    <a:cubicBezTo>
                      <a:pt x="9" y="32"/>
                      <a:pt x="9" y="32"/>
                      <a:pt x="9" y="32"/>
                    </a:cubicBezTo>
                    <a:cubicBezTo>
                      <a:pt x="14" y="30"/>
                      <a:pt x="14" y="30"/>
                      <a:pt x="14" y="30"/>
                    </a:cubicBezTo>
                    <a:cubicBezTo>
                      <a:pt x="19" y="27"/>
                      <a:pt x="19" y="27"/>
                      <a:pt x="19" y="27"/>
                    </a:cubicBezTo>
                    <a:cubicBezTo>
                      <a:pt x="18" y="25"/>
                      <a:pt x="18" y="25"/>
                      <a:pt x="18" y="25"/>
                    </a:cubicBezTo>
                    <a:cubicBezTo>
                      <a:pt x="18" y="25"/>
                      <a:pt x="18" y="25"/>
                      <a:pt x="18" y="25"/>
                    </a:cubicBezTo>
                    <a:cubicBezTo>
                      <a:pt x="15" y="20"/>
                      <a:pt x="15" y="20"/>
                      <a:pt x="15" y="20"/>
                    </a:cubicBezTo>
                    <a:cubicBezTo>
                      <a:pt x="15" y="20"/>
                      <a:pt x="15" y="20"/>
                      <a:pt x="15" y="20"/>
                    </a:cubicBezTo>
                    <a:cubicBezTo>
                      <a:pt x="12" y="14"/>
                      <a:pt x="12" y="14"/>
                      <a:pt x="12" y="14"/>
                    </a:cubicBezTo>
                    <a:cubicBezTo>
                      <a:pt x="12" y="14"/>
                      <a:pt x="12" y="14"/>
                      <a:pt x="12" y="14"/>
                    </a:cubicBezTo>
                    <a:cubicBezTo>
                      <a:pt x="12" y="14"/>
                      <a:pt x="12" y="14"/>
                      <a:pt x="12" y="13"/>
                    </a:cubicBezTo>
                    <a:cubicBezTo>
                      <a:pt x="6" y="15"/>
                      <a:pt x="6" y="15"/>
                      <a:pt x="6" y="15"/>
                    </a:cubicBezTo>
                    <a:cubicBezTo>
                      <a:pt x="12" y="14"/>
                      <a:pt x="12" y="14"/>
                      <a:pt x="12" y="14"/>
                    </a:cubicBezTo>
                    <a:cubicBezTo>
                      <a:pt x="12" y="13"/>
                      <a:pt x="12" y="13"/>
                      <a:pt x="12" y="13"/>
                    </a:cubicBezTo>
                    <a:cubicBezTo>
                      <a:pt x="12" y="13"/>
                      <a:pt x="12" y="13"/>
                      <a:pt x="12" y="13"/>
                    </a:cubicBezTo>
                    <a:cubicBezTo>
                      <a:pt x="12" y="12"/>
                      <a:pt x="13" y="12"/>
                      <a:pt x="13" y="12"/>
                    </a:cubicBezTo>
                    <a:cubicBezTo>
                      <a:pt x="14" y="12"/>
                      <a:pt x="14" y="12"/>
                      <a:pt x="14" y="12"/>
                    </a:cubicBezTo>
                    <a:cubicBezTo>
                      <a:pt x="14" y="12"/>
                      <a:pt x="14" y="12"/>
                      <a:pt x="14" y="13"/>
                    </a:cubicBezTo>
                    <a:cubicBezTo>
                      <a:pt x="14" y="13"/>
                      <a:pt x="14" y="13"/>
                      <a:pt x="14" y="13"/>
                    </a:cubicBezTo>
                    <a:cubicBezTo>
                      <a:pt x="17" y="18"/>
                      <a:pt x="17" y="18"/>
                      <a:pt x="17" y="18"/>
                    </a:cubicBezTo>
                    <a:cubicBezTo>
                      <a:pt x="20" y="24"/>
                      <a:pt x="20" y="24"/>
                      <a:pt x="20" y="24"/>
                    </a:cubicBezTo>
                    <a:cubicBezTo>
                      <a:pt x="20" y="24"/>
                      <a:pt x="20" y="24"/>
                      <a:pt x="20" y="24"/>
                    </a:cubicBezTo>
                    <a:cubicBezTo>
                      <a:pt x="21" y="25"/>
                      <a:pt x="21" y="25"/>
                      <a:pt x="21" y="25"/>
                    </a:cubicBezTo>
                    <a:cubicBezTo>
                      <a:pt x="21" y="25"/>
                      <a:pt x="21" y="25"/>
                      <a:pt x="21" y="25"/>
                    </a:cubicBezTo>
                    <a:cubicBezTo>
                      <a:pt x="21" y="26"/>
                      <a:pt x="21" y="25"/>
                      <a:pt x="21" y="26"/>
                    </a:cubicBezTo>
                    <a:cubicBezTo>
                      <a:pt x="27" y="25"/>
                      <a:pt x="27" y="25"/>
                      <a:pt x="27" y="25"/>
                    </a:cubicBezTo>
                    <a:cubicBezTo>
                      <a:pt x="21" y="26"/>
                      <a:pt x="21" y="26"/>
                      <a:pt x="21" y="26"/>
                    </a:cubicBezTo>
                    <a:cubicBezTo>
                      <a:pt x="21" y="26"/>
                      <a:pt x="21" y="26"/>
                      <a:pt x="21" y="26"/>
                    </a:cubicBezTo>
                    <a:cubicBezTo>
                      <a:pt x="21" y="27"/>
                      <a:pt x="21" y="27"/>
                      <a:pt x="21" y="27"/>
                    </a:cubicBezTo>
                    <a:cubicBezTo>
                      <a:pt x="21" y="27"/>
                      <a:pt x="20" y="27"/>
                      <a:pt x="20" y="27"/>
                    </a:cubicBezTo>
                    <a:cubicBezTo>
                      <a:pt x="19" y="27"/>
                      <a:pt x="19" y="27"/>
                      <a:pt x="19" y="27"/>
                    </a:cubicBezTo>
                    <a:cubicBezTo>
                      <a:pt x="19" y="27"/>
                      <a:pt x="19" y="27"/>
                      <a:pt x="19" y="27"/>
                    </a:cubicBezTo>
                    <a:cubicBezTo>
                      <a:pt x="19" y="27"/>
                      <a:pt x="19" y="27"/>
                      <a:pt x="19" y="27"/>
                    </a:cubicBezTo>
                    <a:cubicBezTo>
                      <a:pt x="19" y="27"/>
                      <a:pt x="19" y="27"/>
                      <a:pt x="19" y="27"/>
                    </a:cubicBezTo>
                    <a:lnTo>
                      <a:pt x="14"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302" name="Freeform 31">
                <a:extLst>
                  <a:ext uri="{FF2B5EF4-FFF2-40B4-BE49-F238E27FC236}">
                    <a16:creationId xmlns:a16="http://schemas.microsoft.com/office/drawing/2014/main" id="{ECAC46B3-D47D-6669-3619-F1A2714F8B17}"/>
                  </a:ext>
                </a:extLst>
              </p:cNvPr>
              <p:cNvSpPr>
                <a:spLocks/>
              </p:cNvSpPr>
              <p:nvPr/>
            </p:nvSpPr>
            <p:spPr bwMode="auto">
              <a:xfrm>
                <a:off x="3540470" y="5235775"/>
                <a:ext cx="151068" cy="174472"/>
              </a:xfrm>
              <a:custGeom>
                <a:avLst/>
                <a:gdLst>
                  <a:gd name="T0" fmla="*/ 134 w 142"/>
                  <a:gd name="T1" fmla="*/ 0 h 164"/>
                  <a:gd name="T2" fmla="*/ 142 w 142"/>
                  <a:gd name="T3" fmla="*/ 164 h 164"/>
                  <a:gd name="T4" fmla="*/ 0 w 142"/>
                  <a:gd name="T5" fmla="*/ 84 h 164"/>
                  <a:gd name="T6" fmla="*/ 134 w 142"/>
                  <a:gd name="T7" fmla="*/ 0 h 164"/>
                </a:gdLst>
                <a:ahLst/>
                <a:cxnLst>
                  <a:cxn ang="0">
                    <a:pos x="T0" y="T1"/>
                  </a:cxn>
                  <a:cxn ang="0">
                    <a:pos x="T2" y="T3"/>
                  </a:cxn>
                  <a:cxn ang="0">
                    <a:pos x="T4" y="T5"/>
                  </a:cxn>
                  <a:cxn ang="0">
                    <a:pos x="T6" y="T7"/>
                  </a:cxn>
                </a:cxnLst>
                <a:rect l="0" t="0" r="r" b="b"/>
                <a:pathLst>
                  <a:path w="142" h="164">
                    <a:moveTo>
                      <a:pt x="134" y="0"/>
                    </a:moveTo>
                    <a:lnTo>
                      <a:pt x="142" y="164"/>
                    </a:lnTo>
                    <a:lnTo>
                      <a:pt x="0" y="84"/>
                    </a:lnTo>
                    <a:lnTo>
                      <a:pt x="1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303" name="Freeform 32">
                <a:extLst>
                  <a:ext uri="{FF2B5EF4-FFF2-40B4-BE49-F238E27FC236}">
                    <a16:creationId xmlns:a16="http://schemas.microsoft.com/office/drawing/2014/main" id="{D4356E0B-67BF-79E6-B9BE-BB12C6DB1751}"/>
                  </a:ext>
                </a:extLst>
              </p:cNvPr>
              <p:cNvSpPr>
                <a:spLocks/>
              </p:cNvSpPr>
              <p:nvPr/>
            </p:nvSpPr>
            <p:spPr bwMode="auto">
              <a:xfrm>
                <a:off x="3522385" y="5220881"/>
                <a:ext cx="179792" cy="206388"/>
              </a:xfrm>
              <a:custGeom>
                <a:avLst/>
                <a:gdLst>
                  <a:gd name="T0" fmla="*/ 151 w 169"/>
                  <a:gd name="T1" fmla="*/ 14 h 194"/>
                  <a:gd name="T2" fmla="*/ 142 w 169"/>
                  <a:gd name="T3" fmla="*/ 16 h 194"/>
                  <a:gd name="T4" fmla="*/ 151 w 169"/>
                  <a:gd name="T5" fmla="*/ 164 h 194"/>
                  <a:gd name="T6" fmla="*/ 32 w 169"/>
                  <a:gd name="T7" fmla="*/ 98 h 194"/>
                  <a:gd name="T8" fmla="*/ 155 w 169"/>
                  <a:gd name="T9" fmla="*/ 22 h 194"/>
                  <a:gd name="T10" fmla="*/ 151 w 169"/>
                  <a:gd name="T11" fmla="*/ 14 h 194"/>
                  <a:gd name="T12" fmla="*/ 142 w 169"/>
                  <a:gd name="T13" fmla="*/ 16 h 194"/>
                  <a:gd name="T14" fmla="*/ 151 w 169"/>
                  <a:gd name="T15" fmla="*/ 14 h 194"/>
                  <a:gd name="T16" fmla="*/ 146 w 169"/>
                  <a:gd name="T17" fmla="*/ 7 h 194"/>
                  <a:gd name="T18" fmla="*/ 0 w 169"/>
                  <a:gd name="T19" fmla="*/ 98 h 194"/>
                  <a:gd name="T20" fmla="*/ 169 w 169"/>
                  <a:gd name="T21" fmla="*/ 194 h 194"/>
                  <a:gd name="T22" fmla="*/ 159 w 169"/>
                  <a:gd name="T23" fmla="*/ 0 h 194"/>
                  <a:gd name="T24" fmla="*/ 146 w 169"/>
                  <a:gd name="T25" fmla="*/ 7 h 194"/>
                  <a:gd name="T26" fmla="*/ 151 w 169"/>
                  <a:gd name="T27" fmla="*/ 1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 h="194">
                    <a:moveTo>
                      <a:pt x="151" y="14"/>
                    </a:moveTo>
                    <a:lnTo>
                      <a:pt x="142" y="16"/>
                    </a:lnTo>
                    <a:lnTo>
                      <a:pt x="151" y="164"/>
                    </a:lnTo>
                    <a:lnTo>
                      <a:pt x="32" y="98"/>
                    </a:lnTo>
                    <a:lnTo>
                      <a:pt x="155" y="22"/>
                    </a:lnTo>
                    <a:lnTo>
                      <a:pt x="151" y="14"/>
                    </a:lnTo>
                    <a:lnTo>
                      <a:pt x="142" y="16"/>
                    </a:lnTo>
                    <a:lnTo>
                      <a:pt x="151" y="14"/>
                    </a:lnTo>
                    <a:lnTo>
                      <a:pt x="146" y="7"/>
                    </a:lnTo>
                    <a:lnTo>
                      <a:pt x="0" y="98"/>
                    </a:lnTo>
                    <a:lnTo>
                      <a:pt x="169" y="194"/>
                    </a:lnTo>
                    <a:lnTo>
                      <a:pt x="159" y="0"/>
                    </a:lnTo>
                    <a:lnTo>
                      <a:pt x="146" y="7"/>
                    </a:lnTo>
                    <a:lnTo>
                      <a:pt x="15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128" name="Group 19">
              <a:extLst>
                <a:ext uri="{FF2B5EF4-FFF2-40B4-BE49-F238E27FC236}">
                  <a16:creationId xmlns:a16="http://schemas.microsoft.com/office/drawing/2014/main" id="{FFD894B2-62D7-1527-D3CB-90CE777B9395}"/>
                </a:ext>
              </a:extLst>
            </p:cNvPr>
            <p:cNvGrpSpPr/>
            <p:nvPr/>
          </p:nvGrpSpPr>
          <p:grpSpPr>
            <a:xfrm>
              <a:off x="7489975" y="3190030"/>
              <a:ext cx="291496" cy="1718127"/>
              <a:chOff x="6662888" y="3709142"/>
              <a:chExt cx="291496" cy="1718127"/>
            </a:xfrm>
            <a:solidFill>
              <a:srgbClr val="D0D0CE"/>
            </a:solidFill>
          </p:grpSpPr>
          <p:sp>
            <p:nvSpPr>
              <p:cNvPr id="248" name="Freeform 33">
                <a:extLst>
                  <a:ext uri="{FF2B5EF4-FFF2-40B4-BE49-F238E27FC236}">
                    <a16:creationId xmlns:a16="http://schemas.microsoft.com/office/drawing/2014/main" id="{0F34FB7C-D738-5B91-C167-95CFF088CB06}"/>
                  </a:ext>
                </a:extLst>
              </p:cNvPr>
              <p:cNvSpPr>
                <a:spLocks/>
              </p:cNvSpPr>
              <p:nvPr/>
            </p:nvSpPr>
            <p:spPr bwMode="auto">
              <a:xfrm>
                <a:off x="6700123" y="3714461"/>
                <a:ext cx="43618" cy="50001"/>
              </a:xfrm>
              <a:custGeom>
                <a:avLst/>
                <a:gdLst>
                  <a:gd name="T0" fmla="*/ 25 w 29"/>
                  <a:gd name="T1" fmla="*/ 19 h 33"/>
                  <a:gd name="T2" fmla="*/ 14 w 29"/>
                  <a:gd name="T3" fmla="*/ 28 h 33"/>
                  <a:gd name="T4" fmla="*/ 12 w 29"/>
                  <a:gd name="T5" fmla="*/ 26 h 33"/>
                  <a:gd name="T6" fmla="*/ 12 w 29"/>
                  <a:gd name="T7" fmla="*/ 25 h 33"/>
                  <a:gd name="T8" fmla="*/ 10 w 29"/>
                  <a:gd name="T9" fmla="*/ 22 h 33"/>
                  <a:gd name="T10" fmla="*/ 8 w 29"/>
                  <a:gd name="T11" fmla="*/ 18 h 33"/>
                  <a:gd name="T12" fmla="*/ 6 w 29"/>
                  <a:gd name="T13" fmla="*/ 15 h 33"/>
                  <a:gd name="T14" fmla="*/ 5 w 29"/>
                  <a:gd name="T15" fmla="*/ 14 h 33"/>
                  <a:gd name="T16" fmla="*/ 15 w 29"/>
                  <a:gd name="T17" fmla="*/ 4 h 33"/>
                  <a:gd name="T18" fmla="*/ 17 w 29"/>
                  <a:gd name="T19" fmla="*/ 6 h 33"/>
                  <a:gd name="T20" fmla="*/ 18 w 29"/>
                  <a:gd name="T21" fmla="*/ 7 h 33"/>
                  <a:gd name="T22" fmla="*/ 20 w 29"/>
                  <a:gd name="T23" fmla="*/ 11 h 33"/>
                  <a:gd name="T24" fmla="*/ 22 w 29"/>
                  <a:gd name="T25" fmla="*/ 14 h 33"/>
                  <a:gd name="T26" fmla="*/ 24 w 29"/>
                  <a:gd name="T27" fmla="*/ 17 h 33"/>
                  <a:gd name="T28" fmla="*/ 25 w 29"/>
                  <a:gd name="T29" fmla="*/ 1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3">
                    <a:moveTo>
                      <a:pt x="25" y="19"/>
                    </a:moveTo>
                    <a:cubicBezTo>
                      <a:pt x="29" y="25"/>
                      <a:pt x="20" y="33"/>
                      <a:pt x="14" y="28"/>
                    </a:cubicBezTo>
                    <a:cubicBezTo>
                      <a:pt x="13" y="27"/>
                      <a:pt x="13" y="27"/>
                      <a:pt x="12" y="26"/>
                    </a:cubicBezTo>
                    <a:cubicBezTo>
                      <a:pt x="12" y="25"/>
                      <a:pt x="12" y="25"/>
                      <a:pt x="12" y="25"/>
                    </a:cubicBezTo>
                    <a:cubicBezTo>
                      <a:pt x="10" y="22"/>
                      <a:pt x="10" y="22"/>
                      <a:pt x="10" y="22"/>
                    </a:cubicBezTo>
                    <a:cubicBezTo>
                      <a:pt x="8" y="18"/>
                      <a:pt x="8" y="18"/>
                      <a:pt x="8" y="18"/>
                    </a:cubicBezTo>
                    <a:cubicBezTo>
                      <a:pt x="6" y="15"/>
                      <a:pt x="6" y="15"/>
                      <a:pt x="6" y="15"/>
                    </a:cubicBezTo>
                    <a:cubicBezTo>
                      <a:pt x="5" y="14"/>
                      <a:pt x="5" y="14"/>
                      <a:pt x="5" y="14"/>
                    </a:cubicBezTo>
                    <a:cubicBezTo>
                      <a:pt x="0" y="8"/>
                      <a:pt x="8" y="0"/>
                      <a:pt x="15" y="4"/>
                    </a:cubicBezTo>
                    <a:cubicBezTo>
                      <a:pt x="16" y="5"/>
                      <a:pt x="16" y="6"/>
                      <a:pt x="17" y="6"/>
                    </a:cubicBezTo>
                    <a:cubicBezTo>
                      <a:pt x="18" y="7"/>
                      <a:pt x="18" y="7"/>
                      <a:pt x="18" y="7"/>
                    </a:cubicBezTo>
                    <a:cubicBezTo>
                      <a:pt x="20" y="11"/>
                      <a:pt x="20" y="11"/>
                      <a:pt x="20" y="11"/>
                    </a:cubicBezTo>
                    <a:cubicBezTo>
                      <a:pt x="22" y="14"/>
                      <a:pt x="22" y="14"/>
                      <a:pt x="22" y="14"/>
                    </a:cubicBezTo>
                    <a:cubicBezTo>
                      <a:pt x="24" y="17"/>
                      <a:pt x="24" y="17"/>
                      <a:pt x="24" y="17"/>
                    </a:cubicBezTo>
                    <a:lnTo>
                      <a:pt x="25"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9" name="Freeform 34">
                <a:extLst>
                  <a:ext uri="{FF2B5EF4-FFF2-40B4-BE49-F238E27FC236}">
                    <a16:creationId xmlns:a16="http://schemas.microsoft.com/office/drawing/2014/main" id="{B7F33CCF-5DE5-4CC4-8D77-E76713D2C7EE}"/>
                  </a:ext>
                </a:extLst>
              </p:cNvPr>
              <p:cNvSpPr>
                <a:spLocks/>
              </p:cNvSpPr>
              <p:nvPr/>
            </p:nvSpPr>
            <p:spPr bwMode="auto">
              <a:xfrm>
                <a:off x="6696931" y="3709142"/>
                <a:ext cx="51065" cy="59576"/>
              </a:xfrm>
              <a:custGeom>
                <a:avLst/>
                <a:gdLst>
                  <a:gd name="T0" fmla="*/ 22 w 34"/>
                  <a:gd name="T1" fmla="*/ 25 h 39"/>
                  <a:gd name="T2" fmla="*/ 22 w 34"/>
                  <a:gd name="T3" fmla="*/ 26 h 39"/>
                  <a:gd name="T4" fmla="*/ 20 w 34"/>
                  <a:gd name="T5" fmla="*/ 26 h 39"/>
                  <a:gd name="T6" fmla="*/ 20 w 34"/>
                  <a:gd name="T7" fmla="*/ 26 h 39"/>
                  <a:gd name="T8" fmla="*/ 19 w 34"/>
                  <a:gd name="T9" fmla="*/ 26 h 39"/>
                  <a:gd name="T10" fmla="*/ 17 w 34"/>
                  <a:gd name="T11" fmla="*/ 21 h 39"/>
                  <a:gd name="T12" fmla="*/ 15 w 34"/>
                  <a:gd name="T13" fmla="*/ 18 h 39"/>
                  <a:gd name="T14" fmla="*/ 12 w 34"/>
                  <a:gd name="T15" fmla="*/ 15 h 39"/>
                  <a:gd name="T16" fmla="*/ 12 w 34"/>
                  <a:gd name="T17" fmla="*/ 14 h 39"/>
                  <a:gd name="T18" fmla="*/ 12 w 34"/>
                  <a:gd name="T19" fmla="*/ 14 h 39"/>
                  <a:gd name="T20" fmla="*/ 12 w 34"/>
                  <a:gd name="T21" fmla="*/ 12 h 39"/>
                  <a:gd name="T22" fmla="*/ 14 w 34"/>
                  <a:gd name="T23" fmla="*/ 12 h 39"/>
                  <a:gd name="T24" fmla="*/ 14 w 34"/>
                  <a:gd name="T25" fmla="*/ 12 h 39"/>
                  <a:gd name="T26" fmla="*/ 19 w 34"/>
                  <a:gd name="T27" fmla="*/ 9 h 39"/>
                  <a:gd name="T28" fmla="*/ 15 w 34"/>
                  <a:gd name="T29" fmla="*/ 14 h 39"/>
                  <a:gd name="T30" fmla="*/ 17 w 34"/>
                  <a:gd name="T31" fmla="*/ 17 h 39"/>
                  <a:gd name="T32" fmla="*/ 19 w 34"/>
                  <a:gd name="T33" fmla="*/ 20 h 39"/>
                  <a:gd name="T34" fmla="*/ 22 w 34"/>
                  <a:gd name="T35" fmla="*/ 25 h 39"/>
                  <a:gd name="T36" fmla="*/ 32 w 34"/>
                  <a:gd name="T37" fmla="*/ 19 h 39"/>
                  <a:gd name="T38" fmla="*/ 31 w 34"/>
                  <a:gd name="T39" fmla="*/ 17 h 39"/>
                  <a:gd name="T40" fmla="*/ 27 w 34"/>
                  <a:gd name="T41" fmla="*/ 10 h 39"/>
                  <a:gd name="T42" fmla="*/ 24 w 34"/>
                  <a:gd name="T43" fmla="*/ 6 h 39"/>
                  <a:gd name="T44" fmla="*/ 24 w 34"/>
                  <a:gd name="T45" fmla="*/ 6 h 39"/>
                  <a:gd name="T46" fmla="*/ 21 w 34"/>
                  <a:gd name="T47" fmla="*/ 3 h 39"/>
                  <a:gd name="T48" fmla="*/ 13 w 34"/>
                  <a:gd name="T49" fmla="*/ 0 h 39"/>
                  <a:gd name="T50" fmla="*/ 0 w 34"/>
                  <a:gd name="T51" fmla="*/ 13 h 39"/>
                  <a:gd name="T52" fmla="*/ 3 w 34"/>
                  <a:gd name="T53" fmla="*/ 21 h 39"/>
                  <a:gd name="T54" fmla="*/ 5 w 34"/>
                  <a:gd name="T55" fmla="*/ 25 h 39"/>
                  <a:gd name="T56" fmla="*/ 7 w 34"/>
                  <a:gd name="T57" fmla="*/ 28 h 39"/>
                  <a:gd name="T58" fmla="*/ 9 w 34"/>
                  <a:gd name="T59" fmla="*/ 31 h 39"/>
                  <a:gd name="T60" fmla="*/ 9 w 34"/>
                  <a:gd name="T61" fmla="*/ 32 h 39"/>
                  <a:gd name="T62" fmla="*/ 12 w 34"/>
                  <a:gd name="T63" fmla="*/ 35 h 39"/>
                  <a:gd name="T64" fmla="*/ 21 w 34"/>
                  <a:gd name="T65" fmla="*/ 38 h 39"/>
                  <a:gd name="T66" fmla="*/ 34 w 34"/>
                  <a:gd name="T67" fmla="*/ 25 h 39"/>
                  <a:gd name="T68" fmla="*/ 27 w 34"/>
                  <a:gd name="T69" fmla="*/ 2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 h="39">
                    <a:moveTo>
                      <a:pt x="27" y="22"/>
                    </a:moveTo>
                    <a:cubicBezTo>
                      <a:pt x="22" y="25"/>
                      <a:pt x="22" y="25"/>
                      <a:pt x="22" y="25"/>
                    </a:cubicBezTo>
                    <a:cubicBezTo>
                      <a:pt x="22" y="25"/>
                      <a:pt x="22" y="25"/>
                      <a:pt x="22" y="25"/>
                    </a:cubicBezTo>
                    <a:cubicBezTo>
                      <a:pt x="22" y="26"/>
                      <a:pt x="22" y="26"/>
                      <a:pt x="22" y="26"/>
                    </a:cubicBezTo>
                    <a:cubicBezTo>
                      <a:pt x="21" y="27"/>
                      <a:pt x="21" y="27"/>
                      <a:pt x="21" y="27"/>
                    </a:cubicBezTo>
                    <a:cubicBezTo>
                      <a:pt x="20" y="27"/>
                      <a:pt x="20" y="27"/>
                      <a:pt x="20" y="26"/>
                    </a:cubicBezTo>
                    <a:cubicBezTo>
                      <a:pt x="16" y="31"/>
                      <a:pt x="16" y="31"/>
                      <a:pt x="16" y="31"/>
                    </a:cubicBezTo>
                    <a:cubicBezTo>
                      <a:pt x="20" y="26"/>
                      <a:pt x="20" y="26"/>
                      <a:pt x="20" y="26"/>
                    </a:cubicBezTo>
                    <a:cubicBezTo>
                      <a:pt x="20" y="26"/>
                      <a:pt x="20" y="26"/>
                      <a:pt x="20" y="26"/>
                    </a:cubicBezTo>
                    <a:cubicBezTo>
                      <a:pt x="19" y="26"/>
                      <a:pt x="19" y="26"/>
                      <a:pt x="19" y="26"/>
                    </a:cubicBezTo>
                    <a:cubicBezTo>
                      <a:pt x="19" y="25"/>
                      <a:pt x="19" y="25"/>
                      <a:pt x="19" y="25"/>
                    </a:cubicBezTo>
                    <a:cubicBezTo>
                      <a:pt x="17" y="21"/>
                      <a:pt x="17" y="21"/>
                      <a:pt x="17" y="21"/>
                    </a:cubicBezTo>
                    <a:cubicBezTo>
                      <a:pt x="17" y="21"/>
                      <a:pt x="17" y="21"/>
                      <a:pt x="17" y="21"/>
                    </a:cubicBezTo>
                    <a:cubicBezTo>
                      <a:pt x="15" y="18"/>
                      <a:pt x="15" y="18"/>
                      <a:pt x="15" y="18"/>
                    </a:cubicBezTo>
                    <a:cubicBezTo>
                      <a:pt x="14" y="18"/>
                      <a:pt x="14" y="18"/>
                      <a:pt x="14" y="18"/>
                    </a:cubicBezTo>
                    <a:cubicBezTo>
                      <a:pt x="12" y="15"/>
                      <a:pt x="12" y="15"/>
                      <a:pt x="12" y="15"/>
                    </a:cubicBezTo>
                    <a:cubicBezTo>
                      <a:pt x="12" y="15"/>
                      <a:pt x="12" y="15"/>
                      <a:pt x="12" y="15"/>
                    </a:cubicBezTo>
                    <a:cubicBezTo>
                      <a:pt x="12" y="14"/>
                      <a:pt x="12" y="14"/>
                      <a:pt x="12" y="14"/>
                    </a:cubicBezTo>
                    <a:cubicBezTo>
                      <a:pt x="12" y="14"/>
                      <a:pt x="12" y="14"/>
                      <a:pt x="12" y="14"/>
                    </a:cubicBezTo>
                    <a:cubicBezTo>
                      <a:pt x="12" y="14"/>
                      <a:pt x="12" y="14"/>
                      <a:pt x="12" y="14"/>
                    </a:cubicBezTo>
                    <a:cubicBezTo>
                      <a:pt x="11" y="14"/>
                      <a:pt x="11" y="13"/>
                      <a:pt x="11" y="13"/>
                    </a:cubicBezTo>
                    <a:cubicBezTo>
                      <a:pt x="12" y="12"/>
                      <a:pt x="12" y="12"/>
                      <a:pt x="12" y="12"/>
                    </a:cubicBezTo>
                    <a:cubicBezTo>
                      <a:pt x="13" y="12"/>
                      <a:pt x="13" y="12"/>
                      <a:pt x="13" y="12"/>
                    </a:cubicBezTo>
                    <a:cubicBezTo>
                      <a:pt x="13" y="12"/>
                      <a:pt x="13" y="12"/>
                      <a:pt x="14" y="12"/>
                    </a:cubicBezTo>
                    <a:cubicBezTo>
                      <a:pt x="17" y="7"/>
                      <a:pt x="17" y="7"/>
                      <a:pt x="17" y="7"/>
                    </a:cubicBezTo>
                    <a:cubicBezTo>
                      <a:pt x="14" y="12"/>
                      <a:pt x="14" y="12"/>
                      <a:pt x="14" y="12"/>
                    </a:cubicBezTo>
                    <a:cubicBezTo>
                      <a:pt x="14" y="13"/>
                      <a:pt x="14" y="13"/>
                      <a:pt x="14" y="13"/>
                    </a:cubicBezTo>
                    <a:cubicBezTo>
                      <a:pt x="19" y="9"/>
                      <a:pt x="19" y="9"/>
                      <a:pt x="19" y="9"/>
                    </a:cubicBezTo>
                    <a:cubicBezTo>
                      <a:pt x="14" y="12"/>
                      <a:pt x="14" y="12"/>
                      <a:pt x="14" y="12"/>
                    </a:cubicBezTo>
                    <a:cubicBezTo>
                      <a:pt x="15" y="14"/>
                      <a:pt x="15" y="14"/>
                      <a:pt x="15" y="14"/>
                    </a:cubicBezTo>
                    <a:cubicBezTo>
                      <a:pt x="15" y="14"/>
                      <a:pt x="15" y="14"/>
                      <a:pt x="15" y="14"/>
                    </a:cubicBezTo>
                    <a:cubicBezTo>
                      <a:pt x="17" y="17"/>
                      <a:pt x="17" y="17"/>
                      <a:pt x="17" y="17"/>
                    </a:cubicBezTo>
                    <a:cubicBezTo>
                      <a:pt x="17" y="17"/>
                      <a:pt x="17" y="17"/>
                      <a:pt x="17" y="17"/>
                    </a:cubicBezTo>
                    <a:cubicBezTo>
                      <a:pt x="19" y="20"/>
                      <a:pt x="19" y="20"/>
                      <a:pt x="19" y="20"/>
                    </a:cubicBezTo>
                    <a:cubicBezTo>
                      <a:pt x="21" y="23"/>
                      <a:pt x="21" y="23"/>
                      <a:pt x="21" y="23"/>
                    </a:cubicBezTo>
                    <a:cubicBezTo>
                      <a:pt x="22" y="25"/>
                      <a:pt x="22" y="25"/>
                      <a:pt x="22" y="25"/>
                    </a:cubicBezTo>
                    <a:cubicBezTo>
                      <a:pt x="27" y="22"/>
                      <a:pt x="27" y="22"/>
                      <a:pt x="27" y="22"/>
                    </a:cubicBezTo>
                    <a:cubicBezTo>
                      <a:pt x="32" y="19"/>
                      <a:pt x="32" y="19"/>
                      <a:pt x="32" y="19"/>
                    </a:cubicBezTo>
                    <a:cubicBezTo>
                      <a:pt x="31" y="17"/>
                      <a:pt x="31" y="17"/>
                      <a:pt x="31" y="17"/>
                    </a:cubicBezTo>
                    <a:cubicBezTo>
                      <a:pt x="31" y="17"/>
                      <a:pt x="31" y="17"/>
                      <a:pt x="31" y="17"/>
                    </a:cubicBezTo>
                    <a:cubicBezTo>
                      <a:pt x="29" y="14"/>
                      <a:pt x="29" y="14"/>
                      <a:pt x="29" y="14"/>
                    </a:cubicBezTo>
                    <a:cubicBezTo>
                      <a:pt x="27" y="10"/>
                      <a:pt x="27" y="10"/>
                      <a:pt x="27" y="10"/>
                    </a:cubicBezTo>
                    <a:cubicBezTo>
                      <a:pt x="24" y="7"/>
                      <a:pt x="24" y="7"/>
                      <a:pt x="24" y="7"/>
                    </a:cubicBezTo>
                    <a:cubicBezTo>
                      <a:pt x="24" y="6"/>
                      <a:pt x="24" y="6"/>
                      <a:pt x="24" y="6"/>
                    </a:cubicBezTo>
                    <a:cubicBezTo>
                      <a:pt x="24" y="6"/>
                      <a:pt x="24" y="6"/>
                      <a:pt x="24" y="6"/>
                    </a:cubicBezTo>
                    <a:cubicBezTo>
                      <a:pt x="24" y="6"/>
                      <a:pt x="24" y="6"/>
                      <a:pt x="24" y="6"/>
                    </a:cubicBezTo>
                    <a:cubicBezTo>
                      <a:pt x="23" y="5"/>
                      <a:pt x="22" y="4"/>
                      <a:pt x="21" y="3"/>
                    </a:cubicBezTo>
                    <a:cubicBezTo>
                      <a:pt x="21" y="3"/>
                      <a:pt x="21" y="3"/>
                      <a:pt x="21" y="3"/>
                    </a:cubicBezTo>
                    <a:cubicBezTo>
                      <a:pt x="20" y="3"/>
                      <a:pt x="20" y="3"/>
                      <a:pt x="20" y="3"/>
                    </a:cubicBezTo>
                    <a:cubicBezTo>
                      <a:pt x="18" y="1"/>
                      <a:pt x="15" y="0"/>
                      <a:pt x="13" y="0"/>
                    </a:cubicBezTo>
                    <a:cubicBezTo>
                      <a:pt x="9" y="0"/>
                      <a:pt x="6" y="2"/>
                      <a:pt x="4" y="4"/>
                    </a:cubicBezTo>
                    <a:cubicBezTo>
                      <a:pt x="1" y="6"/>
                      <a:pt x="0" y="10"/>
                      <a:pt x="0" y="13"/>
                    </a:cubicBezTo>
                    <a:cubicBezTo>
                      <a:pt x="0" y="16"/>
                      <a:pt x="0" y="18"/>
                      <a:pt x="2" y="21"/>
                    </a:cubicBezTo>
                    <a:cubicBezTo>
                      <a:pt x="3" y="21"/>
                      <a:pt x="3" y="21"/>
                      <a:pt x="3" y="21"/>
                    </a:cubicBezTo>
                    <a:cubicBezTo>
                      <a:pt x="5" y="25"/>
                      <a:pt x="5" y="25"/>
                      <a:pt x="5" y="25"/>
                    </a:cubicBezTo>
                    <a:cubicBezTo>
                      <a:pt x="5" y="25"/>
                      <a:pt x="5" y="25"/>
                      <a:pt x="5" y="25"/>
                    </a:cubicBezTo>
                    <a:cubicBezTo>
                      <a:pt x="7" y="28"/>
                      <a:pt x="7" y="28"/>
                      <a:pt x="7" y="28"/>
                    </a:cubicBezTo>
                    <a:cubicBezTo>
                      <a:pt x="7" y="28"/>
                      <a:pt x="7" y="28"/>
                      <a:pt x="7" y="28"/>
                    </a:cubicBezTo>
                    <a:cubicBezTo>
                      <a:pt x="9" y="31"/>
                      <a:pt x="9" y="31"/>
                      <a:pt x="9" y="31"/>
                    </a:cubicBezTo>
                    <a:cubicBezTo>
                      <a:pt x="9" y="31"/>
                      <a:pt x="9" y="31"/>
                      <a:pt x="9" y="31"/>
                    </a:cubicBezTo>
                    <a:cubicBezTo>
                      <a:pt x="10" y="32"/>
                      <a:pt x="10" y="32"/>
                      <a:pt x="10" y="32"/>
                    </a:cubicBezTo>
                    <a:cubicBezTo>
                      <a:pt x="9" y="32"/>
                      <a:pt x="9" y="32"/>
                      <a:pt x="9" y="32"/>
                    </a:cubicBezTo>
                    <a:cubicBezTo>
                      <a:pt x="10" y="34"/>
                      <a:pt x="11" y="35"/>
                      <a:pt x="12" y="35"/>
                    </a:cubicBezTo>
                    <a:cubicBezTo>
                      <a:pt x="12" y="35"/>
                      <a:pt x="12" y="35"/>
                      <a:pt x="12" y="35"/>
                    </a:cubicBezTo>
                    <a:cubicBezTo>
                      <a:pt x="12" y="36"/>
                      <a:pt x="12" y="36"/>
                      <a:pt x="12" y="36"/>
                    </a:cubicBezTo>
                    <a:cubicBezTo>
                      <a:pt x="15" y="37"/>
                      <a:pt x="18" y="39"/>
                      <a:pt x="21" y="38"/>
                    </a:cubicBezTo>
                    <a:cubicBezTo>
                      <a:pt x="24" y="38"/>
                      <a:pt x="27" y="37"/>
                      <a:pt x="30" y="35"/>
                    </a:cubicBezTo>
                    <a:cubicBezTo>
                      <a:pt x="32" y="32"/>
                      <a:pt x="34" y="29"/>
                      <a:pt x="34" y="25"/>
                    </a:cubicBezTo>
                    <a:cubicBezTo>
                      <a:pt x="34" y="23"/>
                      <a:pt x="33" y="21"/>
                      <a:pt x="32" y="18"/>
                    </a:cubicBezTo>
                    <a:lnTo>
                      <a:pt x="27"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0" name="Freeform 35">
                <a:extLst>
                  <a:ext uri="{FF2B5EF4-FFF2-40B4-BE49-F238E27FC236}">
                    <a16:creationId xmlns:a16="http://schemas.microsoft.com/office/drawing/2014/main" id="{5588FE0B-3BD2-AA31-5C3B-695508A7D3F0}"/>
                  </a:ext>
                </a:extLst>
              </p:cNvPr>
              <p:cNvSpPr>
                <a:spLocks/>
              </p:cNvSpPr>
              <p:nvPr/>
            </p:nvSpPr>
            <p:spPr bwMode="auto">
              <a:xfrm>
                <a:off x="6765018" y="3827230"/>
                <a:ext cx="39363" cy="53193"/>
              </a:xfrm>
              <a:custGeom>
                <a:avLst/>
                <a:gdLst>
                  <a:gd name="T0" fmla="*/ 22 w 26"/>
                  <a:gd name="T1" fmla="*/ 21 h 35"/>
                  <a:gd name="T2" fmla="*/ 10 w 26"/>
                  <a:gd name="T3" fmla="*/ 28 h 35"/>
                  <a:gd name="T4" fmla="*/ 9 w 26"/>
                  <a:gd name="T5" fmla="*/ 27 h 35"/>
                  <a:gd name="T6" fmla="*/ 8 w 26"/>
                  <a:gd name="T7" fmla="*/ 24 h 35"/>
                  <a:gd name="T8" fmla="*/ 6 w 26"/>
                  <a:gd name="T9" fmla="*/ 20 h 35"/>
                  <a:gd name="T10" fmla="*/ 4 w 26"/>
                  <a:gd name="T11" fmla="*/ 16 h 35"/>
                  <a:gd name="T12" fmla="*/ 3 w 26"/>
                  <a:gd name="T13" fmla="*/ 14 h 35"/>
                  <a:gd name="T14" fmla="*/ 15 w 26"/>
                  <a:gd name="T15" fmla="*/ 6 h 35"/>
                  <a:gd name="T16" fmla="*/ 16 w 26"/>
                  <a:gd name="T17" fmla="*/ 8 h 35"/>
                  <a:gd name="T18" fmla="*/ 17 w 26"/>
                  <a:gd name="T19" fmla="*/ 10 h 35"/>
                  <a:gd name="T20" fmla="*/ 19 w 26"/>
                  <a:gd name="T21" fmla="*/ 14 h 35"/>
                  <a:gd name="T22" fmla="*/ 21 w 26"/>
                  <a:gd name="T23" fmla="*/ 18 h 35"/>
                  <a:gd name="T24" fmla="*/ 22 w 26"/>
                  <a:gd name="T25" fmla="*/ 2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35">
                    <a:moveTo>
                      <a:pt x="22" y="21"/>
                    </a:moveTo>
                    <a:cubicBezTo>
                      <a:pt x="26" y="29"/>
                      <a:pt x="15" y="35"/>
                      <a:pt x="10" y="28"/>
                    </a:cubicBezTo>
                    <a:cubicBezTo>
                      <a:pt x="10" y="28"/>
                      <a:pt x="10" y="27"/>
                      <a:pt x="9" y="27"/>
                    </a:cubicBezTo>
                    <a:cubicBezTo>
                      <a:pt x="8" y="24"/>
                      <a:pt x="8" y="24"/>
                      <a:pt x="8" y="24"/>
                    </a:cubicBezTo>
                    <a:cubicBezTo>
                      <a:pt x="6" y="20"/>
                      <a:pt x="6" y="20"/>
                      <a:pt x="6" y="20"/>
                    </a:cubicBezTo>
                    <a:cubicBezTo>
                      <a:pt x="4" y="16"/>
                      <a:pt x="4" y="16"/>
                      <a:pt x="4" y="16"/>
                    </a:cubicBezTo>
                    <a:cubicBezTo>
                      <a:pt x="3" y="14"/>
                      <a:pt x="3" y="14"/>
                      <a:pt x="3" y="14"/>
                    </a:cubicBezTo>
                    <a:cubicBezTo>
                      <a:pt x="0" y="7"/>
                      <a:pt x="9" y="0"/>
                      <a:pt x="15" y="6"/>
                    </a:cubicBezTo>
                    <a:cubicBezTo>
                      <a:pt x="15" y="6"/>
                      <a:pt x="16" y="7"/>
                      <a:pt x="16" y="8"/>
                    </a:cubicBezTo>
                    <a:cubicBezTo>
                      <a:pt x="17" y="10"/>
                      <a:pt x="17" y="10"/>
                      <a:pt x="17" y="10"/>
                    </a:cubicBezTo>
                    <a:cubicBezTo>
                      <a:pt x="19" y="14"/>
                      <a:pt x="19" y="14"/>
                      <a:pt x="19" y="14"/>
                    </a:cubicBezTo>
                    <a:cubicBezTo>
                      <a:pt x="21" y="18"/>
                      <a:pt x="21" y="18"/>
                      <a:pt x="21" y="18"/>
                    </a:cubicBezTo>
                    <a:lnTo>
                      <a:pt x="22"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1" name="Freeform 36">
                <a:extLst>
                  <a:ext uri="{FF2B5EF4-FFF2-40B4-BE49-F238E27FC236}">
                    <a16:creationId xmlns:a16="http://schemas.microsoft.com/office/drawing/2014/main" id="{00CC843C-92B9-4CAB-E597-1A7C17AFDC95}"/>
                  </a:ext>
                </a:extLst>
              </p:cNvPr>
              <p:cNvSpPr>
                <a:spLocks/>
              </p:cNvSpPr>
              <p:nvPr/>
            </p:nvSpPr>
            <p:spPr bwMode="auto">
              <a:xfrm>
                <a:off x="6760762" y="3825102"/>
                <a:ext cx="47874" cy="58512"/>
              </a:xfrm>
              <a:custGeom>
                <a:avLst/>
                <a:gdLst>
                  <a:gd name="T0" fmla="*/ 20 w 32"/>
                  <a:gd name="T1" fmla="*/ 25 h 39"/>
                  <a:gd name="T2" fmla="*/ 20 w 32"/>
                  <a:gd name="T3" fmla="*/ 27 h 39"/>
                  <a:gd name="T4" fmla="*/ 18 w 32"/>
                  <a:gd name="T5" fmla="*/ 27 h 39"/>
                  <a:gd name="T6" fmla="*/ 13 w 32"/>
                  <a:gd name="T7" fmla="*/ 30 h 39"/>
                  <a:gd name="T8" fmla="*/ 18 w 32"/>
                  <a:gd name="T9" fmla="*/ 26 h 39"/>
                  <a:gd name="T10" fmla="*/ 18 w 32"/>
                  <a:gd name="T11" fmla="*/ 26 h 39"/>
                  <a:gd name="T12" fmla="*/ 16 w 32"/>
                  <a:gd name="T13" fmla="*/ 23 h 39"/>
                  <a:gd name="T14" fmla="*/ 12 w 32"/>
                  <a:gd name="T15" fmla="*/ 15 h 39"/>
                  <a:gd name="T16" fmla="*/ 12 w 32"/>
                  <a:gd name="T17" fmla="*/ 13 h 39"/>
                  <a:gd name="T18" fmla="*/ 11 w 32"/>
                  <a:gd name="T19" fmla="*/ 13 h 39"/>
                  <a:gd name="T20" fmla="*/ 13 w 32"/>
                  <a:gd name="T21" fmla="*/ 11 h 39"/>
                  <a:gd name="T22" fmla="*/ 18 w 32"/>
                  <a:gd name="T23" fmla="*/ 8 h 39"/>
                  <a:gd name="T24" fmla="*/ 14 w 32"/>
                  <a:gd name="T25" fmla="*/ 12 h 39"/>
                  <a:gd name="T26" fmla="*/ 15 w 32"/>
                  <a:gd name="T27" fmla="*/ 14 h 39"/>
                  <a:gd name="T28" fmla="*/ 17 w 32"/>
                  <a:gd name="T29" fmla="*/ 18 h 39"/>
                  <a:gd name="T30" fmla="*/ 19 w 32"/>
                  <a:gd name="T31" fmla="*/ 22 h 39"/>
                  <a:gd name="T32" fmla="*/ 25 w 32"/>
                  <a:gd name="T33" fmla="*/ 23 h 39"/>
                  <a:gd name="T34" fmla="*/ 25 w 32"/>
                  <a:gd name="T35" fmla="*/ 23 h 39"/>
                  <a:gd name="T36" fmla="*/ 29 w 32"/>
                  <a:gd name="T37" fmla="*/ 17 h 39"/>
                  <a:gd name="T38" fmla="*/ 27 w 32"/>
                  <a:gd name="T39" fmla="*/ 13 h 39"/>
                  <a:gd name="T40" fmla="*/ 25 w 32"/>
                  <a:gd name="T41" fmla="*/ 7 h 39"/>
                  <a:gd name="T42" fmla="*/ 22 w 32"/>
                  <a:gd name="T43" fmla="*/ 4 h 39"/>
                  <a:gd name="T44" fmla="*/ 22 w 32"/>
                  <a:gd name="T45" fmla="*/ 4 h 39"/>
                  <a:gd name="T46" fmla="*/ 4 w 32"/>
                  <a:gd name="T47" fmla="*/ 3 h 39"/>
                  <a:gd name="T48" fmla="*/ 1 w 32"/>
                  <a:gd name="T49" fmla="*/ 18 h 39"/>
                  <a:gd name="T50" fmla="*/ 2 w 32"/>
                  <a:gd name="T51" fmla="*/ 20 h 39"/>
                  <a:gd name="T52" fmla="*/ 4 w 32"/>
                  <a:gd name="T53" fmla="*/ 24 h 39"/>
                  <a:gd name="T54" fmla="*/ 6 w 32"/>
                  <a:gd name="T55" fmla="*/ 28 h 39"/>
                  <a:gd name="T56" fmla="*/ 7 w 32"/>
                  <a:gd name="T57" fmla="*/ 31 h 39"/>
                  <a:gd name="T58" fmla="*/ 7 w 32"/>
                  <a:gd name="T59" fmla="*/ 31 h 39"/>
                  <a:gd name="T60" fmla="*/ 8 w 32"/>
                  <a:gd name="T61" fmla="*/ 33 h 39"/>
                  <a:gd name="T62" fmla="*/ 13 w 32"/>
                  <a:gd name="T63" fmla="*/ 38 h 39"/>
                  <a:gd name="T64" fmla="*/ 28 w 32"/>
                  <a:gd name="T65" fmla="*/ 35 h 39"/>
                  <a:gd name="T66" fmla="*/ 31 w 32"/>
                  <a:gd name="T67" fmla="*/ 20 h 39"/>
                  <a:gd name="T68" fmla="*/ 31 w 32"/>
                  <a:gd name="T69" fmla="*/ 2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 h="39">
                    <a:moveTo>
                      <a:pt x="25" y="23"/>
                    </a:moveTo>
                    <a:cubicBezTo>
                      <a:pt x="20" y="25"/>
                      <a:pt x="20" y="25"/>
                      <a:pt x="20" y="25"/>
                    </a:cubicBezTo>
                    <a:cubicBezTo>
                      <a:pt x="20" y="26"/>
                      <a:pt x="20" y="26"/>
                      <a:pt x="20" y="26"/>
                    </a:cubicBezTo>
                    <a:cubicBezTo>
                      <a:pt x="20" y="27"/>
                      <a:pt x="20" y="27"/>
                      <a:pt x="20" y="27"/>
                    </a:cubicBezTo>
                    <a:cubicBezTo>
                      <a:pt x="19" y="27"/>
                      <a:pt x="19" y="27"/>
                      <a:pt x="19" y="27"/>
                    </a:cubicBezTo>
                    <a:cubicBezTo>
                      <a:pt x="18" y="27"/>
                      <a:pt x="18" y="27"/>
                      <a:pt x="18" y="27"/>
                    </a:cubicBezTo>
                    <a:cubicBezTo>
                      <a:pt x="18" y="27"/>
                      <a:pt x="18" y="27"/>
                      <a:pt x="18" y="27"/>
                    </a:cubicBezTo>
                    <a:cubicBezTo>
                      <a:pt x="13" y="30"/>
                      <a:pt x="13" y="30"/>
                      <a:pt x="13" y="30"/>
                    </a:cubicBezTo>
                    <a:cubicBezTo>
                      <a:pt x="18" y="27"/>
                      <a:pt x="18" y="27"/>
                      <a:pt x="18" y="27"/>
                    </a:cubicBezTo>
                    <a:cubicBezTo>
                      <a:pt x="18" y="26"/>
                      <a:pt x="18" y="26"/>
                      <a:pt x="18" y="26"/>
                    </a:cubicBezTo>
                    <a:cubicBezTo>
                      <a:pt x="12" y="29"/>
                      <a:pt x="12" y="29"/>
                      <a:pt x="12" y="29"/>
                    </a:cubicBezTo>
                    <a:cubicBezTo>
                      <a:pt x="18" y="26"/>
                      <a:pt x="18" y="26"/>
                      <a:pt x="18" y="26"/>
                    </a:cubicBezTo>
                    <a:cubicBezTo>
                      <a:pt x="16" y="23"/>
                      <a:pt x="16" y="23"/>
                      <a:pt x="16" y="23"/>
                    </a:cubicBezTo>
                    <a:cubicBezTo>
                      <a:pt x="16" y="23"/>
                      <a:pt x="16" y="23"/>
                      <a:pt x="16" y="23"/>
                    </a:cubicBezTo>
                    <a:cubicBezTo>
                      <a:pt x="14" y="19"/>
                      <a:pt x="14" y="19"/>
                      <a:pt x="14" y="19"/>
                    </a:cubicBezTo>
                    <a:cubicBezTo>
                      <a:pt x="12" y="15"/>
                      <a:pt x="12" y="15"/>
                      <a:pt x="12" y="15"/>
                    </a:cubicBezTo>
                    <a:cubicBezTo>
                      <a:pt x="12" y="15"/>
                      <a:pt x="12" y="15"/>
                      <a:pt x="12" y="15"/>
                    </a:cubicBezTo>
                    <a:cubicBezTo>
                      <a:pt x="12" y="13"/>
                      <a:pt x="12" y="13"/>
                      <a:pt x="12" y="13"/>
                    </a:cubicBezTo>
                    <a:cubicBezTo>
                      <a:pt x="12" y="13"/>
                      <a:pt x="12" y="13"/>
                      <a:pt x="12" y="13"/>
                    </a:cubicBezTo>
                    <a:cubicBezTo>
                      <a:pt x="11" y="13"/>
                      <a:pt x="11" y="13"/>
                      <a:pt x="11" y="13"/>
                    </a:cubicBezTo>
                    <a:cubicBezTo>
                      <a:pt x="12" y="12"/>
                      <a:pt x="12" y="12"/>
                      <a:pt x="12" y="12"/>
                    </a:cubicBezTo>
                    <a:cubicBezTo>
                      <a:pt x="13" y="11"/>
                      <a:pt x="13" y="11"/>
                      <a:pt x="13" y="11"/>
                    </a:cubicBezTo>
                    <a:cubicBezTo>
                      <a:pt x="13" y="11"/>
                      <a:pt x="13" y="11"/>
                      <a:pt x="14" y="12"/>
                    </a:cubicBezTo>
                    <a:cubicBezTo>
                      <a:pt x="18" y="8"/>
                      <a:pt x="18" y="8"/>
                      <a:pt x="18" y="8"/>
                    </a:cubicBezTo>
                    <a:cubicBezTo>
                      <a:pt x="14" y="12"/>
                      <a:pt x="14" y="12"/>
                      <a:pt x="14" y="12"/>
                    </a:cubicBezTo>
                    <a:cubicBezTo>
                      <a:pt x="14" y="12"/>
                      <a:pt x="14" y="12"/>
                      <a:pt x="14" y="12"/>
                    </a:cubicBezTo>
                    <a:cubicBezTo>
                      <a:pt x="15" y="14"/>
                      <a:pt x="15" y="14"/>
                      <a:pt x="15" y="14"/>
                    </a:cubicBezTo>
                    <a:cubicBezTo>
                      <a:pt x="15" y="14"/>
                      <a:pt x="15" y="14"/>
                      <a:pt x="15" y="14"/>
                    </a:cubicBezTo>
                    <a:cubicBezTo>
                      <a:pt x="17" y="18"/>
                      <a:pt x="17" y="18"/>
                      <a:pt x="17" y="18"/>
                    </a:cubicBezTo>
                    <a:cubicBezTo>
                      <a:pt x="17" y="18"/>
                      <a:pt x="17" y="18"/>
                      <a:pt x="17" y="18"/>
                    </a:cubicBezTo>
                    <a:cubicBezTo>
                      <a:pt x="19" y="22"/>
                      <a:pt x="19" y="22"/>
                      <a:pt x="19" y="22"/>
                    </a:cubicBezTo>
                    <a:cubicBezTo>
                      <a:pt x="19" y="22"/>
                      <a:pt x="19" y="22"/>
                      <a:pt x="19" y="22"/>
                    </a:cubicBezTo>
                    <a:cubicBezTo>
                      <a:pt x="20" y="25"/>
                      <a:pt x="20" y="25"/>
                      <a:pt x="20" y="25"/>
                    </a:cubicBezTo>
                    <a:cubicBezTo>
                      <a:pt x="25" y="23"/>
                      <a:pt x="25" y="23"/>
                      <a:pt x="25" y="23"/>
                    </a:cubicBezTo>
                    <a:cubicBezTo>
                      <a:pt x="20" y="25"/>
                      <a:pt x="20" y="25"/>
                      <a:pt x="20" y="25"/>
                    </a:cubicBezTo>
                    <a:cubicBezTo>
                      <a:pt x="25" y="23"/>
                      <a:pt x="25" y="23"/>
                      <a:pt x="25" y="23"/>
                    </a:cubicBezTo>
                    <a:cubicBezTo>
                      <a:pt x="31" y="20"/>
                      <a:pt x="31" y="20"/>
                      <a:pt x="31" y="20"/>
                    </a:cubicBezTo>
                    <a:cubicBezTo>
                      <a:pt x="29" y="17"/>
                      <a:pt x="29" y="17"/>
                      <a:pt x="29" y="17"/>
                    </a:cubicBezTo>
                    <a:cubicBezTo>
                      <a:pt x="29" y="17"/>
                      <a:pt x="29" y="17"/>
                      <a:pt x="29" y="17"/>
                    </a:cubicBezTo>
                    <a:cubicBezTo>
                      <a:pt x="27" y="13"/>
                      <a:pt x="27" y="13"/>
                      <a:pt x="27" y="13"/>
                    </a:cubicBezTo>
                    <a:cubicBezTo>
                      <a:pt x="26" y="9"/>
                      <a:pt x="26" y="9"/>
                      <a:pt x="26" y="9"/>
                    </a:cubicBezTo>
                    <a:cubicBezTo>
                      <a:pt x="25" y="7"/>
                      <a:pt x="25" y="7"/>
                      <a:pt x="25" y="7"/>
                    </a:cubicBezTo>
                    <a:cubicBezTo>
                      <a:pt x="25" y="7"/>
                      <a:pt x="25" y="7"/>
                      <a:pt x="25" y="7"/>
                    </a:cubicBezTo>
                    <a:cubicBezTo>
                      <a:pt x="24" y="6"/>
                      <a:pt x="23" y="5"/>
                      <a:pt x="22" y="4"/>
                    </a:cubicBezTo>
                    <a:cubicBezTo>
                      <a:pt x="22" y="4"/>
                      <a:pt x="22" y="4"/>
                      <a:pt x="22" y="4"/>
                    </a:cubicBezTo>
                    <a:cubicBezTo>
                      <a:pt x="22" y="4"/>
                      <a:pt x="22" y="4"/>
                      <a:pt x="22" y="4"/>
                    </a:cubicBezTo>
                    <a:cubicBezTo>
                      <a:pt x="20" y="1"/>
                      <a:pt x="16" y="0"/>
                      <a:pt x="13" y="0"/>
                    </a:cubicBezTo>
                    <a:cubicBezTo>
                      <a:pt x="9" y="0"/>
                      <a:pt x="6" y="1"/>
                      <a:pt x="4" y="3"/>
                    </a:cubicBezTo>
                    <a:cubicBezTo>
                      <a:pt x="1" y="6"/>
                      <a:pt x="0" y="9"/>
                      <a:pt x="0" y="13"/>
                    </a:cubicBezTo>
                    <a:cubicBezTo>
                      <a:pt x="0" y="15"/>
                      <a:pt x="0" y="17"/>
                      <a:pt x="1" y="18"/>
                    </a:cubicBezTo>
                    <a:cubicBezTo>
                      <a:pt x="1" y="18"/>
                      <a:pt x="1" y="18"/>
                      <a:pt x="1" y="18"/>
                    </a:cubicBezTo>
                    <a:cubicBezTo>
                      <a:pt x="2" y="20"/>
                      <a:pt x="2" y="20"/>
                      <a:pt x="2" y="20"/>
                    </a:cubicBezTo>
                    <a:cubicBezTo>
                      <a:pt x="2" y="20"/>
                      <a:pt x="2" y="20"/>
                      <a:pt x="2" y="20"/>
                    </a:cubicBezTo>
                    <a:cubicBezTo>
                      <a:pt x="4" y="24"/>
                      <a:pt x="4" y="24"/>
                      <a:pt x="4" y="24"/>
                    </a:cubicBezTo>
                    <a:cubicBezTo>
                      <a:pt x="4" y="24"/>
                      <a:pt x="4" y="24"/>
                      <a:pt x="4" y="24"/>
                    </a:cubicBezTo>
                    <a:cubicBezTo>
                      <a:pt x="6" y="28"/>
                      <a:pt x="6" y="28"/>
                      <a:pt x="6" y="28"/>
                    </a:cubicBezTo>
                    <a:cubicBezTo>
                      <a:pt x="6" y="28"/>
                      <a:pt x="6" y="28"/>
                      <a:pt x="6" y="28"/>
                    </a:cubicBezTo>
                    <a:cubicBezTo>
                      <a:pt x="7" y="31"/>
                      <a:pt x="7" y="31"/>
                      <a:pt x="7" y="31"/>
                    </a:cubicBezTo>
                    <a:cubicBezTo>
                      <a:pt x="7" y="31"/>
                      <a:pt x="7" y="31"/>
                      <a:pt x="7" y="31"/>
                    </a:cubicBezTo>
                    <a:cubicBezTo>
                      <a:pt x="7" y="31"/>
                      <a:pt x="7" y="31"/>
                      <a:pt x="7" y="31"/>
                    </a:cubicBezTo>
                    <a:cubicBezTo>
                      <a:pt x="7" y="32"/>
                      <a:pt x="8" y="33"/>
                      <a:pt x="8" y="33"/>
                    </a:cubicBezTo>
                    <a:cubicBezTo>
                      <a:pt x="8" y="33"/>
                      <a:pt x="8" y="33"/>
                      <a:pt x="8" y="33"/>
                    </a:cubicBezTo>
                    <a:cubicBezTo>
                      <a:pt x="8" y="34"/>
                      <a:pt x="8" y="34"/>
                      <a:pt x="8" y="34"/>
                    </a:cubicBezTo>
                    <a:cubicBezTo>
                      <a:pt x="10" y="35"/>
                      <a:pt x="11" y="37"/>
                      <a:pt x="13" y="38"/>
                    </a:cubicBezTo>
                    <a:cubicBezTo>
                      <a:pt x="15" y="38"/>
                      <a:pt x="17" y="39"/>
                      <a:pt x="19" y="39"/>
                    </a:cubicBezTo>
                    <a:cubicBezTo>
                      <a:pt x="22" y="39"/>
                      <a:pt x="25" y="38"/>
                      <a:pt x="28" y="35"/>
                    </a:cubicBezTo>
                    <a:cubicBezTo>
                      <a:pt x="30" y="33"/>
                      <a:pt x="32" y="30"/>
                      <a:pt x="32" y="26"/>
                    </a:cubicBezTo>
                    <a:cubicBezTo>
                      <a:pt x="32" y="24"/>
                      <a:pt x="32" y="22"/>
                      <a:pt x="31" y="20"/>
                    </a:cubicBezTo>
                    <a:cubicBezTo>
                      <a:pt x="31" y="20"/>
                      <a:pt x="31" y="20"/>
                      <a:pt x="31" y="20"/>
                    </a:cubicBezTo>
                    <a:cubicBezTo>
                      <a:pt x="31" y="20"/>
                      <a:pt x="31" y="20"/>
                      <a:pt x="31" y="20"/>
                    </a:cubicBezTo>
                    <a:lnTo>
                      <a:pt x="2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2" name="Freeform 37">
                <a:extLst>
                  <a:ext uri="{FF2B5EF4-FFF2-40B4-BE49-F238E27FC236}">
                    <a16:creationId xmlns:a16="http://schemas.microsoft.com/office/drawing/2014/main" id="{34600D1E-A853-1125-C100-7EC1C6F4AA33}"/>
                  </a:ext>
                </a:extLst>
              </p:cNvPr>
              <p:cNvSpPr>
                <a:spLocks/>
              </p:cNvSpPr>
              <p:nvPr/>
            </p:nvSpPr>
            <p:spPr bwMode="auto">
              <a:xfrm>
                <a:off x="6815019" y="3948509"/>
                <a:ext cx="36171" cy="53193"/>
              </a:xfrm>
              <a:custGeom>
                <a:avLst/>
                <a:gdLst>
                  <a:gd name="T0" fmla="*/ 21 w 24"/>
                  <a:gd name="T1" fmla="*/ 22 h 35"/>
                  <a:gd name="T2" fmla="*/ 9 w 24"/>
                  <a:gd name="T3" fmla="*/ 29 h 35"/>
                  <a:gd name="T4" fmla="*/ 8 w 24"/>
                  <a:gd name="T5" fmla="*/ 27 h 35"/>
                  <a:gd name="T6" fmla="*/ 7 w 24"/>
                  <a:gd name="T7" fmla="*/ 24 h 35"/>
                  <a:gd name="T8" fmla="*/ 5 w 24"/>
                  <a:gd name="T9" fmla="*/ 19 h 35"/>
                  <a:gd name="T10" fmla="*/ 4 w 24"/>
                  <a:gd name="T11" fmla="*/ 15 h 35"/>
                  <a:gd name="T12" fmla="*/ 3 w 24"/>
                  <a:gd name="T13" fmla="*/ 13 h 35"/>
                  <a:gd name="T14" fmla="*/ 16 w 24"/>
                  <a:gd name="T15" fmla="*/ 7 h 35"/>
                  <a:gd name="T16" fmla="*/ 17 w 24"/>
                  <a:gd name="T17" fmla="*/ 8 h 35"/>
                  <a:gd name="T18" fmla="*/ 17 w 24"/>
                  <a:gd name="T19" fmla="*/ 10 h 35"/>
                  <a:gd name="T20" fmla="*/ 19 w 24"/>
                  <a:gd name="T21" fmla="*/ 14 h 35"/>
                  <a:gd name="T22" fmla="*/ 20 w 24"/>
                  <a:gd name="T23" fmla="*/ 19 h 35"/>
                  <a:gd name="T24" fmla="*/ 21 w 24"/>
                  <a:gd name="T2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35">
                    <a:moveTo>
                      <a:pt x="21" y="22"/>
                    </a:moveTo>
                    <a:cubicBezTo>
                      <a:pt x="24" y="29"/>
                      <a:pt x="15" y="35"/>
                      <a:pt x="9" y="29"/>
                    </a:cubicBezTo>
                    <a:cubicBezTo>
                      <a:pt x="9" y="28"/>
                      <a:pt x="8" y="28"/>
                      <a:pt x="8" y="27"/>
                    </a:cubicBezTo>
                    <a:cubicBezTo>
                      <a:pt x="7" y="24"/>
                      <a:pt x="7" y="24"/>
                      <a:pt x="7" y="24"/>
                    </a:cubicBezTo>
                    <a:cubicBezTo>
                      <a:pt x="5" y="19"/>
                      <a:pt x="5" y="19"/>
                      <a:pt x="5" y="19"/>
                    </a:cubicBezTo>
                    <a:cubicBezTo>
                      <a:pt x="4" y="15"/>
                      <a:pt x="4" y="15"/>
                      <a:pt x="4" y="15"/>
                    </a:cubicBezTo>
                    <a:cubicBezTo>
                      <a:pt x="3" y="13"/>
                      <a:pt x="3" y="13"/>
                      <a:pt x="3" y="13"/>
                    </a:cubicBezTo>
                    <a:cubicBezTo>
                      <a:pt x="0" y="5"/>
                      <a:pt x="11" y="0"/>
                      <a:pt x="16" y="7"/>
                    </a:cubicBezTo>
                    <a:cubicBezTo>
                      <a:pt x="16" y="7"/>
                      <a:pt x="16" y="8"/>
                      <a:pt x="17" y="8"/>
                    </a:cubicBezTo>
                    <a:cubicBezTo>
                      <a:pt x="17" y="10"/>
                      <a:pt x="17" y="10"/>
                      <a:pt x="17" y="10"/>
                    </a:cubicBezTo>
                    <a:cubicBezTo>
                      <a:pt x="19" y="14"/>
                      <a:pt x="19" y="14"/>
                      <a:pt x="19" y="14"/>
                    </a:cubicBezTo>
                    <a:cubicBezTo>
                      <a:pt x="20" y="19"/>
                      <a:pt x="20" y="19"/>
                      <a:pt x="20" y="19"/>
                    </a:cubicBezTo>
                    <a:lnTo>
                      <a:pt x="21"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3" name="Freeform 38">
                <a:extLst>
                  <a:ext uri="{FF2B5EF4-FFF2-40B4-BE49-F238E27FC236}">
                    <a16:creationId xmlns:a16="http://schemas.microsoft.com/office/drawing/2014/main" id="{734A721E-38FE-6B67-B7BB-5C2D38746B49}"/>
                  </a:ext>
                </a:extLst>
              </p:cNvPr>
              <p:cNvSpPr>
                <a:spLocks/>
              </p:cNvSpPr>
              <p:nvPr/>
            </p:nvSpPr>
            <p:spPr bwMode="auto">
              <a:xfrm>
                <a:off x="6809700" y="3944254"/>
                <a:ext cx="47874" cy="60640"/>
              </a:xfrm>
              <a:custGeom>
                <a:avLst/>
                <a:gdLst>
                  <a:gd name="T0" fmla="*/ 19 w 31"/>
                  <a:gd name="T1" fmla="*/ 27 h 40"/>
                  <a:gd name="T2" fmla="*/ 19 w 31"/>
                  <a:gd name="T3" fmla="*/ 28 h 40"/>
                  <a:gd name="T4" fmla="*/ 17 w 31"/>
                  <a:gd name="T5" fmla="*/ 28 h 40"/>
                  <a:gd name="T6" fmla="*/ 17 w 31"/>
                  <a:gd name="T7" fmla="*/ 28 h 40"/>
                  <a:gd name="T8" fmla="*/ 16 w 31"/>
                  <a:gd name="T9" fmla="*/ 28 h 40"/>
                  <a:gd name="T10" fmla="*/ 14 w 31"/>
                  <a:gd name="T11" fmla="*/ 20 h 40"/>
                  <a:gd name="T12" fmla="*/ 12 w 31"/>
                  <a:gd name="T13" fmla="*/ 16 h 40"/>
                  <a:gd name="T14" fmla="*/ 12 w 31"/>
                  <a:gd name="T15" fmla="*/ 14 h 40"/>
                  <a:gd name="T16" fmla="*/ 11 w 31"/>
                  <a:gd name="T17" fmla="*/ 13 h 40"/>
                  <a:gd name="T18" fmla="*/ 13 w 31"/>
                  <a:gd name="T19" fmla="*/ 12 h 40"/>
                  <a:gd name="T20" fmla="*/ 14 w 31"/>
                  <a:gd name="T21" fmla="*/ 13 h 40"/>
                  <a:gd name="T22" fmla="*/ 14 w 31"/>
                  <a:gd name="T23" fmla="*/ 13 h 40"/>
                  <a:gd name="T24" fmla="*/ 14 w 31"/>
                  <a:gd name="T25" fmla="*/ 13 h 40"/>
                  <a:gd name="T26" fmla="*/ 14 w 31"/>
                  <a:gd name="T27" fmla="*/ 13 h 40"/>
                  <a:gd name="T28" fmla="*/ 14 w 31"/>
                  <a:gd name="T29" fmla="*/ 13 h 40"/>
                  <a:gd name="T30" fmla="*/ 14 w 31"/>
                  <a:gd name="T31" fmla="*/ 13 h 40"/>
                  <a:gd name="T32" fmla="*/ 15 w 31"/>
                  <a:gd name="T33" fmla="*/ 15 h 40"/>
                  <a:gd name="T34" fmla="*/ 16 w 31"/>
                  <a:gd name="T35" fmla="*/ 19 h 40"/>
                  <a:gd name="T36" fmla="*/ 18 w 31"/>
                  <a:gd name="T37" fmla="*/ 24 h 40"/>
                  <a:gd name="T38" fmla="*/ 19 w 31"/>
                  <a:gd name="T39" fmla="*/ 27 h 40"/>
                  <a:gd name="T40" fmla="*/ 30 w 31"/>
                  <a:gd name="T41" fmla="*/ 23 h 40"/>
                  <a:gd name="T42" fmla="*/ 29 w 31"/>
                  <a:gd name="T43" fmla="*/ 20 h 40"/>
                  <a:gd name="T44" fmla="*/ 26 w 31"/>
                  <a:gd name="T45" fmla="*/ 11 h 40"/>
                  <a:gd name="T46" fmla="*/ 25 w 31"/>
                  <a:gd name="T47" fmla="*/ 9 h 40"/>
                  <a:gd name="T48" fmla="*/ 24 w 31"/>
                  <a:gd name="T49" fmla="*/ 6 h 40"/>
                  <a:gd name="T50" fmla="*/ 19 w 31"/>
                  <a:gd name="T51" fmla="*/ 2 h 40"/>
                  <a:gd name="T52" fmla="*/ 4 w 31"/>
                  <a:gd name="T53" fmla="*/ 4 h 40"/>
                  <a:gd name="T54" fmla="*/ 0 w 31"/>
                  <a:gd name="T55" fmla="*/ 18 h 40"/>
                  <a:gd name="T56" fmla="*/ 1 w 31"/>
                  <a:gd name="T57" fmla="*/ 20 h 40"/>
                  <a:gd name="T58" fmla="*/ 3 w 31"/>
                  <a:gd name="T59" fmla="*/ 24 h 40"/>
                  <a:gd name="T60" fmla="*/ 4 w 31"/>
                  <a:gd name="T61" fmla="*/ 29 h 40"/>
                  <a:gd name="T62" fmla="*/ 5 w 31"/>
                  <a:gd name="T63" fmla="*/ 31 h 40"/>
                  <a:gd name="T64" fmla="*/ 8 w 31"/>
                  <a:gd name="T65" fmla="*/ 36 h 40"/>
                  <a:gd name="T66" fmla="*/ 8 w 31"/>
                  <a:gd name="T67" fmla="*/ 36 h 40"/>
                  <a:gd name="T68" fmla="*/ 27 w 31"/>
                  <a:gd name="T69" fmla="*/ 37 h 40"/>
                  <a:gd name="T70" fmla="*/ 30 w 31"/>
                  <a:gd name="T71" fmla="*/ 23 h 40"/>
                  <a:gd name="T72" fmla="*/ 24 w 31"/>
                  <a:gd name="T73"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40">
                    <a:moveTo>
                      <a:pt x="24" y="25"/>
                    </a:moveTo>
                    <a:cubicBezTo>
                      <a:pt x="19" y="27"/>
                      <a:pt x="19" y="27"/>
                      <a:pt x="19" y="27"/>
                    </a:cubicBezTo>
                    <a:cubicBezTo>
                      <a:pt x="19" y="27"/>
                      <a:pt x="19" y="27"/>
                      <a:pt x="19" y="27"/>
                    </a:cubicBezTo>
                    <a:cubicBezTo>
                      <a:pt x="19" y="28"/>
                      <a:pt x="19" y="28"/>
                      <a:pt x="19" y="28"/>
                    </a:cubicBezTo>
                    <a:cubicBezTo>
                      <a:pt x="17" y="29"/>
                      <a:pt x="17" y="29"/>
                      <a:pt x="17" y="29"/>
                    </a:cubicBezTo>
                    <a:cubicBezTo>
                      <a:pt x="17" y="28"/>
                      <a:pt x="17" y="29"/>
                      <a:pt x="17" y="28"/>
                    </a:cubicBezTo>
                    <a:cubicBezTo>
                      <a:pt x="12" y="32"/>
                      <a:pt x="12" y="32"/>
                      <a:pt x="12" y="32"/>
                    </a:cubicBezTo>
                    <a:cubicBezTo>
                      <a:pt x="17" y="28"/>
                      <a:pt x="17" y="28"/>
                      <a:pt x="17" y="28"/>
                    </a:cubicBezTo>
                    <a:cubicBezTo>
                      <a:pt x="16" y="28"/>
                      <a:pt x="16" y="28"/>
                      <a:pt x="16" y="28"/>
                    </a:cubicBezTo>
                    <a:cubicBezTo>
                      <a:pt x="16" y="28"/>
                      <a:pt x="16" y="28"/>
                      <a:pt x="16" y="28"/>
                    </a:cubicBezTo>
                    <a:cubicBezTo>
                      <a:pt x="15" y="25"/>
                      <a:pt x="15" y="25"/>
                      <a:pt x="15" y="25"/>
                    </a:cubicBezTo>
                    <a:cubicBezTo>
                      <a:pt x="14" y="20"/>
                      <a:pt x="14" y="20"/>
                      <a:pt x="14" y="20"/>
                    </a:cubicBezTo>
                    <a:cubicBezTo>
                      <a:pt x="14" y="20"/>
                      <a:pt x="14" y="20"/>
                      <a:pt x="14" y="20"/>
                    </a:cubicBezTo>
                    <a:cubicBezTo>
                      <a:pt x="12" y="16"/>
                      <a:pt x="12" y="16"/>
                      <a:pt x="12" y="16"/>
                    </a:cubicBezTo>
                    <a:cubicBezTo>
                      <a:pt x="12" y="16"/>
                      <a:pt x="12" y="16"/>
                      <a:pt x="12" y="16"/>
                    </a:cubicBezTo>
                    <a:cubicBezTo>
                      <a:pt x="12" y="14"/>
                      <a:pt x="12" y="14"/>
                      <a:pt x="12" y="14"/>
                    </a:cubicBezTo>
                    <a:cubicBezTo>
                      <a:pt x="12" y="14"/>
                      <a:pt x="12" y="14"/>
                      <a:pt x="12" y="14"/>
                    </a:cubicBezTo>
                    <a:cubicBezTo>
                      <a:pt x="11" y="13"/>
                      <a:pt x="11" y="13"/>
                      <a:pt x="11" y="13"/>
                    </a:cubicBezTo>
                    <a:cubicBezTo>
                      <a:pt x="12" y="13"/>
                      <a:pt x="12" y="13"/>
                      <a:pt x="12" y="13"/>
                    </a:cubicBezTo>
                    <a:cubicBezTo>
                      <a:pt x="13" y="12"/>
                      <a:pt x="13" y="12"/>
                      <a:pt x="13" y="12"/>
                    </a:cubicBezTo>
                    <a:cubicBezTo>
                      <a:pt x="13" y="12"/>
                      <a:pt x="13" y="12"/>
                      <a:pt x="13" y="12"/>
                    </a:cubicBezTo>
                    <a:cubicBezTo>
                      <a:pt x="13" y="12"/>
                      <a:pt x="14" y="13"/>
                      <a:pt x="14" y="13"/>
                    </a:cubicBezTo>
                    <a:cubicBezTo>
                      <a:pt x="19" y="10"/>
                      <a:pt x="19" y="10"/>
                      <a:pt x="19" y="10"/>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5" y="15"/>
                      <a:pt x="15" y="15"/>
                      <a:pt x="15" y="15"/>
                    </a:cubicBezTo>
                    <a:cubicBezTo>
                      <a:pt x="15" y="15"/>
                      <a:pt x="15" y="15"/>
                      <a:pt x="15" y="15"/>
                    </a:cubicBezTo>
                    <a:cubicBezTo>
                      <a:pt x="16" y="19"/>
                      <a:pt x="16" y="19"/>
                      <a:pt x="16" y="19"/>
                    </a:cubicBezTo>
                    <a:cubicBezTo>
                      <a:pt x="16" y="19"/>
                      <a:pt x="16" y="19"/>
                      <a:pt x="16" y="19"/>
                    </a:cubicBezTo>
                    <a:cubicBezTo>
                      <a:pt x="18" y="24"/>
                      <a:pt x="18" y="24"/>
                      <a:pt x="18" y="24"/>
                    </a:cubicBezTo>
                    <a:cubicBezTo>
                      <a:pt x="18" y="24"/>
                      <a:pt x="18" y="24"/>
                      <a:pt x="18" y="24"/>
                    </a:cubicBezTo>
                    <a:cubicBezTo>
                      <a:pt x="19" y="27"/>
                      <a:pt x="19" y="27"/>
                      <a:pt x="19" y="27"/>
                    </a:cubicBezTo>
                    <a:cubicBezTo>
                      <a:pt x="19" y="27"/>
                      <a:pt x="19" y="27"/>
                      <a:pt x="19" y="27"/>
                    </a:cubicBezTo>
                    <a:cubicBezTo>
                      <a:pt x="24" y="25"/>
                      <a:pt x="24" y="25"/>
                      <a:pt x="24" y="25"/>
                    </a:cubicBezTo>
                    <a:cubicBezTo>
                      <a:pt x="30" y="23"/>
                      <a:pt x="30" y="23"/>
                      <a:pt x="30" y="23"/>
                    </a:cubicBezTo>
                    <a:cubicBezTo>
                      <a:pt x="29" y="20"/>
                      <a:pt x="29" y="20"/>
                      <a:pt x="29" y="20"/>
                    </a:cubicBezTo>
                    <a:cubicBezTo>
                      <a:pt x="29" y="20"/>
                      <a:pt x="29" y="20"/>
                      <a:pt x="29" y="20"/>
                    </a:cubicBezTo>
                    <a:cubicBezTo>
                      <a:pt x="27" y="15"/>
                      <a:pt x="27" y="15"/>
                      <a:pt x="27" y="15"/>
                    </a:cubicBezTo>
                    <a:cubicBezTo>
                      <a:pt x="26" y="11"/>
                      <a:pt x="26" y="11"/>
                      <a:pt x="26" y="11"/>
                    </a:cubicBezTo>
                    <a:cubicBezTo>
                      <a:pt x="25" y="9"/>
                      <a:pt x="25" y="9"/>
                      <a:pt x="25" y="9"/>
                    </a:cubicBezTo>
                    <a:cubicBezTo>
                      <a:pt x="25" y="9"/>
                      <a:pt x="25" y="9"/>
                      <a:pt x="25" y="9"/>
                    </a:cubicBezTo>
                    <a:cubicBezTo>
                      <a:pt x="25" y="8"/>
                      <a:pt x="24" y="7"/>
                      <a:pt x="24" y="6"/>
                    </a:cubicBezTo>
                    <a:cubicBezTo>
                      <a:pt x="24" y="6"/>
                      <a:pt x="24" y="6"/>
                      <a:pt x="24" y="6"/>
                    </a:cubicBezTo>
                    <a:cubicBezTo>
                      <a:pt x="24" y="6"/>
                      <a:pt x="24" y="6"/>
                      <a:pt x="24" y="6"/>
                    </a:cubicBezTo>
                    <a:cubicBezTo>
                      <a:pt x="22" y="4"/>
                      <a:pt x="21" y="3"/>
                      <a:pt x="19" y="2"/>
                    </a:cubicBezTo>
                    <a:cubicBezTo>
                      <a:pt x="17" y="1"/>
                      <a:pt x="15" y="0"/>
                      <a:pt x="13" y="0"/>
                    </a:cubicBezTo>
                    <a:cubicBezTo>
                      <a:pt x="9" y="1"/>
                      <a:pt x="6" y="2"/>
                      <a:pt x="4" y="4"/>
                    </a:cubicBezTo>
                    <a:cubicBezTo>
                      <a:pt x="1" y="6"/>
                      <a:pt x="0" y="10"/>
                      <a:pt x="0" y="13"/>
                    </a:cubicBezTo>
                    <a:cubicBezTo>
                      <a:pt x="0" y="15"/>
                      <a:pt x="0" y="17"/>
                      <a:pt x="0" y="18"/>
                    </a:cubicBezTo>
                    <a:cubicBezTo>
                      <a:pt x="0" y="18"/>
                      <a:pt x="0" y="18"/>
                      <a:pt x="0" y="18"/>
                    </a:cubicBezTo>
                    <a:cubicBezTo>
                      <a:pt x="1" y="20"/>
                      <a:pt x="1" y="20"/>
                      <a:pt x="1" y="20"/>
                    </a:cubicBezTo>
                    <a:cubicBezTo>
                      <a:pt x="1" y="19"/>
                      <a:pt x="1" y="19"/>
                      <a:pt x="1" y="19"/>
                    </a:cubicBezTo>
                    <a:cubicBezTo>
                      <a:pt x="3" y="24"/>
                      <a:pt x="3" y="24"/>
                      <a:pt x="3" y="24"/>
                    </a:cubicBezTo>
                    <a:cubicBezTo>
                      <a:pt x="3" y="24"/>
                      <a:pt x="3" y="24"/>
                      <a:pt x="3" y="24"/>
                    </a:cubicBezTo>
                    <a:cubicBezTo>
                      <a:pt x="4" y="29"/>
                      <a:pt x="4" y="29"/>
                      <a:pt x="4" y="29"/>
                    </a:cubicBezTo>
                    <a:cubicBezTo>
                      <a:pt x="5" y="31"/>
                      <a:pt x="5" y="31"/>
                      <a:pt x="5" y="31"/>
                    </a:cubicBezTo>
                    <a:cubicBezTo>
                      <a:pt x="5" y="31"/>
                      <a:pt x="5" y="31"/>
                      <a:pt x="5" y="31"/>
                    </a:cubicBezTo>
                    <a:cubicBezTo>
                      <a:pt x="5" y="31"/>
                      <a:pt x="5" y="31"/>
                      <a:pt x="5" y="31"/>
                    </a:cubicBezTo>
                    <a:cubicBezTo>
                      <a:pt x="6" y="33"/>
                      <a:pt x="7" y="35"/>
                      <a:pt x="8" y="36"/>
                    </a:cubicBezTo>
                    <a:cubicBezTo>
                      <a:pt x="8" y="36"/>
                      <a:pt x="8" y="36"/>
                      <a:pt x="8" y="36"/>
                    </a:cubicBezTo>
                    <a:cubicBezTo>
                      <a:pt x="8" y="36"/>
                      <a:pt x="8" y="36"/>
                      <a:pt x="8" y="36"/>
                    </a:cubicBezTo>
                    <a:cubicBezTo>
                      <a:pt x="11" y="39"/>
                      <a:pt x="14" y="40"/>
                      <a:pt x="17" y="40"/>
                    </a:cubicBezTo>
                    <a:cubicBezTo>
                      <a:pt x="21" y="40"/>
                      <a:pt x="24" y="39"/>
                      <a:pt x="27" y="37"/>
                    </a:cubicBezTo>
                    <a:cubicBezTo>
                      <a:pt x="29" y="34"/>
                      <a:pt x="31" y="31"/>
                      <a:pt x="31" y="27"/>
                    </a:cubicBezTo>
                    <a:cubicBezTo>
                      <a:pt x="31" y="26"/>
                      <a:pt x="30" y="24"/>
                      <a:pt x="30" y="23"/>
                    </a:cubicBezTo>
                    <a:cubicBezTo>
                      <a:pt x="30" y="23"/>
                      <a:pt x="30" y="23"/>
                      <a:pt x="30" y="23"/>
                    </a:cubicBezTo>
                    <a:lnTo>
                      <a:pt x="24"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4" name="Freeform 39">
                <a:extLst>
                  <a:ext uri="{FF2B5EF4-FFF2-40B4-BE49-F238E27FC236}">
                    <a16:creationId xmlns:a16="http://schemas.microsoft.com/office/drawing/2014/main" id="{745CA4F8-847A-8ED4-9C88-C380B4C76275}"/>
                  </a:ext>
                </a:extLst>
              </p:cNvPr>
              <p:cNvSpPr>
                <a:spLocks/>
              </p:cNvSpPr>
              <p:nvPr/>
            </p:nvSpPr>
            <p:spPr bwMode="auto">
              <a:xfrm>
                <a:off x="6855446" y="4075108"/>
                <a:ext cx="30852" cy="48937"/>
              </a:xfrm>
              <a:custGeom>
                <a:avLst/>
                <a:gdLst>
                  <a:gd name="T0" fmla="*/ 19 w 20"/>
                  <a:gd name="T1" fmla="*/ 22 h 33"/>
                  <a:gd name="T2" fmla="*/ 16 w 20"/>
                  <a:gd name="T3" fmla="*/ 30 h 33"/>
                  <a:gd name="T4" fmla="*/ 5 w 20"/>
                  <a:gd name="T5" fmla="*/ 26 h 33"/>
                  <a:gd name="T6" fmla="*/ 4 w 20"/>
                  <a:gd name="T7" fmla="*/ 21 h 33"/>
                  <a:gd name="T8" fmla="*/ 3 w 20"/>
                  <a:gd name="T9" fmla="*/ 16 h 33"/>
                  <a:gd name="T10" fmla="*/ 2 w 20"/>
                  <a:gd name="T11" fmla="*/ 12 h 33"/>
                  <a:gd name="T12" fmla="*/ 14 w 20"/>
                  <a:gd name="T13" fmla="*/ 5 h 33"/>
                  <a:gd name="T14" fmla="*/ 16 w 20"/>
                  <a:gd name="T15" fmla="*/ 8 h 33"/>
                  <a:gd name="T16" fmla="*/ 17 w 20"/>
                  <a:gd name="T17" fmla="*/ 12 h 33"/>
                  <a:gd name="T18" fmla="*/ 18 w 20"/>
                  <a:gd name="T19" fmla="*/ 17 h 33"/>
                  <a:gd name="T20" fmla="*/ 19 w 20"/>
                  <a:gd name="T2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33">
                    <a:moveTo>
                      <a:pt x="19" y="22"/>
                    </a:moveTo>
                    <a:cubicBezTo>
                      <a:pt x="20" y="25"/>
                      <a:pt x="19" y="28"/>
                      <a:pt x="16" y="30"/>
                    </a:cubicBezTo>
                    <a:cubicBezTo>
                      <a:pt x="12" y="33"/>
                      <a:pt x="7" y="30"/>
                      <a:pt x="5" y="26"/>
                    </a:cubicBezTo>
                    <a:cubicBezTo>
                      <a:pt x="4" y="21"/>
                      <a:pt x="4" y="21"/>
                      <a:pt x="4" y="21"/>
                    </a:cubicBezTo>
                    <a:cubicBezTo>
                      <a:pt x="3" y="16"/>
                      <a:pt x="3" y="16"/>
                      <a:pt x="3" y="16"/>
                    </a:cubicBezTo>
                    <a:cubicBezTo>
                      <a:pt x="2" y="12"/>
                      <a:pt x="2" y="12"/>
                      <a:pt x="2" y="12"/>
                    </a:cubicBezTo>
                    <a:cubicBezTo>
                      <a:pt x="0" y="5"/>
                      <a:pt x="9" y="0"/>
                      <a:pt x="14" y="5"/>
                    </a:cubicBezTo>
                    <a:cubicBezTo>
                      <a:pt x="15" y="6"/>
                      <a:pt x="15" y="7"/>
                      <a:pt x="16" y="8"/>
                    </a:cubicBezTo>
                    <a:cubicBezTo>
                      <a:pt x="17" y="12"/>
                      <a:pt x="17" y="12"/>
                      <a:pt x="17" y="12"/>
                    </a:cubicBezTo>
                    <a:cubicBezTo>
                      <a:pt x="18" y="17"/>
                      <a:pt x="18" y="17"/>
                      <a:pt x="18" y="17"/>
                    </a:cubicBezTo>
                    <a:lnTo>
                      <a:pt x="1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5" name="Freeform 40">
                <a:extLst>
                  <a:ext uri="{FF2B5EF4-FFF2-40B4-BE49-F238E27FC236}">
                    <a16:creationId xmlns:a16="http://schemas.microsoft.com/office/drawing/2014/main" id="{AF55C309-7DA7-B0B5-F907-EF0E795610AF}"/>
                  </a:ext>
                </a:extLst>
              </p:cNvPr>
              <p:cNvSpPr>
                <a:spLocks/>
              </p:cNvSpPr>
              <p:nvPr/>
            </p:nvSpPr>
            <p:spPr bwMode="auto">
              <a:xfrm>
                <a:off x="6850126" y="4069789"/>
                <a:ext cx="44682" cy="60640"/>
              </a:xfrm>
              <a:custGeom>
                <a:avLst/>
                <a:gdLst>
                  <a:gd name="T0" fmla="*/ 23 w 30"/>
                  <a:gd name="T1" fmla="*/ 25 h 40"/>
                  <a:gd name="T2" fmla="*/ 18 w 30"/>
                  <a:gd name="T3" fmla="*/ 27 h 40"/>
                  <a:gd name="T4" fmla="*/ 18 w 30"/>
                  <a:gd name="T5" fmla="*/ 27 h 40"/>
                  <a:gd name="T6" fmla="*/ 17 w 30"/>
                  <a:gd name="T7" fmla="*/ 28 h 40"/>
                  <a:gd name="T8" fmla="*/ 17 w 30"/>
                  <a:gd name="T9" fmla="*/ 28 h 40"/>
                  <a:gd name="T10" fmla="*/ 17 w 30"/>
                  <a:gd name="T11" fmla="*/ 28 h 40"/>
                  <a:gd name="T12" fmla="*/ 17 w 30"/>
                  <a:gd name="T13" fmla="*/ 28 h 40"/>
                  <a:gd name="T14" fmla="*/ 16 w 30"/>
                  <a:gd name="T15" fmla="*/ 28 h 40"/>
                  <a:gd name="T16" fmla="*/ 15 w 30"/>
                  <a:gd name="T17" fmla="*/ 27 h 40"/>
                  <a:gd name="T18" fmla="*/ 14 w 30"/>
                  <a:gd name="T19" fmla="*/ 22 h 40"/>
                  <a:gd name="T20" fmla="*/ 13 w 30"/>
                  <a:gd name="T21" fmla="*/ 17 h 40"/>
                  <a:gd name="T22" fmla="*/ 11 w 30"/>
                  <a:gd name="T23" fmla="*/ 13 h 40"/>
                  <a:gd name="T24" fmla="*/ 6 w 30"/>
                  <a:gd name="T25" fmla="*/ 15 h 40"/>
                  <a:gd name="T26" fmla="*/ 11 w 30"/>
                  <a:gd name="T27" fmla="*/ 13 h 40"/>
                  <a:gd name="T28" fmla="*/ 11 w 30"/>
                  <a:gd name="T29" fmla="*/ 13 h 40"/>
                  <a:gd name="T30" fmla="*/ 12 w 30"/>
                  <a:gd name="T31" fmla="*/ 12 h 40"/>
                  <a:gd name="T32" fmla="*/ 13 w 30"/>
                  <a:gd name="T33" fmla="*/ 12 h 40"/>
                  <a:gd name="T34" fmla="*/ 14 w 30"/>
                  <a:gd name="T35" fmla="*/ 12 h 40"/>
                  <a:gd name="T36" fmla="*/ 18 w 30"/>
                  <a:gd name="T37" fmla="*/ 8 h 40"/>
                  <a:gd name="T38" fmla="*/ 14 w 30"/>
                  <a:gd name="T39" fmla="*/ 12 h 40"/>
                  <a:gd name="T40" fmla="*/ 14 w 30"/>
                  <a:gd name="T41" fmla="*/ 13 h 40"/>
                  <a:gd name="T42" fmla="*/ 14 w 30"/>
                  <a:gd name="T43" fmla="*/ 13 h 40"/>
                  <a:gd name="T44" fmla="*/ 15 w 30"/>
                  <a:gd name="T45" fmla="*/ 17 h 40"/>
                  <a:gd name="T46" fmla="*/ 15 w 30"/>
                  <a:gd name="T47" fmla="*/ 17 h 40"/>
                  <a:gd name="T48" fmla="*/ 17 w 30"/>
                  <a:gd name="T49" fmla="*/ 22 h 40"/>
                  <a:gd name="T50" fmla="*/ 18 w 30"/>
                  <a:gd name="T51" fmla="*/ 27 h 40"/>
                  <a:gd name="T52" fmla="*/ 18 w 30"/>
                  <a:gd name="T53" fmla="*/ 27 h 40"/>
                  <a:gd name="T54" fmla="*/ 23 w 30"/>
                  <a:gd name="T55" fmla="*/ 25 h 40"/>
                  <a:gd name="T56" fmla="*/ 29 w 30"/>
                  <a:gd name="T57" fmla="*/ 24 h 40"/>
                  <a:gd name="T58" fmla="*/ 28 w 30"/>
                  <a:gd name="T59" fmla="*/ 19 h 40"/>
                  <a:gd name="T60" fmla="*/ 26 w 30"/>
                  <a:gd name="T61" fmla="*/ 14 h 40"/>
                  <a:gd name="T62" fmla="*/ 25 w 30"/>
                  <a:gd name="T63" fmla="*/ 10 h 40"/>
                  <a:gd name="T64" fmla="*/ 20 w 30"/>
                  <a:gd name="T65" fmla="*/ 11 h 40"/>
                  <a:gd name="T66" fmla="*/ 25 w 30"/>
                  <a:gd name="T67" fmla="*/ 10 h 40"/>
                  <a:gd name="T68" fmla="*/ 22 w 30"/>
                  <a:gd name="T69" fmla="*/ 4 h 40"/>
                  <a:gd name="T70" fmla="*/ 22 w 30"/>
                  <a:gd name="T71" fmla="*/ 4 h 40"/>
                  <a:gd name="T72" fmla="*/ 22 w 30"/>
                  <a:gd name="T73" fmla="*/ 4 h 40"/>
                  <a:gd name="T74" fmla="*/ 13 w 30"/>
                  <a:gd name="T75" fmla="*/ 0 h 40"/>
                  <a:gd name="T76" fmla="*/ 4 w 30"/>
                  <a:gd name="T77" fmla="*/ 4 h 40"/>
                  <a:gd name="T78" fmla="*/ 0 w 30"/>
                  <a:gd name="T79" fmla="*/ 13 h 40"/>
                  <a:gd name="T80" fmla="*/ 0 w 30"/>
                  <a:gd name="T81" fmla="*/ 16 h 40"/>
                  <a:gd name="T82" fmla="*/ 0 w 30"/>
                  <a:gd name="T83" fmla="*/ 16 h 40"/>
                  <a:gd name="T84" fmla="*/ 1 w 30"/>
                  <a:gd name="T85" fmla="*/ 20 h 40"/>
                  <a:gd name="T86" fmla="*/ 1 w 30"/>
                  <a:gd name="T87" fmla="*/ 20 h 40"/>
                  <a:gd name="T88" fmla="*/ 3 w 30"/>
                  <a:gd name="T89" fmla="*/ 26 h 40"/>
                  <a:gd name="T90" fmla="*/ 3 w 30"/>
                  <a:gd name="T91" fmla="*/ 25 h 40"/>
                  <a:gd name="T92" fmla="*/ 4 w 30"/>
                  <a:gd name="T93" fmla="*/ 30 h 40"/>
                  <a:gd name="T94" fmla="*/ 4 w 30"/>
                  <a:gd name="T95" fmla="*/ 30 h 40"/>
                  <a:gd name="T96" fmla="*/ 9 w 30"/>
                  <a:gd name="T97" fmla="*/ 37 h 40"/>
                  <a:gd name="T98" fmla="*/ 17 w 30"/>
                  <a:gd name="T99" fmla="*/ 40 h 40"/>
                  <a:gd name="T100" fmla="*/ 24 w 30"/>
                  <a:gd name="T101" fmla="*/ 38 h 40"/>
                  <a:gd name="T102" fmla="*/ 24 w 30"/>
                  <a:gd name="T103" fmla="*/ 38 h 40"/>
                  <a:gd name="T104" fmla="*/ 30 w 30"/>
                  <a:gd name="T105" fmla="*/ 27 h 40"/>
                  <a:gd name="T106" fmla="*/ 29 w 30"/>
                  <a:gd name="T107" fmla="*/ 24 h 40"/>
                  <a:gd name="T108" fmla="*/ 29 w 30"/>
                  <a:gd name="T109" fmla="*/ 24 h 40"/>
                  <a:gd name="T110" fmla="*/ 29 w 30"/>
                  <a:gd name="T111" fmla="*/ 24 h 40"/>
                  <a:gd name="T112" fmla="*/ 23 w 30"/>
                  <a:gd name="T113"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 h="40">
                    <a:moveTo>
                      <a:pt x="23" y="25"/>
                    </a:moveTo>
                    <a:cubicBezTo>
                      <a:pt x="18" y="27"/>
                      <a:pt x="18" y="27"/>
                      <a:pt x="18" y="27"/>
                    </a:cubicBezTo>
                    <a:cubicBezTo>
                      <a:pt x="18" y="27"/>
                      <a:pt x="18" y="27"/>
                      <a:pt x="18" y="27"/>
                    </a:cubicBezTo>
                    <a:cubicBezTo>
                      <a:pt x="18" y="27"/>
                      <a:pt x="18" y="28"/>
                      <a:pt x="17" y="28"/>
                    </a:cubicBezTo>
                    <a:cubicBezTo>
                      <a:pt x="17" y="28"/>
                      <a:pt x="17" y="28"/>
                      <a:pt x="17" y="28"/>
                    </a:cubicBezTo>
                    <a:cubicBezTo>
                      <a:pt x="17" y="28"/>
                      <a:pt x="17" y="28"/>
                      <a:pt x="17" y="28"/>
                    </a:cubicBezTo>
                    <a:cubicBezTo>
                      <a:pt x="17" y="28"/>
                      <a:pt x="17" y="28"/>
                      <a:pt x="17" y="28"/>
                    </a:cubicBezTo>
                    <a:cubicBezTo>
                      <a:pt x="16" y="28"/>
                      <a:pt x="16" y="28"/>
                      <a:pt x="16" y="28"/>
                    </a:cubicBezTo>
                    <a:cubicBezTo>
                      <a:pt x="15" y="27"/>
                      <a:pt x="15" y="27"/>
                      <a:pt x="15" y="27"/>
                    </a:cubicBezTo>
                    <a:cubicBezTo>
                      <a:pt x="14" y="22"/>
                      <a:pt x="14" y="22"/>
                      <a:pt x="14" y="22"/>
                    </a:cubicBezTo>
                    <a:cubicBezTo>
                      <a:pt x="13" y="17"/>
                      <a:pt x="13" y="17"/>
                      <a:pt x="13" y="17"/>
                    </a:cubicBezTo>
                    <a:cubicBezTo>
                      <a:pt x="11" y="13"/>
                      <a:pt x="11" y="13"/>
                      <a:pt x="11" y="13"/>
                    </a:cubicBezTo>
                    <a:cubicBezTo>
                      <a:pt x="6" y="15"/>
                      <a:pt x="6" y="15"/>
                      <a:pt x="6" y="15"/>
                    </a:cubicBezTo>
                    <a:cubicBezTo>
                      <a:pt x="11" y="13"/>
                      <a:pt x="11" y="13"/>
                      <a:pt x="11" y="13"/>
                    </a:cubicBezTo>
                    <a:cubicBezTo>
                      <a:pt x="11" y="13"/>
                      <a:pt x="11" y="13"/>
                      <a:pt x="11" y="13"/>
                    </a:cubicBezTo>
                    <a:cubicBezTo>
                      <a:pt x="11" y="13"/>
                      <a:pt x="12" y="12"/>
                      <a:pt x="12" y="12"/>
                    </a:cubicBezTo>
                    <a:cubicBezTo>
                      <a:pt x="13" y="12"/>
                      <a:pt x="13" y="12"/>
                      <a:pt x="13" y="12"/>
                    </a:cubicBezTo>
                    <a:cubicBezTo>
                      <a:pt x="13" y="12"/>
                      <a:pt x="13" y="12"/>
                      <a:pt x="14" y="12"/>
                    </a:cubicBezTo>
                    <a:cubicBezTo>
                      <a:pt x="18" y="8"/>
                      <a:pt x="18" y="8"/>
                      <a:pt x="18" y="8"/>
                    </a:cubicBezTo>
                    <a:cubicBezTo>
                      <a:pt x="14" y="12"/>
                      <a:pt x="14" y="12"/>
                      <a:pt x="14" y="12"/>
                    </a:cubicBezTo>
                    <a:cubicBezTo>
                      <a:pt x="14" y="12"/>
                      <a:pt x="14" y="13"/>
                      <a:pt x="14" y="13"/>
                    </a:cubicBezTo>
                    <a:cubicBezTo>
                      <a:pt x="14" y="13"/>
                      <a:pt x="14" y="13"/>
                      <a:pt x="14" y="13"/>
                    </a:cubicBezTo>
                    <a:cubicBezTo>
                      <a:pt x="15" y="17"/>
                      <a:pt x="15" y="17"/>
                      <a:pt x="15" y="17"/>
                    </a:cubicBezTo>
                    <a:cubicBezTo>
                      <a:pt x="15" y="17"/>
                      <a:pt x="15" y="17"/>
                      <a:pt x="15" y="17"/>
                    </a:cubicBezTo>
                    <a:cubicBezTo>
                      <a:pt x="17" y="22"/>
                      <a:pt x="17" y="22"/>
                      <a:pt x="17" y="22"/>
                    </a:cubicBezTo>
                    <a:cubicBezTo>
                      <a:pt x="18" y="27"/>
                      <a:pt x="18" y="27"/>
                      <a:pt x="18" y="27"/>
                    </a:cubicBezTo>
                    <a:cubicBezTo>
                      <a:pt x="18" y="27"/>
                      <a:pt x="18" y="27"/>
                      <a:pt x="18" y="27"/>
                    </a:cubicBezTo>
                    <a:cubicBezTo>
                      <a:pt x="23" y="25"/>
                      <a:pt x="23" y="25"/>
                      <a:pt x="23" y="25"/>
                    </a:cubicBezTo>
                    <a:cubicBezTo>
                      <a:pt x="29" y="24"/>
                      <a:pt x="29" y="24"/>
                      <a:pt x="29" y="24"/>
                    </a:cubicBezTo>
                    <a:cubicBezTo>
                      <a:pt x="28" y="19"/>
                      <a:pt x="28" y="19"/>
                      <a:pt x="28" y="19"/>
                    </a:cubicBezTo>
                    <a:cubicBezTo>
                      <a:pt x="26" y="14"/>
                      <a:pt x="26" y="14"/>
                      <a:pt x="26" y="14"/>
                    </a:cubicBezTo>
                    <a:cubicBezTo>
                      <a:pt x="25" y="10"/>
                      <a:pt x="25" y="10"/>
                      <a:pt x="25" y="10"/>
                    </a:cubicBezTo>
                    <a:cubicBezTo>
                      <a:pt x="20" y="11"/>
                      <a:pt x="20" y="11"/>
                      <a:pt x="20" y="11"/>
                    </a:cubicBezTo>
                    <a:cubicBezTo>
                      <a:pt x="25" y="10"/>
                      <a:pt x="25" y="10"/>
                      <a:pt x="25" y="10"/>
                    </a:cubicBezTo>
                    <a:cubicBezTo>
                      <a:pt x="25" y="7"/>
                      <a:pt x="23" y="5"/>
                      <a:pt x="22" y="4"/>
                    </a:cubicBezTo>
                    <a:cubicBezTo>
                      <a:pt x="22" y="4"/>
                      <a:pt x="22" y="4"/>
                      <a:pt x="22" y="4"/>
                    </a:cubicBezTo>
                    <a:cubicBezTo>
                      <a:pt x="22" y="4"/>
                      <a:pt x="22" y="4"/>
                      <a:pt x="22" y="4"/>
                    </a:cubicBezTo>
                    <a:cubicBezTo>
                      <a:pt x="19" y="1"/>
                      <a:pt x="16" y="0"/>
                      <a:pt x="13" y="0"/>
                    </a:cubicBezTo>
                    <a:cubicBezTo>
                      <a:pt x="9" y="0"/>
                      <a:pt x="6" y="1"/>
                      <a:pt x="4" y="4"/>
                    </a:cubicBezTo>
                    <a:cubicBezTo>
                      <a:pt x="1" y="6"/>
                      <a:pt x="0" y="9"/>
                      <a:pt x="0" y="13"/>
                    </a:cubicBezTo>
                    <a:cubicBezTo>
                      <a:pt x="0" y="14"/>
                      <a:pt x="0" y="15"/>
                      <a:pt x="0" y="16"/>
                    </a:cubicBezTo>
                    <a:cubicBezTo>
                      <a:pt x="0" y="16"/>
                      <a:pt x="0" y="16"/>
                      <a:pt x="0" y="16"/>
                    </a:cubicBezTo>
                    <a:cubicBezTo>
                      <a:pt x="1" y="20"/>
                      <a:pt x="1" y="20"/>
                      <a:pt x="1" y="20"/>
                    </a:cubicBezTo>
                    <a:cubicBezTo>
                      <a:pt x="1" y="20"/>
                      <a:pt x="1" y="20"/>
                      <a:pt x="1" y="20"/>
                    </a:cubicBezTo>
                    <a:cubicBezTo>
                      <a:pt x="3" y="26"/>
                      <a:pt x="3" y="26"/>
                      <a:pt x="3" y="26"/>
                    </a:cubicBezTo>
                    <a:cubicBezTo>
                      <a:pt x="3" y="25"/>
                      <a:pt x="3" y="25"/>
                      <a:pt x="3" y="25"/>
                    </a:cubicBezTo>
                    <a:cubicBezTo>
                      <a:pt x="4" y="30"/>
                      <a:pt x="4" y="30"/>
                      <a:pt x="4" y="30"/>
                    </a:cubicBezTo>
                    <a:cubicBezTo>
                      <a:pt x="4" y="30"/>
                      <a:pt x="4" y="30"/>
                      <a:pt x="4" y="30"/>
                    </a:cubicBezTo>
                    <a:cubicBezTo>
                      <a:pt x="5" y="33"/>
                      <a:pt x="6" y="36"/>
                      <a:pt x="9" y="37"/>
                    </a:cubicBezTo>
                    <a:cubicBezTo>
                      <a:pt x="11" y="39"/>
                      <a:pt x="14" y="40"/>
                      <a:pt x="17" y="40"/>
                    </a:cubicBezTo>
                    <a:cubicBezTo>
                      <a:pt x="19" y="40"/>
                      <a:pt x="21" y="39"/>
                      <a:pt x="24" y="38"/>
                    </a:cubicBezTo>
                    <a:cubicBezTo>
                      <a:pt x="24" y="38"/>
                      <a:pt x="24" y="38"/>
                      <a:pt x="24" y="38"/>
                    </a:cubicBezTo>
                    <a:cubicBezTo>
                      <a:pt x="27" y="35"/>
                      <a:pt x="30" y="31"/>
                      <a:pt x="30" y="27"/>
                    </a:cubicBezTo>
                    <a:cubicBezTo>
                      <a:pt x="30" y="26"/>
                      <a:pt x="29" y="25"/>
                      <a:pt x="29" y="24"/>
                    </a:cubicBezTo>
                    <a:cubicBezTo>
                      <a:pt x="29" y="24"/>
                      <a:pt x="29" y="24"/>
                      <a:pt x="29" y="24"/>
                    </a:cubicBezTo>
                    <a:cubicBezTo>
                      <a:pt x="29" y="24"/>
                      <a:pt x="29" y="24"/>
                      <a:pt x="29" y="24"/>
                    </a:cubicBezTo>
                    <a:lnTo>
                      <a:pt x="23"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6" name="Freeform 41">
                <a:extLst>
                  <a:ext uri="{FF2B5EF4-FFF2-40B4-BE49-F238E27FC236}">
                    <a16:creationId xmlns:a16="http://schemas.microsoft.com/office/drawing/2014/main" id="{8F6BC8E6-F52E-858F-4906-E4553522778D}"/>
                  </a:ext>
                </a:extLst>
              </p:cNvPr>
              <p:cNvSpPr>
                <a:spLocks/>
              </p:cNvSpPr>
              <p:nvPr/>
            </p:nvSpPr>
            <p:spPr bwMode="auto">
              <a:xfrm>
                <a:off x="6886297" y="4200643"/>
                <a:ext cx="29788" cy="54257"/>
              </a:xfrm>
              <a:custGeom>
                <a:avLst/>
                <a:gdLst>
                  <a:gd name="T0" fmla="*/ 18 w 20"/>
                  <a:gd name="T1" fmla="*/ 24 h 36"/>
                  <a:gd name="T2" fmla="*/ 5 w 20"/>
                  <a:gd name="T3" fmla="*/ 28 h 36"/>
                  <a:gd name="T4" fmla="*/ 4 w 20"/>
                  <a:gd name="T5" fmla="*/ 27 h 36"/>
                  <a:gd name="T6" fmla="*/ 4 w 20"/>
                  <a:gd name="T7" fmla="*/ 25 h 36"/>
                  <a:gd name="T8" fmla="*/ 3 w 20"/>
                  <a:gd name="T9" fmla="*/ 19 h 36"/>
                  <a:gd name="T10" fmla="*/ 2 w 20"/>
                  <a:gd name="T11" fmla="*/ 14 h 36"/>
                  <a:gd name="T12" fmla="*/ 1 w 20"/>
                  <a:gd name="T13" fmla="*/ 13 h 36"/>
                  <a:gd name="T14" fmla="*/ 15 w 20"/>
                  <a:gd name="T15" fmla="*/ 7 h 36"/>
                  <a:gd name="T16" fmla="*/ 16 w 20"/>
                  <a:gd name="T17" fmla="*/ 10 h 36"/>
                  <a:gd name="T18" fmla="*/ 16 w 20"/>
                  <a:gd name="T19" fmla="*/ 11 h 36"/>
                  <a:gd name="T20" fmla="*/ 17 w 20"/>
                  <a:gd name="T21" fmla="*/ 16 h 36"/>
                  <a:gd name="T22" fmla="*/ 18 w 20"/>
                  <a:gd name="T23" fmla="*/ 22 h 36"/>
                  <a:gd name="T24" fmla="*/ 18 w 20"/>
                  <a:gd name="T25"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36">
                    <a:moveTo>
                      <a:pt x="18" y="24"/>
                    </a:moveTo>
                    <a:cubicBezTo>
                      <a:pt x="20" y="32"/>
                      <a:pt x="8" y="36"/>
                      <a:pt x="5" y="28"/>
                    </a:cubicBezTo>
                    <a:cubicBezTo>
                      <a:pt x="4" y="28"/>
                      <a:pt x="4" y="27"/>
                      <a:pt x="4" y="27"/>
                    </a:cubicBezTo>
                    <a:cubicBezTo>
                      <a:pt x="4" y="25"/>
                      <a:pt x="4" y="25"/>
                      <a:pt x="4" y="25"/>
                    </a:cubicBezTo>
                    <a:cubicBezTo>
                      <a:pt x="3" y="19"/>
                      <a:pt x="3" y="19"/>
                      <a:pt x="3" y="19"/>
                    </a:cubicBezTo>
                    <a:cubicBezTo>
                      <a:pt x="2" y="14"/>
                      <a:pt x="2" y="14"/>
                      <a:pt x="2" y="14"/>
                    </a:cubicBezTo>
                    <a:cubicBezTo>
                      <a:pt x="1" y="13"/>
                      <a:pt x="1" y="13"/>
                      <a:pt x="1" y="13"/>
                    </a:cubicBezTo>
                    <a:cubicBezTo>
                      <a:pt x="0" y="5"/>
                      <a:pt x="10" y="0"/>
                      <a:pt x="15" y="7"/>
                    </a:cubicBezTo>
                    <a:cubicBezTo>
                      <a:pt x="15" y="8"/>
                      <a:pt x="15" y="9"/>
                      <a:pt x="16" y="10"/>
                    </a:cubicBezTo>
                    <a:cubicBezTo>
                      <a:pt x="16" y="11"/>
                      <a:pt x="16" y="11"/>
                      <a:pt x="16" y="11"/>
                    </a:cubicBezTo>
                    <a:cubicBezTo>
                      <a:pt x="17" y="16"/>
                      <a:pt x="17" y="16"/>
                      <a:pt x="17" y="16"/>
                    </a:cubicBezTo>
                    <a:cubicBezTo>
                      <a:pt x="18" y="22"/>
                      <a:pt x="18" y="22"/>
                      <a:pt x="18" y="22"/>
                    </a:cubicBezTo>
                    <a:lnTo>
                      <a:pt x="18"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7" name="Freeform 42">
                <a:extLst>
                  <a:ext uri="{FF2B5EF4-FFF2-40B4-BE49-F238E27FC236}">
                    <a16:creationId xmlns:a16="http://schemas.microsoft.com/office/drawing/2014/main" id="{619E8F29-0B93-2FD7-7CF6-3ACA2E026463}"/>
                  </a:ext>
                </a:extLst>
              </p:cNvPr>
              <p:cNvSpPr>
                <a:spLocks/>
              </p:cNvSpPr>
              <p:nvPr/>
            </p:nvSpPr>
            <p:spPr bwMode="auto">
              <a:xfrm>
                <a:off x="6878850" y="4197452"/>
                <a:ext cx="43618" cy="60640"/>
              </a:xfrm>
              <a:custGeom>
                <a:avLst/>
                <a:gdLst>
                  <a:gd name="T0" fmla="*/ 18 w 29"/>
                  <a:gd name="T1" fmla="*/ 27 h 40"/>
                  <a:gd name="T2" fmla="*/ 17 w 29"/>
                  <a:gd name="T3" fmla="*/ 28 h 40"/>
                  <a:gd name="T4" fmla="*/ 16 w 29"/>
                  <a:gd name="T5" fmla="*/ 28 h 40"/>
                  <a:gd name="T6" fmla="*/ 10 w 29"/>
                  <a:gd name="T7" fmla="*/ 30 h 40"/>
                  <a:gd name="T8" fmla="*/ 15 w 29"/>
                  <a:gd name="T9" fmla="*/ 27 h 40"/>
                  <a:gd name="T10" fmla="*/ 15 w 29"/>
                  <a:gd name="T11" fmla="*/ 28 h 40"/>
                  <a:gd name="T12" fmla="*/ 15 w 29"/>
                  <a:gd name="T13" fmla="*/ 26 h 40"/>
                  <a:gd name="T14" fmla="*/ 13 w 29"/>
                  <a:gd name="T15" fmla="*/ 20 h 40"/>
                  <a:gd name="T16" fmla="*/ 12 w 29"/>
                  <a:gd name="T17" fmla="*/ 14 h 40"/>
                  <a:gd name="T18" fmla="*/ 12 w 29"/>
                  <a:gd name="T19" fmla="*/ 13 h 40"/>
                  <a:gd name="T20" fmla="*/ 12 w 29"/>
                  <a:gd name="T21" fmla="*/ 13 h 40"/>
                  <a:gd name="T22" fmla="*/ 14 w 29"/>
                  <a:gd name="T23" fmla="*/ 12 h 40"/>
                  <a:gd name="T24" fmla="*/ 15 w 29"/>
                  <a:gd name="T25" fmla="*/ 12 h 40"/>
                  <a:gd name="T26" fmla="*/ 15 w 29"/>
                  <a:gd name="T27" fmla="*/ 12 h 40"/>
                  <a:gd name="T28" fmla="*/ 15 w 29"/>
                  <a:gd name="T29" fmla="*/ 13 h 40"/>
                  <a:gd name="T30" fmla="*/ 15 w 29"/>
                  <a:gd name="T31" fmla="*/ 14 h 40"/>
                  <a:gd name="T32" fmla="*/ 16 w 29"/>
                  <a:gd name="T33" fmla="*/ 20 h 40"/>
                  <a:gd name="T34" fmla="*/ 17 w 29"/>
                  <a:gd name="T35" fmla="*/ 25 h 40"/>
                  <a:gd name="T36" fmla="*/ 18 w 29"/>
                  <a:gd name="T37" fmla="*/ 27 h 40"/>
                  <a:gd name="T38" fmla="*/ 29 w 29"/>
                  <a:gd name="T39" fmla="*/ 25 h 40"/>
                  <a:gd name="T40" fmla="*/ 29 w 29"/>
                  <a:gd name="T41" fmla="*/ 23 h 40"/>
                  <a:gd name="T42" fmla="*/ 27 w 29"/>
                  <a:gd name="T43" fmla="*/ 12 h 40"/>
                  <a:gd name="T44" fmla="*/ 26 w 29"/>
                  <a:gd name="T45" fmla="*/ 11 h 40"/>
                  <a:gd name="T46" fmla="*/ 26 w 29"/>
                  <a:gd name="T47" fmla="*/ 10 h 40"/>
                  <a:gd name="T48" fmla="*/ 24 w 29"/>
                  <a:gd name="T49" fmla="*/ 6 h 40"/>
                  <a:gd name="T50" fmla="*/ 19 w 29"/>
                  <a:gd name="T51" fmla="*/ 1 h 40"/>
                  <a:gd name="T52" fmla="*/ 5 w 29"/>
                  <a:gd name="T53" fmla="*/ 4 h 40"/>
                  <a:gd name="T54" fmla="*/ 1 w 29"/>
                  <a:gd name="T55" fmla="*/ 16 h 40"/>
                  <a:gd name="T56" fmla="*/ 1 w 29"/>
                  <a:gd name="T57" fmla="*/ 17 h 40"/>
                  <a:gd name="T58" fmla="*/ 2 w 29"/>
                  <a:gd name="T59" fmla="*/ 22 h 40"/>
                  <a:gd name="T60" fmla="*/ 3 w 29"/>
                  <a:gd name="T61" fmla="*/ 28 h 40"/>
                  <a:gd name="T62" fmla="*/ 3 w 29"/>
                  <a:gd name="T63" fmla="*/ 30 h 40"/>
                  <a:gd name="T64" fmla="*/ 4 w 29"/>
                  <a:gd name="T65" fmla="*/ 32 h 40"/>
                  <a:gd name="T66" fmla="*/ 4 w 29"/>
                  <a:gd name="T67" fmla="*/ 33 h 40"/>
                  <a:gd name="T68" fmla="*/ 16 w 29"/>
                  <a:gd name="T69" fmla="*/ 40 h 40"/>
                  <a:gd name="T70" fmla="*/ 29 w 29"/>
                  <a:gd name="T71" fmla="*/ 27 h 40"/>
                  <a:gd name="T72" fmla="*/ 29 w 29"/>
                  <a:gd name="T73" fmla="*/ 25 h 40"/>
                  <a:gd name="T74" fmla="*/ 23 w 29"/>
                  <a:gd name="T75" fmla="*/ 2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 h="40">
                    <a:moveTo>
                      <a:pt x="23" y="26"/>
                    </a:moveTo>
                    <a:cubicBezTo>
                      <a:pt x="18" y="27"/>
                      <a:pt x="18" y="27"/>
                      <a:pt x="18" y="27"/>
                    </a:cubicBezTo>
                    <a:cubicBezTo>
                      <a:pt x="18" y="27"/>
                      <a:pt x="18" y="27"/>
                      <a:pt x="18" y="27"/>
                    </a:cubicBezTo>
                    <a:cubicBezTo>
                      <a:pt x="18" y="28"/>
                      <a:pt x="17" y="28"/>
                      <a:pt x="17" y="28"/>
                    </a:cubicBezTo>
                    <a:cubicBezTo>
                      <a:pt x="17" y="28"/>
                      <a:pt x="16" y="29"/>
                      <a:pt x="16" y="29"/>
                    </a:cubicBezTo>
                    <a:cubicBezTo>
                      <a:pt x="16" y="28"/>
                      <a:pt x="16" y="28"/>
                      <a:pt x="16" y="28"/>
                    </a:cubicBezTo>
                    <a:cubicBezTo>
                      <a:pt x="15" y="28"/>
                      <a:pt x="15" y="28"/>
                      <a:pt x="15" y="28"/>
                    </a:cubicBezTo>
                    <a:cubicBezTo>
                      <a:pt x="10" y="30"/>
                      <a:pt x="10" y="30"/>
                      <a:pt x="10" y="30"/>
                    </a:cubicBezTo>
                    <a:cubicBezTo>
                      <a:pt x="15" y="28"/>
                      <a:pt x="15" y="28"/>
                      <a:pt x="15" y="28"/>
                    </a:cubicBezTo>
                    <a:cubicBezTo>
                      <a:pt x="15" y="27"/>
                      <a:pt x="15" y="27"/>
                      <a:pt x="15" y="27"/>
                    </a:cubicBezTo>
                    <a:cubicBezTo>
                      <a:pt x="9" y="29"/>
                      <a:pt x="9" y="29"/>
                      <a:pt x="9" y="29"/>
                    </a:cubicBezTo>
                    <a:cubicBezTo>
                      <a:pt x="15" y="28"/>
                      <a:pt x="15" y="28"/>
                      <a:pt x="15" y="28"/>
                    </a:cubicBezTo>
                    <a:cubicBezTo>
                      <a:pt x="15" y="26"/>
                      <a:pt x="15" y="26"/>
                      <a:pt x="15" y="26"/>
                    </a:cubicBezTo>
                    <a:cubicBezTo>
                      <a:pt x="15" y="26"/>
                      <a:pt x="15" y="26"/>
                      <a:pt x="15" y="26"/>
                    </a:cubicBezTo>
                    <a:cubicBezTo>
                      <a:pt x="13" y="20"/>
                      <a:pt x="13" y="20"/>
                      <a:pt x="13" y="20"/>
                    </a:cubicBezTo>
                    <a:cubicBezTo>
                      <a:pt x="13" y="20"/>
                      <a:pt x="13" y="20"/>
                      <a:pt x="13" y="20"/>
                    </a:cubicBezTo>
                    <a:cubicBezTo>
                      <a:pt x="12" y="14"/>
                      <a:pt x="12" y="14"/>
                      <a:pt x="12" y="14"/>
                    </a:cubicBezTo>
                    <a:cubicBezTo>
                      <a:pt x="12" y="14"/>
                      <a:pt x="12" y="14"/>
                      <a:pt x="12" y="14"/>
                    </a:cubicBezTo>
                    <a:cubicBezTo>
                      <a:pt x="12" y="13"/>
                      <a:pt x="12" y="13"/>
                      <a:pt x="12" y="13"/>
                    </a:cubicBezTo>
                    <a:cubicBezTo>
                      <a:pt x="12" y="13"/>
                      <a:pt x="12" y="13"/>
                      <a:pt x="12" y="13"/>
                    </a:cubicBezTo>
                    <a:cubicBezTo>
                      <a:pt x="12" y="13"/>
                      <a:pt x="12" y="13"/>
                      <a:pt x="12" y="13"/>
                    </a:cubicBezTo>
                    <a:cubicBezTo>
                      <a:pt x="12" y="13"/>
                      <a:pt x="12" y="13"/>
                      <a:pt x="12" y="13"/>
                    </a:cubicBezTo>
                    <a:cubicBezTo>
                      <a:pt x="13" y="12"/>
                      <a:pt x="13" y="12"/>
                      <a:pt x="13" y="12"/>
                    </a:cubicBezTo>
                    <a:cubicBezTo>
                      <a:pt x="14" y="12"/>
                      <a:pt x="14" y="12"/>
                      <a:pt x="14" y="12"/>
                    </a:cubicBezTo>
                    <a:cubicBezTo>
                      <a:pt x="14" y="12"/>
                      <a:pt x="14" y="12"/>
                      <a:pt x="14" y="12"/>
                    </a:cubicBezTo>
                    <a:cubicBezTo>
                      <a:pt x="14" y="12"/>
                      <a:pt x="14" y="12"/>
                      <a:pt x="15" y="12"/>
                    </a:cubicBezTo>
                    <a:cubicBezTo>
                      <a:pt x="20" y="9"/>
                      <a:pt x="20" y="9"/>
                      <a:pt x="20" y="9"/>
                    </a:cubicBezTo>
                    <a:cubicBezTo>
                      <a:pt x="15" y="12"/>
                      <a:pt x="15" y="12"/>
                      <a:pt x="15" y="12"/>
                    </a:cubicBezTo>
                    <a:cubicBezTo>
                      <a:pt x="15" y="13"/>
                      <a:pt x="15" y="13"/>
                      <a:pt x="15" y="13"/>
                    </a:cubicBezTo>
                    <a:cubicBezTo>
                      <a:pt x="15" y="13"/>
                      <a:pt x="15" y="13"/>
                      <a:pt x="15" y="13"/>
                    </a:cubicBezTo>
                    <a:cubicBezTo>
                      <a:pt x="15" y="14"/>
                      <a:pt x="15" y="14"/>
                      <a:pt x="15" y="14"/>
                    </a:cubicBezTo>
                    <a:cubicBezTo>
                      <a:pt x="15" y="14"/>
                      <a:pt x="15" y="14"/>
                      <a:pt x="15" y="14"/>
                    </a:cubicBezTo>
                    <a:cubicBezTo>
                      <a:pt x="16" y="20"/>
                      <a:pt x="16" y="20"/>
                      <a:pt x="16" y="20"/>
                    </a:cubicBezTo>
                    <a:cubicBezTo>
                      <a:pt x="16" y="20"/>
                      <a:pt x="16" y="20"/>
                      <a:pt x="16" y="20"/>
                    </a:cubicBezTo>
                    <a:cubicBezTo>
                      <a:pt x="17" y="25"/>
                      <a:pt x="17" y="25"/>
                      <a:pt x="17" y="25"/>
                    </a:cubicBezTo>
                    <a:cubicBezTo>
                      <a:pt x="17" y="25"/>
                      <a:pt x="17" y="25"/>
                      <a:pt x="17" y="25"/>
                    </a:cubicBezTo>
                    <a:cubicBezTo>
                      <a:pt x="18" y="27"/>
                      <a:pt x="18" y="27"/>
                      <a:pt x="18" y="27"/>
                    </a:cubicBezTo>
                    <a:cubicBezTo>
                      <a:pt x="18" y="27"/>
                      <a:pt x="18" y="27"/>
                      <a:pt x="18" y="27"/>
                    </a:cubicBezTo>
                    <a:cubicBezTo>
                      <a:pt x="23" y="26"/>
                      <a:pt x="23" y="26"/>
                      <a:pt x="23" y="26"/>
                    </a:cubicBezTo>
                    <a:cubicBezTo>
                      <a:pt x="29" y="25"/>
                      <a:pt x="29" y="25"/>
                      <a:pt x="29" y="25"/>
                    </a:cubicBezTo>
                    <a:cubicBezTo>
                      <a:pt x="29" y="23"/>
                      <a:pt x="29" y="23"/>
                      <a:pt x="29" y="23"/>
                    </a:cubicBezTo>
                    <a:cubicBezTo>
                      <a:pt x="29" y="23"/>
                      <a:pt x="29" y="23"/>
                      <a:pt x="29" y="23"/>
                    </a:cubicBezTo>
                    <a:cubicBezTo>
                      <a:pt x="28" y="17"/>
                      <a:pt x="28" y="17"/>
                      <a:pt x="28" y="17"/>
                    </a:cubicBezTo>
                    <a:cubicBezTo>
                      <a:pt x="27" y="12"/>
                      <a:pt x="27" y="12"/>
                      <a:pt x="27" y="12"/>
                    </a:cubicBezTo>
                    <a:cubicBezTo>
                      <a:pt x="27" y="12"/>
                      <a:pt x="27" y="12"/>
                      <a:pt x="27" y="12"/>
                    </a:cubicBezTo>
                    <a:cubicBezTo>
                      <a:pt x="26" y="11"/>
                      <a:pt x="26" y="11"/>
                      <a:pt x="26" y="11"/>
                    </a:cubicBezTo>
                    <a:cubicBezTo>
                      <a:pt x="26" y="11"/>
                      <a:pt x="26" y="11"/>
                      <a:pt x="26" y="11"/>
                    </a:cubicBezTo>
                    <a:cubicBezTo>
                      <a:pt x="26" y="10"/>
                      <a:pt x="26" y="10"/>
                      <a:pt x="26" y="10"/>
                    </a:cubicBezTo>
                    <a:cubicBezTo>
                      <a:pt x="26" y="9"/>
                      <a:pt x="25" y="7"/>
                      <a:pt x="24" y="6"/>
                    </a:cubicBezTo>
                    <a:cubicBezTo>
                      <a:pt x="24" y="6"/>
                      <a:pt x="24" y="6"/>
                      <a:pt x="24" y="6"/>
                    </a:cubicBezTo>
                    <a:cubicBezTo>
                      <a:pt x="24" y="6"/>
                      <a:pt x="24" y="6"/>
                      <a:pt x="24" y="6"/>
                    </a:cubicBezTo>
                    <a:cubicBezTo>
                      <a:pt x="23" y="4"/>
                      <a:pt x="21" y="2"/>
                      <a:pt x="19" y="1"/>
                    </a:cubicBezTo>
                    <a:cubicBezTo>
                      <a:pt x="18" y="0"/>
                      <a:pt x="16" y="0"/>
                      <a:pt x="14" y="0"/>
                    </a:cubicBezTo>
                    <a:cubicBezTo>
                      <a:pt x="10" y="0"/>
                      <a:pt x="7" y="1"/>
                      <a:pt x="5" y="4"/>
                    </a:cubicBezTo>
                    <a:cubicBezTo>
                      <a:pt x="2" y="6"/>
                      <a:pt x="0" y="9"/>
                      <a:pt x="0" y="13"/>
                    </a:cubicBezTo>
                    <a:cubicBezTo>
                      <a:pt x="0" y="14"/>
                      <a:pt x="0" y="15"/>
                      <a:pt x="1" y="16"/>
                    </a:cubicBezTo>
                    <a:cubicBezTo>
                      <a:pt x="1" y="16"/>
                      <a:pt x="1" y="16"/>
                      <a:pt x="1" y="16"/>
                    </a:cubicBezTo>
                    <a:cubicBezTo>
                      <a:pt x="1" y="17"/>
                      <a:pt x="1" y="17"/>
                      <a:pt x="1" y="17"/>
                    </a:cubicBezTo>
                    <a:cubicBezTo>
                      <a:pt x="1" y="17"/>
                      <a:pt x="1" y="17"/>
                      <a:pt x="1" y="17"/>
                    </a:cubicBezTo>
                    <a:cubicBezTo>
                      <a:pt x="2" y="22"/>
                      <a:pt x="2" y="22"/>
                      <a:pt x="2" y="22"/>
                    </a:cubicBezTo>
                    <a:cubicBezTo>
                      <a:pt x="3" y="28"/>
                      <a:pt x="3" y="28"/>
                      <a:pt x="3" y="28"/>
                    </a:cubicBezTo>
                    <a:cubicBezTo>
                      <a:pt x="3" y="28"/>
                      <a:pt x="3" y="28"/>
                      <a:pt x="3" y="28"/>
                    </a:cubicBezTo>
                    <a:cubicBezTo>
                      <a:pt x="3" y="30"/>
                      <a:pt x="3" y="30"/>
                      <a:pt x="3" y="30"/>
                    </a:cubicBezTo>
                    <a:cubicBezTo>
                      <a:pt x="3" y="30"/>
                      <a:pt x="3" y="30"/>
                      <a:pt x="3" y="30"/>
                    </a:cubicBezTo>
                    <a:cubicBezTo>
                      <a:pt x="3" y="30"/>
                      <a:pt x="3" y="30"/>
                      <a:pt x="3" y="30"/>
                    </a:cubicBezTo>
                    <a:cubicBezTo>
                      <a:pt x="4" y="31"/>
                      <a:pt x="4" y="31"/>
                      <a:pt x="4" y="32"/>
                    </a:cubicBezTo>
                    <a:cubicBezTo>
                      <a:pt x="4" y="32"/>
                      <a:pt x="4" y="32"/>
                      <a:pt x="4" y="32"/>
                    </a:cubicBezTo>
                    <a:cubicBezTo>
                      <a:pt x="4" y="33"/>
                      <a:pt x="4" y="33"/>
                      <a:pt x="4" y="33"/>
                    </a:cubicBezTo>
                    <a:cubicBezTo>
                      <a:pt x="5" y="35"/>
                      <a:pt x="7" y="37"/>
                      <a:pt x="9" y="38"/>
                    </a:cubicBezTo>
                    <a:cubicBezTo>
                      <a:pt x="11" y="40"/>
                      <a:pt x="14" y="40"/>
                      <a:pt x="16" y="40"/>
                    </a:cubicBezTo>
                    <a:cubicBezTo>
                      <a:pt x="19" y="40"/>
                      <a:pt x="23" y="39"/>
                      <a:pt x="25" y="37"/>
                    </a:cubicBezTo>
                    <a:cubicBezTo>
                      <a:pt x="28" y="35"/>
                      <a:pt x="29" y="31"/>
                      <a:pt x="29" y="27"/>
                    </a:cubicBezTo>
                    <a:cubicBezTo>
                      <a:pt x="29" y="27"/>
                      <a:pt x="29" y="26"/>
                      <a:pt x="29" y="25"/>
                    </a:cubicBezTo>
                    <a:cubicBezTo>
                      <a:pt x="29" y="25"/>
                      <a:pt x="29" y="25"/>
                      <a:pt x="29" y="25"/>
                    </a:cubicBezTo>
                    <a:cubicBezTo>
                      <a:pt x="29" y="25"/>
                      <a:pt x="29" y="25"/>
                      <a:pt x="29" y="25"/>
                    </a:cubicBezTo>
                    <a:lnTo>
                      <a:pt x="23"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8" name="Freeform 43">
                <a:extLst>
                  <a:ext uri="{FF2B5EF4-FFF2-40B4-BE49-F238E27FC236}">
                    <a16:creationId xmlns:a16="http://schemas.microsoft.com/office/drawing/2014/main" id="{6082402D-BA91-10B3-594A-6C4885C0FC22}"/>
                  </a:ext>
                </a:extLst>
              </p:cNvPr>
              <p:cNvSpPr>
                <a:spLocks/>
              </p:cNvSpPr>
              <p:nvPr/>
            </p:nvSpPr>
            <p:spPr bwMode="auto">
              <a:xfrm>
                <a:off x="6908638" y="4333625"/>
                <a:ext cx="25533" cy="50001"/>
              </a:xfrm>
              <a:custGeom>
                <a:avLst/>
                <a:gdLst>
                  <a:gd name="T0" fmla="*/ 16 w 17"/>
                  <a:gd name="T1" fmla="*/ 22 h 33"/>
                  <a:gd name="T2" fmla="*/ 2 w 17"/>
                  <a:gd name="T3" fmla="*/ 25 h 33"/>
                  <a:gd name="T4" fmla="*/ 2 w 17"/>
                  <a:gd name="T5" fmla="*/ 24 h 33"/>
                  <a:gd name="T6" fmla="*/ 2 w 17"/>
                  <a:gd name="T7" fmla="*/ 23 h 33"/>
                  <a:gd name="T8" fmla="*/ 1 w 17"/>
                  <a:gd name="T9" fmla="*/ 17 h 33"/>
                  <a:gd name="T10" fmla="*/ 0 w 17"/>
                  <a:gd name="T11" fmla="*/ 11 h 33"/>
                  <a:gd name="T12" fmla="*/ 0 w 17"/>
                  <a:gd name="T13" fmla="*/ 9 h 33"/>
                  <a:gd name="T14" fmla="*/ 4 w 17"/>
                  <a:gd name="T15" fmla="*/ 2 h 33"/>
                  <a:gd name="T16" fmla="*/ 14 w 17"/>
                  <a:gd name="T17" fmla="*/ 7 h 33"/>
                  <a:gd name="T18" fmla="*/ 15 w 17"/>
                  <a:gd name="T19" fmla="*/ 9 h 33"/>
                  <a:gd name="T20" fmla="*/ 15 w 17"/>
                  <a:gd name="T21" fmla="*/ 15 h 33"/>
                  <a:gd name="T22" fmla="*/ 16 w 17"/>
                  <a:gd name="T23" fmla="*/ 21 h 33"/>
                  <a:gd name="T24" fmla="*/ 16 w 17"/>
                  <a:gd name="T25"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3">
                    <a:moveTo>
                      <a:pt x="16" y="22"/>
                    </a:moveTo>
                    <a:cubicBezTo>
                      <a:pt x="17" y="30"/>
                      <a:pt x="6" y="33"/>
                      <a:pt x="2" y="25"/>
                    </a:cubicBezTo>
                    <a:cubicBezTo>
                      <a:pt x="2" y="25"/>
                      <a:pt x="2" y="24"/>
                      <a:pt x="2" y="24"/>
                    </a:cubicBezTo>
                    <a:cubicBezTo>
                      <a:pt x="2" y="23"/>
                      <a:pt x="2" y="23"/>
                      <a:pt x="2" y="23"/>
                    </a:cubicBezTo>
                    <a:cubicBezTo>
                      <a:pt x="1" y="17"/>
                      <a:pt x="1" y="17"/>
                      <a:pt x="1" y="17"/>
                    </a:cubicBezTo>
                    <a:cubicBezTo>
                      <a:pt x="0" y="11"/>
                      <a:pt x="0" y="11"/>
                      <a:pt x="0" y="11"/>
                    </a:cubicBezTo>
                    <a:cubicBezTo>
                      <a:pt x="0" y="9"/>
                      <a:pt x="0" y="9"/>
                      <a:pt x="0" y="9"/>
                    </a:cubicBezTo>
                    <a:cubicBezTo>
                      <a:pt x="0" y="6"/>
                      <a:pt x="1" y="4"/>
                      <a:pt x="4" y="2"/>
                    </a:cubicBezTo>
                    <a:cubicBezTo>
                      <a:pt x="8" y="0"/>
                      <a:pt x="14" y="2"/>
                      <a:pt x="14" y="7"/>
                    </a:cubicBezTo>
                    <a:cubicBezTo>
                      <a:pt x="15" y="9"/>
                      <a:pt x="15" y="9"/>
                      <a:pt x="15" y="9"/>
                    </a:cubicBezTo>
                    <a:cubicBezTo>
                      <a:pt x="15" y="15"/>
                      <a:pt x="15" y="15"/>
                      <a:pt x="15" y="15"/>
                    </a:cubicBezTo>
                    <a:cubicBezTo>
                      <a:pt x="16" y="21"/>
                      <a:pt x="16" y="21"/>
                      <a:pt x="16" y="21"/>
                    </a:cubicBezTo>
                    <a:lnTo>
                      <a:pt x="16"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9" name="Freeform 44">
                <a:extLst>
                  <a:ext uri="{FF2B5EF4-FFF2-40B4-BE49-F238E27FC236}">
                    <a16:creationId xmlns:a16="http://schemas.microsoft.com/office/drawing/2014/main" id="{BE20F227-6D96-D30C-3A23-6B49248F6891}"/>
                  </a:ext>
                </a:extLst>
              </p:cNvPr>
              <p:cNvSpPr>
                <a:spLocks/>
              </p:cNvSpPr>
              <p:nvPr/>
            </p:nvSpPr>
            <p:spPr bwMode="auto">
              <a:xfrm>
                <a:off x="6899064" y="4326178"/>
                <a:ext cx="42554" cy="61704"/>
              </a:xfrm>
              <a:custGeom>
                <a:avLst/>
                <a:gdLst>
                  <a:gd name="T0" fmla="*/ 16 w 28"/>
                  <a:gd name="T1" fmla="*/ 27 h 41"/>
                  <a:gd name="T2" fmla="*/ 16 w 28"/>
                  <a:gd name="T3" fmla="*/ 29 h 41"/>
                  <a:gd name="T4" fmla="*/ 14 w 28"/>
                  <a:gd name="T5" fmla="*/ 29 h 41"/>
                  <a:gd name="T6" fmla="*/ 8 w 28"/>
                  <a:gd name="T7" fmla="*/ 30 h 41"/>
                  <a:gd name="T8" fmla="*/ 14 w 28"/>
                  <a:gd name="T9" fmla="*/ 28 h 41"/>
                  <a:gd name="T10" fmla="*/ 14 w 28"/>
                  <a:gd name="T11" fmla="*/ 28 h 41"/>
                  <a:gd name="T12" fmla="*/ 13 w 28"/>
                  <a:gd name="T13" fmla="*/ 21 h 41"/>
                  <a:gd name="T14" fmla="*/ 12 w 28"/>
                  <a:gd name="T15" fmla="*/ 14 h 41"/>
                  <a:gd name="T16" fmla="*/ 12 w 28"/>
                  <a:gd name="T17" fmla="*/ 13 h 41"/>
                  <a:gd name="T18" fmla="*/ 10 w 28"/>
                  <a:gd name="T19" fmla="*/ 7 h 41"/>
                  <a:gd name="T20" fmla="*/ 13 w 28"/>
                  <a:gd name="T21" fmla="*/ 12 h 41"/>
                  <a:gd name="T22" fmla="*/ 15 w 28"/>
                  <a:gd name="T23" fmla="*/ 13 h 41"/>
                  <a:gd name="T24" fmla="*/ 15 w 28"/>
                  <a:gd name="T25" fmla="*/ 15 h 41"/>
                  <a:gd name="T26" fmla="*/ 16 w 28"/>
                  <a:gd name="T27" fmla="*/ 21 h 41"/>
                  <a:gd name="T28" fmla="*/ 16 w 28"/>
                  <a:gd name="T29" fmla="*/ 27 h 41"/>
                  <a:gd name="T30" fmla="*/ 16 w 28"/>
                  <a:gd name="T31" fmla="*/ 27 h 41"/>
                  <a:gd name="T32" fmla="*/ 28 w 28"/>
                  <a:gd name="T33" fmla="*/ 26 h 41"/>
                  <a:gd name="T34" fmla="*/ 28 w 28"/>
                  <a:gd name="T35" fmla="*/ 25 h 41"/>
                  <a:gd name="T36" fmla="*/ 27 w 28"/>
                  <a:gd name="T37" fmla="*/ 13 h 41"/>
                  <a:gd name="T38" fmla="*/ 26 w 28"/>
                  <a:gd name="T39" fmla="*/ 12 h 41"/>
                  <a:gd name="T40" fmla="*/ 13 w 28"/>
                  <a:gd name="T41" fmla="*/ 0 h 41"/>
                  <a:gd name="T42" fmla="*/ 7 w 28"/>
                  <a:gd name="T43" fmla="*/ 2 h 41"/>
                  <a:gd name="T44" fmla="*/ 0 w 28"/>
                  <a:gd name="T45" fmla="*/ 13 h 41"/>
                  <a:gd name="T46" fmla="*/ 1 w 28"/>
                  <a:gd name="T47" fmla="*/ 17 h 41"/>
                  <a:gd name="T48" fmla="*/ 1 w 28"/>
                  <a:gd name="T49" fmla="*/ 23 h 41"/>
                  <a:gd name="T50" fmla="*/ 2 w 28"/>
                  <a:gd name="T51" fmla="*/ 28 h 41"/>
                  <a:gd name="T52" fmla="*/ 2 w 28"/>
                  <a:gd name="T53" fmla="*/ 29 h 41"/>
                  <a:gd name="T54" fmla="*/ 3 w 28"/>
                  <a:gd name="T55" fmla="*/ 32 h 41"/>
                  <a:gd name="T56" fmla="*/ 3 w 28"/>
                  <a:gd name="T57" fmla="*/ 32 h 41"/>
                  <a:gd name="T58" fmla="*/ 15 w 28"/>
                  <a:gd name="T59" fmla="*/ 41 h 41"/>
                  <a:gd name="T60" fmla="*/ 28 w 28"/>
                  <a:gd name="T61" fmla="*/ 28 h 41"/>
                  <a:gd name="T62" fmla="*/ 28 w 28"/>
                  <a:gd name="T63"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 h="41">
                    <a:moveTo>
                      <a:pt x="22" y="27"/>
                    </a:moveTo>
                    <a:cubicBezTo>
                      <a:pt x="16" y="27"/>
                      <a:pt x="16" y="27"/>
                      <a:pt x="16" y="27"/>
                    </a:cubicBezTo>
                    <a:cubicBezTo>
                      <a:pt x="16" y="28"/>
                      <a:pt x="16" y="28"/>
                      <a:pt x="16" y="28"/>
                    </a:cubicBezTo>
                    <a:cubicBezTo>
                      <a:pt x="16" y="28"/>
                      <a:pt x="16" y="28"/>
                      <a:pt x="16" y="29"/>
                    </a:cubicBezTo>
                    <a:cubicBezTo>
                      <a:pt x="16" y="29"/>
                      <a:pt x="15" y="29"/>
                      <a:pt x="15" y="29"/>
                    </a:cubicBezTo>
                    <a:cubicBezTo>
                      <a:pt x="14" y="29"/>
                      <a:pt x="14" y="29"/>
                      <a:pt x="14" y="29"/>
                    </a:cubicBezTo>
                    <a:cubicBezTo>
                      <a:pt x="14" y="29"/>
                      <a:pt x="14" y="29"/>
                      <a:pt x="14" y="28"/>
                    </a:cubicBezTo>
                    <a:cubicBezTo>
                      <a:pt x="8" y="30"/>
                      <a:pt x="8" y="30"/>
                      <a:pt x="8" y="30"/>
                    </a:cubicBezTo>
                    <a:cubicBezTo>
                      <a:pt x="14" y="28"/>
                      <a:pt x="14" y="28"/>
                      <a:pt x="14" y="28"/>
                    </a:cubicBezTo>
                    <a:cubicBezTo>
                      <a:pt x="14" y="28"/>
                      <a:pt x="14" y="28"/>
                      <a:pt x="14" y="28"/>
                    </a:cubicBezTo>
                    <a:cubicBezTo>
                      <a:pt x="8" y="29"/>
                      <a:pt x="8" y="29"/>
                      <a:pt x="8" y="29"/>
                    </a:cubicBezTo>
                    <a:cubicBezTo>
                      <a:pt x="14" y="28"/>
                      <a:pt x="14" y="28"/>
                      <a:pt x="14" y="28"/>
                    </a:cubicBezTo>
                    <a:cubicBezTo>
                      <a:pt x="14" y="27"/>
                      <a:pt x="14" y="27"/>
                      <a:pt x="14" y="27"/>
                    </a:cubicBezTo>
                    <a:cubicBezTo>
                      <a:pt x="13" y="21"/>
                      <a:pt x="13" y="21"/>
                      <a:pt x="13" y="21"/>
                    </a:cubicBezTo>
                    <a:cubicBezTo>
                      <a:pt x="12" y="15"/>
                      <a:pt x="12" y="15"/>
                      <a:pt x="12" y="15"/>
                    </a:cubicBezTo>
                    <a:cubicBezTo>
                      <a:pt x="12" y="14"/>
                      <a:pt x="12" y="14"/>
                      <a:pt x="12" y="14"/>
                    </a:cubicBezTo>
                    <a:cubicBezTo>
                      <a:pt x="12" y="14"/>
                      <a:pt x="12" y="14"/>
                      <a:pt x="12" y="14"/>
                    </a:cubicBezTo>
                    <a:cubicBezTo>
                      <a:pt x="12" y="13"/>
                      <a:pt x="12" y="13"/>
                      <a:pt x="12" y="13"/>
                    </a:cubicBezTo>
                    <a:cubicBezTo>
                      <a:pt x="12" y="13"/>
                      <a:pt x="12" y="12"/>
                      <a:pt x="13" y="12"/>
                    </a:cubicBezTo>
                    <a:cubicBezTo>
                      <a:pt x="10" y="7"/>
                      <a:pt x="10" y="7"/>
                      <a:pt x="10" y="7"/>
                    </a:cubicBezTo>
                    <a:cubicBezTo>
                      <a:pt x="13" y="12"/>
                      <a:pt x="13" y="12"/>
                      <a:pt x="13" y="12"/>
                    </a:cubicBezTo>
                    <a:cubicBezTo>
                      <a:pt x="13" y="12"/>
                      <a:pt x="13" y="12"/>
                      <a:pt x="13" y="12"/>
                    </a:cubicBezTo>
                    <a:cubicBezTo>
                      <a:pt x="14" y="12"/>
                      <a:pt x="14" y="12"/>
                      <a:pt x="14" y="12"/>
                    </a:cubicBezTo>
                    <a:cubicBezTo>
                      <a:pt x="14" y="13"/>
                      <a:pt x="15" y="13"/>
                      <a:pt x="15" y="13"/>
                    </a:cubicBezTo>
                    <a:cubicBezTo>
                      <a:pt x="15" y="15"/>
                      <a:pt x="15" y="15"/>
                      <a:pt x="15" y="15"/>
                    </a:cubicBezTo>
                    <a:cubicBezTo>
                      <a:pt x="15" y="15"/>
                      <a:pt x="15" y="15"/>
                      <a:pt x="15" y="15"/>
                    </a:cubicBezTo>
                    <a:cubicBezTo>
                      <a:pt x="16" y="21"/>
                      <a:pt x="16" y="21"/>
                      <a:pt x="16" y="21"/>
                    </a:cubicBezTo>
                    <a:cubicBezTo>
                      <a:pt x="16" y="21"/>
                      <a:pt x="16" y="21"/>
                      <a:pt x="16" y="21"/>
                    </a:cubicBezTo>
                    <a:cubicBezTo>
                      <a:pt x="16" y="27"/>
                      <a:pt x="16" y="27"/>
                      <a:pt x="16" y="27"/>
                    </a:cubicBezTo>
                    <a:cubicBezTo>
                      <a:pt x="16" y="27"/>
                      <a:pt x="16" y="27"/>
                      <a:pt x="16" y="27"/>
                    </a:cubicBezTo>
                    <a:cubicBezTo>
                      <a:pt x="16" y="28"/>
                      <a:pt x="16" y="28"/>
                      <a:pt x="16" y="28"/>
                    </a:cubicBezTo>
                    <a:cubicBezTo>
                      <a:pt x="16" y="27"/>
                      <a:pt x="16" y="27"/>
                      <a:pt x="16" y="27"/>
                    </a:cubicBezTo>
                    <a:cubicBezTo>
                      <a:pt x="22" y="27"/>
                      <a:pt x="22" y="27"/>
                      <a:pt x="22" y="27"/>
                    </a:cubicBezTo>
                    <a:cubicBezTo>
                      <a:pt x="28" y="26"/>
                      <a:pt x="28" y="26"/>
                      <a:pt x="28" y="26"/>
                    </a:cubicBezTo>
                    <a:cubicBezTo>
                      <a:pt x="28" y="25"/>
                      <a:pt x="28" y="25"/>
                      <a:pt x="28" y="25"/>
                    </a:cubicBezTo>
                    <a:cubicBezTo>
                      <a:pt x="28" y="25"/>
                      <a:pt x="28" y="25"/>
                      <a:pt x="28" y="25"/>
                    </a:cubicBezTo>
                    <a:cubicBezTo>
                      <a:pt x="27" y="19"/>
                      <a:pt x="27" y="19"/>
                      <a:pt x="27" y="19"/>
                    </a:cubicBezTo>
                    <a:cubicBezTo>
                      <a:pt x="27" y="13"/>
                      <a:pt x="27" y="13"/>
                      <a:pt x="27" y="13"/>
                    </a:cubicBezTo>
                    <a:cubicBezTo>
                      <a:pt x="26" y="12"/>
                      <a:pt x="26" y="12"/>
                      <a:pt x="26" y="12"/>
                    </a:cubicBezTo>
                    <a:cubicBezTo>
                      <a:pt x="26" y="12"/>
                      <a:pt x="26" y="12"/>
                      <a:pt x="26" y="12"/>
                    </a:cubicBezTo>
                    <a:cubicBezTo>
                      <a:pt x="26" y="8"/>
                      <a:pt x="24" y="5"/>
                      <a:pt x="22" y="3"/>
                    </a:cubicBezTo>
                    <a:cubicBezTo>
                      <a:pt x="19" y="1"/>
                      <a:pt x="16" y="0"/>
                      <a:pt x="13" y="0"/>
                    </a:cubicBezTo>
                    <a:cubicBezTo>
                      <a:pt x="11" y="0"/>
                      <a:pt x="9" y="1"/>
                      <a:pt x="7" y="2"/>
                    </a:cubicBezTo>
                    <a:cubicBezTo>
                      <a:pt x="7" y="2"/>
                      <a:pt x="7" y="2"/>
                      <a:pt x="7" y="2"/>
                    </a:cubicBezTo>
                    <a:cubicBezTo>
                      <a:pt x="7" y="2"/>
                      <a:pt x="7" y="2"/>
                      <a:pt x="7" y="2"/>
                    </a:cubicBezTo>
                    <a:cubicBezTo>
                      <a:pt x="3" y="4"/>
                      <a:pt x="0" y="9"/>
                      <a:pt x="0" y="13"/>
                    </a:cubicBezTo>
                    <a:cubicBezTo>
                      <a:pt x="0" y="14"/>
                      <a:pt x="0" y="15"/>
                      <a:pt x="0" y="15"/>
                    </a:cubicBezTo>
                    <a:cubicBezTo>
                      <a:pt x="1" y="17"/>
                      <a:pt x="1" y="17"/>
                      <a:pt x="1" y="17"/>
                    </a:cubicBezTo>
                    <a:cubicBezTo>
                      <a:pt x="1" y="17"/>
                      <a:pt x="1" y="17"/>
                      <a:pt x="1" y="17"/>
                    </a:cubicBezTo>
                    <a:cubicBezTo>
                      <a:pt x="1" y="23"/>
                      <a:pt x="1" y="23"/>
                      <a:pt x="1" y="23"/>
                    </a:cubicBezTo>
                    <a:cubicBezTo>
                      <a:pt x="1" y="22"/>
                      <a:pt x="1" y="22"/>
                      <a:pt x="1" y="22"/>
                    </a:cubicBezTo>
                    <a:cubicBezTo>
                      <a:pt x="2" y="28"/>
                      <a:pt x="2" y="28"/>
                      <a:pt x="2" y="28"/>
                    </a:cubicBezTo>
                    <a:cubicBezTo>
                      <a:pt x="2" y="29"/>
                      <a:pt x="2" y="29"/>
                      <a:pt x="2" y="29"/>
                    </a:cubicBezTo>
                    <a:cubicBezTo>
                      <a:pt x="2" y="29"/>
                      <a:pt x="2" y="29"/>
                      <a:pt x="2" y="29"/>
                    </a:cubicBezTo>
                    <a:cubicBezTo>
                      <a:pt x="2" y="29"/>
                      <a:pt x="2" y="29"/>
                      <a:pt x="2" y="29"/>
                    </a:cubicBezTo>
                    <a:cubicBezTo>
                      <a:pt x="2" y="30"/>
                      <a:pt x="2" y="31"/>
                      <a:pt x="3" y="32"/>
                    </a:cubicBezTo>
                    <a:cubicBezTo>
                      <a:pt x="3" y="32"/>
                      <a:pt x="3" y="32"/>
                      <a:pt x="3" y="32"/>
                    </a:cubicBezTo>
                    <a:cubicBezTo>
                      <a:pt x="3" y="32"/>
                      <a:pt x="3" y="32"/>
                      <a:pt x="3" y="32"/>
                    </a:cubicBezTo>
                    <a:cubicBezTo>
                      <a:pt x="4" y="35"/>
                      <a:pt x="6" y="37"/>
                      <a:pt x="8" y="39"/>
                    </a:cubicBezTo>
                    <a:cubicBezTo>
                      <a:pt x="10" y="40"/>
                      <a:pt x="13" y="41"/>
                      <a:pt x="15" y="41"/>
                    </a:cubicBezTo>
                    <a:cubicBezTo>
                      <a:pt x="18" y="41"/>
                      <a:pt x="21" y="40"/>
                      <a:pt x="24" y="37"/>
                    </a:cubicBezTo>
                    <a:cubicBezTo>
                      <a:pt x="26" y="35"/>
                      <a:pt x="28" y="32"/>
                      <a:pt x="28" y="28"/>
                    </a:cubicBezTo>
                    <a:cubicBezTo>
                      <a:pt x="28" y="27"/>
                      <a:pt x="28" y="27"/>
                      <a:pt x="28" y="26"/>
                    </a:cubicBezTo>
                    <a:cubicBezTo>
                      <a:pt x="28" y="26"/>
                      <a:pt x="28" y="26"/>
                      <a:pt x="28" y="26"/>
                    </a:cubicBezTo>
                    <a:lnTo>
                      <a:pt x="22"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0" name="Freeform 45">
                <a:extLst>
                  <a:ext uri="{FF2B5EF4-FFF2-40B4-BE49-F238E27FC236}">
                    <a16:creationId xmlns:a16="http://schemas.microsoft.com/office/drawing/2014/main" id="{93D64505-48FD-F448-9297-5487C7132EE8}"/>
                  </a:ext>
                </a:extLst>
              </p:cNvPr>
              <p:cNvSpPr>
                <a:spLocks/>
              </p:cNvSpPr>
              <p:nvPr/>
            </p:nvSpPr>
            <p:spPr bwMode="auto">
              <a:xfrm>
                <a:off x="6920341" y="4461288"/>
                <a:ext cx="23405" cy="52129"/>
              </a:xfrm>
              <a:custGeom>
                <a:avLst/>
                <a:gdLst>
                  <a:gd name="T0" fmla="*/ 15 w 15"/>
                  <a:gd name="T1" fmla="*/ 25 h 35"/>
                  <a:gd name="T2" fmla="*/ 14 w 15"/>
                  <a:gd name="T3" fmla="*/ 29 h 35"/>
                  <a:gd name="T4" fmla="*/ 1 w 15"/>
                  <a:gd name="T5" fmla="*/ 25 h 35"/>
                  <a:gd name="T6" fmla="*/ 1 w 15"/>
                  <a:gd name="T7" fmla="*/ 22 h 35"/>
                  <a:gd name="T8" fmla="*/ 0 w 15"/>
                  <a:gd name="T9" fmla="*/ 16 h 35"/>
                  <a:gd name="T10" fmla="*/ 0 w 15"/>
                  <a:gd name="T11" fmla="*/ 11 h 35"/>
                  <a:gd name="T12" fmla="*/ 14 w 15"/>
                  <a:gd name="T13" fmla="*/ 7 h 35"/>
                  <a:gd name="T14" fmla="*/ 14 w 15"/>
                  <a:gd name="T15" fmla="*/ 10 h 35"/>
                  <a:gd name="T16" fmla="*/ 15 w 15"/>
                  <a:gd name="T17" fmla="*/ 15 h 35"/>
                  <a:gd name="T18" fmla="*/ 15 w 15"/>
                  <a:gd name="T19" fmla="*/ 21 h 35"/>
                  <a:gd name="T20" fmla="*/ 15 w 15"/>
                  <a:gd name="T21" fmla="*/ 2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35">
                    <a:moveTo>
                      <a:pt x="15" y="25"/>
                    </a:moveTo>
                    <a:cubicBezTo>
                      <a:pt x="15" y="26"/>
                      <a:pt x="15" y="28"/>
                      <a:pt x="14" y="29"/>
                    </a:cubicBezTo>
                    <a:cubicBezTo>
                      <a:pt x="9" y="35"/>
                      <a:pt x="1" y="32"/>
                      <a:pt x="1" y="25"/>
                    </a:cubicBezTo>
                    <a:cubicBezTo>
                      <a:pt x="1" y="22"/>
                      <a:pt x="1" y="22"/>
                      <a:pt x="1" y="22"/>
                    </a:cubicBezTo>
                    <a:cubicBezTo>
                      <a:pt x="0" y="16"/>
                      <a:pt x="0" y="16"/>
                      <a:pt x="0" y="16"/>
                    </a:cubicBezTo>
                    <a:cubicBezTo>
                      <a:pt x="0" y="11"/>
                      <a:pt x="0" y="11"/>
                      <a:pt x="0" y="11"/>
                    </a:cubicBezTo>
                    <a:cubicBezTo>
                      <a:pt x="0" y="3"/>
                      <a:pt x="10" y="0"/>
                      <a:pt x="14" y="7"/>
                    </a:cubicBezTo>
                    <a:cubicBezTo>
                      <a:pt x="14" y="8"/>
                      <a:pt x="14" y="9"/>
                      <a:pt x="14" y="10"/>
                    </a:cubicBezTo>
                    <a:cubicBezTo>
                      <a:pt x="15" y="15"/>
                      <a:pt x="15" y="15"/>
                      <a:pt x="15" y="15"/>
                    </a:cubicBezTo>
                    <a:cubicBezTo>
                      <a:pt x="15" y="21"/>
                      <a:pt x="15" y="21"/>
                      <a:pt x="15" y="21"/>
                    </a:cubicBezTo>
                    <a:lnTo>
                      <a:pt x="15"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1" name="Freeform 46">
                <a:extLst>
                  <a:ext uri="{FF2B5EF4-FFF2-40B4-BE49-F238E27FC236}">
                    <a16:creationId xmlns:a16="http://schemas.microsoft.com/office/drawing/2014/main" id="{7D0AF1DF-0FE7-CBAC-A8EA-2C211A4DDF8C}"/>
                  </a:ext>
                </a:extLst>
              </p:cNvPr>
              <p:cNvSpPr>
                <a:spLocks/>
              </p:cNvSpPr>
              <p:nvPr/>
            </p:nvSpPr>
            <p:spPr bwMode="auto">
              <a:xfrm>
                <a:off x="6911830" y="4455968"/>
                <a:ext cx="40427" cy="62767"/>
              </a:xfrm>
              <a:custGeom>
                <a:avLst/>
                <a:gdLst>
                  <a:gd name="T0" fmla="*/ 21 w 27"/>
                  <a:gd name="T1" fmla="*/ 28 h 41"/>
                  <a:gd name="T2" fmla="*/ 15 w 27"/>
                  <a:gd name="T3" fmla="*/ 28 h 41"/>
                  <a:gd name="T4" fmla="*/ 15 w 27"/>
                  <a:gd name="T5" fmla="*/ 28 h 41"/>
                  <a:gd name="T6" fmla="*/ 15 w 27"/>
                  <a:gd name="T7" fmla="*/ 29 h 41"/>
                  <a:gd name="T8" fmla="*/ 14 w 27"/>
                  <a:gd name="T9" fmla="*/ 29 h 41"/>
                  <a:gd name="T10" fmla="*/ 13 w 27"/>
                  <a:gd name="T11" fmla="*/ 29 h 41"/>
                  <a:gd name="T12" fmla="*/ 13 w 27"/>
                  <a:gd name="T13" fmla="*/ 28 h 41"/>
                  <a:gd name="T14" fmla="*/ 7 w 27"/>
                  <a:gd name="T15" fmla="*/ 28 h 41"/>
                  <a:gd name="T16" fmla="*/ 13 w 27"/>
                  <a:gd name="T17" fmla="*/ 28 h 41"/>
                  <a:gd name="T18" fmla="*/ 12 w 27"/>
                  <a:gd name="T19" fmla="*/ 24 h 41"/>
                  <a:gd name="T20" fmla="*/ 12 w 27"/>
                  <a:gd name="T21" fmla="*/ 18 h 41"/>
                  <a:gd name="T22" fmla="*/ 12 w 27"/>
                  <a:gd name="T23" fmla="*/ 14 h 41"/>
                  <a:gd name="T24" fmla="*/ 12 w 27"/>
                  <a:gd name="T25" fmla="*/ 14 h 41"/>
                  <a:gd name="T26" fmla="*/ 12 w 27"/>
                  <a:gd name="T27" fmla="*/ 13 h 41"/>
                  <a:gd name="T28" fmla="*/ 12 w 27"/>
                  <a:gd name="T29" fmla="*/ 13 h 41"/>
                  <a:gd name="T30" fmla="*/ 13 w 27"/>
                  <a:gd name="T31" fmla="*/ 12 h 41"/>
                  <a:gd name="T32" fmla="*/ 14 w 27"/>
                  <a:gd name="T33" fmla="*/ 12 h 41"/>
                  <a:gd name="T34" fmla="*/ 14 w 27"/>
                  <a:gd name="T35" fmla="*/ 13 h 41"/>
                  <a:gd name="T36" fmla="*/ 20 w 27"/>
                  <a:gd name="T37" fmla="*/ 10 h 41"/>
                  <a:gd name="T38" fmla="*/ 14 w 27"/>
                  <a:gd name="T39" fmla="*/ 13 h 41"/>
                  <a:gd name="T40" fmla="*/ 15 w 27"/>
                  <a:gd name="T41" fmla="*/ 13 h 41"/>
                  <a:gd name="T42" fmla="*/ 15 w 27"/>
                  <a:gd name="T43" fmla="*/ 13 h 41"/>
                  <a:gd name="T44" fmla="*/ 15 w 27"/>
                  <a:gd name="T45" fmla="*/ 18 h 41"/>
                  <a:gd name="T46" fmla="*/ 15 w 27"/>
                  <a:gd name="T47" fmla="*/ 18 h 41"/>
                  <a:gd name="T48" fmla="*/ 15 w 27"/>
                  <a:gd name="T49" fmla="*/ 24 h 41"/>
                  <a:gd name="T50" fmla="*/ 15 w 27"/>
                  <a:gd name="T51" fmla="*/ 24 h 41"/>
                  <a:gd name="T52" fmla="*/ 15 w 27"/>
                  <a:gd name="T53" fmla="*/ 28 h 41"/>
                  <a:gd name="T54" fmla="*/ 15 w 27"/>
                  <a:gd name="T55" fmla="*/ 28 h 41"/>
                  <a:gd name="T56" fmla="*/ 21 w 27"/>
                  <a:gd name="T57" fmla="*/ 28 h 41"/>
                  <a:gd name="T58" fmla="*/ 27 w 27"/>
                  <a:gd name="T59" fmla="*/ 27 h 41"/>
                  <a:gd name="T60" fmla="*/ 27 w 27"/>
                  <a:gd name="T61" fmla="*/ 24 h 41"/>
                  <a:gd name="T62" fmla="*/ 27 w 27"/>
                  <a:gd name="T63" fmla="*/ 24 h 41"/>
                  <a:gd name="T64" fmla="*/ 27 w 27"/>
                  <a:gd name="T65" fmla="*/ 18 h 41"/>
                  <a:gd name="T66" fmla="*/ 26 w 27"/>
                  <a:gd name="T67" fmla="*/ 13 h 41"/>
                  <a:gd name="T68" fmla="*/ 26 w 27"/>
                  <a:gd name="T69" fmla="*/ 13 h 41"/>
                  <a:gd name="T70" fmla="*/ 25 w 27"/>
                  <a:gd name="T71" fmla="*/ 8 h 41"/>
                  <a:gd name="T72" fmla="*/ 25 w 27"/>
                  <a:gd name="T73" fmla="*/ 7 h 41"/>
                  <a:gd name="T74" fmla="*/ 25 w 27"/>
                  <a:gd name="T75" fmla="*/ 7 h 41"/>
                  <a:gd name="T76" fmla="*/ 20 w 27"/>
                  <a:gd name="T77" fmla="*/ 2 h 41"/>
                  <a:gd name="T78" fmla="*/ 13 w 27"/>
                  <a:gd name="T79" fmla="*/ 0 h 41"/>
                  <a:gd name="T80" fmla="*/ 4 w 27"/>
                  <a:gd name="T81" fmla="*/ 4 h 41"/>
                  <a:gd name="T82" fmla="*/ 0 w 27"/>
                  <a:gd name="T83" fmla="*/ 13 h 41"/>
                  <a:gd name="T84" fmla="*/ 0 w 27"/>
                  <a:gd name="T85" fmla="*/ 14 h 41"/>
                  <a:gd name="T86" fmla="*/ 0 w 27"/>
                  <a:gd name="T87" fmla="*/ 14 h 41"/>
                  <a:gd name="T88" fmla="*/ 0 w 27"/>
                  <a:gd name="T89" fmla="*/ 19 h 41"/>
                  <a:gd name="T90" fmla="*/ 0 w 27"/>
                  <a:gd name="T91" fmla="*/ 19 h 41"/>
                  <a:gd name="T92" fmla="*/ 1 w 27"/>
                  <a:gd name="T93" fmla="*/ 25 h 41"/>
                  <a:gd name="T94" fmla="*/ 1 w 27"/>
                  <a:gd name="T95" fmla="*/ 25 h 41"/>
                  <a:gd name="T96" fmla="*/ 1 w 27"/>
                  <a:gd name="T97" fmla="*/ 28 h 41"/>
                  <a:gd name="T98" fmla="*/ 1 w 27"/>
                  <a:gd name="T99" fmla="*/ 28 h 41"/>
                  <a:gd name="T100" fmla="*/ 1 w 27"/>
                  <a:gd name="T101" fmla="*/ 29 h 41"/>
                  <a:gd name="T102" fmla="*/ 5 w 27"/>
                  <a:gd name="T103" fmla="*/ 38 h 41"/>
                  <a:gd name="T104" fmla="*/ 14 w 27"/>
                  <a:gd name="T105" fmla="*/ 41 h 41"/>
                  <a:gd name="T106" fmla="*/ 24 w 27"/>
                  <a:gd name="T107" fmla="*/ 36 h 41"/>
                  <a:gd name="T108" fmla="*/ 27 w 27"/>
                  <a:gd name="T109" fmla="*/ 28 h 41"/>
                  <a:gd name="T110" fmla="*/ 27 w 27"/>
                  <a:gd name="T111" fmla="*/ 27 h 41"/>
                  <a:gd name="T112" fmla="*/ 27 w 27"/>
                  <a:gd name="T113" fmla="*/ 27 h 41"/>
                  <a:gd name="T114" fmla="*/ 21 w 27"/>
                  <a:gd name="T115"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 h="41">
                    <a:moveTo>
                      <a:pt x="21" y="28"/>
                    </a:moveTo>
                    <a:cubicBezTo>
                      <a:pt x="15" y="28"/>
                      <a:pt x="15" y="28"/>
                      <a:pt x="15" y="28"/>
                    </a:cubicBezTo>
                    <a:cubicBezTo>
                      <a:pt x="15" y="28"/>
                      <a:pt x="15" y="28"/>
                      <a:pt x="15" y="28"/>
                    </a:cubicBezTo>
                    <a:cubicBezTo>
                      <a:pt x="15" y="28"/>
                      <a:pt x="15" y="28"/>
                      <a:pt x="15" y="29"/>
                    </a:cubicBezTo>
                    <a:cubicBezTo>
                      <a:pt x="15" y="29"/>
                      <a:pt x="14" y="29"/>
                      <a:pt x="14" y="29"/>
                    </a:cubicBezTo>
                    <a:cubicBezTo>
                      <a:pt x="13" y="29"/>
                      <a:pt x="13" y="29"/>
                      <a:pt x="13" y="29"/>
                    </a:cubicBezTo>
                    <a:cubicBezTo>
                      <a:pt x="13" y="29"/>
                      <a:pt x="13" y="28"/>
                      <a:pt x="13" y="28"/>
                    </a:cubicBezTo>
                    <a:cubicBezTo>
                      <a:pt x="7" y="28"/>
                      <a:pt x="7" y="28"/>
                      <a:pt x="7" y="28"/>
                    </a:cubicBezTo>
                    <a:cubicBezTo>
                      <a:pt x="13" y="28"/>
                      <a:pt x="13" y="28"/>
                      <a:pt x="13" y="28"/>
                    </a:cubicBezTo>
                    <a:cubicBezTo>
                      <a:pt x="12" y="24"/>
                      <a:pt x="12" y="24"/>
                      <a:pt x="12" y="24"/>
                    </a:cubicBezTo>
                    <a:cubicBezTo>
                      <a:pt x="12" y="18"/>
                      <a:pt x="12" y="18"/>
                      <a:pt x="12" y="18"/>
                    </a:cubicBezTo>
                    <a:cubicBezTo>
                      <a:pt x="12" y="14"/>
                      <a:pt x="12" y="14"/>
                      <a:pt x="12" y="14"/>
                    </a:cubicBezTo>
                    <a:cubicBezTo>
                      <a:pt x="12" y="14"/>
                      <a:pt x="12" y="14"/>
                      <a:pt x="12" y="14"/>
                    </a:cubicBezTo>
                    <a:cubicBezTo>
                      <a:pt x="12" y="13"/>
                      <a:pt x="12" y="13"/>
                      <a:pt x="12" y="13"/>
                    </a:cubicBezTo>
                    <a:cubicBezTo>
                      <a:pt x="12" y="13"/>
                      <a:pt x="12" y="13"/>
                      <a:pt x="12" y="13"/>
                    </a:cubicBezTo>
                    <a:cubicBezTo>
                      <a:pt x="12" y="12"/>
                      <a:pt x="13" y="12"/>
                      <a:pt x="13" y="12"/>
                    </a:cubicBezTo>
                    <a:cubicBezTo>
                      <a:pt x="14" y="12"/>
                      <a:pt x="14" y="12"/>
                      <a:pt x="14" y="12"/>
                    </a:cubicBezTo>
                    <a:cubicBezTo>
                      <a:pt x="14" y="12"/>
                      <a:pt x="14" y="12"/>
                      <a:pt x="14" y="13"/>
                    </a:cubicBezTo>
                    <a:cubicBezTo>
                      <a:pt x="20" y="10"/>
                      <a:pt x="20" y="10"/>
                      <a:pt x="20" y="10"/>
                    </a:cubicBezTo>
                    <a:cubicBezTo>
                      <a:pt x="14" y="13"/>
                      <a:pt x="14" y="13"/>
                      <a:pt x="14" y="13"/>
                    </a:cubicBezTo>
                    <a:cubicBezTo>
                      <a:pt x="15" y="13"/>
                      <a:pt x="15" y="13"/>
                      <a:pt x="15" y="13"/>
                    </a:cubicBezTo>
                    <a:cubicBezTo>
                      <a:pt x="15" y="13"/>
                      <a:pt x="15" y="13"/>
                      <a:pt x="15" y="13"/>
                    </a:cubicBezTo>
                    <a:cubicBezTo>
                      <a:pt x="15" y="18"/>
                      <a:pt x="15" y="18"/>
                      <a:pt x="15" y="18"/>
                    </a:cubicBezTo>
                    <a:cubicBezTo>
                      <a:pt x="15" y="18"/>
                      <a:pt x="15" y="18"/>
                      <a:pt x="15" y="18"/>
                    </a:cubicBezTo>
                    <a:cubicBezTo>
                      <a:pt x="15" y="24"/>
                      <a:pt x="15" y="24"/>
                      <a:pt x="15" y="24"/>
                    </a:cubicBezTo>
                    <a:cubicBezTo>
                      <a:pt x="15" y="24"/>
                      <a:pt x="15" y="24"/>
                      <a:pt x="15" y="24"/>
                    </a:cubicBezTo>
                    <a:cubicBezTo>
                      <a:pt x="15" y="28"/>
                      <a:pt x="15" y="28"/>
                      <a:pt x="15" y="28"/>
                    </a:cubicBezTo>
                    <a:cubicBezTo>
                      <a:pt x="15" y="28"/>
                      <a:pt x="15" y="28"/>
                      <a:pt x="15" y="28"/>
                    </a:cubicBezTo>
                    <a:cubicBezTo>
                      <a:pt x="21" y="28"/>
                      <a:pt x="21" y="28"/>
                      <a:pt x="21" y="28"/>
                    </a:cubicBezTo>
                    <a:cubicBezTo>
                      <a:pt x="27" y="27"/>
                      <a:pt x="27" y="27"/>
                      <a:pt x="27" y="27"/>
                    </a:cubicBezTo>
                    <a:cubicBezTo>
                      <a:pt x="27" y="24"/>
                      <a:pt x="27" y="24"/>
                      <a:pt x="27" y="24"/>
                    </a:cubicBezTo>
                    <a:cubicBezTo>
                      <a:pt x="27" y="24"/>
                      <a:pt x="27" y="24"/>
                      <a:pt x="27" y="24"/>
                    </a:cubicBezTo>
                    <a:cubicBezTo>
                      <a:pt x="27" y="18"/>
                      <a:pt x="27" y="18"/>
                      <a:pt x="27" y="18"/>
                    </a:cubicBezTo>
                    <a:cubicBezTo>
                      <a:pt x="26" y="13"/>
                      <a:pt x="26" y="13"/>
                      <a:pt x="26" y="13"/>
                    </a:cubicBezTo>
                    <a:cubicBezTo>
                      <a:pt x="26" y="13"/>
                      <a:pt x="26" y="13"/>
                      <a:pt x="26" y="13"/>
                    </a:cubicBezTo>
                    <a:cubicBezTo>
                      <a:pt x="26" y="11"/>
                      <a:pt x="26" y="9"/>
                      <a:pt x="25" y="8"/>
                    </a:cubicBezTo>
                    <a:cubicBezTo>
                      <a:pt x="25" y="7"/>
                      <a:pt x="25" y="7"/>
                      <a:pt x="25" y="7"/>
                    </a:cubicBezTo>
                    <a:cubicBezTo>
                      <a:pt x="25" y="7"/>
                      <a:pt x="25" y="7"/>
                      <a:pt x="25" y="7"/>
                    </a:cubicBezTo>
                    <a:cubicBezTo>
                      <a:pt x="24" y="5"/>
                      <a:pt x="22" y="3"/>
                      <a:pt x="20" y="2"/>
                    </a:cubicBezTo>
                    <a:cubicBezTo>
                      <a:pt x="18" y="1"/>
                      <a:pt x="15" y="0"/>
                      <a:pt x="13" y="0"/>
                    </a:cubicBezTo>
                    <a:cubicBezTo>
                      <a:pt x="10" y="0"/>
                      <a:pt x="7" y="2"/>
                      <a:pt x="4" y="4"/>
                    </a:cubicBezTo>
                    <a:cubicBezTo>
                      <a:pt x="2" y="6"/>
                      <a:pt x="0" y="10"/>
                      <a:pt x="0" y="13"/>
                    </a:cubicBezTo>
                    <a:cubicBezTo>
                      <a:pt x="0" y="14"/>
                      <a:pt x="0" y="14"/>
                      <a:pt x="0" y="14"/>
                    </a:cubicBezTo>
                    <a:cubicBezTo>
                      <a:pt x="0" y="14"/>
                      <a:pt x="0" y="14"/>
                      <a:pt x="0" y="14"/>
                    </a:cubicBezTo>
                    <a:cubicBezTo>
                      <a:pt x="0" y="19"/>
                      <a:pt x="0" y="19"/>
                      <a:pt x="0" y="19"/>
                    </a:cubicBezTo>
                    <a:cubicBezTo>
                      <a:pt x="0" y="19"/>
                      <a:pt x="0" y="19"/>
                      <a:pt x="0" y="19"/>
                    </a:cubicBezTo>
                    <a:cubicBezTo>
                      <a:pt x="1" y="25"/>
                      <a:pt x="1" y="25"/>
                      <a:pt x="1" y="25"/>
                    </a:cubicBezTo>
                    <a:cubicBezTo>
                      <a:pt x="1" y="25"/>
                      <a:pt x="1" y="25"/>
                      <a:pt x="1" y="25"/>
                    </a:cubicBezTo>
                    <a:cubicBezTo>
                      <a:pt x="1" y="28"/>
                      <a:pt x="1" y="28"/>
                      <a:pt x="1" y="28"/>
                    </a:cubicBezTo>
                    <a:cubicBezTo>
                      <a:pt x="1" y="28"/>
                      <a:pt x="1" y="28"/>
                      <a:pt x="1" y="28"/>
                    </a:cubicBezTo>
                    <a:cubicBezTo>
                      <a:pt x="1" y="29"/>
                      <a:pt x="1" y="29"/>
                      <a:pt x="1" y="29"/>
                    </a:cubicBezTo>
                    <a:cubicBezTo>
                      <a:pt x="1" y="32"/>
                      <a:pt x="3" y="35"/>
                      <a:pt x="5" y="38"/>
                    </a:cubicBezTo>
                    <a:cubicBezTo>
                      <a:pt x="8" y="40"/>
                      <a:pt x="11" y="41"/>
                      <a:pt x="14" y="41"/>
                    </a:cubicBezTo>
                    <a:cubicBezTo>
                      <a:pt x="18" y="41"/>
                      <a:pt x="22" y="39"/>
                      <a:pt x="24" y="36"/>
                    </a:cubicBezTo>
                    <a:cubicBezTo>
                      <a:pt x="26" y="34"/>
                      <a:pt x="27" y="31"/>
                      <a:pt x="27" y="28"/>
                    </a:cubicBezTo>
                    <a:cubicBezTo>
                      <a:pt x="27" y="27"/>
                      <a:pt x="27" y="27"/>
                      <a:pt x="27" y="27"/>
                    </a:cubicBezTo>
                    <a:cubicBezTo>
                      <a:pt x="27" y="27"/>
                      <a:pt x="27" y="27"/>
                      <a:pt x="27" y="27"/>
                    </a:cubicBezTo>
                    <a:lnTo>
                      <a:pt x="21"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2" name="Freeform 47">
                <a:extLst>
                  <a:ext uri="{FF2B5EF4-FFF2-40B4-BE49-F238E27FC236}">
                    <a16:creationId xmlns:a16="http://schemas.microsoft.com/office/drawing/2014/main" id="{BBDDEEFE-7CE0-CAE7-37A1-EA3D1BE1CADF}"/>
                  </a:ext>
                </a:extLst>
              </p:cNvPr>
              <p:cNvSpPr>
                <a:spLocks/>
              </p:cNvSpPr>
              <p:nvPr/>
            </p:nvSpPr>
            <p:spPr bwMode="auto">
              <a:xfrm>
                <a:off x="6922469" y="4592142"/>
                <a:ext cx="22341" cy="52129"/>
              </a:xfrm>
              <a:custGeom>
                <a:avLst/>
                <a:gdLst>
                  <a:gd name="T0" fmla="*/ 15 w 15"/>
                  <a:gd name="T1" fmla="*/ 24 h 34"/>
                  <a:gd name="T2" fmla="*/ 1 w 15"/>
                  <a:gd name="T3" fmla="*/ 26 h 34"/>
                  <a:gd name="T4" fmla="*/ 0 w 15"/>
                  <a:gd name="T5" fmla="*/ 24 h 34"/>
                  <a:gd name="T6" fmla="*/ 0 w 15"/>
                  <a:gd name="T7" fmla="*/ 20 h 34"/>
                  <a:gd name="T8" fmla="*/ 1 w 15"/>
                  <a:gd name="T9" fmla="*/ 13 h 34"/>
                  <a:gd name="T10" fmla="*/ 1 w 15"/>
                  <a:gd name="T11" fmla="*/ 10 h 34"/>
                  <a:gd name="T12" fmla="*/ 15 w 15"/>
                  <a:gd name="T13" fmla="*/ 8 h 34"/>
                  <a:gd name="T14" fmla="*/ 15 w 15"/>
                  <a:gd name="T15" fmla="*/ 10 h 34"/>
                  <a:gd name="T16" fmla="*/ 15 w 15"/>
                  <a:gd name="T17" fmla="*/ 14 h 34"/>
                  <a:gd name="T18" fmla="*/ 15 w 15"/>
                  <a:gd name="T19" fmla="*/ 20 h 34"/>
                  <a:gd name="T20" fmla="*/ 15 w 15"/>
                  <a:gd name="T21" fmla="*/ 2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34">
                    <a:moveTo>
                      <a:pt x="15" y="24"/>
                    </a:moveTo>
                    <a:cubicBezTo>
                      <a:pt x="14" y="32"/>
                      <a:pt x="3" y="34"/>
                      <a:pt x="1" y="26"/>
                    </a:cubicBezTo>
                    <a:cubicBezTo>
                      <a:pt x="0" y="26"/>
                      <a:pt x="0" y="25"/>
                      <a:pt x="0" y="24"/>
                    </a:cubicBezTo>
                    <a:cubicBezTo>
                      <a:pt x="0" y="20"/>
                      <a:pt x="0" y="20"/>
                      <a:pt x="0" y="20"/>
                    </a:cubicBezTo>
                    <a:cubicBezTo>
                      <a:pt x="1" y="13"/>
                      <a:pt x="1" y="13"/>
                      <a:pt x="1" y="13"/>
                    </a:cubicBezTo>
                    <a:cubicBezTo>
                      <a:pt x="1" y="10"/>
                      <a:pt x="1" y="10"/>
                      <a:pt x="1" y="10"/>
                    </a:cubicBezTo>
                    <a:cubicBezTo>
                      <a:pt x="1" y="2"/>
                      <a:pt x="12" y="0"/>
                      <a:pt x="15" y="8"/>
                    </a:cubicBezTo>
                    <a:cubicBezTo>
                      <a:pt x="15" y="8"/>
                      <a:pt x="15" y="9"/>
                      <a:pt x="15" y="10"/>
                    </a:cubicBezTo>
                    <a:cubicBezTo>
                      <a:pt x="15" y="14"/>
                      <a:pt x="15" y="14"/>
                      <a:pt x="15" y="14"/>
                    </a:cubicBezTo>
                    <a:cubicBezTo>
                      <a:pt x="15" y="20"/>
                      <a:pt x="15" y="20"/>
                      <a:pt x="15" y="20"/>
                    </a:cubicBezTo>
                    <a:lnTo>
                      <a:pt x="1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3" name="Freeform 48">
                <a:extLst>
                  <a:ext uri="{FF2B5EF4-FFF2-40B4-BE49-F238E27FC236}">
                    <a16:creationId xmlns:a16="http://schemas.microsoft.com/office/drawing/2014/main" id="{4588D770-5C09-B01C-B7B6-49B6FBC9C69E}"/>
                  </a:ext>
                </a:extLst>
              </p:cNvPr>
              <p:cNvSpPr>
                <a:spLocks/>
              </p:cNvSpPr>
              <p:nvPr/>
            </p:nvSpPr>
            <p:spPr bwMode="auto">
              <a:xfrm>
                <a:off x="6912894" y="4587887"/>
                <a:ext cx="41490" cy="60640"/>
              </a:xfrm>
              <a:custGeom>
                <a:avLst/>
                <a:gdLst>
                  <a:gd name="T0" fmla="*/ 15 w 27"/>
                  <a:gd name="T1" fmla="*/ 27 h 40"/>
                  <a:gd name="T2" fmla="*/ 13 w 27"/>
                  <a:gd name="T3" fmla="*/ 29 h 40"/>
                  <a:gd name="T4" fmla="*/ 12 w 27"/>
                  <a:gd name="T5" fmla="*/ 28 h 40"/>
                  <a:gd name="T6" fmla="*/ 12 w 27"/>
                  <a:gd name="T7" fmla="*/ 28 h 40"/>
                  <a:gd name="T8" fmla="*/ 12 w 27"/>
                  <a:gd name="T9" fmla="*/ 27 h 40"/>
                  <a:gd name="T10" fmla="*/ 12 w 27"/>
                  <a:gd name="T11" fmla="*/ 27 h 40"/>
                  <a:gd name="T12" fmla="*/ 10 w 27"/>
                  <a:gd name="T13" fmla="*/ 27 h 40"/>
                  <a:gd name="T14" fmla="*/ 12 w 27"/>
                  <a:gd name="T15" fmla="*/ 27 h 40"/>
                  <a:gd name="T16" fmla="*/ 12 w 27"/>
                  <a:gd name="T17" fmla="*/ 17 h 40"/>
                  <a:gd name="T18" fmla="*/ 7 w 27"/>
                  <a:gd name="T19" fmla="*/ 13 h 40"/>
                  <a:gd name="T20" fmla="*/ 13 w 27"/>
                  <a:gd name="T21" fmla="*/ 12 h 40"/>
                  <a:gd name="T22" fmla="*/ 15 w 27"/>
                  <a:gd name="T23" fmla="*/ 12 h 40"/>
                  <a:gd name="T24" fmla="*/ 21 w 27"/>
                  <a:gd name="T25" fmla="*/ 11 h 40"/>
                  <a:gd name="T26" fmla="*/ 15 w 27"/>
                  <a:gd name="T27" fmla="*/ 13 h 40"/>
                  <a:gd name="T28" fmla="*/ 15 w 27"/>
                  <a:gd name="T29" fmla="*/ 13 h 40"/>
                  <a:gd name="T30" fmla="*/ 15 w 27"/>
                  <a:gd name="T31" fmla="*/ 13 h 40"/>
                  <a:gd name="T32" fmla="*/ 15 w 27"/>
                  <a:gd name="T33" fmla="*/ 13 h 40"/>
                  <a:gd name="T34" fmla="*/ 15 w 27"/>
                  <a:gd name="T35" fmla="*/ 13 h 40"/>
                  <a:gd name="T36" fmla="*/ 15 w 27"/>
                  <a:gd name="T37" fmla="*/ 23 h 40"/>
                  <a:gd name="T38" fmla="*/ 15 w 27"/>
                  <a:gd name="T39" fmla="*/ 27 h 40"/>
                  <a:gd name="T40" fmla="*/ 21 w 27"/>
                  <a:gd name="T41" fmla="*/ 27 h 40"/>
                  <a:gd name="T42" fmla="*/ 27 w 27"/>
                  <a:gd name="T43" fmla="*/ 23 h 40"/>
                  <a:gd name="T44" fmla="*/ 27 w 27"/>
                  <a:gd name="T45" fmla="*/ 13 h 40"/>
                  <a:gd name="T46" fmla="*/ 27 w 27"/>
                  <a:gd name="T47" fmla="*/ 13 h 40"/>
                  <a:gd name="T48" fmla="*/ 27 w 27"/>
                  <a:gd name="T49" fmla="*/ 13 h 40"/>
                  <a:gd name="T50" fmla="*/ 24 w 27"/>
                  <a:gd name="T51" fmla="*/ 13 h 40"/>
                  <a:gd name="T52" fmla="*/ 27 w 27"/>
                  <a:gd name="T53" fmla="*/ 13 h 40"/>
                  <a:gd name="T54" fmla="*/ 26 w 27"/>
                  <a:gd name="T55" fmla="*/ 9 h 40"/>
                  <a:gd name="T56" fmla="*/ 21 w 27"/>
                  <a:gd name="T57" fmla="*/ 2 h 40"/>
                  <a:gd name="T58" fmla="*/ 5 w 27"/>
                  <a:gd name="T59" fmla="*/ 3 h 40"/>
                  <a:gd name="T60" fmla="*/ 1 w 27"/>
                  <a:gd name="T61" fmla="*/ 13 h 40"/>
                  <a:gd name="T62" fmla="*/ 1 w 27"/>
                  <a:gd name="T63" fmla="*/ 16 h 40"/>
                  <a:gd name="T64" fmla="*/ 1 w 27"/>
                  <a:gd name="T65" fmla="*/ 22 h 40"/>
                  <a:gd name="T66" fmla="*/ 0 w 27"/>
                  <a:gd name="T67" fmla="*/ 27 h 40"/>
                  <a:gd name="T68" fmla="*/ 1 w 27"/>
                  <a:gd name="T69" fmla="*/ 31 h 40"/>
                  <a:gd name="T70" fmla="*/ 1 w 27"/>
                  <a:gd name="T71" fmla="*/ 31 h 40"/>
                  <a:gd name="T72" fmla="*/ 13 w 27"/>
                  <a:gd name="T73" fmla="*/ 40 h 40"/>
                  <a:gd name="T74" fmla="*/ 27 w 27"/>
                  <a:gd name="T75" fmla="*/ 28 h 40"/>
                  <a:gd name="T76" fmla="*/ 21 w 27"/>
                  <a:gd name="T77"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 h="40">
                    <a:moveTo>
                      <a:pt x="21" y="27"/>
                    </a:moveTo>
                    <a:cubicBezTo>
                      <a:pt x="15" y="27"/>
                      <a:pt x="15" y="27"/>
                      <a:pt x="15" y="27"/>
                    </a:cubicBezTo>
                    <a:cubicBezTo>
                      <a:pt x="15" y="28"/>
                      <a:pt x="15" y="28"/>
                      <a:pt x="14" y="28"/>
                    </a:cubicBezTo>
                    <a:cubicBezTo>
                      <a:pt x="14" y="28"/>
                      <a:pt x="14" y="29"/>
                      <a:pt x="13" y="29"/>
                    </a:cubicBezTo>
                    <a:cubicBezTo>
                      <a:pt x="13" y="28"/>
                      <a:pt x="13" y="28"/>
                      <a:pt x="13" y="28"/>
                    </a:cubicBezTo>
                    <a:cubicBezTo>
                      <a:pt x="13" y="28"/>
                      <a:pt x="12" y="28"/>
                      <a:pt x="12" y="28"/>
                    </a:cubicBezTo>
                    <a:cubicBezTo>
                      <a:pt x="7" y="29"/>
                      <a:pt x="7" y="29"/>
                      <a:pt x="7" y="29"/>
                    </a:cubicBezTo>
                    <a:cubicBezTo>
                      <a:pt x="12" y="28"/>
                      <a:pt x="12" y="28"/>
                      <a:pt x="12" y="28"/>
                    </a:cubicBezTo>
                    <a:cubicBezTo>
                      <a:pt x="12" y="27"/>
                      <a:pt x="12" y="27"/>
                      <a:pt x="12" y="27"/>
                    </a:cubicBezTo>
                    <a:cubicBezTo>
                      <a:pt x="12" y="27"/>
                      <a:pt x="12" y="27"/>
                      <a:pt x="12" y="27"/>
                    </a:cubicBezTo>
                    <a:cubicBezTo>
                      <a:pt x="10" y="27"/>
                      <a:pt x="10" y="27"/>
                      <a:pt x="10" y="27"/>
                    </a:cubicBezTo>
                    <a:cubicBezTo>
                      <a:pt x="12" y="27"/>
                      <a:pt x="12" y="27"/>
                      <a:pt x="12" y="27"/>
                    </a:cubicBezTo>
                    <a:cubicBezTo>
                      <a:pt x="12" y="27"/>
                      <a:pt x="12" y="27"/>
                      <a:pt x="12" y="27"/>
                    </a:cubicBezTo>
                    <a:cubicBezTo>
                      <a:pt x="10" y="27"/>
                      <a:pt x="10" y="27"/>
                      <a:pt x="10" y="27"/>
                    </a:cubicBezTo>
                    <a:cubicBezTo>
                      <a:pt x="12" y="27"/>
                      <a:pt x="12" y="27"/>
                      <a:pt x="12" y="27"/>
                    </a:cubicBezTo>
                    <a:cubicBezTo>
                      <a:pt x="12" y="27"/>
                      <a:pt x="12" y="27"/>
                      <a:pt x="12" y="27"/>
                    </a:cubicBezTo>
                    <a:cubicBezTo>
                      <a:pt x="12" y="23"/>
                      <a:pt x="12" y="23"/>
                      <a:pt x="12" y="23"/>
                    </a:cubicBezTo>
                    <a:cubicBezTo>
                      <a:pt x="12" y="17"/>
                      <a:pt x="12" y="17"/>
                      <a:pt x="12" y="17"/>
                    </a:cubicBezTo>
                    <a:cubicBezTo>
                      <a:pt x="13" y="13"/>
                      <a:pt x="13" y="13"/>
                      <a:pt x="13" y="13"/>
                    </a:cubicBezTo>
                    <a:cubicBezTo>
                      <a:pt x="7" y="13"/>
                      <a:pt x="7" y="13"/>
                      <a:pt x="7" y="13"/>
                    </a:cubicBezTo>
                    <a:cubicBezTo>
                      <a:pt x="13" y="13"/>
                      <a:pt x="13" y="13"/>
                      <a:pt x="13" y="13"/>
                    </a:cubicBezTo>
                    <a:cubicBezTo>
                      <a:pt x="13" y="12"/>
                      <a:pt x="13" y="12"/>
                      <a:pt x="13" y="12"/>
                    </a:cubicBezTo>
                    <a:cubicBezTo>
                      <a:pt x="13" y="12"/>
                      <a:pt x="14" y="12"/>
                      <a:pt x="14" y="12"/>
                    </a:cubicBezTo>
                    <a:cubicBezTo>
                      <a:pt x="15" y="12"/>
                      <a:pt x="15" y="12"/>
                      <a:pt x="15" y="12"/>
                    </a:cubicBezTo>
                    <a:cubicBezTo>
                      <a:pt x="15" y="12"/>
                      <a:pt x="15" y="12"/>
                      <a:pt x="15" y="12"/>
                    </a:cubicBezTo>
                    <a:cubicBezTo>
                      <a:pt x="21" y="11"/>
                      <a:pt x="21" y="11"/>
                      <a:pt x="21" y="11"/>
                    </a:cubicBezTo>
                    <a:cubicBezTo>
                      <a:pt x="15" y="12"/>
                      <a:pt x="15" y="12"/>
                      <a:pt x="15" y="12"/>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21" y="13"/>
                      <a:pt x="21" y="13"/>
                      <a:pt x="21" y="13"/>
                    </a:cubicBezTo>
                    <a:cubicBezTo>
                      <a:pt x="15" y="13"/>
                      <a:pt x="15" y="13"/>
                      <a:pt x="15" y="13"/>
                    </a:cubicBezTo>
                    <a:cubicBezTo>
                      <a:pt x="15" y="17"/>
                      <a:pt x="15" y="17"/>
                      <a:pt x="15" y="17"/>
                    </a:cubicBezTo>
                    <a:cubicBezTo>
                      <a:pt x="15" y="23"/>
                      <a:pt x="15" y="23"/>
                      <a:pt x="15" y="23"/>
                    </a:cubicBezTo>
                    <a:cubicBezTo>
                      <a:pt x="15" y="23"/>
                      <a:pt x="15" y="23"/>
                      <a:pt x="15" y="23"/>
                    </a:cubicBezTo>
                    <a:cubicBezTo>
                      <a:pt x="15" y="27"/>
                      <a:pt x="15" y="27"/>
                      <a:pt x="15" y="27"/>
                    </a:cubicBezTo>
                    <a:cubicBezTo>
                      <a:pt x="15" y="27"/>
                      <a:pt x="15" y="27"/>
                      <a:pt x="15" y="27"/>
                    </a:cubicBezTo>
                    <a:cubicBezTo>
                      <a:pt x="21" y="27"/>
                      <a:pt x="21" y="27"/>
                      <a:pt x="21" y="27"/>
                    </a:cubicBezTo>
                    <a:cubicBezTo>
                      <a:pt x="27" y="28"/>
                      <a:pt x="27" y="28"/>
                      <a:pt x="27" y="28"/>
                    </a:cubicBezTo>
                    <a:cubicBezTo>
                      <a:pt x="27" y="23"/>
                      <a:pt x="27" y="23"/>
                      <a:pt x="27" y="23"/>
                    </a:cubicBezTo>
                    <a:cubicBezTo>
                      <a:pt x="27" y="17"/>
                      <a:pt x="27" y="17"/>
                      <a:pt x="27" y="17"/>
                    </a:cubicBezTo>
                    <a:cubicBezTo>
                      <a:pt x="27" y="13"/>
                      <a:pt x="27" y="13"/>
                      <a:pt x="27" y="13"/>
                    </a:cubicBezTo>
                    <a:cubicBezTo>
                      <a:pt x="27" y="13"/>
                      <a:pt x="27" y="13"/>
                      <a:pt x="27" y="13"/>
                    </a:cubicBezTo>
                    <a:cubicBezTo>
                      <a:pt x="27" y="13"/>
                      <a:pt x="27" y="13"/>
                      <a:pt x="27" y="13"/>
                    </a:cubicBezTo>
                    <a:cubicBezTo>
                      <a:pt x="24" y="13"/>
                      <a:pt x="24" y="13"/>
                      <a:pt x="24" y="13"/>
                    </a:cubicBezTo>
                    <a:cubicBezTo>
                      <a:pt x="27" y="13"/>
                      <a:pt x="27" y="13"/>
                      <a:pt x="27" y="13"/>
                    </a:cubicBezTo>
                    <a:cubicBezTo>
                      <a:pt x="27" y="13"/>
                      <a:pt x="27" y="13"/>
                      <a:pt x="27" y="13"/>
                    </a:cubicBezTo>
                    <a:cubicBezTo>
                      <a:pt x="24" y="13"/>
                      <a:pt x="24" y="13"/>
                      <a:pt x="24" y="13"/>
                    </a:cubicBezTo>
                    <a:cubicBezTo>
                      <a:pt x="27" y="13"/>
                      <a:pt x="27" y="13"/>
                      <a:pt x="27" y="13"/>
                    </a:cubicBezTo>
                    <a:cubicBezTo>
                      <a:pt x="27" y="13"/>
                      <a:pt x="27" y="13"/>
                      <a:pt x="27" y="13"/>
                    </a:cubicBezTo>
                    <a:cubicBezTo>
                      <a:pt x="27" y="11"/>
                      <a:pt x="27" y="10"/>
                      <a:pt x="26" y="9"/>
                    </a:cubicBezTo>
                    <a:cubicBezTo>
                      <a:pt x="26" y="9"/>
                      <a:pt x="26" y="9"/>
                      <a:pt x="26" y="9"/>
                    </a:cubicBezTo>
                    <a:cubicBezTo>
                      <a:pt x="26" y="9"/>
                      <a:pt x="26" y="9"/>
                      <a:pt x="26" y="9"/>
                    </a:cubicBezTo>
                    <a:cubicBezTo>
                      <a:pt x="25" y="6"/>
                      <a:pt x="23" y="3"/>
                      <a:pt x="21" y="2"/>
                    </a:cubicBezTo>
                    <a:cubicBezTo>
                      <a:pt x="19" y="0"/>
                      <a:pt x="16" y="0"/>
                      <a:pt x="14" y="0"/>
                    </a:cubicBezTo>
                    <a:cubicBezTo>
                      <a:pt x="11" y="0"/>
                      <a:pt x="8" y="1"/>
                      <a:pt x="5" y="3"/>
                    </a:cubicBezTo>
                    <a:cubicBezTo>
                      <a:pt x="3" y="5"/>
                      <a:pt x="1" y="9"/>
                      <a:pt x="1" y="13"/>
                    </a:cubicBezTo>
                    <a:cubicBezTo>
                      <a:pt x="1" y="13"/>
                      <a:pt x="1" y="13"/>
                      <a:pt x="1" y="13"/>
                    </a:cubicBezTo>
                    <a:cubicBezTo>
                      <a:pt x="1" y="16"/>
                      <a:pt x="1" y="16"/>
                      <a:pt x="1" y="16"/>
                    </a:cubicBezTo>
                    <a:cubicBezTo>
                      <a:pt x="1" y="16"/>
                      <a:pt x="1" y="16"/>
                      <a:pt x="1" y="16"/>
                    </a:cubicBezTo>
                    <a:cubicBezTo>
                      <a:pt x="1" y="22"/>
                      <a:pt x="1" y="22"/>
                      <a:pt x="1" y="22"/>
                    </a:cubicBezTo>
                    <a:cubicBezTo>
                      <a:pt x="1" y="22"/>
                      <a:pt x="1" y="22"/>
                      <a:pt x="1" y="22"/>
                    </a:cubicBezTo>
                    <a:cubicBezTo>
                      <a:pt x="0" y="27"/>
                      <a:pt x="0" y="27"/>
                      <a:pt x="0" y="27"/>
                    </a:cubicBezTo>
                    <a:cubicBezTo>
                      <a:pt x="0" y="27"/>
                      <a:pt x="0" y="27"/>
                      <a:pt x="0" y="27"/>
                    </a:cubicBezTo>
                    <a:cubicBezTo>
                      <a:pt x="0" y="27"/>
                      <a:pt x="0" y="27"/>
                      <a:pt x="0" y="27"/>
                    </a:cubicBezTo>
                    <a:cubicBezTo>
                      <a:pt x="0" y="29"/>
                      <a:pt x="1" y="30"/>
                      <a:pt x="1" y="31"/>
                    </a:cubicBezTo>
                    <a:cubicBezTo>
                      <a:pt x="1" y="31"/>
                      <a:pt x="1" y="31"/>
                      <a:pt x="1" y="31"/>
                    </a:cubicBezTo>
                    <a:cubicBezTo>
                      <a:pt x="1" y="31"/>
                      <a:pt x="1" y="31"/>
                      <a:pt x="1" y="31"/>
                    </a:cubicBezTo>
                    <a:cubicBezTo>
                      <a:pt x="2" y="34"/>
                      <a:pt x="4" y="37"/>
                      <a:pt x="6" y="38"/>
                    </a:cubicBezTo>
                    <a:cubicBezTo>
                      <a:pt x="8" y="40"/>
                      <a:pt x="11" y="40"/>
                      <a:pt x="13" y="40"/>
                    </a:cubicBezTo>
                    <a:cubicBezTo>
                      <a:pt x="17" y="40"/>
                      <a:pt x="20" y="39"/>
                      <a:pt x="22" y="37"/>
                    </a:cubicBezTo>
                    <a:cubicBezTo>
                      <a:pt x="25" y="35"/>
                      <a:pt x="27" y="31"/>
                      <a:pt x="27" y="28"/>
                    </a:cubicBezTo>
                    <a:cubicBezTo>
                      <a:pt x="27" y="28"/>
                      <a:pt x="27" y="28"/>
                      <a:pt x="27" y="28"/>
                    </a:cubicBezTo>
                    <a:lnTo>
                      <a:pt x="21"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4" name="Freeform 49">
                <a:extLst>
                  <a:ext uri="{FF2B5EF4-FFF2-40B4-BE49-F238E27FC236}">
                    <a16:creationId xmlns:a16="http://schemas.microsoft.com/office/drawing/2014/main" id="{113906C4-1E37-1D51-A95F-F41287773032}"/>
                  </a:ext>
                </a:extLst>
              </p:cNvPr>
              <p:cNvSpPr>
                <a:spLocks/>
              </p:cNvSpPr>
              <p:nvPr/>
            </p:nvSpPr>
            <p:spPr bwMode="auto">
              <a:xfrm>
                <a:off x="6912894" y="4724060"/>
                <a:ext cx="25533" cy="46810"/>
              </a:xfrm>
              <a:custGeom>
                <a:avLst/>
                <a:gdLst>
                  <a:gd name="T0" fmla="*/ 15 w 17"/>
                  <a:gd name="T1" fmla="*/ 24 h 31"/>
                  <a:gd name="T2" fmla="*/ 7 w 17"/>
                  <a:gd name="T3" fmla="*/ 31 h 31"/>
                  <a:gd name="T4" fmla="*/ 0 w 17"/>
                  <a:gd name="T5" fmla="*/ 23 h 31"/>
                  <a:gd name="T6" fmla="*/ 1 w 17"/>
                  <a:gd name="T7" fmla="*/ 18 h 31"/>
                  <a:gd name="T8" fmla="*/ 1 w 17"/>
                  <a:gd name="T9" fmla="*/ 12 h 31"/>
                  <a:gd name="T10" fmla="*/ 2 w 17"/>
                  <a:gd name="T11" fmla="*/ 8 h 31"/>
                  <a:gd name="T12" fmla="*/ 5 w 17"/>
                  <a:gd name="T13" fmla="*/ 3 h 31"/>
                  <a:gd name="T14" fmla="*/ 16 w 17"/>
                  <a:gd name="T15" fmla="*/ 10 h 31"/>
                  <a:gd name="T16" fmla="*/ 16 w 17"/>
                  <a:gd name="T17" fmla="*/ 13 h 31"/>
                  <a:gd name="T18" fmla="*/ 15 w 17"/>
                  <a:gd name="T19" fmla="*/ 20 h 31"/>
                  <a:gd name="T20" fmla="*/ 15 w 17"/>
                  <a:gd name="T21" fmla="*/ 2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1">
                    <a:moveTo>
                      <a:pt x="15" y="24"/>
                    </a:moveTo>
                    <a:cubicBezTo>
                      <a:pt x="14" y="28"/>
                      <a:pt x="11" y="31"/>
                      <a:pt x="7" y="31"/>
                    </a:cubicBezTo>
                    <a:cubicBezTo>
                      <a:pt x="3" y="31"/>
                      <a:pt x="0" y="27"/>
                      <a:pt x="0" y="23"/>
                    </a:cubicBezTo>
                    <a:cubicBezTo>
                      <a:pt x="1" y="18"/>
                      <a:pt x="1" y="18"/>
                      <a:pt x="1" y="18"/>
                    </a:cubicBezTo>
                    <a:cubicBezTo>
                      <a:pt x="1" y="12"/>
                      <a:pt x="1" y="12"/>
                      <a:pt x="1" y="12"/>
                    </a:cubicBezTo>
                    <a:cubicBezTo>
                      <a:pt x="2" y="8"/>
                      <a:pt x="2" y="8"/>
                      <a:pt x="2" y="8"/>
                    </a:cubicBezTo>
                    <a:cubicBezTo>
                      <a:pt x="2" y="6"/>
                      <a:pt x="3" y="4"/>
                      <a:pt x="5" y="3"/>
                    </a:cubicBezTo>
                    <a:cubicBezTo>
                      <a:pt x="10" y="0"/>
                      <a:pt x="17" y="4"/>
                      <a:pt x="16" y="10"/>
                    </a:cubicBezTo>
                    <a:cubicBezTo>
                      <a:pt x="16" y="13"/>
                      <a:pt x="16" y="13"/>
                      <a:pt x="16" y="13"/>
                    </a:cubicBezTo>
                    <a:cubicBezTo>
                      <a:pt x="15" y="20"/>
                      <a:pt x="15" y="20"/>
                      <a:pt x="15" y="20"/>
                    </a:cubicBezTo>
                    <a:lnTo>
                      <a:pt x="1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5" name="Freeform 50">
                <a:extLst>
                  <a:ext uri="{FF2B5EF4-FFF2-40B4-BE49-F238E27FC236}">
                    <a16:creationId xmlns:a16="http://schemas.microsoft.com/office/drawing/2014/main" id="{78111603-A573-17B6-2EEF-1C9BA7659A41}"/>
                  </a:ext>
                </a:extLst>
              </p:cNvPr>
              <p:cNvSpPr>
                <a:spLocks/>
              </p:cNvSpPr>
              <p:nvPr/>
            </p:nvSpPr>
            <p:spPr bwMode="auto">
              <a:xfrm>
                <a:off x="6904383" y="4718741"/>
                <a:ext cx="42554" cy="61704"/>
              </a:xfrm>
              <a:custGeom>
                <a:avLst/>
                <a:gdLst>
                  <a:gd name="T0" fmla="*/ 21 w 28"/>
                  <a:gd name="T1" fmla="*/ 28 h 41"/>
                  <a:gd name="T2" fmla="*/ 15 w 28"/>
                  <a:gd name="T3" fmla="*/ 28 h 41"/>
                  <a:gd name="T4" fmla="*/ 13 w 28"/>
                  <a:gd name="T5" fmla="*/ 29 h 41"/>
                  <a:gd name="T6" fmla="*/ 13 w 28"/>
                  <a:gd name="T7" fmla="*/ 29 h 41"/>
                  <a:gd name="T8" fmla="*/ 13 w 28"/>
                  <a:gd name="T9" fmla="*/ 29 h 41"/>
                  <a:gd name="T10" fmla="*/ 13 w 28"/>
                  <a:gd name="T11" fmla="*/ 28 h 41"/>
                  <a:gd name="T12" fmla="*/ 12 w 28"/>
                  <a:gd name="T13" fmla="*/ 27 h 41"/>
                  <a:gd name="T14" fmla="*/ 12 w 28"/>
                  <a:gd name="T15" fmla="*/ 27 h 41"/>
                  <a:gd name="T16" fmla="*/ 13 w 28"/>
                  <a:gd name="T17" fmla="*/ 23 h 41"/>
                  <a:gd name="T18" fmla="*/ 13 w 28"/>
                  <a:gd name="T19" fmla="*/ 16 h 41"/>
                  <a:gd name="T20" fmla="*/ 14 w 28"/>
                  <a:gd name="T21" fmla="*/ 13 h 41"/>
                  <a:gd name="T22" fmla="*/ 14 w 28"/>
                  <a:gd name="T23" fmla="*/ 13 h 41"/>
                  <a:gd name="T24" fmla="*/ 14 w 28"/>
                  <a:gd name="T25" fmla="*/ 13 h 41"/>
                  <a:gd name="T26" fmla="*/ 14 w 28"/>
                  <a:gd name="T27" fmla="*/ 12 h 41"/>
                  <a:gd name="T28" fmla="*/ 14 w 28"/>
                  <a:gd name="T29" fmla="*/ 12 h 41"/>
                  <a:gd name="T30" fmla="*/ 15 w 28"/>
                  <a:gd name="T31" fmla="*/ 12 h 41"/>
                  <a:gd name="T32" fmla="*/ 16 w 28"/>
                  <a:gd name="T33" fmla="*/ 12 h 41"/>
                  <a:gd name="T34" fmla="*/ 16 w 28"/>
                  <a:gd name="T35" fmla="*/ 13 h 41"/>
                  <a:gd name="T36" fmla="*/ 16 w 28"/>
                  <a:gd name="T37" fmla="*/ 13 h 41"/>
                  <a:gd name="T38" fmla="*/ 22 w 28"/>
                  <a:gd name="T39" fmla="*/ 14 h 41"/>
                  <a:gd name="T40" fmla="*/ 16 w 28"/>
                  <a:gd name="T41" fmla="*/ 13 h 41"/>
                  <a:gd name="T42" fmla="*/ 16 w 28"/>
                  <a:gd name="T43" fmla="*/ 17 h 41"/>
                  <a:gd name="T44" fmla="*/ 15 w 28"/>
                  <a:gd name="T45" fmla="*/ 23 h 41"/>
                  <a:gd name="T46" fmla="*/ 15 w 28"/>
                  <a:gd name="T47" fmla="*/ 23 h 41"/>
                  <a:gd name="T48" fmla="*/ 15 w 28"/>
                  <a:gd name="T49" fmla="*/ 28 h 41"/>
                  <a:gd name="T50" fmla="*/ 15 w 28"/>
                  <a:gd name="T51" fmla="*/ 28 h 41"/>
                  <a:gd name="T52" fmla="*/ 21 w 28"/>
                  <a:gd name="T53" fmla="*/ 28 h 41"/>
                  <a:gd name="T54" fmla="*/ 26 w 28"/>
                  <a:gd name="T55" fmla="*/ 29 h 41"/>
                  <a:gd name="T56" fmla="*/ 27 w 28"/>
                  <a:gd name="T57" fmla="*/ 24 h 41"/>
                  <a:gd name="T58" fmla="*/ 28 w 28"/>
                  <a:gd name="T59" fmla="*/ 18 h 41"/>
                  <a:gd name="T60" fmla="*/ 28 w 28"/>
                  <a:gd name="T61" fmla="*/ 14 h 41"/>
                  <a:gd name="T62" fmla="*/ 28 w 28"/>
                  <a:gd name="T63" fmla="*/ 14 h 41"/>
                  <a:gd name="T64" fmla="*/ 28 w 28"/>
                  <a:gd name="T65" fmla="*/ 14 h 41"/>
                  <a:gd name="T66" fmla="*/ 28 w 28"/>
                  <a:gd name="T67" fmla="*/ 13 h 41"/>
                  <a:gd name="T68" fmla="*/ 24 w 28"/>
                  <a:gd name="T69" fmla="*/ 4 h 41"/>
                  <a:gd name="T70" fmla="*/ 15 w 28"/>
                  <a:gd name="T71" fmla="*/ 0 h 41"/>
                  <a:gd name="T72" fmla="*/ 8 w 28"/>
                  <a:gd name="T73" fmla="*/ 2 h 41"/>
                  <a:gd name="T74" fmla="*/ 8 w 28"/>
                  <a:gd name="T75" fmla="*/ 2 h 41"/>
                  <a:gd name="T76" fmla="*/ 2 w 28"/>
                  <a:gd name="T77" fmla="*/ 12 h 41"/>
                  <a:gd name="T78" fmla="*/ 8 w 28"/>
                  <a:gd name="T79" fmla="*/ 12 h 41"/>
                  <a:gd name="T80" fmla="*/ 2 w 28"/>
                  <a:gd name="T81" fmla="*/ 12 h 41"/>
                  <a:gd name="T82" fmla="*/ 2 w 28"/>
                  <a:gd name="T83" fmla="*/ 15 h 41"/>
                  <a:gd name="T84" fmla="*/ 2 w 28"/>
                  <a:gd name="T85" fmla="*/ 15 h 41"/>
                  <a:gd name="T86" fmla="*/ 1 w 28"/>
                  <a:gd name="T87" fmla="*/ 21 h 41"/>
                  <a:gd name="T88" fmla="*/ 1 w 28"/>
                  <a:gd name="T89" fmla="*/ 21 h 41"/>
                  <a:gd name="T90" fmla="*/ 0 w 28"/>
                  <a:gd name="T91" fmla="*/ 26 h 41"/>
                  <a:gd name="T92" fmla="*/ 0 w 28"/>
                  <a:gd name="T93" fmla="*/ 27 h 41"/>
                  <a:gd name="T94" fmla="*/ 4 w 28"/>
                  <a:gd name="T95" fmla="*/ 37 h 41"/>
                  <a:gd name="T96" fmla="*/ 13 w 28"/>
                  <a:gd name="T97" fmla="*/ 41 h 41"/>
                  <a:gd name="T98" fmla="*/ 13 w 28"/>
                  <a:gd name="T99" fmla="*/ 41 h 41"/>
                  <a:gd name="T100" fmla="*/ 13 w 28"/>
                  <a:gd name="T101" fmla="*/ 41 h 41"/>
                  <a:gd name="T102" fmla="*/ 13 w 28"/>
                  <a:gd name="T103" fmla="*/ 41 h 41"/>
                  <a:gd name="T104" fmla="*/ 26 w 28"/>
                  <a:gd name="T105" fmla="*/ 29 h 41"/>
                  <a:gd name="T106" fmla="*/ 26 w 28"/>
                  <a:gd name="T107" fmla="*/ 29 h 41"/>
                  <a:gd name="T108" fmla="*/ 21 w 28"/>
                  <a:gd name="T109"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8" h="41">
                    <a:moveTo>
                      <a:pt x="21" y="28"/>
                    </a:moveTo>
                    <a:cubicBezTo>
                      <a:pt x="15" y="28"/>
                      <a:pt x="15" y="28"/>
                      <a:pt x="15" y="28"/>
                    </a:cubicBezTo>
                    <a:cubicBezTo>
                      <a:pt x="15" y="28"/>
                      <a:pt x="14" y="29"/>
                      <a:pt x="13" y="29"/>
                    </a:cubicBezTo>
                    <a:cubicBezTo>
                      <a:pt x="13" y="29"/>
                      <a:pt x="13" y="29"/>
                      <a:pt x="13" y="29"/>
                    </a:cubicBezTo>
                    <a:cubicBezTo>
                      <a:pt x="13" y="29"/>
                      <a:pt x="13" y="29"/>
                      <a:pt x="13" y="29"/>
                    </a:cubicBezTo>
                    <a:cubicBezTo>
                      <a:pt x="13" y="29"/>
                      <a:pt x="13" y="29"/>
                      <a:pt x="13" y="28"/>
                    </a:cubicBezTo>
                    <a:cubicBezTo>
                      <a:pt x="12" y="27"/>
                      <a:pt x="12" y="27"/>
                      <a:pt x="12" y="27"/>
                    </a:cubicBezTo>
                    <a:cubicBezTo>
                      <a:pt x="12" y="27"/>
                      <a:pt x="12" y="27"/>
                      <a:pt x="12" y="27"/>
                    </a:cubicBezTo>
                    <a:cubicBezTo>
                      <a:pt x="13" y="23"/>
                      <a:pt x="13" y="23"/>
                      <a:pt x="13" y="23"/>
                    </a:cubicBezTo>
                    <a:cubicBezTo>
                      <a:pt x="13" y="16"/>
                      <a:pt x="13" y="16"/>
                      <a:pt x="13" y="16"/>
                    </a:cubicBezTo>
                    <a:cubicBezTo>
                      <a:pt x="14" y="13"/>
                      <a:pt x="14" y="13"/>
                      <a:pt x="14" y="13"/>
                    </a:cubicBezTo>
                    <a:cubicBezTo>
                      <a:pt x="14" y="13"/>
                      <a:pt x="14" y="13"/>
                      <a:pt x="14" y="13"/>
                    </a:cubicBezTo>
                    <a:cubicBezTo>
                      <a:pt x="14" y="13"/>
                      <a:pt x="14" y="13"/>
                      <a:pt x="14" y="13"/>
                    </a:cubicBezTo>
                    <a:cubicBezTo>
                      <a:pt x="14" y="12"/>
                      <a:pt x="14" y="12"/>
                      <a:pt x="14" y="12"/>
                    </a:cubicBezTo>
                    <a:cubicBezTo>
                      <a:pt x="14" y="12"/>
                      <a:pt x="14" y="12"/>
                      <a:pt x="14" y="12"/>
                    </a:cubicBezTo>
                    <a:cubicBezTo>
                      <a:pt x="15" y="12"/>
                      <a:pt x="15" y="12"/>
                      <a:pt x="15" y="12"/>
                    </a:cubicBezTo>
                    <a:cubicBezTo>
                      <a:pt x="16" y="12"/>
                      <a:pt x="16" y="12"/>
                      <a:pt x="16" y="12"/>
                    </a:cubicBezTo>
                    <a:cubicBezTo>
                      <a:pt x="16" y="12"/>
                      <a:pt x="16" y="13"/>
                      <a:pt x="16" y="13"/>
                    </a:cubicBezTo>
                    <a:cubicBezTo>
                      <a:pt x="16" y="13"/>
                      <a:pt x="16" y="13"/>
                      <a:pt x="16" y="13"/>
                    </a:cubicBezTo>
                    <a:cubicBezTo>
                      <a:pt x="22" y="14"/>
                      <a:pt x="22" y="14"/>
                      <a:pt x="22" y="14"/>
                    </a:cubicBezTo>
                    <a:cubicBezTo>
                      <a:pt x="16" y="13"/>
                      <a:pt x="16" y="13"/>
                      <a:pt x="16" y="13"/>
                    </a:cubicBezTo>
                    <a:cubicBezTo>
                      <a:pt x="16" y="17"/>
                      <a:pt x="16" y="17"/>
                      <a:pt x="16" y="17"/>
                    </a:cubicBezTo>
                    <a:cubicBezTo>
                      <a:pt x="15" y="23"/>
                      <a:pt x="15" y="23"/>
                      <a:pt x="15" y="23"/>
                    </a:cubicBezTo>
                    <a:cubicBezTo>
                      <a:pt x="15" y="23"/>
                      <a:pt x="15" y="23"/>
                      <a:pt x="15" y="23"/>
                    </a:cubicBezTo>
                    <a:cubicBezTo>
                      <a:pt x="15" y="28"/>
                      <a:pt x="15" y="28"/>
                      <a:pt x="15" y="28"/>
                    </a:cubicBezTo>
                    <a:cubicBezTo>
                      <a:pt x="15" y="28"/>
                      <a:pt x="15" y="28"/>
                      <a:pt x="15" y="28"/>
                    </a:cubicBezTo>
                    <a:cubicBezTo>
                      <a:pt x="21" y="28"/>
                      <a:pt x="21" y="28"/>
                      <a:pt x="21" y="28"/>
                    </a:cubicBezTo>
                    <a:cubicBezTo>
                      <a:pt x="26" y="29"/>
                      <a:pt x="26" y="29"/>
                      <a:pt x="26" y="29"/>
                    </a:cubicBezTo>
                    <a:cubicBezTo>
                      <a:pt x="27" y="24"/>
                      <a:pt x="27" y="24"/>
                      <a:pt x="27" y="24"/>
                    </a:cubicBezTo>
                    <a:cubicBezTo>
                      <a:pt x="28" y="18"/>
                      <a:pt x="28" y="18"/>
                      <a:pt x="28" y="18"/>
                    </a:cubicBezTo>
                    <a:cubicBezTo>
                      <a:pt x="28" y="14"/>
                      <a:pt x="28" y="14"/>
                      <a:pt x="28" y="14"/>
                    </a:cubicBezTo>
                    <a:cubicBezTo>
                      <a:pt x="28" y="14"/>
                      <a:pt x="28" y="14"/>
                      <a:pt x="28" y="14"/>
                    </a:cubicBezTo>
                    <a:cubicBezTo>
                      <a:pt x="28" y="14"/>
                      <a:pt x="28" y="14"/>
                      <a:pt x="28" y="14"/>
                    </a:cubicBezTo>
                    <a:cubicBezTo>
                      <a:pt x="28" y="14"/>
                      <a:pt x="28" y="14"/>
                      <a:pt x="28" y="13"/>
                    </a:cubicBezTo>
                    <a:cubicBezTo>
                      <a:pt x="28" y="9"/>
                      <a:pt x="26" y="6"/>
                      <a:pt x="24" y="4"/>
                    </a:cubicBezTo>
                    <a:cubicBezTo>
                      <a:pt x="22" y="1"/>
                      <a:pt x="18" y="0"/>
                      <a:pt x="15" y="0"/>
                    </a:cubicBezTo>
                    <a:cubicBezTo>
                      <a:pt x="12" y="0"/>
                      <a:pt x="10" y="1"/>
                      <a:pt x="8" y="2"/>
                    </a:cubicBezTo>
                    <a:cubicBezTo>
                      <a:pt x="8" y="2"/>
                      <a:pt x="8" y="2"/>
                      <a:pt x="8" y="2"/>
                    </a:cubicBezTo>
                    <a:cubicBezTo>
                      <a:pt x="4" y="5"/>
                      <a:pt x="2" y="8"/>
                      <a:pt x="2" y="12"/>
                    </a:cubicBezTo>
                    <a:cubicBezTo>
                      <a:pt x="8" y="12"/>
                      <a:pt x="8" y="12"/>
                      <a:pt x="8" y="12"/>
                    </a:cubicBezTo>
                    <a:cubicBezTo>
                      <a:pt x="2" y="12"/>
                      <a:pt x="2" y="12"/>
                      <a:pt x="2" y="12"/>
                    </a:cubicBezTo>
                    <a:cubicBezTo>
                      <a:pt x="2" y="15"/>
                      <a:pt x="2" y="15"/>
                      <a:pt x="2" y="15"/>
                    </a:cubicBezTo>
                    <a:cubicBezTo>
                      <a:pt x="2" y="15"/>
                      <a:pt x="2" y="15"/>
                      <a:pt x="2" y="15"/>
                    </a:cubicBezTo>
                    <a:cubicBezTo>
                      <a:pt x="1" y="21"/>
                      <a:pt x="1" y="21"/>
                      <a:pt x="1" y="21"/>
                    </a:cubicBezTo>
                    <a:cubicBezTo>
                      <a:pt x="1" y="21"/>
                      <a:pt x="1" y="21"/>
                      <a:pt x="1" y="21"/>
                    </a:cubicBezTo>
                    <a:cubicBezTo>
                      <a:pt x="0" y="26"/>
                      <a:pt x="0" y="26"/>
                      <a:pt x="0" y="26"/>
                    </a:cubicBezTo>
                    <a:cubicBezTo>
                      <a:pt x="0" y="27"/>
                      <a:pt x="0" y="27"/>
                      <a:pt x="0" y="27"/>
                    </a:cubicBezTo>
                    <a:cubicBezTo>
                      <a:pt x="0" y="31"/>
                      <a:pt x="2" y="34"/>
                      <a:pt x="4" y="37"/>
                    </a:cubicBezTo>
                    <a:cubicBezTo>
                      <a:pt x="6" y="39"/>
                      <a:pt x="10" y="40"/>
                      <a:pt x="13" y="41"/>
                    </a:cubicBezTo>
                    <a:cubicBezTo>
                      <a:pt x="13" y="41"/>
                      <a:pt x="13" y="41"/>
                      <a:pt x="13" y="41"/>
                    </a:cubicBezTo>
                    <a:cubicBezTo>
                      <a:pt x="13" y="41"/>
                      <a:pt x="13" y="41"/>
                      <a:pt x="13" y="41"/>
                    </a:cubicBezTo>
                    <a:cubicBezTo>
                      <a:pt x="13" y="41"/>
                      <a:pt x="13" y="41"/>
                      <a:pt x="13" y="41"/>
                    </a:cubicBezTo>
                    <a:cubicBezTo>
                      <a:pt x="20" y="41"/>
                      <a:pt x="26" y="36"/>
                      <a:pt x="26" y="29"/>
                    </a:cubicBezTo>
                    <a:cubicBezTo>
                      <a:pt x="26" y="29"/>
                      <a:pt x="26" y="29"/>
                      <a:pt x="26" y="29"/>
                    </a:cubicBezTo>
                    <a:lnTo>
                      <a:pt x="21"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6" name="Freeform 51">
                <a:extLst>
                  <a:ext uri="{FF2B5EF4-FFF2-40B4-BE49-F238E27FC236}">
                    <a16:creationId xmlns:a16="http://schemas.microsoft.com/office/drawing/2014/main" id="{41975371-E516-9562-3BDD-8B2E836B3DAD}"/>
                  </a:ext>
                </a:extLst>
              </p:cNvPr>
              <p:cNvSpPr>
                <a:spLocks/>
              </p:cNvSpPr>
              <p:nvPr/>
            </p:nvSpPr>
            <p:spPr bwMode="auto">
              <a:xfrm>
                <a:off x="6893744" y="4852787"/>
                <a:ext cx="25533" cy="50001"/>
              </a:xfrm>
              <a:custGeom>
                <a:avLst/>
                <a:gdLst>
                  <a:gd name="T0" fmla="*/ 14 w 17"/>
                  <a:gd name="T1" fmla="*/ 25 h 33"/>
                  <a:gd name="T2" fmla="*/ 0 w 17"/>
                  <a:gd name="T3" fmla="*/ 25 h 33"/>
                  <a:gd name="T4" fmla="*/ 0 w 17"/>
                  <a:gd name="T5" fmla="*/ 22 h 33"/>
                  <a:gd name="T6" fmla="*/ 1 w 17"/>
                  <a:gd name="T7" fmla="*/ 18 h 33"/>
                  <a:gd name="T8" fmla="*/ 2 w 17"/>
                  <a:gd name="T9" fmla="*/ 12 h 33"/>
                  <a:gd name="T10" fmla="*/ 3 w 17"/>
                  <a:gd name="T11" fmla="*/ 8 h 33"/>
                  <a:gd name="T12" fmla="*/ 17 w 17"/>
                  <a:gd name="T13" fmla="*/ 8 h 33"/>
                  <a:gd name="T14" fmla="*/ 17 w 17"/>
                  <a:gd name="T15" fmla="*/ 11 h 33"/>
                  <a:gd name="T16" fmla="*/ 16 w 17"/>
                  <a:gd name="T17" fmla="*/ 15 h 33"/>
                  <a:gd name="T18" fmla="*/ 15 w 17"/>
                  <a:gd name="T19" fmla="*/ 21 h 33"/>
                  <a:gd name="T20" fmla="*/ 14 w 17"/>
                  <a:gd name="T21"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33">
                    <a:moveTo>
                      <a:pt x="14" y="25"/>
                    </a:moveTo>
                    <a:cubicBezTo>
                      <a:pt x="13" y="33"/>
                      <a:pt x="1" y="33"/>
                      <a:pt x="0" y="25"/>
                    </a:cubicBezTo>
                    <a:cubicBezTo>
                      <a:pt x="0" y="24"/>
                      <a:pt x="0" y="23"/>
                      <a:pt x="0" y="22"/>
                    </a:cubicBezTo>
                    <a:cubicBezTo>
                      <a:pt x="1" y="18"/>
                      <a:pt x="1" y="18"/>
                      <a:pt x="1" y="18"/>
                    </a:cubicBezTo>
                    <a:cubicBezTo>
                      <a:pt x="2" y="12"/>
                      <a:pt x="2" y="12"/>
                      <a:pt x="2" y="12"/>
                    </a:cubicBezTo>
                    <a:cubicBezTo>
                      <a:pt x="3" y="8"/>
                      <a:pt x="3" y="8"/>
                      <a:pt x="3" y="8"/>
                    </a:cubicBezTo>
                    <a:cubicBezTo>
                      <a:pt x="4" y="1"/>
                      <a:pt x="15" y="0"/>
                      <a:pt x="17" y="8"/>
                    </a:cubicBezTo>
                    <a:cubicBezTo>
                      <a:pt x="17" y="9"/>
                      <a:pt x="17" y="10"/>
                      <a:pt x="17" y="11"/>
                    </a:cubicBezTo>
                    <a:cubicBezTo>
                      <a:pt x="16" y="15"/>
                      <a:pt x="16" y="15"/>
                      <a:pt x="16" y="15"/>
                    </a:cubicBezTo>
                    <a:cubicBezTo>
                      <a:pt x="15" y="21"/>
                      <a:pt x="15" y="21"/>
                      <a:pt x="15" y="21"/>
                    </a:cubicBezTo>
                    <a:lnTo>
                      <a:pt x="14"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7" name="Freeform 52">
                <a:extLst>
                  <a:ext uri="{FF2B5EF4-FFF2-40B4-BE49-F238E27FC236}">
                    <a16:creationId xmlns:a16="http://schemas.microsoft.com/office/drawing/2014/main" id="{C71D8688-08FF-7492-825D-F79E5A8FED50}"/>
                  </a:ext>
                </a:extLst>
              </p:cNvPr>
              <p:cNvSpPr>
                <a:spLocks/>
              </p:cNvSpPr>
              <p:nvPr/>
            </p:nvSpPr>
            <p:spPr bwMode="auto">
              <a:xfrm>
                <a:off x="6884170" y="4848531"/>
                <a:ext cx="44682" cy="60640"/>
              </a:xfrm>
              <a:custGeom>
                <a:avLst/>
                <a:gdLst>
                  <a:gd name="T0" fmla="*/ 20 w 29"/>
                  <a:gd name="T1" fmla="*/ 28 h 40"/>
                  <a:gd name="T2" fmla="*/ 14 w 29"/>
                  <a:gd name="T3" fmla="*/ 27 h 40"/>
                  <a:gd name="T4" fmla="*/ 14 w 29"/>
                  <a:gd name="T5" fmla="*/ 28 h 40"/>
                  <a:gd name="T6" fmla="*/ 13 w 29"/>
                  <a:gd name="T7" fmla="*/ 28 h 40"/>
                  <a:gd name="T8" fmla="*/ 12 w 29"/>
                  <a:gd name="T9" fmla="*/ 28 h 40"/>
                  <a:gd name="T10" fmla="*/ 12 w 29"/>
                  <a:gd name="T11" fmla="*/ 27 h 40"/>
                  <a:gd name="T12" fmla="*/ 6 w 29"/>
                  <a:gd name="T13" fmla="*/ 28 h 40"/>
                  <a:gd name="T14" fmla="*/ 12 w 29"/>
                  <a:gd name="T15" fmla="*/ 27 h 40"/>
                  <a:gd name="T16" fmla="*/ 12 w 29"/>
                  <a:gd name="T17" fmla="*/ 27 h 40"/>
                  <a:gd name="T18" fmla="*/ 12 w 29"/>
                  <a:gd name="T19" fmla="*/ 27 h 40"/>
                  <a:gd name="T20" fmla="*/ 12 w 29"/>
                  <a:gd name="T21" fmla="*/ 27 h 40"/>
                  <a:gd name="T22" fmla="*/ 13 w 29"/>
                  <a:gd name="T23" fmla="*/ 22 h 40"/>
                  <a:gd name="T24" fmla="*/ 14 w 29"/>
                  <a:gd name="T25" fmla="*/ 16 h 40"/>
                  <a:gd name="T26" fmla="*/ 15 w 29"/>
                  <a:gd name="T27" fmla="*/ 12 h 40"/>
                  <a:gd name="T28" fmla="*/ 9 w 29"/>
                  <a:gd name="T29" fmla="*/ 11 h 40"/>
                  <a:gd name="T30" fmla="*/ 15 w 29"/>
                  <a:gd name="T31" fmla="*/ 13 h 40"/>
                  <a:gd name="T32" fmla="*/ 15 w 29"/>
                  <a:gd name="T33" fmla="*/ 12 h 40"/>
                  <a:gd name="T34" fmla="*/ 16 w 29"/>
                  <a:gd name="T35" fmla="*/ 11 h 40"/>
                  <a:gd name="T36" fmla="*/ 17 w 29"/>
                  <a:gd name="T37" fmla="*/ 12 h 40"/>
                  <a:gd name="T38" fmla="*/ 17 w 29"/>
                  <a:gd name="T39" fmla="*/ 12 h 40"/>
                  <a:gd name="T40" fmla="*/ 23 w 29"/>
                  <a:gd name="T41" fmla="*/ 11 h 40"/>
                  <a:gd name="T42" fmla="*/ 17 w 29"/>
                  <a:gd name="T43" fmla="*/ 12 h 40"/>
                  <a:gd name="T44" fmla="*/ 17 w 29"/>
                  <a:gd name="T45" fmla="*/ 13 h 40"/>
                  <a:gd name="T46" fmla="*/ 17 w 29"/>
                  <a:gd name="T47" fmla="*/ 13 h 40"/>
                  <a:gd name="T48" fmla="*/ 16 w 29"/>
                  <a:gd name="T49" fmla="*/ 17 h 40"/>
                  <a:gd name="T50" fmla="*/ 16 w 29"/>
                  <a:gd name="T51" fmla="*/ 17 h 40"/>
                  <a:gd name="T52" fmla="*/ 15 w 29"/>
                  <a:gd name="T53" fmla="*/ 23 h 40"/>
                  <a:gd name="T54" fmla="*/ 15 w 29"/>
                  <a:gd name="T55" fmla="*/ 23 h 40"/>
                  <a:gd name="T56" fmla="*/ 14 w 29"/>
                  <a:gd name="T57" fmla="*/ 27 h 40"/>
                  <a:gd name="T58" fmla="*/ 14 w 29"/>
                  <a:gd name="T59" fmla="*/ 27 h 40"/>
                  <a:gd name="T60" fmla="*/ 20 w 29"/>
                  <a:gd name="T61" fmla="*/ 28 h 40"/>
                  <a:gd name="T62" fmla="*/ 26 w 29"/>
                  <a:gd name="T63" fmla="*/ 29 h 40"/>
                  <a:gd name="T64" fmla="*/ 27 w 29"/>
                  <a:gd name="T65" fmla="*/ 25 h 40"/>
                  <a:gd name="T66" fmla="*/ 28 w 29"/>
                  <a:gd name="T67" fmla="*/ 19 h 40"/>
                  <a:gd name="T68" fmla="*/ 29 w 29"/>
                  <a:gd name="T69" fmla="*/ 15 h 40"/>
                  <a:gd name="T70" fmla="*/ 29 w 29"/>
                  <a:gd name="T71" fmla="*/ 15 h 40"/>
                  <a:gd name="T72" fmla="*/ 29 w 29"/>
                  <a:gd name="T73" fmla="*/ 15 h 40"/>
                  <a:gd name="T74" fmla="*/ 29 w 29"/>
                  <a:gd name="T75" fmla="*/ 13 h 40"/>
                  <a:gd name="T76" fmla="*/ 29 w 29"/>
                  <a:gd name="T77" fmla="*/ 9 h 40"/>
                  <a:gd name="T78" fmla="*/ 28 w 29"/>
                  <a:gd name="T79" fmla="*/ 9 h 40"/>
                  <a:gd name="T80" fmla="*/ 28 w 29"/>
                  <a:gd name="T81" fmla="*/ 9 h 40"/>
                  <a:gd name="T82" fmla="*/ 23 w 29"/>
                  <a:gd name="T83" fmla="*/ 2 h 40"/>
                  <a:gd name="T84" fmla="*/ 16 w 29"/>
                  <a:gd name="T85" fmla="*/ 0 h 40"/>
                  <a:gd name="T86" fmla="*/ 8 w 29"/>
                  <a:gd name="T87" fmla="*/ 2 h 40"/>
                  <a:gd name="T88" fmla="*/ 3 w 29"/>
                  <a:gd name="T89" fmla="*/ 10 h 40"/>
                  <a:gd name="T90" fmla="*/ 3 w 29"/>
                  <a:gd name="T91" fmla="*/ 10 h 40"/>
                  <a:gd name="T92" fmla="*/ 2 w 29"/>
                  <a:gd name="T93" fmla="*/ 14 h 40"/>
                  <a:gd name="T94" fmla="*/ 1 w 29"/>
                  <a:gd name="T95" fmla="*/ 20 h 40"/>
                  <a:gd name="T96" fmla="*/ 1 w 29"/>
                  <a:gd name="T97" fmla="*/ 20 h 40"/>
                  <a:gd name="T98" fmla="*/ 0 w 29"/>
                  <a:gd name="T99" fmla="*/ 24 h 40"/>
                  <a:gd name="T100" fmla="*/ 0 w 29"/>
                  <a:gd name="T101" fmla="*/ 24 h 40"/>
                  <a:gd name="T102" fmla="*/ 0 w 29"/>
                  <a:gd name="T103" fmla="*/ 27 h 40"/>
                  <a:gd name="T104" fmla="*/ 0 w 29"/>
                  <a:gd name="T105" fmla="*/ 29 h 40"/>
                  <a:gd name="T106" fmla="*/ 0 w 29"/>
                  <a:gd name="T107" fmla="*/ 29 h 40"/>
                  <a:gd name="T108" fmla="*/ 0 w 29"/>
                  <a:gd name="T109" fmla="*/ 29 h 40"/>
                  <a:gd name="T110" fmla="*/ 5 w 29"/>
                  <a:gd name="T111" fmla="*/ 37 h 40"/>
                  <a:gd name="T112" fmla="*/ 13 w 29"/>
                  <a:gd name="T113" fmla="*/ 40 h 40"/>
                  <a:gd name="T114" fmla="*/ 21 w 29"/>
                  <a:gd name="T115" fmla="*/ 37 h 40"/>
                  <a:gd name="T116" fmla="*/ 26 w 29"/>
                  <a:gd name="T117" fmla="*/ 29 h 40"/>
                  <a:gd name="T118" fmla="*/ 26 w 29"/>
                  <a:gd name="T119" fmla="*/ 29 h 40"/>
                  <a:gd name="T120" fmla="*/ 20 w 29"/>
                  <a:gd name="T121" fmla="*/ 2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 h="40">
                    <a:moveTo>
                      <a:pt x="20" y="28"/>
                    </a:moveTo>
                    <a:cubicBezTo>
                      <a:pt x="14" y="27"/>
                      <a:pt x="14" y="27"/>
                      <a:pt x="14" y="27"/>
                    </a:cubicBezTo>
                    <a:cubicBezTo>
                      <a:pt x="14" y="28"/>
                      <a:pt x="14" y="28"/>
                      <a:pt x="14" y="28"/>
                    </a:cubicBezTo>
                    <a:cubicBezTo>
                      <a:pt x="14" y="28"/>
                      <a:pt x="14" y="28"/>
                      <a:pt x="13" y="28"/>
                    </a:cubicBezTo>
                    <a:cubicBezTo>
                      <a:pt x="13" y="28"/>
                      <a:pt x="12" y="28"/>
                      <a:pt x="12" y="28"/>
                    </a:cubicBezTo>
                    <a:cubicBezTo>
                      <a:pt x="12" y="28"/>
                      <a:pt x="12" y="28"/>
                      <a:pt x="12" y="27"/>
                    </a:cubicBezTo>
                    <a:cubicBezTo>
                      <a:pt x="6" y="28"/>
                      <a:pt x="6" y="28"/>
                      <a:pt x="6" y="28"/>
                    </a:cubicBezTo>
                    <a:cubicBezTo>
                      <a:pt x="12" y="27"/>
                      <a:pt x="12" y="27"/>
                      <a:pt x="12" y="27"/>
                    </a:cubicBezTo>
                    <a:cubicBezTo>
                      <a:pt x="12" y="27"/>
                      <a:pt x="12" y="27"/>
                      <a:pt x="12" y="27"/>
                    </a:cubicBezTo>
                    <a:cubicBezTo>
                      <a:pt x="12" y="27"/>
                      <a:pt x="12" y="27"/>
                      <a:pt x="12" y="27"/>
                    </a:cubicBezTo>
                    <a:cubicBezTo>
                      <a:pt x="12" y="27"/>
                      <a:pt x="12" y="27"/>
                      <a:pt x="12" y="27"/>
                    </a:cubicBezTo>
                    <a:cubicBezTo>
                      <a:pt x="13" y="22"/>
                      <a:pt x="13" y="22"/>
                      <a:pt x="13" y="22"/>
                    </a:cubicBezTo>
                    <a:cubicBezTo>
                      <a:pt x="14" y="16"/>
                      <a:pt x="14" y="16"/>
                      <a:pt x="14" y="16"/>
                    </a:cubicBezTo>
                    <a:cubicBezTo>
                      <a:pt x="15" y="12"/>
                      <a:pt x="15" y="12"/>
                      <a:pt x="15" y="12"/>
                    </a:cubicBezTo>
                    <a:cubicBezTo>
                      <a:pt x="9" y="11"/>
                      <a:pt x="9" y="11"/>
                      <a:pt x="9" y="11"/>
                    </a:cubicBezTo>
                    <a:cubicBezTo>
                      <a:pt x="15" y="13"/>
                      <a:pt x="15" y="13"/>
                      <a:pt x="15" y="13"/>
                    </a:cubicBezTo>
                    <a:cubicBezTo>
                      <a:pt x="15" y="12"/>
                      <a:pt x="15" y="12"/>
                      <a:pt x="15" y="12"/>
                    </a:cubicBezTo>
                    <a:cubicBezTo>
                      <a:pt x="16" y="11"/>
                      <a:pt x="16" y="11"/>
                      <a:pt x="16" y="11"/>
                    </a:cubicBezTo>
                    <a:cubicBezTo>
                      <a:pt x="17" y="12"/>
                      <a:pt x="17" y="12"/>
                      <a:pt x="17" y="12"/>
                    </a:cubicBezTo>
                    <a:cubicBezTo>
                      <a:pt x="17" y="12"/>
                      <a:pt x="17" y="12"/>
                      <a:pt x="17" y="12"/>
                    </a:cubicBezTo>
                    <a:cubicBezTo>
                      <a:pt x="23" y="11"/>
                      <a:pt x="23" y="11"/>
                      <a:pt x="23" y="11"/>
                    </a:cubicBezTo>
                    <a:cubicBezTo>
                      <a:pt x="17" y="12"/>
                      <a:pt x="17" y="12"/>
                      <a:pt x="17" y="12"/>
                    </a:cubicBezTo>
                    <a:cubicBezTo>
                      <a:pt x="17" y="13"/>
                      <a:pt x="17" y="13"/>
                      <a:pt x="17" y="13"/>
                    </a:cubicBezTo>
                    <a:cubicBezTo>
                      <a:pt x="17" y="13"/>
                      <a:pt x="17" y="13"/>
                      <a:pt x="17" y="13"/>
                    </a:cubicBezTo>
                    <a:cubicBezTo>
                      <a:pt x="16" y="17"/>
                      <a:pt x="16" y="17"/>
                      <a:pt x="16" y="17"/>
                    </a:cubicBezTo>
                    <a:cubicBezTo>
                      <a:pt x="16" y="17"/>
                      <a:pt x="16" y="17"/>
                      <a:pt x="16" y="17"/>
                    </a:cubicBezTo>
                    <a:cubicBezTo>
                      <a:pt x="15" y="23"/>
                      <a:pt x="15" y="23"/>
                      <a:pt x="15" y="23"/>
                    </a:cubicBezTo>
                    <a:cubicBezTo>
                      <a:pt x="15" y="23"/>
                      <a:pt x="15" y="23"/>
                      <a:pt x="15" y="23"/>
                    </a:cubicBezTo>
                    <a:cubicBezTo>
                      <a:pt x="14" y="27"/>
                      <a:pt x="14" y="27"/>
                      <a:pt x="14" y="27"/>
                    </a:cubicBezTo>
                    <a:cubicBezTo>
                      <a:pt x="14" y="27"/>
                      <a:pt x="14" y="27"/>
                      <a:pt x="14" y="27"/>
                    </a:cubicBezTo>
                    <a:cubicBezTo>
                      <a:pt x="20" y="28"/>
                      <a:pt x="20" y="28"/>
                      <a:pt x="20" y="28"/>
                    </a:cubicBezTo>
                    <a:cubicBezTo>
                      <a:pt x="26" y="29"/>
                      <a:pt x="26" y="29"/>
                      <a:pt x="26" y="29"/>
                    </a:cubicBezTo>
                    <a:cubicBezTo>
                      <a:pt x="27" y="25"/>
                      <a:pt x="27" y="25"/>
                      <a:pt x="27" y="25"/>
                    </a:cubicBezTo>
                    <a:cubicBezTo>
                      <a:pt x="28" y="19"/>
                      <a:pt x="28" y="19"/>
                      <a:pt x="28" y="19"/>
                    </a:cubicBezTo>
                    <a:cubicBezTo>
                      <a:pt x="29" y="15"/>
                      <a:pt x="29" y="15"/>
                      <a:pt x="29" y="15"/>
                    </a:cubicBezTo>
                    <a:cubicBezTo>
                      <a:pt x="29" y="15"/>
                      <a:pt x="29" y="15"/>
                      <a:pt x="29" y="15"/>
                    </a:cubicBezTo>
                    <a:cubicBezTo>
                      <a:pt x="29" y="15"/>
                      <a:pt x="29" y="15"/>
                      <a:pt x="29" y="15"/>
                    </a:cubicBezTo>
                    <a:cubicBezTo>
                      <a:pt x="29" y="14"/>
                      <a:pt x="29" y="13"/>
                      <a:pt x="29" y="13"/>
                    </a:cubicBezTo>
                    <a:cubicBezTo>
                      <a:pt x="29" y="11"/>
                      <a:pt x="29" y="10"/>
                      <a:pt x="29" y="9"/>
                    </a:cubicBezTo>
                    <a:cubicBezTo>
                      <a:pt x="28" y="9"/>
                      <a:pt x="28" y="9"/>
                      <a:pt x="28" y="9"/>
                    </a:cubicBezTo>
                    <a:cubicBezTo>
                      <a:pt x="28" y="9"/>
                      <a:pt x="28" y="9"/>
                      <a:pt x="28" y="9"/>
                    </a:cubicBezTo>
                    <a:cubicBezTo>
                      <a:pt x="28" y="6"/>
                      <a:pt x="26" y="4"/>
                      <a:pt x="23" y="2"/>
                    </a:cubicBezTo>
                    <a:cubicBezTo>
                      <a:pt x="21" y="0"/>
                      <a:pt x="19" y="0"/>
                      <a:pt x="16" y="0"/>
                    </a:cubicBezTo>
                    <a:cubicBezTo>
                      <a:pt x="13" y="0"/>
                      <a:pt x="10" y="0"/>
                      <a:pt x="8" y="2"/>
                    </a:cubicBezTo>
                    <a:cubicBezTo>
                      <a:pt x="6" y="4"/>
                      <a:pt x="4" y="7"/>
                      <a:pt x="3" y="10"/>
                    </a:cubicBezTo>
                    <a:cubicBezTo>
                      <a:pt x="3" y="10"/>
                      <a:pt x="3" y="10"/>
                      <a:pt x="3" y="10"/>
                    </a:cubicBezTo>
                    <a:cubicBezTo>
                      <a:pt x="2" y="14"/>
                      <a:pt x="2" y="14"/>
                      <a:pt x="2" y="14"/>
                    </a:cubicBezTo>
                    <a:cubicBezTo>
                      <a:pt x="1" y="20"/>
                      <a:pt x="1" y="20"/>
                      <a:pt x="1" y="20"/>
                    </a:cubicBezTo>
                    <a:cubicBezTo>
                      <a:pt x="1" y="20"/>
                      <a:pt x="1" y="20"/>
                      <a:pt x="1" y="20"/>
                    </a:cubicBezTo>
                    <a:cubicBezTo>
                      <a:pt x="0" y="24"/>
                      <a:pt x="0" y="24"/>
                      <a:pt x="0" y="24"/>
                    </a:cubicBezTo>
                    <a:cubicBezTo>
                      <a:pt x="0" y="24"/>
                      <a:pt x="0" y="24"/>
                      <a:pt x="0" y="24"/>
                    </a:cubicBezTo>
                    <a:cubicBezTo>
                      <a:pt x="0" y="25"/>
                      <a:pt x="0" y="26"/>
                      <a:pt x="0" y="27"/>
                    </a:cubicBezTo>
                    <a:cubicBezTo>
                      <a:pt x="0" y="27"/>
                      <a:pt x="0" y="28"/>
                      <a:pt x="0" y="29"/>
                    </a:cubicBezTo>
                    <a:cubicBezTo>
                      <a:pt x="0" y="29"/>
                      <a:pt x="0" y="29"/>
                      <a:pt x="0" y="29"/>
                    </a:cubicBezTo>
                    <a:cubicBezTo>
                      <a:pt x="0" y="29"/>
                      <a:pt x="0" y="29"/>
                      <a:pt x="0" y="29"/>
                    </a:cubicBezTo>
                    <a:cubicBezTo>
                      <a:pt x="1" y="32"/>
                      <a:pt x="3" y="35"/>
                      <a:pt x="5" y="37"/>
                    </a:cubicBezTo>
                    <a:cubicBezTo>
                      <a:pt x="7" y="39"/>
                      <a:pt x="10" y="40"/>
                      <a:pt x="13" y="40"/>
                    </a:cubicBezTo>
                    <a:cubicBezTo>
                      <a:pt x="16" y="40"/>
                      <a:pt x="19" y="39"/>
                      <a:pt x="21" y="37"/>
                    </a:cubicBezTo>
                    <a:cubicBezTo>
                      <a:pt x="23" y="35"/>
                      <a:pt x="25" y="33"/>
                      <a:pt x="26" y="29"/>
                    </a:cubicBezTo>
                    <a:cubicBezTo>
                      <a:pt x="26" y="29"/>
                      <a:pt x="26" y="29"/>
                      <a:pt x="26" y="29"/>
                    </a:cubicBezTo>
                    <a:lnTo>
                      <a:pt x="2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8" name="Freeform 53">
                <a:extLst>
                  <a:ext uri="{FF2B5EF4-FFF2-40B4-BE49-F238E27FC236}">
                    <a16:creationId xmlns:a16="http://schemas.microsoft.com/office/drawing/2014/main" id="{94B7F1F4-C5CC-7918-6673-97AD9A84DF67}"/>
                  </a:ext>
                </a:extLst>
              </p:cNvPr>
              <p:cNvSpPr>
                <a:spLocks/>
              </p:cNvSpPr>
              <p:nvPr/>
            </p:nvSpPr>
            <p:spPr bwMode="auto">
              <a:xfrm>
                <a:off x="6859701" y="4980449"/>
                <a:ext cx="29788" cy="47874"/>
              </a:xfrm>
              <a:custGeom>
                <a:avLst/>
                <a:gdLst>
                  <a:gd name="T0" fmla="*/ 15 w 19"/>
                  <a:gd name="T1" fmla="*/ 26 h 32"/>
                  <a:gd name="T2" fmla="*/ 5 w 19"/>
                  <a:gd name="T3" fmla="*/ 30 h 32"/>
                  <a:gd name="T4" fmla="*/ 1 w 19"/>
                  <a:gd name="T5" fmla="*/ 21 h 32"/>
                  <a:gd name="T6" fmla="*/ 2 w 19"/>
                  <a:gd name="T7" fmla="*/ 18 h 32"/>
                  <a:gd name="T8" fmla="*/ 4 w 19"/>
                  <a:gd name="T9" fmla="*/ 12 h 32"/>
                  <a:gd name="T10" fmla="*/ 5 w 19"/>
                  <a:gd name="T11" fmla="*/ 8 h 32"/>
                  <a:gd name="T12" fmla="*/ 19 w 19"/>
                  <a:gd name="T13" fmla="*/ 9 h 32"/>
                  <a:gd name="T14" fmla="*/ 19 w 19"/>
                  <a:gd name="T15" fmla="*/ 12 h 32"/>
                  <a:gd name="T16" fmla="*/ 18 w 19"/>
                  <a:gd name="T17" fmla="*/ 16 h 32"/>
                  <a:gd name="T18" fmla="*/ 16 w 19"/>
                  <a:gd name="T19" fmla="*/ 22 h 32"/>
                  <a:gd name="T20" fmla="*/ 15 w 19"/>
                  <a:gd name="T21"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32">
                    <a:moveTo>
                      <a:pt x="15" y="26"/>
                    </a:moveTo>
                    <a:cubicBezTo>
                      <a:pt x="13" y="30"/>
                      <a:pt x="9" y="32"/>
                      <a:pt x="5" y="30"/>
                    </a:cubicBezTo>
                    <a:cubicBezTo>
                      <a:pt x="2" y="28"/>
                      <a:pt x="0" y="25"/>
                      <a:pt x="1" y="21"/>
                    </a:cubicBezTo>
                    <a:cubicBezTo>
                      <a:pt x="2" y="18"/>
                      <a:pt x="2" y="18"/>
                      <a:pt x="2" y="18"/>
                    </a:cubicBezTo>
                    <a:cubicBezTo>
                      <a:pt x="4" y="12"/>
                      <a:pt x="4" y="12"/>
                      <a:pt x="4" y="12"/>
                    </a:cubicBezTo>
                    <a:cubicBezTo>
                      <a:pt x="5" y="8"/>
                      <a:pt x="5" y="8"/>
                      <a:pt x="5" y="8"/>
                    </a:cubicBezTo>
                    <a:cubicBezTo>
                      <a:pt x="7" y="0"/>
                      <a:pt x="18" y="1"/>
                      <a:pt x="19" y="9"/>
                    </a:cubicBezTo>
                    <a:cubicBezTo>
                      <a:pt x="19" y="10"/>
                      <a:pt x="19" y="11"/>
                      <a:pt x="19" y="12"/>
                    </a:cubicBezTo>
                    <a:cubicBezTo>
                      <a:pt x="18" y="16"/>
                      <a:pt x="18" y="16"/>
                      <a:pt x="18" y="16"/>
                    </a:cubicBezTo>
                    <a:cubicBezTo>
                      <a:pt x="16" y="22"/>
                      <a:pt x="16" y="22"/>
                      <a:pt x="16" y="22"/>
                    </a:cubicBezTo>
                    <a:lnTo>
                      <a:pt x="1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9" name="Freeform 54">
                <a:extLst>
                  <a:ext uri="{FF2B5EF4-FFF2-40B4-BE49-F238E27FC236}">
                    <a16:creationId xmlns:a16="http://schemas.microsoft.com/office/drawing/2014/main" id="{270AA8F9-3E56-1DAB-1924-D27839B8826A}"/>
                  </a:ext>
                </a:extLst>
              </p:cNvPr>
              <p:cNvSpPr>
                <a:spLocks/>
              </p:cNvSpPr>
              <p:nvPr/>
            </p:nvSpPr>
            <p:spPr bwMode="auto">
              <a:xfrm>
                <a:off x="6852254" y="4976194"/>
                <a:ext cx="45746" cy="60640"/>
              </a:xfrm>
              <a:custGeom>
                <a:avLst/>
                <a:gdLst>
                  <a:gd name="T0" fmla="*/ 20 w 30"/>
                  <a:gd name="T1" fmla="*/ 29 h 40"/>
                  <a:gd name="T2" fmla="*/ 14 w 30"/>
                  <a:gd name="T3" fmla="*/ 27 h 40"/>
                  <a:gd name="T4" fmla="*/ 13 w 30"/>
                  <a:gd name="T5" fmla="*/ 28 h 40"/>
                  <a:gd name="T6" fmla="*/ 12 w 30"/>
                  <a:gd name="T7" fmla="*/ 28 h 40"/>
                  <a:gd name="T8" fmla="*/ 12 w 30"/>
                  <a:gd name="T9" fmla="*/ 28 h 40"/>
                  <a:gd name="T10" fmla="*/ 12 w 30"/>
                  <a:gd name="T11" fmla="*/ 27 h 40"/>
                  <a:gd name="T12" fmla="*/ 12 w 30"/>
                  <a:gd name="T13" fmla="*/ 26 h 40"/>
                  <a:gd name="T14" fmla="*/ 13 w 30"/>
                  <a:gd name="T15" fmla="*/ 23 h 40"/>
                  <a:gd name="T16" fmla="*/ 15 w 30"/>
                  <a:gd name="T17" fmla="*/ 17 h 40"/>
                  <a:gd name="T18" fmla="*/ 16 w 30"/>
                  <a:gd name="T19" fmla="*/ 12 h 40"/>
                  <a:gd name="T20" fmla="*/ 16 w 30"/>
                  <a:gd name="T21" fmla="*/ 12 h 40"/>
                  <a:gd name="T22" fmla="*/ 16 w 30"/>
                  <a:gd name="T23" fmla="*/ 12 h 40"/>
                  <a:gd name="T24" fmla="*/ 17 w 30"/>
                  <a:gd name="T25" fmla="*/ 11 h 40"/>
                  <a:gd name="T26" fmla="*/ 18 w 30"/>
                  <a:gd name="T27" fmla="*/ 12 h 40"/>
                  <a:gd name="T28" fmla="*/ 18 w 30"/>
                  <a:gd name="T29" fmla="*/ 13 h 40"/>
                  <a:gd name="T30" fmla="*/ 24 w 30"/>
                  <a:gd name="T31" fmla="*/ 12 h 40"/>
                  <a:gd name="T32" fmla="*/ 18 w 30"/>
                  <a:gd name="T33" fmla="*/ 13 h 40"/>
                  <a:gd name="T34" fmla="*/ 18 w 30"/>
                  <a:gd name="T35" fmla="*/ 13 h 40"/>
                  <a:gd name="T36" fmla="*/ 18 w 30"/>
                  <a:gd name="T37" fmla="*/ 13 h 40"/>
                  <a:gd name="T38" fmla="*/ 24 w 30"/>
                  <a:gd name="T39" fmla="*/ 15 h 40"/>
                  <a:gd name="T40" fmla="*/ 18 w 30"/>
                  <a:gd name="T41" fmla="*/ 13 h 40"/>
                  <a:gd name="T42" fmla="*/ 17 w 30"/>
                  <a:gd name="T43" fmla="*/ 17 h 40"/>
                  <a:gd name="T44" fmla="*/ 17 w 30"/>
                  <a:gd name="T45" fmla="*/ 17 h 40"/>
                  <a:gd name="T46" fmla="*/ 15 w 30"/>
                  <a:gd name="T47" fmla="*/ 23 h 40"/>
                  <a:gd name="T48" fmla="*/ 15 w 30"/>
                  <a:gd name="T49" fmla="*/ 23 h 40"/>
                  <a:gd name="T50" fmla="*/ 14 w 30"/>
                  <a:gd name="T51" fmla="*/ 27 h 40"/>
                  <a:gd name="T52" fmla="*/ 14 w 30"/>
                  <a:gd name="T53" fmla="*/ 27 h 40"/>
                  <a:gd name="T54" fmla="*/ 20 w 30"/>
                  <a:gd name="T55" fmla="*/ 29 h 40"/>
                  <a:gd name="T56" fmla="*/ 25 w 30"/>
                  <a:gd name="T57" fmla="*/ 30 h 40"/>
                  <a:gd name="T58" fmla="*/ 27 w 30"/>
                  <a:gd name="T59" fmla="*/ 27 h 40"/>
                  <a:gd name="T60" fmla="*/ 27 w 30"/>
                  <a:gd name="T61" fmla="*/ 27 h 40"/>
                  <a:gd name="T62" fmla="*/ 28 w 30"/>
                  <a:gd name="T63" fmla="*/ 21 h 40"/>
                  <a:gd name="T64" fmla="*/ 30 w 30"/>
                  <a:gd name="T65" fmla="*/ 16 h 40"/>
                  <a:gd name="T66" fmla="*/ 30 w 30"/>
                  <a:gd name="T67" fmla="*/ 16 h 40"/>
                  <a:gd name="T68" fmla="*/ 30 w 30"/>
                  <a:gd name="T69" fmla="*/ 13 h 40"/>
                  <a:gd name="T70" fmla="*/ 30 w 30"/>
                  <a:gd name="T71" fmla="*/ 11 h 40"/>
                  <a:gd name="T72" fmla="*/ 30 w 30"/>
                  <a:gd name="T73" fmla="*/ 11 h 40"/>
                  <a:gd name="T74" fmla="*/ 30 w 30"/>
                  <a:gd name="T75" fmla="*/ 11 h 40"/>
                  <a:gd name="T76" fmla="*/ 25 w 30"/>
                  <a:gd name="T77" fmla="*/ 3 h 40"/>
                  <a:gd name="T78" fmla="*/ 17 w 30"/>
                  <a:gd name="T79" fmla="*/ 0 h 40"/>
                  <a:gd name="T80" fmla="*/ 9 w 30"/>
                  <a:gd name="T81" fmla="*/ 2 h 40"/>
                  <a:gd name="T82" fmla="*/ 4 w 30"/>
                  <a:gd name="T83" fmla="*/ 9 h 40"/>
                  <a:gd name="T84" fmla="*/ 10 w 30"/>
                  <a:gd name="T85" fmla="*/ 11 h 40"/>
                  <a:gd name="T86" fmla="*/ 4 w 30"/>
                  <a:gd name="T87" fmla="*/ 9 h 40"/>
                  <a:gd name="T88" fmla="*/ 3 w 30"/>
                  <a:gd name="T89" fmla="*/ 13 h 40"/>
                  <a:gd name="T90" fmla="*/ 3 w 30"/>
                  <a:gd name="T91" fmla="*/ 13 h 40"/>
                  <a:gd name="T92" fmla="*/ 2 w 30"/>
                  <a:gd name="T93" fmla="*/ 19 h 40"/>
                  <a:gd name="T94" fmla="*/ 2 w 30"/>
                  <a:gd name="T95" fmla="*/ 19 h 40"/>
                  <a:gd name="T96" fmla="*/ 0 w 30"/>
                  <a:gd name="T97" fmla="*/ 23 h 40"/>
                  <a:gd name="T98" fmla="*/ 0 w 30"/>
                  <a:gd name="T99" fmla="*/ 23 h 40"/>
                  <a:gd name="T100" fmla="*/ 0 w 30"/>
                  <a:gd name="T101" fmla="*/ 27 h 40"/>
                  <a:gd name="T102" fmla="*/ 7 w 30"/>
                  <a:gd name="T103" fmla="*/ 38 h 40"/>
                  <a:gd name="T104" fmla="*/ 7 w 30"/>
                  <a:gd name="T105" fmla="*/ 38 h 40"/>
                  <a:gd name="T106" fmla="*/ 7 w 30"/>
                  <a:gd name="T107" fmla="*/ 38 h 40"/>
                  <a:gd name="T108" fmla="*/ 13 w 30"/>
                  <a:gd name="T109" fmla="*/ 40 h 40"/>
                  <a:gd name="T110" fmla="*/ 25 w 30"/>
                  <a:gd name="T111" fmla="*/ 30 h 40"/>
                  <a:gd name="T112" fmla="*/ 25 w 30"/>
                  <a:gd name="T113" fmla="*/ 30 h 40"/>
                  <a:gd name="T114" fmla="*/ 20 w 30"/>
                  <a:gd name="T115" fmla="*/ 2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 h="40">
                    <a:moveTo>
                      <a:pt x="20" y="29"/>
                    </a:moveTo>
                    <a:cubicBezTo>
                      <a:pt x="14" y="27"/>
                      <a:pt x="14" y="27"/>
                      <a:pt x="14" y="27"/>
                    </a:cubicBezTo>
                    <a:cubicBezTo>
                      <a:pt x="14" y="28"/>
                      <a:pt x="13" y="28"/>
                      <a:pt x="13" y="28"/>
                    </a:cubicBezTo>
                    <a:cubicBezTo>
                      <a:pt x="12" y="28"/>
                      <a:pt x="12" y="28"/>
                      <a:pt x="12" y="28"/>
                    </a:cubicBezTo>
                    <a:cubicBezTo>
                      <a:pt x="12" y="28"/>
                      <a:pt x="12" y="28"/>
                      <a:pt x="12" y="28"/>
                    </a:cubicBezTo>
                    <a:cubicBezTo>
                      <a:pt x="12" y="28"/>
                      <a:pt x="12" y="27"/>
                      <a:pt x="12" y="27"/>
                    </a:cubicBezTo>
                    <a:cubicBezTo>
                      <a:pt x="12" y="26"/>
                      <a:pt x="12" y="26"/>
                      <a:pt x="12" y="26"/>
                    </a:cubicBezTo>
                    <a:cubicBezTo>
                      <a:pt x="13" y="23"/>
                      <a:pt x="13" y="23"/>
                      <a:pt x="13" y="23"/>
                    </a:cubicBezTo>
                    <a:cubicBezTo>
                      <a:pt x="15" y="17"/>
                      <a:pt x="15" y="17"/>
                      <a:pt x="15" y="17"/>
                    </a:cubicBezTo>
                    <a:cubicBezTo>
                      <a:pt x="16" y="12"/>
                      <a:pt x="16" y="12"/>
                      <a:pt x="16" y="12"/>
                    </a:cubicBezTo>
                    <a:cubicBezTo>
                      <a:pt x="16" y="12"/>
                      <a:pt x="16" y="12"/>
                      <a:pt x="16" y="12"/>
                    </a:cubicBezTo>
                    <a:cubicBezTo>
                      <a:pt x="16" y="12"/>
                      <a:pt x="16" y="12"/>
                      <a:pt x="16" y="12"/>
                    </a:cubicBezTo>
                    <a:cubicBezTo>
                      <a:pt x="17" y="11"/>
                      <a:pt x="17" y="11"/>
                      <a:pt x="17" y="11"/>
                    </a:cubicBezTo>
                    <a:cubicBezTo>
                      <a:pt x="17" y="11"/>
                      <a:pt x="18" y="12"/>
                      <a:pt x="18" y="12"/>
                    </a:cubicBezTo>
                    <a:cubicBezTo>
                      <a:pt x="18" y="12"/>
                      <a:pt x="18" y="12"/>
                      <a:pt x="18" y="13"/>
                    </a:cubicBezTo>
                    <a:cubicBezTo>
                      <a:pt x="24" y="12"/>
                      <a:pt x="24" y="12"/>
                      <a:pt x="24" y="12"/>
                    </a:cubicBezTo>
                    <a:cubicBezTo>
                      <a:pt x="18" y="13"/>
                      <a:pt x="18" y="13"/>
                      <a:pt x="18" y="13"/>
                    </a:cubicBezTo>
                    <a:cubicBezTo>
                      <a:pt x="18" y="13"/>
                      <a:pt x="18" y="13"/>
                      <a:pt x="18" y="13"/>
                    </a:cubicBezTo>
                    <a:cubicBezTo>
                      <a:pt x="18" y="13"/>
                      <a:pt x="18" y="13"/>
                      <a:pt x="18" y="13"/>
                    </a:cubicBezTo>
                    <a:cubicBezTo>
                      <a:pt x="24" y="15"/>
                      <a:pt x="24" y="15"/>
                      <a:pt x="24" y="15"/>
                    </a:cubicBezTo>
                    <a:cubicBezTo>
                      <a:pt x="18" y="13"/>
                      <a:pt x="18" y="13"/>
                      <a:pt x="18" y="13"/>
                    </a:cubicBezTo>
                    <a:cubicBezTo>
                      <a:pt x="17" y="17"/>
                      <a:pt x="17" y="17"/>
                      <a:pt x="17" y="17"/>
                    </a:cubicBezTo>
                    <a:cubicBezTo>
                      <a:pt x="17" y="17"/>
                      <a:pt x="17" y="17"/>
                      <a:pt x="17" y="17"/>
                    </a:cubicBezTo>
                    <a:cubicBezTo>
                      <a:pt x="15" y="23"/>
                      <a:pt x="15" y="23"/>
                      <a:pt x="15" y="23"/>
                    </a:cubicBezTo>
                    <a:cubicBezTo>
                      <a:pt x="15" y="23"/>
                      <a:pt x="15" y="23"/>
                      <a:pt x="15" y="23"/>
                    </a:cubicBezTo>
                    <a:cubicBezTo>
                      <a:pt x="14" y="27"/>
                      <a:pt x="14" y="27"/>
                      <a:pt x="14" y="27"/>
                    </a:cubicBezTo>
                    <a:cubicBezTo>
                      <a:pt x="14" y="27"/>
                      <a:pt x="14" y="27"/>
                      <a:pt x="14" y="27"/>
                    </a:cubicBezTo>
                    <a:cubicBezTo>
                      <a:pt x="20" y="29"/>
                      <a:pt x="20" y="29"/>
                      <a:pt x="20" y="29"/>
                    </a:cubicBezTo>
                    <a:cubicBezTo>
                      <a:pt x="25" y="30"/>
                      <a:pt x="25" y="30"/>
                      <a:pt x="25" y="30"/>
                    </a:cubicBezTo>
                    <a:cubicBezTo>
                      <a:pt x="27" y="27"/>
                      <a:pt x="27" y="27"/>
                      <a:pt x="27" y="27"/>
                    </a:cubicBezTo>
                    <a:cubicBezTo>
                      <a:pt x="27" y="27"/>
                      <a:pt x="27" y="27"/>
                      <a:pt x="27" y="27"/>
                    </a:cubicBezTo>
                    <a:cubicBezTo>
                      <a:pt x="28" y="21"/>
                      <a:pt x="28" y="21"/>
                      <a:pt x="28" y="21"/>
                    </a:cubicBezTo>
                    <a:cubicBezTo>
                      <a:pt x="30" y="16"/>
                      <a:pt x="30" y="16"/>
                      <a:pt x="30" y="16"/>
                    </a:cubicBezTo>
                    <a:cubicBezTo>
                      <a:pt x="30" y="16"/>
                      <a:pt x="30" y="16"/>
                      <a:pt x="30" y="16"/>
                    </a:cubicBezTo>
                    <a:cubicBezTo>
                      <a:pt x="30" y="15"/>
                      <a:pt x="30" y="14"/>
                      <a:pt x="30" y="13"/>
                    </a:cubicBezTo>
                    <a:cubicBezTo>
                      <a:pt x="30" y="12"/>
                      <a:pt x="30" y="12"/>
                      <a:pt x="30" y="11"/>
                    </a:cubicBezTo>
                    <a:cubicBezTo>
                      <a:pt x="30" y="11"/>
                      <a:pt x="30" y="11"/>
                      <a:pt x="30" y="11"/>
                    </a:cubicBezTo>
                    <a:cubicBezTo>
                      <a:pt x="30" y="11"/>
                      <a:pt x="30" y="11"/>
                      <a:pt x="30" y="11"/>
                    </a:cubicBezTo>
                    <a:cubicBezTo>
                      <a:pt x="30" y="8"/>
                      <a:pt x="28" y="5"/>
                      <a:pt x="25" y="3"/>
                    </a:cubicBezTo>
                    <a:cubicBezTo>
                      <a:pt x="23" y="1"/>
                      <a:pt x="20" y="0"/>
                      <a:pt x="17" y="0"/>
                    </a:cubicBezTo>
                    <a:cubicBezTo>
                      <a:pt x="14" y="0"/>
                      <a:pt x="12" y="0"/>
                      <a:pt x="9" y="2"/>
                    </a:cubicBezTo>
                    <a:cubicBezTo>
                      <a:pt x="7" y="4"/>
                      <a:pt x="5" y="6"/>
                      <a:pt x="4" y="9"/>
                    </a:cubicBezTo>
                    <a:cubicBezTo>
                      <a:pt x="10" y="11"/>
                      <a:pt x="10" y="11"/>
                      <a:pt x="10" y="11"/>
                    </a:cubicBezTo>
                    <a:cubicBezTo>
                      <a:pt x="4" y="9"/>
                      <a:pt x="4" y="9"/>
                      <a:pt x="4" y="9"/>
                    </a:cubicBezTo>
                    <a:cubicBezTo>
                      <a:pt x="3" y="13"/>
                      <a:pt x="3" y="13"/>
                      <a:pt x="3" y="13"/>
                    </a:cubicBezTo>
                    <a:cubicBezTo>
                      <a:pt x="3" y="13"/>
                      <a:pt x="3" y="13"/>
                      <a:pt x="3" y="13"/>
                    </a:cubicBezTo>
                    <a:cubicBezTo>
                      <a:pt x="2" y="19"/>
                      <a:pt x="2" y="19"/>
                      <a:pt x="2" y="19"/>
                    </a:cubicBezTo>
                    <a:cubicBezTo>
                      <a:pt x="2" y="19"/>
                      <a:pt x="2" y="19"/>
                      <a:pt x="2" y="19"/>
                    </a:cubicBezTo>
                    <a:cubicBezTo>
                      <a:pt x="0" y="23"/>
                      <a:pt x="0" y="23"/>
                      <a:pt x="0" y="23"/>
                    </a:cubicBezTo>
                    <a:cubicBezTo>
                      <a:pt x="0" y="23"/>
                      <a:pt x="0" y="23"/>
                      <a:pt x="0" y="23"/>
                    </a:cubicBezTo>
                    <a:cubicBezTo>
                      <a:pt x="0" y="24"/>
                      <a:pt x="0" y="25"/>
                      <a:pt x="0" y="27"/>
                    </a:cubicBezTo>
                    <a:cubicBezTo>
                      <a:pt x="0" y="31"/>
                      <a:pt x="3" y="36"/>
                      <a:pt x="7" y="38"/>
                    </a:cubicBezTo>
                    <a:cubicBezTo>
                      <a:pt x="7" y="38"/>
                      <a:pt x="7" y="38"/>
                      <a:pt x="7" y="38"/>
                    </a:cubicBezTo>
                    <a:cubicBezTo>
                      <a:pt x="7" y="38"/>
                      <a:pt x="7" y="38"/>
                      <a:pt x="7" y="38"/>
                    </a:cubicBezTo>
                    <a:cubicBezTo>
                      <a:pt x="9" y="39"/>
                      <a:pt x="11" y="40"/>
                      <a:pt x="13" y="40"/>
                    </a:cubicBezTo>
                    <a:cubicBezTo>
                      <a:pt x="19" y="40"/>
                      <a:pt x="24" y="36"/>
                      <a:pt x="25" y="30"/>
                    </a:cubicBezTo>
                    <a:cubicBezTo>
                      <a:pt x="25" y="30"/>
                      <a:pt x="25" y="30"/>
                      <a:pt x="25" y="30"/>
                    </a:cubicBezTo>
                    <a:lnTo>
                      <a:pt x="20"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0" name="Freeform 55">
                <a:extLst>
                  <a:ext uri="{FF2B5EF4-FFF2-40B4-BE49-F238E27FC236}">
                    <a16:creationId xmlns:a16="http://schemas.microsoft.com/office/drawing/2014/main" id="{350A51B9-2EEB-508A-CC85-0FDEA02BAB36}"/>
                  </a:ext>
                </a:extLst>
              </p:cNvPr>
              <p:cNvSpPr>
                <a:spLocks/>
              </p:cNvSpPr>
              <p:nvPr/>
            </p:nvSpPr>
            <p:spPr bwMode="auto">
              <a:xfrm>
                <a:off x="6815019" y="5104921"/>
                <a:ext cx="31916" cy="50001"/>
              </a:xfrm>
              <a:custGeom>
                <a:avLst/>
                <a:gdLst>
                  <a:gd name="T0" fmla="*/ 15 w 21"/>
                  <a:gd name="T1" fmla="*/ 26 h 33"/>
                  <a:gd name="T2" fmla="*/ 1 w 21"/>
                  <a:gd name="T3" fmla="*/ 21 h 33"/>
                  <a:gd name="T4" fmla="*/ 2 w 21"/>
                  <a:gd name="T5" fmla="*/ 20 h 33"/>
                  <a:gd name="T6" fmla="*/ 3 w 21"/>
                  <a:gd name="T7" fmla="*/ 17 h 33"/>
                  <a:gd name="T8" fmla="*/ 5 w 21"/>
                  <a:gd name="T9" fmla="*/ 11 h 33"/>
                  <a:gd name="T10" fmla="*/ 7 w 21"/>
                  <a:gd name="T11" fmla="*/ 7 h 33"/>
                  <a:gd name="T12" fmla="*/ 21 w 21"/>
                  <a:gd name="T13" fmla="*/ 9 h 33"/>
                  <a:gd name="T14" fmla="*/ 21 w 21"/>
                  <a:gd name="T15" fmla="*/ 12 h 33"/>
                  <a:gd name="T16" fmla="*/ 19 w 21"/>
                  <a:gd name="T17" fmla="*/ 17 h 33"/>
                  <a:gd name="T18" fmla="*/ 16 w 21"/>
                  <a:gd name="T19" fmla="*/ 23 h 33"/>
                  <a:gd name="T20" fmla="*/ 15 w 21"/>
                  <a:gd name="T21" fmla="*/ 2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3">
                    <a:moveTo>
                      <a:pt x="15" y="26"/>
                    </a:moveTo>
                    <a:cubicBezTo>
                      <a:pt x="12" y="33"/>
                      <a:pt x="0" y="30"/>
                      <a:pt x="1" y="21"/>
                    </a:cubicBezTo>
                    <a:cubicBezTo>
                      <a:pt x="1" y="21"/>
                      <a:pt x="1" y="20"/>
                      <a:pt x="2" y="20"/>
                    </a:cubicBezTo>
                    <a:cubicBezTo>
                      <a:pt x="3" y="17"/>
                      <a:pt x="3" y="17"/>
                      <a:pt x="3" y="17"/>
                    </a:cubicBezTo>
                    <a:cubicBezTo>
                      <a:pt x="5" y="11"/>
                      <a:pt x="5" y="11"/>
                      <a:pt x="5" y="11"/>
                    </a:cubicBezTo>
                    <a:cubicBezTo>
                      <a:pt x="7" y="7"/>
                      <a:pt x="7" y="7"/>
                      <a:pt x="7" y="7"/>
                    </a:cubicBezTo>
                    <a:cubicBezTo>
                      <a:pt x="10" y="0"/>
                      <a:pt x="21" y="1"/>
                      <a:pt x="21" y="9"/>
                    </a:cubicBezTo>
                    <a:cubicBezTo>
                      <a:pt x="21" y="10"/>
                      <a:pt x="21" y="11"/>
                      <a:pt x="21" y="12"/>
                    </a:cubicBezTo>
                    <a:cubicBezTo>
                      <a:pt x="19" y="17"/>
                      <a:pt x="19" y="17"/>
                      <a:pt x="19" y="17"/>
                    </a:cubicBezTo>
                    <a:cubicBezTo>
                      <a:pt x="16" y="23"/>
                      <a:pt x="16" y="23"/>
                      <a:pt x="16" y="23"/>
                    </a:cubicBezTo>
                    <a:lnTo>
                      <a:pt x="1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1" name="Freeform 56">
                <a:extLst>
                  <a:ext uri="{FF2B5EF4-FFF2-40B4-BE49-F238E27FC236}">
                    <a16:creationId xmlns:a16="http://schemas.microsoft.com/office/drawing/2014/main" id="{D533D8DB-E687-0472-E00E-AB2C62C8B1A7}"/>
                  </a:ext>
                </a:extLst>
              </p:cNvPr>
              <p:cNvSpPr>
                <a:spLocks/>
              </p:cNvSpPr>
              <p:nvPr/>
            </p:nvSpPr>
            <p:spPr bwMode="auto">
              <a:xfrm>
                <a:off x="6807572" y="5098537"/>
                <a:ext cx="47874" cy="60640"/>
              </a:xfrm>
              <a:custGeom>
                <a:avLst/>
                <a:gdLst>
                  <a:gd name="T0" fmla="*/ 15 w 32"/>
                  <a:gd name="T1" fmla="*/ 27 h 40"/>
                  <a:gd name="T2" fmla="*/ 13 w 32"/>
                  <a:gd name="T3" fmla="*/ 28 h 40"/>
                  <a:gd name="T4" fmla="*/ 12 w 32"/>
                  <a:gd name="T5" fmla="*/ 27 h 40"/>
                  <a:gd name="T6" fmla="*/ 6 w 32"/>
                  <a:gd name="T7" fmla="*/ 25 h 40"/>
                  <a:gd name="T8" fmla="*/ 12 w 32"/>
                  <a:gd name="T9" fmla="*/ 26 h 40"/>
                  <a:gd name="T10" fmla="*/ 12 w 32"/>
                  <a:gd name="T11" fmla="*/ 26 h 40"/>
                  <a:gd name="T12" fmla="*/ 16 w 32"/>
                  <a:gd name="T13" fmla="*/ 18 h 40"/>
                  <a:gd name="T14" fmla="*/ 18 w 32"/>
                  <a:gd name="T15" fmla="*/ 13 h 40"/>
                  <a:gd name="T16" fmla="*/ 19 w 32"/>
                  <a:gd name="T17" fmla="*/ 12 h 40"/>
                  <a:gd name="T18" fmla="*/ 20 w 32"/>
                  <a:gd name="T19" fmla="*/ 13 h 40"/>
                  <a:gd name="T20" fmla="*/ 20 w 32"/>
                  <a:gd name="T21" fmla="*/ 13 h 40"/>
                  <a:gd name="T22" fmla="*/ 20 w 32"/>
                  <a:gd name="T23" fmla="*/ 14 h 40"/>
                  <a:gd name="T24" fmla="*/ 18 w 32"/>
                  <a:gd name="T25" fmla="*/ 19 h 40"/>
                  <a:gd name="T26" fmla="*/ 18 w 32"/>
                  <a:gd name="T27" fmla="*/ 19 h 40"/>
                  <a:gd name="T28" fmla="*/ 16 w 32"/>
                  <a:gd name="T29" fmla="*/ 24 h 40"/>
                  <a:gd name="T30" fmla="*/ 15 w 32"/>
                  <a:gd name="T31" fmla="*/ 27 h 40"/>
                  <a:gd name="T32" fmla="*/ 25 w 32"/>
                  <a:gd name="T33" fmla="*/ 32 h 40"/>
                  <a:gd name="T34" fmla="*/ 29 w 32"/>
                  <a:gd name="T35" fmla="*/ 23 h 40"/>
                  <a:gd name="T36" fmla="*/ 31 w 32"/>
                  <a:gd name="T37" fmla="*/ 18 h 40"/>
                  <a:gd name="T38" fmla="*/ 32 w 32"/>
                  <a:gd name="T39" fmla="*/ 13 h 40"/>
                  <a:gd name="T40" fmla="*/ 32 w 32"/>
                  <a:gd name="T41" fmla="*/ 13 h 40"/>
                  <a:gd name="T42" fmla="*/ 19 w 32"/>
                  <a:gd name="T43" fmla="*/ 0 h 40"/>
                  <a:gd name="T44" fmla="*/ 7 w 32"/>
                  <a:gd name="T45" fmla="*/ 9 h 40"/>
                  <a:gd name="T46" fmla="*/ 7 w 32"/>
                  <a:gd name="T47" fmla="*/ 8 h 40"/>
                  <a:gd name="T48" fmla="*/ 5 w 32"/>
                  <a:gd name="T49" fmla="*/ 13 h 40"/>
                  <a:gd name="T50" fmla="*/ 8 w 32"/>
                  <a:gd name="T51" fmla="*/ 21 h 40"/>
                  <a:gd name="T52" fmla="*/ 1 w 32"/>
                  <a:gd name="T53" fmla="*/ 22 h 40"/>
                  <a:gd name="T54" fmla="*/ 1 w 32"/>
                  <a:gd name="T55" fmla="*/ 22 h 40"/>
                  <a:gd name="T56" fmla="*/ 0 w 32"/>
                  <a:gd name="T57" fmla="*/ 24 h 40"/>
                  <a:gd name="T58" fmla="*/ 0 w 32"/>
                  <a:gd name="T59" fmla="*/ 27 h 40"/>
                  <a:gd name="T60" fmla="*/ 13 w 32"/>
                  <a:gd name="T61" fmla="*/ 40 h 40"/>
                  <a:gd name="T62" fmla="*/ 25 w 32"/>
                  <a:gd name="T63" fmla="*/ 32 h 40"/>
                  <a:gd name="T64" fmla="*/ 20 w 32"/>
                  <a:gd name="T65"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40">
                    <a:moveTo>
                      <a:pt x="20" y="30"/>
                    </a:moveTo>
                    <a:cubicBezTo>
                      <a:pt x="15" y="27"/>
                      <a:pt x="15" y="27"/>
                      <a:pt x="15" y="27"/>
                    </a:cubicBezTo>
                    <a:cubicBezTo>
                      <a:pt x="14" y="28"/>
                      <a:pt x="14" y="28"/>
                      <a:pt x="14" y="28"/>
                    </a:cubicBezTo>
                    <a:cubicBezTo>
                      <a:pt x="13" y="28"/>
                      <a:pt x="13" y="28"/>
                      <a:pt x="13" y="28"/>
                    </a:cubicBezTo>
                    <a:cubicBezTo>
                      <a:pt x="13" y="28"/>
                      <a:pt x="13" y="28"/>
                      <a:pt x="12" y="28"/>
                    </a:cubicBezTo>
                    <a:cubicBezTo>
                      <a:pt x="12" y="27"/>
                      <a:pt x="12" y="27"/>
                      <a:pt x="12" y="27"/>
                    </a:cubicBezTo>
                    <a:cubicBezTo>
                      <a:pt x="12" y="26"/>
                      <a:pt x="12" y="26"/>
                      <a:pt x="12" y="26"/>
                    </a:cubicBezTo>
                    <a:cubicBezTo>
                      <a:pt x="6" y="25"/>
                      <a:pt x="6" y="25"/>
                      <a:pt x="6" y="25"/>
                    </a:cubicBezTo>
                    <a:cubicBezTo>
                      <a:pt x="12" y="26"/>
                      <a:pt x="12" y="26"/>
                      <a:pt x="12" y="26"/>
                    </a:cubicBezTo>
                    <a:cubicBezTo>
                      <a:pt x="12" y="26"/>
                      <a:pt x="12" y="26"/>
                      <a:pt x="12" y="26"/>
                    </a:cubicBezTo>
                    <a:cubicBezTo>
                      <a:pt x="7" y="24"/>
                      <a:pt x="7" y="24"/>
                      <a:pt x="7" y="24"/>
                    </a:cubicBezTo>
                    <a:cubicBezTo>
                      <a:pt x="12" y="26"/>
                      <a:pt x="12" y="26"/>
                      <a:pt x="12" y="26"/>
                    </a:cubicBezTo>
                    <a:cubicBezTo>
                      <a:pt x="13" y="23"/>
                      <a:pt x="13" y="23"/>
                      <a:pt x="13" y="23"/>
                    </a:cubicBezTo>
                    <a:cubicBezTo>
                      <a:pt x="16" y="18"/>
                      <a:pt x="16" y="18"/>
                      <a:pt x="16" y="18"/>
                    </a:cubicBezTo>
                    <a:cubicBezTo>
                      <a:pt x="18" y="13"/>
                      <a:pt x="18" y="13"/>
                      <a:pt x="18" y="13"/>
                    </a:cubicBezTo>
                    <a:cubicBezTo>
                      <a:pt x="18" y="13"/>
                      <a:pt x="18" y="13"/>
                      <a:pt x="18" y="13"/>
                    </a:cubicBezTo>
                    <a:cubicBezTo>
                      <a:pt x="18" y="12"/>
                      <a:pt x="18" y="12"/>
                      <a:pt x="18" y="12"/>
                    </a:cubicBezTo>
                    <a:cubicBezTo>
                      <a:pt x="19" y="12"/>
                      <a:pt x="19" y="12"/>
                      <a:pt x="19" y="12"/>
                    </a:cubicBezTo>
                    <a:cubicBezTo>
                      <a:pt x="19" y="12"/>
                      <a:pt x="20" y="12"/>
                      <a:pt x="20" y="12"/>
                    </a:cubicBezTo>
                    <a:cubicBezTo>
                      <a:pt x="20" y="13"/>
                      <a:pt x="20" y="13"/>
                      <a:pt x="20" y="13"/>
                    </a:cubicBezTo>
                    <a:cubicBezTo>
                      <a:pt x="26" y="13"/>
                      <a:pt x="26" y="13"/>
                      <a:pt x="26" y="13"/>
                    </a:cubicBezTo>
                    <a:cubicBezTo>
                      <a:pt x="20" y="13"/>
                      <a:pt x="20" y="13"/>
                      <a:pt x="20" y="13"/>
                    </a:cubicBezTo>
                    <a:cubicBezTo>
                      <a:pt x="20" y="13"/>
                      <a:pt x="20" y="13"/>
                      <a:pt x="20" y="13"/>
                    </a:cubicBezTo>
                    <a:cubicBezTo>
                      <a:pt x="20" y="14"/>
                      <a:pt x="20" y="14"/>
                      <a:pt x="20" y="14"/>
                    </a:cubicBezTo>
                    <a:cubicBezTo>
                      <a:pt x="20" y="14"/>
                      <a:pt x="20" y="14"/>
                      <a:pt x="20" y="14"/>
                    </a:cubicBezTo>
                    <a:cubicBezTo>
                      <a:pt x="18" y="19"/>
                      <a:pt x="18" y="19"/>
                      <a:pt x="18" y="19"/>
                    </a:cubicBezTo>
                    <a:cubicBezTo>
                      <a:pt x="24" y="21"/>
                      <a:pt x="24" y="21"/>
                      <a:pt x="24" y="21"/>
                    </a:cubicBezTo>
                    <a:cubicBezTo>
                      <a:pt x="18" y="19"/>
                      <a:pt x="18" y="19"/>
                      <a:pt x="18" y="19"/>
                    </a:cubicBezTo>
                    <a:cubicBezTo>
                      <a:pt x="16" y="24"/>
                      <a:pt x="16" y="24"/>
                      <a:pt x="16" y="24"/>
                    </a:cubicBezTo>
                    <a:cubicBezTo>
                      <a:pt x="16" y="24"/>
                      <a:pt x="16" y="24"/>
                      <a:pt x="16" y="24"/>
                    </a:cubicBezTo>
                    <a:cubicBezTo>
                      <a:pt x="15" y="27"/>
                      <a:pt x="15" y="27"/>
                      <a:pt x="15" y="27"/>
                    </a:cubicBezTo>
                    <a:cubicBezTo>
                      <a:pt x="15" y="27"/>
                      <a:pt x="15" y="27"/>
                      <a:pt x="15" y="27"/>
                    </a:cubicBezTo>
                    <a:cubicBezTo>
                      <a:pt x="20" y="30"/>
                      <a:pt x="20" y="30"/>
                      <a:pt x="20" y="30"/>
                    </a:cubicBezTo>
                    <a:cubicBezTo>
                      <a:pt x="25" y="32"/>
                      <a:pt x="25" y="32"/>
                      <a:pt x="25" y="32"/>
                    </a:cubicBezTo>
                    <a:cubicBezTo>
                      <a:pt x="27" y="29"/>
                      <a:pt x="27" y="29"/>
                      <a:pt x="27" y="29"/>
                    </a:cubicBezTo>
                    <a:cubicBezTo>
                      <a:pt x="29" y="23"/>
                      <a:pt x="29" y="23"/>
                      <a:pt x="29" y="23"/>
                    </a:cubicBezTo>
                    <a:cubicBezTo>
                      <a:pt x="31" y="18"/>
                      <a:pt x="31" y="18"/>
                      <a:pt x="31" y="18"/>
                    </a:cubicBezTo>
                    <a:cubicBezTo>
                      <a:pt x="31" y="18"/>
                      <a:pt x="31" y="18"/>
                      <a:pt x="31" y="18"/>
                    </a:cubicBezTo>
                    <a:cubicBezTo>
                      <a:pt x="32" y="17"/>
                      <a:pt x="32" y="15"/>
                      <a:pt x="32" y="13"/>
                    </a:cubicBezTo>
                    <a:cubicBezTo>
                      <a:pt x="32" y="13"/>
                      <a:pt x="32" y="13"/>
                      <a:pt x="32" y="13"/>
                    </a:cubicBezTo>
                    <a:cubicBezTo>
                      <a:pt x="32" y="13"/>
                      <a:pt x="32" y="13"/>
                      <a:pt x="32" y="13"/>
                    </a:cubicBezTo>
                    <a:cubicBezTo>
                      <a:pt x="32" y="13"/>
                      <a:pt x="32" y="13"/>
                      <a:pt x="32" y="13"/>
                    </a:cubicBezTo>
                    <a:cubicBezTo>
                      <a:pt x="32" y="9"/>
                      <a:pt x="30" y="6"/>
                      <a:pt x="27" y="4"/>
                    </a:cubicBezTo>
                    <a:cubicBezTo>
                      <a:pt x="25" y="1"/>
                      <a:pt x="22" y="0"/>
                      <a:pt x="19" y="0"/>
                    </a:cubicBezTo>
                    <a:cubicBezTo>
                      <a:pt x="16" y="0"/>
                      <a:pt x="14" y="1"/>
                      <a:pt x="12" y="2"/>
                    </a:cubicBezTo>
                    <a:cubicBezTo>
                      <a:pt x="10" y="4"/>
                      <a:pt x="8" y="6"/>
                      <a:pt x="7" y="9"/>
                    </a:cubicBezTo>
                    <a:cubicBezTo>
                      <a:pt x="12" y="11"/>
                      <a:pt x="12" y="11"/>
                      <a:pt x="12" y="11"/>
                    </a:cubicBezTo>
                    <a:cubicBezTo>
                      <a:pt x="7" y="8"/>
                      <a:pt x="7" y="8"/>
                      <a:pt x="7" y="8"/>
                    </a:cubicBezTo>
                    <a:cubicBezTo>
                      <a:pt x="5" y="13"/>
                      <a:pt x="5" y="13"/>
                      <a:pt x="5" y="13"/>
                    </a:cubicBezTo>
                    <a:cubicBezTo>
                      <a:pt x="5" y="13"/>
                      <a:pt x="5" y="13"/>
                      <a:pt x="5" y="13"/>
                    </a:cubicBezTo>
                    <a:cubicBezTo>
                      <a:pt x="2" y="19"/>
                      <a:pt x="2" y="19"/>
                      <a:pt x="2" y="19"/>
                    </a:cubicBezTo>
                    <a:cubicBezTo>
                      <a:pt x="8" y="21"/>
                      <a:pt x="8" y="21"/>
                      <a:pt x="8" y="21"/>
                    </a:cubicBezTo>
                    <a:cubicBezTo>
                      <a:pt x="2" y="19"/>
                      <a:pt x="2" y="19"/>
                      <a:pt x="2" y="19"/>
                    </a:cubicBezTo>
                    <a:cubicBezTo>
                      <a:pt x="1" y="22"/>
                      <a:pt x="1" y="22"/>
                      <a:pt x="1" y="22"/>
                    </a:cubicBezTo>
                    <a:cubicBezTo>
                      <a:pt x="1" y="22"/>
                      <a:pt x="1" y="22"/>
                      <a:pt x="1" y="22"/>
                    </a:cubicBezTo>
                    <a:cubicBezTo>
                      <a:pt x="1" y="22"/>
                      <a:pt x="1" y="22"/>
                      <a:pt x="1" y="22"/>
                    </a:cubicBezTo>
                    <a:cubicBezTo>
                      <a:pt x="1" y="22"/>
                      <a:pt x="1" y="23"/>
                      <a:pt x="0" y="24"/>
                    </a:cubicBezTo>
                    <a:cubicBezTo>
                      <a:pt x="0" y="24"/>
                      <a:pt x="0" y="24"/>
                      <a:pt x="0" y="24"/>
                    </a:cubicBezTo>
                    <a:cubicBezTo>
                      <a:pt x="0" y="24"/>
                      <a:pt x="0" y="24"/>
                      <a:pt x="0" y="24"/>
                    </a:cubicBezTo>
                    <a:cubicBezTo>
                      <a:pt x="0" y="25"/>
                      <a:pt x="0" y="26"/>
                      <a:pt x="0" y="27"/>
                    </a:cubicBezTo>
                    <a:cubicBezTo>
                      <a:pt x="0" y="31"/>
                      <a:pt x="2" y="34"/>
                      <a:pt x="4" y="36"/>
                    </a:cubicBezTo>
                    <a:cubicBezTo>
                      <a:pt x="7" y="39"/>
                      <a:pt x="10" y="40"/>
                      <a:pt x="13" y="40"/>
                    </a:cubicBezTo>
                    <a:cubicBezTo>
                      <a:pt x="16" y="40"/>
                      <a:pt x="18" y="39"/>
                      <a:pt x="20" y="38"/>
                    </a:cubicBezTo>
                    <a:cubicBezTo>
                      <a:pt x="22" y="36"/>
                      <a:pt x="24" y="34"/>
                      <a:pt x="25" y="32"/>
                    </a:cubicBezTo>
                    <a:cubicBezTo>
                      <a:pt x="25" y="32"/>
                      <a:pt x="25" y="32"/>
                      <a:pt x="25" y="32"/>
                    </a:cubicBezTo>
                    <a:lnTo>
                      <a:pt x="2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2" name="Freeform 57">
                <a:extLst>
                  <a:ext uri="{FF2B5EF4-FFF2-40B4-BE49-F238E27FC236}">
                    <a16:creationId xmlns:a16="http://schemas.microsoft.com/office/drawing/2014/main" id="{21E8B555-0DA0-2B8D-D262-524239721DB0}"/>
                  </a:ext>
                </a:extLst>
              </p:cNvPr>
              <p:cNvSpPr>
                <a:spLocks/>
              </p:cNvSpPr>
              <p:nvPr/>
            </p:nvSpPr>
            <p:spPr bwMode="auto">
              <a:xfrm>
                <a:off x="6757571" y="5220881"/>
                <a:ext cx="34043" cy="50001"/>
              </a:xfrm>
              <a:custGeom>
                <a:avLst/>
                <a:gdLst>
                  <a:gd name="T0" fmla="*/ 14 w 23"/>
                  <a:gd name="T1" fmla="*/ 27 h 33"/>
                  <a:gd name="T2" fmla="*/ 1 w 23"/>
                  <a:gd name="T3" fmla="*/ 22 h 33"/>
                  <a:gd name="T4" fmla="*/ 1 w 23"/>
                  <a:gd name="T5" fmla="*/ 19 h 33"/>
                  <a:gd name="T6" fmla="*/ 2 w 23"/>
                  <a:gd name="T7" fmla="*/ 18 h 33"/>
                  <a:gd name="T8" fmla="*/ 5 w 23"/>
                  <a:gd name="T9" fmla="*/ 12 h 33"/>
                  <a:gd name="T10" fmla="*/ 8 w 23"/>
                  <a:gd name="T11" fmla="*/ 7 h 33"/>
                  <a:gd name="T12" fmla="*/ 22 w 23"/>
                  <a:gd name="T13" fmla="*/ 12 h 33"/>
                  <a:gd name="T14" fmla="*/ 21 w 23"/>
                  <a:gd name="T15" fmla="*/ 14 h 33"/>
                  <a:gd name="T16" fmla="*/ 18 w 23"/>
                  <a:gd name="T17" fmla="*/ 19 h 33"/>
                  <a:gd name="T18" fmla="*/ 15 w 23"/>
                  <a:gd name="T19" fmla="*/ 25 h 33"/>
                  <a:gd name="T20" fmla="*/ 14 w 23"/>
                  <a:gd name="T21" fmla="*/ 27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33">
                    <a:moveTo>
                      <a:pt x="14" y="27"/>
                    </a:moveTo>
                    <a:cubicBezTo>
                      <a:pt x="10" y="33"/>
                      <a:pt x="0" y="30"/>
                      <a:pt x="1" y="22"/>
                    </a:cubicBezTo>
                    <a:cubicBezTo>
                      <a:pt x="1" y="21"/>
                      <a:pt x="1" y="20"/>
                      <a:pt x="1" y="19"/>
                    </a:cubicBezTo>
                    <a:cubicBezTo>
                      <a:pt x="2" y="18"/>
                      <a:pt x="2" y="18"/>
                      <a:pt x="2" y="18"/>
                    </a:cubicBezTo>
                    <a:cubicBezTo>
                      <a:pt x="5" y="12"/>
                      <a:pt x="5" y="12"/>
                      <a:pt x="5" y="12"/>
                    </a:cubicBezTo>
                    <a:cubicBezTo>
                      <a:pt x="8" y="7"/>
                      <a:pt x="8" y="7"/>
                      <a:pt x="8" y="7"/>
                    </a:cubicBezTo>
                    <a:cubicBezTo>
                      <a:pt x="12" y="0"/>
                      <a:pt x="23" y="4"/>
                      <a:pt x="22" y="12"/>
                    </a:cubicBezTo>
                    <a:cubicBezTo>
                      <a:pt x="22" y="13"/>
                      <a:pt x="22" y="13"/>
                      <a:pt x="21" y="14"/>
                    </a:cubicBezTo>
                    <a:cubicBezTo>
                      <a:pt x="18" y="19"/>
                      <a:pt x="18" y="19"/>
                      <a:pt x="18" y="19"/>
                    </a:cubicBezTo>
                    <a:cubicBezTo>
                      <a:pt x="15" y="25"/>
                      <a:pt x="15" y="25"/>
                      <a:pt x="15" y="25"/>
                    </a:cubicBezTo>
                    <a:lnTo>
                      <a:pt x="1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3" name="Freeform 58">
                <a:extLst>
                  <a:ext uri="{FF2B5EF4-FFF2-40B4-BE49-F238E27FC236}">
                    <a16:creationId xmlns:a16="http://schemas.microsoft.com/office/drawing/2014/main" id="{DA520FD7-EC20-7134-3434-C938B845B814}"/>
                  </a:ext>
                </a:extLst>
              </p:cNvPr>
              <p:cNvSpPr>
                <a:spLocks/>
              </p:cNvSpPr>
              <p:nvPr/>
            </p:nvSpPr>
            <p:spPr bwMode="auto">
              <a:xfrm>
                <a:off x="6750124" y="5216625"/>
                <a:ext cx="50001" cy="58512"/>
              </a:xfrm>
              <a:custGeom>
                <a:avLst/>
                <a:gdLst>
                  <a:gd name="T0" fmla="*/ 19 w 33"/>
                  <a:gd name="T1" fmla="*/ 30 h 39"/>
                  <a:gd name="T2" fmla="*/ 14 w 33"/>
                  <a:gd name="T3" fmla="*/ 27 h 39"/>
                  <a:gd name="T4" fmla="*/ 13 w 33"/>
                  <a:gd name="T5" fmla="*/ 27 h 39"/>
                  <a:gd name="T6" fmla="*/ 13 w 33"/>
                  <a:gd name="T7" fmla="*/ 27 h 39"/>
                  <a:gd name="T8" fmla="*/ 12 w 33"/>
                  <a:gd name="T9" fmla="*/ 27 h 39"/>
                  <a:gd name="T10" fmla="*/ 11 w 33"/>
                  <a:gd name="T11" fmla="*/ 26 h 39"/>
                  <a:gd name="T12" fmla="*/ 11 w 33"/>
                  <a:gd name="T13" fmla="*/ 26 h 39"/>
                  <a:gd name="T14" fmla="*/ 6 w 33"/>
                  <a:gd name="T15" fmla="*/ 25 h 39"/>
                  <a:gd name="T16" fmla="*/ 11 w 33"/>
                  <a:gd name="T17" fmla="*/ 26 h 39"/>
                  <a:gd name="T18" fmla="*/ 12 w 33"/>
                  <a:gd name="T19" fmla="*/ 25 h 39"/>
                  <a:gd name="T20" fmla="*/ 6 w 33"/>
                  <a:gd name="T21" fmla="*/ 22 h 39"/>
                  <a:gd name="T22" fmla="*/ 12 w 33"/>
                  <a:gd name="T23" fmla="*/ 25 h 39"/>
                  <a:gd name="T24" fmla="*/ 12 w 33"/>
                  <a:gd name="T25" fmla="*/ 24 h 39"/>
                  <a:gd name="T26" fmla="*/ 13 w 33"/>
                  <a:gd name="T27" fmla="*/ 24 h 39"/>
                  <a:gd name="T28" fmla="*/ 16 w 33"/>
                  <a:gd name="T29" fmla="*/ 18 h 39"/>
                  <a:gd name="T30" fmla="*/ 19 w 33"/>
                  <a:gd name="T31" fmla="*/ 13 h 39"/>
                  <a:gd name="T32" fmla="*/ 19 w 33"/>
                  <a:gd name="T33" fmla="*/ 13 h 39"/>
                  <a:gd name="T34" fmla="*/ 19 w 33"/>
                  <a:gd name="T35" fmla="*/ 12 h 39"/>
                  <a:gd name="T36" fmla="*/ 20 w 33"/>
                  <a:gd name="T37" fmla="*/ 12 h 39"/>
                  <a:gd name="T38" fmla="*/ 21 w 33"/>
                  <a:gd name="T39" fmla="*/ 13 h 39"/>
                  <a:gd name="T40" fmla="*/ 21 w 33"/>
                  <a:gd name="T41" fmla="*/ 13 h 39"/>
                  <a:gd name="T42" fmla="*/ 21 w 33"/>
                  <a:gd name="T43" fmla="*/ 14 h 39"/>
                  <a:gd name="T44" fmla="*/ 27 w 33"/>
                  <a:gd name="T45" fmla="*/ 15 h 39"/>
                  <a:gd name="T46" fmla="*/ 21 w 33"/>
                  <a:gd name="T47" fmla="*/ 13 h 39"/>
                  <a:gd name="T48" fmla="*/ 21 w 33"/>
                  <a:gd name="T49" fmla="*/ 14 h 39"/>
                  <a:gd name="T50" fmla="*/ 21 w 33"/>
                  <a:gd name="T51" fmla="*/ 14 h 39"/>
                  <a:gd name="T52" fmla="*/ 18 w 33"/>
                  <a:gd name="T53" fmla="*/ 20 h 39"/>
                  <a:gd name="T54" fmla="*/ 15 w 33"/>
                  <a:gd name="T55" fmla="*/ 25 h 39"/>
                  <a:gd name="T56" fmla="*/ 15 w 33"/>
                  <a:gd name="T57" fmla="*/ 25 h 39"/>
                  <a:gd name="T58" fmla="*/ 14 w 33"/>
                  <a:gd name="T59" fmla="*/ 27 h 39"/>
                  <a:gd name="T60" fmla="*/ 14 w 33"/>
                  <a:gd name="T61" fmla="*/ 27 h 39"/>
                  <a:gd name="T62" fmla="*/ 19 w 33"/>
                  <a:gd name="T63" fmla="*/ 30 h 39"/>
                  <a:gd name="T64" fmla="*/ 24 w 33"/>
                  <a:gd name="T65" fmla="*/ 32 h 39"/>
                  <a:gd name="T66" fmla="*/ 25 w 33"/>
                  <a:gd name="T67" fmla="*/ 31 h 39"/>
                  <a:gd name="T68" fmla="*/ 28 w 33"/>
                  <a:gd name="T69" fmla="*/ 25 h 39"/>
                  <a:gd name="T70" fmla="*/ 31 w 33"/>
                  <a:gd name="T71" fmla="*/ 20 h 39"/>
                  <a:gd name="T72" fmla="*/ 31 w 33"/>
                  <a:gd name="T73" fmla="*/ 20 h 39"/>
                  <a:gd name="T74" fmla="*/ 33 w 33"/>
                  <a:gd name="T75" fmla="*/ 16 h 39"/>
                  <a:gd name="T76" fmla="*/ 33 w 33"/>
                  <a:gd name="T77" fmla="*/ 16 h 39"/>
                  <a:gd name="T78" fmla="*/ 33 w 33"/>
                  <a:gd name="T79" fmla="*/ 16 h 39"/>
                  <a:gd name="T80" fmla="*/ 33 w 33"/>
                  <a:gd name="T81" fmla="*/ 13 h 39"/>
                  <a:gd name="T82" fmla="*/ 29 w 33"/>
                  <a:gd name="T83" fmla="*/ 4 h 39"/>
                  <a:gd name="T84" fmla="*/ 20 w 33"/>
                  <a:gd name="T85" fmla="*/ 0 h 39"/>
                  <a:gd name="T86" fmla="*/ 13 w 33"/>
                  <a:gd name="T87" fmla="*/ 2 h 39"/>
                  <a:gd name="T88" fmla="*/ 8 w 33"/>
                  <a:gd name="T89" fmla="*/ 7 h 39"/>
                  <a:gd name="T90" fmla="*/ 8 w 33"/>
                  <a:gd name="T91" fmla="*/ 7 h 39"/>
                  <a:gd name="T92" fmla="*/ 5 w 33"/>
                  <a:gd name="T93" fmla="*/ 13 h 39"/>
                  <a:gd name="T94" fmla="*/ 2 w 33"/>
                  <a:gd name="T95" fmla="*/ 18 h 39"/>
                  <a:gd name="T96" fmla="*/ 2 w 33"/>
                  <a:gd name="T97" fmla="*/ 18 h 39"/>
                  <a:gd name="T98" fmla="*/ 1 w 33"/>
                  <a:gd name="T99" fmla="*/ 19 h 39"/>
                  <a:gd name="T100" fmla="*/ 1 w 33"/>
                  <a:gd name="T101" fmla="*/ 20 h 39"/>
                  <a:gd name="T102" fmla="*/ 1 w 33"/>
                  <a:gd name="T103" fmla="*/ 20 h 39"/>
                  <a:gd name="T104" fmla="*/ 0 w 33"/>
                  <a:gd name="T105" fmla="*/ 25 h 39"/>
                  <a:gd name="T106" fmla="*/ 0 w 33"/>
                  <a:gd name="T107" fmla="*/ 25 h 39"/>
                  <a:gd name="T108" fmla="*/ 0 w 33"/>
                  <a:gd name="T109" fmla="*/ 25 h 39"/>
                  <a:gd name="T110" fmla="*/ 0 w 33"/>
                  <a:gd name="T111" fmla="*/ 26 h 39"/>
                  <a:gd name="T112" fmla="*/ 4 w 33"/>
                  <a:gd name="T113" fmla="*/ 36 h 39"/>
                  <a:gd name="T114" fmla="*/ 13 w 33"/>
                  <a:gd name="T115" fmla="*/ 39 h 39"/>
                  <a:gd name="T116" fmla="*/ 19 w 33"/>
                  <a:gd name="T117" fmla="*/ 37 h 39"/>
                  <a:gd name="T118" fmla="*/ 24 w 33"/>
                  <a:gd name="T119" fmla="*/ 32 h 39"/>
                  <a:gd name="T120" fmla="*/ 24 w 33"/>
                  <a:gd name="T121" fmla="*/ 32 h 39"/>
                  <a:gd name="T122" fmla="*/ 19 w 33"/>
                  <a:gd name="T123" fmla="*/ 3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 h="39">
                    <a:moveTo>
                      <a:pt x="19" y="30"/>
                    </a:moveTo>
                    <a:cubicBezTo>
                      <a:pt x="14" y="27"/>
                      <a:pt x="14" y="27"/>
                      <a:pt x="14" y="27"/>
                    </a:cubicBezTo>
                    <a:cubicBezTo>
                      <a:pt x="13" y="27"/>
                      <a:pt x="13" y="27"/>
                      <a:pt x="13" y="27"/>
                    </a:cubicBezTo>
                    <a:cubicBezTo>
                      <a:pt x="13" y="27"/>
                      <a:pt x="13" y="27"/>
                      <a:pt x="13" y="27"/>
                    </a:cubicBezTo>
                    <a:cubicBezTo>
                      <a:pt x="12" y="27"/>
                      <a:pt x="12" y="27"/>
                      <a:pt x="12" y="27"/>
                    </a:cubicBezTo>
                    <a:cubicBezTo>
                      <a:pt x="12" y="27"/>
                      <a:pt x="11" y="27"/>
                      <a:pt x="11" y="26"/>
                    </a:cubicBezTo>
                    <a:cubicBezTo>
                      <a:pt x="11" y="26"/>
                      <a:pt x="11" y="26"/>
                      <a:pt x="11" y="26"/>
                    </a:cubicBezTo>
                    <a:cubicBezTo>
                      <a:pt x="6" y="25"/>
                      <a:pt x="6" y="25"/>
                      <a:pt x="6" y="25"/>
                    </a:cubicBezTo>
                    <a:cubicBezTo>
                      <a:pt x="11" y="26"/>
                      <a:pt x="11" y="26"/>
                      <a:pt x="11" y="26"/>
                    </a:cubicBezTo>
                    <a:cubicBezTo>
                      <a:pt x="12" y="25"/>
                      <a:pt x="11" y="26"/>
                      <a:pt x="12" y="25"/>
                    </a:cubicBezTo>
                    <a:cubicBezTo>
                      <a:pt x="6" y="22"/>
                      <a:pt x="6" y="22"/>
                      <a:pt x="6" y="22"/>
                    </a:cubicBezTo>
                    <a:cubicBezTo>
                      <a:pt x="12" y="25"/>
                      <a:pt x="12" y="25"/>
                      <a:pt x="12" y="25"/>
                    </a:cubicBezTo>
                    <a:cubicBezTo>
                      <a:pt x="12" y="24"/>
                      <a:pt x="12" y="24"/>
                      <a:pt x="12" y="24"/>
                    </a:cubicBezTo>
                    <a:cubicBezTo>
                      <a:pt x="13" y="24"/>
                      <a:pt x="13" y="24"/>
                      <a:pt x="13" y="24"/>
                    </a:cubicBezTo>
                    <a:cubicBezTo>
                      <a:pt x="16" y="18"/>
                      <a:pt x="16" y="18"/>
                      <a:pt x="16" y="18"/>
                    </a:cubicBezTo>
                    <a:cubicBezTo>
                      <a:pt x="19" y="13"/>
                      <a:pt x="19" y="13"/>
                      <a:pt x="19" y="13"/>
                    </a:cubicBezTo>
                    <a:cubicBezTo>
                      <a:pt x="19" y="13"/>
                      <a:pt x="19" y="13"/>
                      <a:pt x="19" y="13"/>
                    </a:cubicBezTo>
                    <a:cubicBezTo>
                      <a:pt x="19" y="12"/>
                      <a:pt x="19" y="12"/>
                      <a:pt x="19" y="12"/>
                    </a:cubicBezTo>
                    <a:cubicBezTo>
                      <a:pt x="20" y="12"/>
                      <a:pt x="20" y="12"/>
                      <a:pt x="20" y="12"/>
                    </a:cubicBezTo>
                    <a:cubicBezTo>
                      <a:pt x="20" y="12"/>
                      <a:pt x="21" y="12"/>
                      <a:pt x="21" y="13"/>
                    </a:cubicBezTo>
                    <a:cubicBezTo>
                      <a:pt x="21" y="13"/>
                      <a:pt x="21" y="13"/>
                      <a:pt x="21" y="13"/>
                    </a:cubicBezTo>
                    <a:cubicBezTo>
                      <a:pt x="21" y="14"/>
                      <a:pt x="21" y="14"/>
                      <a:pt x="21" y="14"/>
                    </a:cubicBezTo>
                    <a:cubicBezTo>
                      <a:pt x="27" y="15"/>
                      <a:pt x="27" y="15"/>
                      <a:pt x="27" y="15"/>
                    </a:cubicBezTo>
                    <a:cubicBezTo>
                      <a:pt x="21" y="13"/>
                      <a:pt x="21" y="13"/>
                      <a:pt x="21" y="13"/>
                    </a:cubicBezTo>
                    <a:cubicBezTo>
                      <a:pt x="21" y="14"/>
                      <a:pt x="21" y="14"/>
                      <a:pt x="21" y="14"/>
                    </a:cubicBezTo>
                    <a:cubicBezTo>
                      <a:pt x="21" y="14"/>
                      <a:pt x="21" y="14"/>
                      <a:pt x="21" y="14"/>
                    </a:cubicBezTo>
                    <a:cubicBezTo>
                      <a:pt x="18" y="20"/>
                      <a:pt x="18" y="20"/>
                      <a:pt x="18" y="20"/>
                    </a:cubicBezTo>
                    <a:cubicBezTo>
                      <a:pt x="15" y="25"/>
                      <a:pt x="15" y="25"/>
                      <a:pt x="15" y="25"/>
                    </a:cubicBezTo>
                    <a:cubicBezTo>
                      <a:pt x="15" y="25"/>
                      <a:pt x="15" y="25"/>
                      <a:pt x="15" y="25"/>
                    </a:cubicBezTo>
                    <a:cubicBezTo>
                      <a:pt x="14" y="27"/>
                      <a:pt x="14" y="27"/>
                      <a:pt x="14" y="27"/>
                    </a:cubicBezTo>
                    <a:cubicBezTo>
                      <a:pt x="14" y="27"/>
                      <a:pt x="14" y="27"/>
                      <a:pt x="14" y="27"/>
                    </a:cubicBezTo>
                    <a:cubicBezTo>
                      <a:pt x="19" y="30"/>
                      <a:pt x="19" y="30"/>
                      <a:pt x="19" y="30"/>
                    </a:cubicBezTo>
                    <a:cubicBezTo>
                      <a:pt x="24" y="32"/>
                      <a:pt x="24" y="32"/>
                      <a:pt x="24" y="32"/>
                    </a:cubicBezTo>
                    <a:cubicBezTo>
                      <a:pt x="25" y="31"/>
                      <a:pt x="25" y="31"/>
                      <a:pt x="25" y="31"/>
                    </a:cubicBezTo>
                    <a:cubicBezTo>
                      <a:pt x="28" y="25"/>
                      <a:pt x="28" y="25"/>
                      <a:pt x="28" y="25"/>
                    </a:cubicBezTo>
                    <a:cubicBezTo>
                      <a:pt x="31" y="20"/>
                      <a:pt x="31" y="20"/>
                      <a:pt x="31" y="20"/>
                    </a:cubicBezTo>
                    <a:cubicBezTo>
                      <a:pt x="31" y="20"/>
                      <a:pt x="31" y="20"/>
                      <a:pt x="31" y="20"/>
                    </a:cubicBezTo>
                    <a:cubicBezTo>
                      <a:pt x="32" y="18"/>
                      <a:pt x="32" y="17"/>
                      <a:pt x="33" y="16"/>
                    </a:cubicBezTo>
                    <a:cubicBezTo>
                      <a:pt x="33" y="16"/>
                      <a:pt x="33" y="16"/>
                      <a:pt x="33" y="16"/>
                    </a:cubicBezTo>
                    <a:cubicBezTo>
                      <a:pt x="33" y="16"/>
                      <a:pt x="33" y="16"/>
                      <a:pt x="33" y="16"/>
                    </a:cubicBezTo>
                    <a:cubicBezTo>
                      <a:pt x="33" y="15"/>
                      <a:pt x="33" y="14"/>
                      <a:pt x="33" y="13"/>
                    </a:cubicBezTo>
                    <a:cubicBezTo>
                      <a:pt x="33" y="10"/>
                      <a:pt x="31" y="6"/>
                      <a:pt x="29" y="4"/>
                    </a:cubicBezTo>
                    <a:cubicBezTo>
                      <a:pt x="26" y="2"/>
                      <a:pt x="23" y="0"/>
                      <a:pt x="20" y="0"/>
                    </a:cubicBezTo>
                    <a:cubicBezTo>
                      <a:pt x="18" y="0"/>
                      <a:pt x="15" y="1"/>
                      <a:pt x="13" y="2"/>
                    </a:cubicBezTo>
                    <a:cubicBezTo>
                      <a:pt x="11" y="3"/>
                      <a:pt x="10" y="5"/>
                      <a:pt x="8" y="7"/>
                    </a:cubicBezTo>
                    <a:cubicBezTo>
                      <a:pt x="8" y="7"/>
                      <a:pt x="8" y="7"/>
                      <a:pt x="8" y="7"/>
                    </a:cubicBezTo>
                    <a:cubicBezTo>
                      <a:pt x="5" y="13"/>
                      <a:pt x="5" y="13"/>
                      <a:pt x="5" y="13"/>
                    </a:cubicBezTo>
                    <a:cubicBezTo>
                      <a:pt x="2" y="18"/>
                      <a:pt x="2" y="18"/>
                      <a:pt x="2" y="18"/>
                    </a:cubicBezTo>
                    <a:cubicBezTo>
                      <a:pt x="2" y="18"/>
                      <a:pt x="2" y="18"/>
                      <a:pt x="2" y="18"/>
                    </a:cubicBezTo>
                    <a:cubicBezTo>
                      <a:pt x="1" y="19"/>
                      <a:pt x="1" y="19"/>
                      <a:pt x="1" y="19"/>
                    </a:cubicBezTo>
                    <a:cubicBezTo>
                      <a:pt x="1" y="20"/>
                      <a:pt x="1" y="20"/>
                      <a:pt x="1" y="20"/>
                    </a:cubicBezTo>
                    <a:cubicBezTo>
                      <a:pt x="1" y="20"/>
                      <a:pt x="1" y="20"/>
                      <a:pt x="1" y="20"/>
                    </a:cubicBezTo>
                    <a:cubicBezTo>
                      <a:pt x="0" y="21"/>
                      <a:pt x="0" y="23"/>
                      <a:pt x="0" y="25"/>
                    </a:cubicBezTo>
                    <a:cubicBezTo>
                      <a:pt x="0" y="25"/>
                      <a:pt x="0" y="25"/>
                      <a:pt x="0" y="25"/>
                    </a:cubicBezTo>
                    <a:cubicBezTo>
                      <a:pt x="0" y="25"/>
                      <a:pt x="0" y="25"/>
                      <a:pt x="0" y="25"/>
                    </a:cubicBezTo>
                    <a:cubicBezTo>
                      <a:pt x="0" y="26"/>
                      <a:pt x="0" y="26"/>
                      <a:pt x="0" y="26"/>
                    </a:cubicBezTo>
                    <a:cubicBezTo>
                      <a:pt x="0" y="30"/>
                      <a:pt x="1" y="33"/>
                      <a:pt x="4" y="36"/>
                    </a:cubicBezTo>
                    <a:cubicBezTo>
                      <a:pt x="6" y="38"/>
                      <a:pt x="10" y="39"/>
                      <a:pt x="13" y="39"/>
                    </a:cubicBezTo>
                    <a:cubicBezTo>
                      <a:pt x="15" y="39"/>
                      <a:pt x="17" y="39"/>
                      <a:pt x="19" y="37"/>
                    </a:cubicBezTo>
                    <a:cubicBezTo>
                      <a:pt x="21" y="36"/>
                      <a:pt x="23" y="35"/>
                      <a:pt x="24" y="32"/>
                    </a:cubicBezTo>
                    <a:cubicBezTo>
                      <a:pt x="24" y="32"/>
                      <a:pt x="24" y="32"/>
                      <a:pt x="24" y="32"/>
                    </a:cubicBezTo>
                    <a:lnTo>
                      <a:pt x="19"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4" name="Freeform 59">
                <a:extLst>
                  <a:ext uri="{FF2B5EF4-FFF2-40B4-BE49-F238E27FC236}">
                    <a16:creationId xmlns:a16="http://schemas.microsoft.com/office/drawing/2014/main" id="{B98B9C41-899F-DDC9-E211-4AD7CF51A516}"/>
                  </a:ext>
                </a:extLst>
              </p:cNvPr>
              <p:cNvSpPr>
                <a:spLocks/>
              </p:cNvSpPr>
              <p:nvPr/>
            </p:nvSpPr>
            <p:spPr bwMode="auto">
              <a:xfrm>
                <a:off x="6672462" y="5235775"/>
                <a:ext cx="153195" cy="174472"/>
              </a:xfrm>
              <a:custGeom>
                <a:avLst/>
                <a:gdLst>
                  <a:gd name="T0" fmla="*/ 8 w 144"/>
                  <a:gd name="T1" fmla="*/ 0 h 164"/>
                  <a:gd name="T2" fmla="*/ 0 w 144"/>
                  <a:gd name="T3" fmla="*/ 164 h 164"/>
                  <a:gd name="T4" fmla="*/ 144 w 144"/>
                  <a:gd name="T5" fmla="*/ 84 h 164"/>
                  <a:gd name="T6" fmla="*/ 8 w 144"/>
                  <a:gd name="T7" fmla="*/ 0 h 164"/>
                </a:gdLst>
                <a:ahLst/>
                <a:cxnLst>
                  <a:cxn ang="0">
                    <a:pos x="T0" y="T1"/>
                  </a:cxn>
                  <a:cxn ang="0">
                    <a:pos x="T2" y="T3"/>
                  </a:cxn>
                  <a:cxn ang="0">
                    <a:pos x="T4" y="T5"/>
                  </a:cxn>
                  <a:cxn ang="0">
                    <a:pos x="T6" y="T7"/>
                  </a:cxn>
                </a:cxnLst>
                <a:rect l="0" t="0" r="r" b="b"/>
                <a:pathLst>
                  <a:path w="144" h="164">
                    <a:moveTo>
                      <a:pt x="8" y="0"/>
                    </a:moveTo>
                    <a:lnTo>
                      <a:pt x="0" y="164"/>
                    </a:lnTo>
                    <a:lnTo>
                      <a:pt x="144" y="84"/>
                    </a:lnTo>
                    <a:lnTo>
                      <a:pt x="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5" name="Freeform 60">
                <a:extLst>
                  <a:ext uri="{FF2B5EF4-FFF2-40B4-BE49-F238E27FC236}">
                    <a16:creationId xmlns:a16="http://schemas.microsoft.com/office/drawing/2014/main" id="{888C9FC2-B1A5-C8FB-BC94-FD1BD1BDF7D3}"/>
                  </a:ext>
                </a:extLst>
              </p:cNvPr>
              <p:cNvSpPr>
                <a:spLocks/>
              </p:cNvSpPr>
              <p:nvPr/>
            </p:nvSpPr>
            <p:spPr bwMode="auto">
              <a:xfrm>
                <a:off x="6662888" y="5220881"/>
                <a:ext cx="178728" cy="206388"/>
              </a:xfrm>
              <a:custGeom>
                <a:avLst/>
                <a:gdLst>
                  <a:gd name="T0" fmla="*/ 17 w 168"/>
                  <a:gd name="T1" fmla="*/ 14 h 194"/>
                  <a:gd name="T2" fmla="*/ 10 w 168"/>
                  <a:gd name="T3" fmla="*/ 14 h 194"/>
                  <a:gd name="T4" fmla="*/ 0 w 168"/>
                  <a:gd name="T5" fmla="*/ 194 h 194"/>
                  <a:gd name="T6" fmla="*/ 168 w 168"/>
                  <a:gd name="T7" fmla="*/ 98 h 194"/>
                  <a:gd name="T8" fmla="*/ 10 w 168"/>
                  <a:gd name="T9" fmla="*/ 0 h 194"/>
                  <a:gd name="T10" fmla="*/ 10 w 168"/>
                  <a:gd name="T11" fmla="*/ 14 h 194"/>
                  <a:gd name="T12" fmla="*/ 17 w 168"/>
                  <a:gd name="T13" fmla="*/ 14 h 194"/>
                  <a:gd name="T14" fmla="*/ 13 w 168"/>
                  <a:gd name="T15" fmla="*/ 22 h 194"/>
                  <a:gd name="T16" fmla="*/ 136 w 168"/>
                  <a:gd name="T17" fmla="*/ 98 h 194"/>
                  <a:gd name="T18" fmla="*/ 19 w 168"/>
                  <a:gd name="T19" fmla="*/ 164 h 194"/>
                  <a:gd name="T20" fmla="*/ 26 w 168"/>
                  <a:gd name="T21" fmla="*/ 16 h 194"/>
                  <a:gd name="T22" fmla="*/ 17 w 168"/>
                  <a:gd name="T23" fmla="*/ 14 h 194"/>
                  <a:gd name="T24" fmla="*/ 13 w 168"/>
                  <a:gd name="T25" fmla="*/ 22 h 194"/>
                  <a:gd name="T26" fmla="*/ 17 w 168"/>
                  <a:gd name="T27" fmla="*/ 1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194">
                    <a:moveTo>
                      <a:pt x="17" y="14"/>
                    </a:moveTo>
                    <a:lnTo>
                      <a:pt x="10" y="14"/>
                    </a:lnTo>
                    <a:lnTo>
                      <a:pt x="0" y="194"/>
                    </a:lnTo>
                    <a:lnTo>
                      <a:pt x="168" y="98"/>
                    </a:lnTo>
                    <a:lnTo>
                      <a:pt x="10" y="0"/>
                    </a:lnTo>
                    <a:lnTo>
                      <a:pt x="10" y="14"/>
                    </a:lnTo>
                    <a:lnTo>
                      <a:pt x="17" y="14"/>
                    </a:lnTo>
                    <a:lnTo>
                      <a:pt x="13" y="22"/>
                    </a:lnTo>
                    <a:lnTo>
                      <a:pt x="136" y="98"/>
                    </a:lnTo>
                    <a:lnTo>
                      <a:pt x="19" y="164"/>
                    </a:lnTo>
                    <a:lnTo>
                      <a:pt x="26" y="16"/>
                    </a:lnTo>
                    <a:lnTo>
                      <a:pt x="17" y="14"/>
                    </a:lnTo>
                    <a:lnTo>
                      <a:pt x="13" y="22"/>
                    </a:lnTo>
                    <a:lnTo>
                      <a:pt x="17"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29" name="Freeform 61">
              <a:extLst>
                <a:ext uri="{FF2B5EF4-FFF2-40B4-BE49-F238E27FC236}">
                  <a16:creationId xmlns:a16="http://schemas.microsoft.com/office/drawing/2014/main" id="{DEF28155-B925-BA69-51D1-8BFC96AC69FD}"/>
                </a:ext>
              </a:extLst>
            </p:cNvPr>
            <p:cNvSpPr>
              <a:spLocks noEditPoints="1"/>
            </p:cNvSpPr>
            <p:nvPr/>
          </p:nvSpPr>
          <p:spPr bwMode="auto">
            <a:xfrm>
              <a:off x="4779270" y="2042129"/>
              <a:ext cx="2412825" cy="2411761"/>
            </a:xfrm>
            <a:custGeom>
              <a:avLst/>
              <a:gdLst>
                <a:gd name="T0" fmla="*/ 1593 w 1593"/>
                <a:gd name="T1" fmla="*/ 796 h 1592"/>
                <a:gd name="T2" fmla="*/ 1580 w 1593"/>
                <a:gd name="T3" fmla="*/ 754 h 1592"/>
                <a:gd name="T4" fmla="*/ 1554 w 1593"/>
                <a:gd name="T5" fmla="*/ 641 h 1592"/>
                <a:gd name="T6" fmla="*/ 1508 w 1593"/>
                <a:gd name="T7" fmla="*/ 493 h 1592"/>
                <a:gd name="T8" fmla="*/ 1508 w 1593"/>
                <a:gd name="T9" fmla="*/ 493 h 1592"/>
                <a:gd name="T10" fmla="*/ 1465 w 1593"/>
                <a:gd name="T11" fmla="*/ 385 h 1592"/>
                <a:gd name="T12" fmla="*/ 1421 w 1593"/>
                <a:gd name="T13" fmla="*/ 302 h 1592"/>
                <a:gd name="T14" fmla="*/ 1386 w 1593"/>
                <a:gd name="T15" fmla="*/ 261 h 1592"/>
                <a:gd name="T16" fmla="*/ 1311 w 1593"/>
                <a:gd name="T17" fmla="*/ 204 h 1592"/>
                <a:gd name="T18" fmla="*/ 1211 w 1593"/>
                <a:gd name="T19" fmla="*/ 144 h 1592"/>
                <a:gd name="T20" fmla="*/ 1073 w 1593"/>
                <a:gd name="T21" fmla="*/ 74 h 1592"/>
                <a:gd name="T22" fmla="*/ 1073 w 1593"/>
                <a:gd name="T23" fmla="*/ 74 h 1592"/>
                <a:gd name="T24" fmla="*/ 966 w 1593"/>
                <a:gd name="T25" fmla="*/ 30 h 1592"/>
                <a:gd name="T26" fmla="*/ 875 w 1593"/>
                <a:gd name="T27" fmla="*/ 4 h 1592"/>
                <a:gd name="T28" fmla="*/ 833 w 1593"/>
                <a:gd name="T29" fmla="*/ 12 h 1592"/>
                <a:gd name="T30" fmla="*/ 667 w 1593"/>
                <a:gd name="T31" fmla="*/ 34 h 1592"/>
                <a:gd name="T32" fmla="*/ 667 w 1593"/>
                <a:gd name="T33" fmla="*/ 34 h 1592"/>
                <a:gd name="T34" fmla="*/ 552 w 1593"/>
                <a:gd name="T35" fmla="*/ 51 h 1592"/>
                <a:gd name="T36" fmla="*/ 460 w 1593"/>
                <a:gd name="T37" fmla="*/ 74 h 1592"/>
                <a:gd name="T38" fmla="*/ 413 w 1593"/>
                <a:gd name="T39" fmla="*/ 98 h 1592"/>
                <a:gd name="T40" fmla="*/ 340 w 1593"/>
                <a:gd name="T41" fmla="*/ 158 h 1592"/>
                <a:gd name="T42" fmla="*/ 259 w 1593"/>
                <a:gd name="T43" fmla="*/ 241 h 1592"/>
                <a:gd name="T44" fmla="*/ 159 w 1593"/>
                <a:gd name="T45" fmla="*/ 360 h 1592"/>
                <a:gd name="T46" fmla="*/ 159 w 1593"/>
                <a:gd name="T47" fmla="*/ 360 h 1592"/>
                <a:gd name="T48" fmla="*/ 90 w 1593"/>
                <a:gd name="T49" fmla="*/ 454 h 1592"/>
                <a:gd name="T50" fmla="*/ 44 w 1593"/>
                <a:gd name="T51" fmla="*/ 536 h 1592"/>
                <a:gd name="T52" fmla="*/ 28 w 1593"/>
                <a:gd name="T53" fmla="*/ 587 h 1592"/>
                <a:gd name="T54" fmla="*/ 20 w 1593"/>
                <a:gd name="T55" fmla="*/ 681 h 1592"/>
                <a:gd name="T56" fmla="*/ 24 w 1593"/>
                <a:gd name="T57" fmla="*/ 797 h 1592"/>
                <a:gd name="T58" fmla="*/ 39 w 1593"/>
                <a:gd name="T59" fmla="*/ 951 h 1592"/>
                <a:gd name="T60" fmla="*/ 39 w 1593"/>
                <a:gd name="T61" fmla="*/ 951 h 1592"/>
                <a:gd name="T62" fmla="*/ 59 w 1593"/>
                <a:gd name="T63" fmla="*/ 1066 h 1592"/>
                <a:gd name="T64" fmla="*/ 86 w 1593"/>
                <a:gd name="T65" fmla="*/ 1156 h 1592"/>
                <a:gd name="T66" fmla="*/ 111 w 1593"/>
                <a:gd name="T67" fmla="*/ 1203 h 1592"/>
                <a:gd name="T68" fmla="*/ 174 w 1593"/>
                <a:gd name="T69" fmla="*/ 1274 h 1592"/>
                <a:gd name="T70" fmla="*/ 259 w 1593"/>
                <a:gd name="T71" fmla="*/ 1352 h 1592"/>
                <a:gd name="T72" fmla="*/ 381 w 1593"/>
                <a:gd name="T73" fmla="*/ 1448 h 1592"/>
                <a:gd name="T74" fmla="*/ 381 w 1593"/>
                <a:gd name="T75" fmla="*/ 1448 h 1592"/>
                <a:gd name="T76" fmla="*/ 477 w 1593"/>
                <a:gd name="T77" fmla="*/ 1513 h 1592"/>
                <a:gd name="T78" fmla="*/ 561 w 1593"/>
                <a:gd name="T79" fmla="*/ 1557 h 1592"/>
                <a:gd name="T80" fmla="*/ 612 w 1593"/>
                <a:gd name="T81" fmla="*/ 1571 h 1592"/>
                <a:gd name="T82" fmla="*/ 707 w 1593"/>
                <a:gd name="T83" fmla="*/ 1576 h 1592"/>
                <a:gd name="T84" fmla="*/ 823 w 1593"/>
                <a:gd name="T85" fmla="*/ 1569 h 1592"/>
                <a:gd name="T86" fmla="*/ 976 w 1593"/>
                <a:gd name="T87" fmla="*/ 1548 h 1592"/>
                <a:gd name="T88" fmla="*/ 976 w 1593"/>
                <a:gd name="T89" fmla="*/ 1548 h 1592"/>
                <a:gd name="T90" fmla="*/ 1090 w 1593"/>
                <a:gd name="T91" fmla="*/ 1524 h 1592"/>
                <a:gd name="T92" fmla="*/ 1179 w 1593"/>
                <a:gd name="T93" fmla="*/ 1495 h 1592"/>
                <a:gd name="T94" fmla="*/ 1225 w 1593"/>
                <a:gd name="T95" fmla="*/ 1468 h 1592"/>
                <a:gd name="T96" fmla="*/ 1294 w 1593"/>
                <a:gd name="T97" fmla="*/ 1403 h 1592"/>
                <a:gd name="T98" fmla="*/ 1370 w 1593"/>
                <a:gd name="T99" fmla="*/ 1315 h 1592"/>
                <a:gd name="T100" fmla="*/ 1462 w 1593"/>
                <a:gd name="T101" fmla="*/ 1190 h 1592"/>
                <a:gd name="T102" fmla="*/ 1462 w 1593"/>
                <a:gd name="T103" fmla="*/ 1190 h 1592"/>
                <a:gd name="T104" fmla="*/ 1524 w 1593"/>
                <a:gd name="T105" fmla="*/ 1092 h 1592"/>
                <a:gd name="T106" fmla="*/ 1565 w 1593"/>
                <a:gd name="T107" fmla="*/ 1007 h 1592"/>
                <a:gd name="T108" fmla="*/ 1577 w 1593"/>
                <a:gd name="T109" fmla="*/ 955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93" h="1592">
                  <a:moveTo>
                    <a:pt x="1569" y="794"/>
                  </a:moveTo>
                  <a:cubicBezTo>
                    <a:pt x="1569" y="795"/>
                    <a:pt x="1569" y="796"/>
                    <a:pt x="1569" y="796"/>
                  </a:cubicBezTo>
                  <a:cubicBezTo>
                    <a:pt x="1569" y="814"/>
                    <a:pt x="1569" y="831"/>
                    <a:pt x="1568" y="848"/>
                  </a:cubicBezTo>
                  <a:cubicBezTo>
                    <a:pt x="1567" y="854"/>
                    <a:pt x="1572" y="860"/>
                    <a:pt x="1579" y="860"/>
                  </a:cubicBezTo>
                  <a:cubicBezTo>
                    <a:pt x="1585" y="861"/>
                    <a:pt x="1591" y="856"/>
                    <a:pt x="1591" y="849"/>
                  </a:cubicBezTo>
                  <a:cubicBezTo>
                    <a:pt x="1592" y="832"/>
                    <a:pt x="1593" y="814"/>
                    <a:pt x="1593" y="796"/>
                  </a:cubicBezTo>
                  <a:cubicBezTo>
                    <a:pt x="1593" y="796"/>
                    <a:pt x="1593" y="795"/>
                    <a:pt x="1593" y="794"/>
                  </a:cubicBezTo>
                  <a:cubicBezTo>
                    <a:pt x="1593" y="788"/>
                    <a:pt x="1587" y="783"/>
                    <a:pt x="1581" y="783"/>
                  </a:cubicBezTo>
                  <a:cubicBezTo>
                    <a:pt x="1575" y="783"/>
                    <a:pt x="1569" y="788"/>
                    <a:pt x="1569" y="794"/>
                  </a:cubicBezTo>
                  <a:close/>
                  <a:moveTo>
                    <a:pt x="1562" y="691"/>
                  </a:moveTo>
                  <a:cubicBezTo>
                    <a:pt x="1565" y="708"/>
                    <a:pt x="1566" y="726"/>
                    <a:pt x="1567" y="743"/>
                  </a:cubicBezTo>
                  <a:cubicBezTo>
                    <a:pt x="1568" y="749"/>
                    <a:pt x="1574" y="754"/>
                    <a:pt x="1580" y="754"/>
                  </a:cubicBezTo>
                  <a:cubicBezTo>
                    <a:pt x="1586" y="753"/>
                    <a:pt x="1591" y="748"/>
                    <a:pt x="1591" y="741"/>
                  </a:cubicBezTo>
                  <a:cubicBezTo>
                    <a:pt x="1590" y="723"/>
                    <a:pt x="1588" y="706"/>
                    <a:pt x="1586" y="688"/>
                  </a:cubicBezTo>
                  <a:cubicBezTo>
                    <a:pt x="1585" y="682"/>
                    <a:pt x="1579" y="677"/>
                    <a:pt x="1572" y="678"/>
                  </a:cubicBezTo>
                  <a:cubicBezTo>
                    <a:pt x="1566" y="679"/>
                    <a:pt x="1561" y="685"/>
                    <a:pt x="1562" y="691"/>
                  </a:cubicBezTo>
                  <a:close/>
                  <a:moveTo>
                    <a:pt x="1542" y="590"/>
                  </a:moveTo>
                  <a:cubicBezTo>
                    <a:pt x="1546" y="607"/>
                    <a:pt x="1550" y="624"/>
                    <a:pt x="1554" y="641"/>
                  </a:cubicBezTo>
                  <a:cubicBezTo>
                    <a:pt x="1555" y="647"/>
                    <a:pt x="1561" y="651"/>
                    <a:pt x="1567" y="650"/>
                  </a:cubicBezTo>
                  <a:cubicBezTo>
                    <a:pt x="1574" y="648"/>
                    <a:pt x="1578" y="642"/>
                    <a:pt x="1577" y="636"/>
                  </a:cubicBezTo>
                  <a:cubicBezTo>
                    <a:pt x="1573" y="618"/>
                    <a:pt x="1569" y="601"/>
                    <a:pt x="1564" y="584"/>
                  </a:cubicBezTo>
                  <a:cubicBezTo>
                    <a:pt x="1562" y="578"/>
                    <a:pt x="1556" y="574"/>
                    <a:pt x="1550" y="576"/>
                  </a:cubicBezTo>
                  <a:cubicBezTo>
                    <a:pt x="1544" y="578"/>
                    <a:pt x="1540" y="584"/>
                    <a:pt x="1542" y="590"/>
                  </a:cubicBezTo>
                  <a:close/>
                  <a:moveTo>
                    <a:pt x="1508" y="493"/>
                  </a:moveTo>
                  <a:cubicBezTo>
                    <a:pt x="1514" y="509"/>
                    <a:pt x="1520" y="525"/>
                    <a:pt x="1526" y="541"/>
                  </a:cubicBezTo>
                  <a:cubicBezTo>
                    <a:pt x="1528" y="547"/>
                    <a:pt x="1535" y="550"/>
                    <a:pt x="1541" y="548"/>
                  </a:cubicBezTo>
                  <a:cubicBezTo>
                    <a:pt x="1547" y="546"/>
                    <a:pt x="1550" y="539"/>
                    <a:pt x="1548" y="533"/>
                  </a:cubicBezTo>
                  <a:cubicBezTo>
                    <a:pt x="1542" y="517"/>
                    <a:pt x="1536" y="500"/>
                    <a:pt x="1529" y="484"/>
                  </a:cubicBezTo>
                  <a:cubicBezTo>
                    <a:pt x="1527" y="478"/>
                    <a:pt x="1520" y="475"/>
                    <a:pt x="1514" y="478"/>
                  </a:cubicBezTo>
                  <a:cubicBezTo>
                    <a:pt x="1508" y="480"/>
                    <a:pt x="1505" y="487"/>
                    <a:pt x="1508" y="493"/>
                  </a:cubicBezTo>
                  <a:close/>
                  <a:moveTo>
                    <a:pt x="1461" y="401"/>
                  </a:moveTo>
                  <a:cubicBezTo>
                    <a:pt x="1470" y="416"/>
                    <a:pt x="1478" y="431"/>
                    <a:pt x="1486" y="446"/>
                  </a:cubicBezTo>
                  <a:cubicBezTo>
                    <a:pt x="1489" y="452"/>
                    <a:pt x="1496" y="454"/>
                    <a:pt x="1502" y="451"/>
                  </a:cubicBezTo>
                  <a:cubicBezTo>
                    <a:pt x="1507" y="449"/>
                    <a:pt x="1510" y="441"/>
                    <a:pt x="1507" y="436"/>
                  </a:cubicBezTo>
                  <a:cubicBezTo>
                    <a:pt x="1499" y="420"/>
                    <a:pt x="1490" y="404"/>
                    <a:pt x="1481" y="389"/>
                  </a:cubicBezTo>
                  <a:cubicBezTo>
                    <a:pt x="1478" y="384"/>
                    <a:pt x="1470" y="382"/>
                    <a:pt x="1465" y="385"/>
                  </a:cubicBezTo>
                  <a:cubicBezTo>
                    <a:pt x="1459" y="388"/>
                    <a:pt x="1457" y="396"/>
                    <a:pt x="1461" y="401"/>
                  </a:cubicBezTo>
                  <a:close/>
                  <a:moveTo>
                    <a:pt x="1402" y="316"/>
                  </a:moveTo>
                  <a:cubicBezTo>
                    <a:pt x="1413" y="330"/>
                    <a:pt x="1423" y="344"/>
                    <a:pt x="1433" y="358"/>
                  </a:cubicBezTo>
                  <a:cubicBezTo>
                    <a:pt x="1437" y="363"/>
                    <a:pt x="1444" y="364"/>
                    <a:pt x="1449" y="361"/>
                  </a:cubicBezTo>
                  <a:cubicBezTo>
                    <a:pt x="1455" y="357"/>
                    <a:pt x="1456" y="350"/>
                    <a:pt x="1452" y="344"/>
                  </a:cubicBezTo>
                  <a:cubicBezTo>
                    <a:pt x="1442" y="330"/>
                    <a:pt x="1432" y="316"/>
                    <a:pt x="1421" y="302"/>
                  </a:cubicBezTo>
                  <a:cubicBezTo>
                    <a:pt x="1417" y="297"/>
                    <a:pt x="1409" y="296"/>
                    <a:pt x="1404" y="300"/>
                  </a:cubicBezTo>
                  <a:cubicBezTo>
                    <a:pt x="1399" y="304"/>
                    <a:pt x="1398" y="311"/>
                    <a:pt x="1402" y="316"/>
                  </a:cubicBezTo>
                  <a:close/>
                  <a:moveTo>
                    <a:pt x="1333" y="240"/>
                  </a:moveTo>
                  <a:cubicBezTo>
                    <a:pt x="1345" y="252"/>
                    <a:pt x="1357" y="264"/>
                    <a:pt x="1369" y="277"/>
                  </a:cubicBezTo>
                  <a:cubicBezTo>
                    <a:pt x="1373" y="282"/>
                    <a:pt x="1381" y="282"/>
                    <a:pt x="1385" y="278"/>
                  </a:cubicBezTo>
                  <a:cubicBezTo>
                    <a:pt x="1390" y="273"/>
                    <a:pt x="1391" y="266"/>
                    <a:pt x="1386" y="261"/>
                  </a:cubicBezTo>
                  <a:cubicBezTo>
                    <a:pt x="1374" y="248"/>
                    <a:pt x="1362" y="235"/>
                    <a:pt x="1349" y="223"/>
                  </a:cubicBezTo>
                  <a:cubicBezTo>
                    <a:pt x="1344" y="218"/>
                    <a:pt x="1337" y="219"/>
                    <a:pt x="1332" y="223"/>
                  </a:cubicBezTo>
                  <a:cubicBezTo>
                    <a:pt x="1328" y="228"/>
                    <a:pt x="1328" y="235"/>
                    <a:pt x="1333" y="240"/>
                  </a:cubicBezTo>
                  <a:close/>
                  <a:moveTo>
                    <a:pt x="1254" y="173"/>
                  </a:moveTo>
                  <a:cubicBezTo>
                    <a:pt x="1268" y="183"/>
                    <a:pt x="1281" y="194"/>
                    <a:pt x="1294" y="205"/>
                  </a:cubicBezTo>
                  <a:cubicBezTo>
                    <a:pt x="1299" y="209"/>
                    <a:pt x="1307" y="209"/>
                    <a:pt x="1311" y="204"/>
                  </a:cubicBezTo>
                  <a:cubicBezTo>
                    <a:pt x="1315" y="199"/>
                    <a:pt x="1315" y="191"/>
                    <a:pt x="1310" y="187"/>
                  </a:cubicBezTo>
                  <a:cubicBezTo>
                    <a:pt x="1296" y="176"/>
                    <a:pt x="1282" y="165"/>
                    <a:pt x="1268" y="154"/>
                  </a:cubicBezTo>
                  <a:cubicBezTo>
                    <a:pt x="1263" y="150"/>
                    <a:pt x="1255" y="152"/>
                    <a:pt x="1251" y="157"/>
                  </a:cubicBezTo>
                  <a:cubicBezTo>
                    <a:pt x="1247" y="162"/>
                    <a:pt x="1249" y="169"/>
                    <a:pt x="1254" y="173"/>
                  </a:cubicBezTo>
                  <a:close/>
                  <a:moveTo>
                    <a:pt x="1167" y="118"/>
                  </a:moveTo>
                  <a:cubicBezTo>
                    <a:pt x="1182" y="126"/>
                    <a:pt x="1197" y="135"/>
                    <a:pt x="1211" y="144"/>
                  </a:cubicBezTo>
                  <a:cubicBezTo>
                    <a:pt x="1217" y="148"/>
                    <a:pt x="1224" y="146"/>
                    <a:pt x="1227" y="140"/>
                  </a:cubicBezTo>
                  <a:cubicBezTo>
                    <a:pt x="1231" y="135"/>
                    <a:pt x="1229" y="128"/>
                    <a:pt x="1224" y="124"/>
                  </a:cubicBezTo>
                  <a:cubicBezTo>
                    <a:pt x="1209" y="115"/>
                    <a:pt x="1194" y="106"/>
                    <a:pt x="1178" y="97"/>
                  </a:cubicBezTo>
                  <a:cubicBezTo>
                    <a:pt x="1172" y="94"/>
                    <a:pt x="1165" y="96"/>
                    <a:pt x="1162" y="102"/>
                  </a:cubicBezTo>
                  <a:cubicBezTo>
                    <a:pt x="1159" y="108"/>
                    <a:pt x="1161" y="115"/>
                    <a:pt x="1167" y="118"/>
                  </a:cubicBezTo>
                  <a:close/>
                  <a:moveTo>
                    <a:pt x="1073" y="74"/>
                  </a:moveTo>
                  <a:cubicBezTo>
                    <a:pt x="1089" y="81"/>
                    <a:pt x="1105" y="87"/>
                    <a:pt x="1121" y="94"/>
                  </a:cubicBezTo>
                  <a:cubicBezTo>
                    <a:pt x="1126" y="97"/>
                    <a:pt x="1133" y="95"/>
                    <a:pt x="1136" y="89"/>
                  </a:cubicBezTo>
                  <a:cubicBezTo>
                    <a:pt x="1139" y="83"/>
                    <a:pt x="1136" y="76"/>
                    <a:pt x="1130" y="73"/>
                  </a:cubicBezTo>
                  <a:cubicBezTo>
                    <a:pt x="1114" y="66"/>
                    <a:pt x="1098" y="59"/>
                    <a:pt x="1081" y="52"/>
                  </a:cubicBezTo>
                  <a:cubicBezTo>
                    <a:pt x="1075" y="50"/>
                    <a:pt x="1069" y="53"/>
                    <a:pt x="1066" y="59"/>
                  </a:cubicBezTo>
                  <a:cubicBezTo>
                    <a:pt x="1064" y="65"/>
                    <a:pt x="1067" y="72"/>
                    <a:pt x="1073" y="74"/>
                  </a:cubicBezTo>
                  <a:close/>
                  <a:moveTo>
                    <a:pt x="974" y="44"/>
                  </a:moveTo>
                  <a:cubicBezTo>
                    <a:pt x="991" y="48"/>
                    <a:pt x="1008" y="52"/>
                    <a:pt x="1024" y="58"/>
                  </a:cubicBezTo>
                  <a:cubicBezTo>
                    <a:pt x="1030" y="59"/>
                    <a:pt x="1037" y="56"/>
                    <a:pt x="1039" y="50"/>
                  </a:cubicBezTo>
                  <a:cubicBezTo>
                    <a:pt x="1041" y="44"/>
                    <a:pt x="1037" y="37"/>
                    <a:pt x="1031" y="35"/>
                  </a:cubicBezTo>
                  <a:cubicBezTo>
                    <a:pt x="1014" y="30"/>
                    <a:pt x="997" y="25"/>
                    <a:pt x="980" y="21"/>
                  </a:cubicBezTo>
                  <a:cubicBezTo>
                    <a:pt x="973" y="20"/>
                    <a:pt x="967" y="24"/>
                    <a:pt x="966" y="30"/>
                  </a:cubicBezTo>
                  <a:cubicBezTo>
                    <a:pt x="964" y="36"/>
                    <a:pt x="968" y="43"/>
                    <a:pt x="974" y="44"/>
                  </a:cubicBezTo>
                  <a:close/>
                  <a:moveTo>
                    <a:pt x="872" y="27"/>
                  </a:moveTo>
                  <a:cubicBezTo>
                    <a:pt x="890" y="29"/>
                    <a:pt x="907" y="31"/>
                    <a:pt x="924" y="34"/>
                  </a:cubicBezTo>
                  <a:cubicBezTo>
                    <a:pt x="930" y="35"/>
                    <a:pt x="936" y="31"/>
                    <a:pt x="937" y="24"/>
                  </a:cubicBezTo>
                  <a:cubicBezTo>
                    <a:pt x="938" y="18"/>
                    <a:pt x="934" y="12"/>
                    <a:pt x="927" y="11"/>
                  </a:cubicBezTo>
                  <a:cubicBezTo>
                    <a:pt x="910" y="8"/>
                    <a:pt x="892" y="5"/>
                    <a:pt x="875" y="4"/>
                  </a:cubicBezTo>
                  <a:cubicBezTo>
                    <a:pt x="868" y="3"/>
                    <a:pt x="863" y="8"/>
                    <a:pt x="862" y="14"/>
                  </a:cubicBezTo>
                  <a:cubicBezTo>
                    <a:pt x="861" y="21"/>
                    <a:pt x="866" y="27"/>
                    <a:pt x="872" y="27"/>
                  </a:cubicBezTo>
                  <a:close/>
                  <a:moveTo>
                    <a:pt x="769" y="24"/>
                  </a:moveTo>
                  <a:cubicBezTo>
                    <a:pt x="778" y="24"/>
                    <a:pt x="787" y="23"/>
                    <a:pt x="796" y="23"/>
                  </a:cubicBezTo>
                  <a:cubicBezTo>
                    <a:pt x="805" y="23"/>
                    <a:pt x="813" y="24"/>
                    <a:pt x="821" y="24"/>
                  </a:cubicBezTo>
                  <a:cubicBezTo>
                    <a:pt x="827" y="24"/>
                    <a:pt x="833" y="19"/>
                    <a:pt x="833" y="12"/>
                  </a:cubicBezTo>
                  <a:cubicBezTo>
                    <a:pt x="833" y="6"/>
                    <a:pt x="828" y="1"/>
                    <a:pt x="822" y="0"/>
                  </a:cubicBezTo>
                  <a:cubicBezTo>
                    <a:pt x="813" y="0"/>
                    <a:pt x="805" y="0"/>
                    <a:pt x="796" y="0"/>
                  </a:cubicBezTo>
                  <a:cubicBezTo>
                    <a:pt x="787" y="0"/>
                    <a:pt x="778" y="0"/>
                    <a:pt x="768" y="0"/>
                  </a:cubicBezTo>
                  <a:cubicBezTo>
                    <a:pt x="762" y="1"/>
                    <a:pt x="757" y="6"/>
                    <a:pt x="757" y="13"/>
                  </a:cubicBezTo>
                  <a:cubicBezTo>
                    <a:pt x="757" y="19"/>
                    <a:pt x="763" y="24"/>
                    <a:pt x="769" y="24"/>
                  </a:cubicBezTo>
                  <a:close/>
                  <a:moveTo>
                    <a:pt x="667" y="34"/>
                  </a:moveTo>
                  <a:cubicBezTo>
                    <a:pt x="683" y="31"/>
                    <a:pt x="701" y="29"/>
                    <a:pt x="718" y="27"/>
                  </a:cubicBezTo>
                  <a:cubicBezTo>
                    <a:pt x="724" y="27"/>
                    <a:pt x="729" y="21"/>
                    <a:pt x="728" y="15"/>
                  </a:cubicBezTo>
                  <a:cubicBezTo>
                    <a:pt x="728" y="8"/>
                    <a:pt x="722" y="3"/>
                    <a:pt x="715" y="4"/>
                  </a:cubicBezTo>
                  <a:cubicBezTo>
                    <a:pt x="698" y="6"/>
                    <a:pt x="680" y="8"/>
                    <a:pt x="663" y="11"/>
                  </a:cubicBezTo>
                  <a:cubicBezTo>
                    <a:pt x="656" y="12"/>
                    <a:pt x="652" y="18"/>
                    <a:pt x="653" y="25"/>
                  </a:cubicBezTo>
                  <a:cubicBezTo>
                    <a:pt x="654" y="31"/>
                    <a:pt x="660" y="35"/>
                    <a:pt x="667" y="34"/>
                  </a:cubicBezTo>
                  <a:close/>
                  <a:moveTo>
                    <a:pt x="566" y="58"/>
                  </a:moveTo>
                  <a:cubicBezTo>
                    <a:pt x="583" y="53"/>
                    <a:pt x="599" y="49"/>
                    <a:pt x="616" y="45"/>
                  </a:cubicBezTo>
                  <a:cubicBezTo>
                    <a:pt x="622" y="43"/>
                    <a:pt x="626" y="37"/>
                    <a:pt x="625" y="30"/>
                  </a:cubicBezTo>
                  <a:cubicBezTo>
                    <a:pt x="623" y="24"/>
                    <a:pt x="617" y="20"/>
                    <a:pt x="611" y="22"/>
                  </a:cubicBezTo>
                  <a:cubicBezTo>
                    <a:pt x="593" y="26"/>
                    <a:pt x="576" y="31"/>
                    <a:pt x="559" y="36"/>
                  </a:cubicBezTo>
                  <a:cubicBezTo>
                    <a:pt x="553" y="38"/>
                    <a:pt x="550" y="44"/>
                    <a:pt x="552" y="51"/>
                  </a:cubicBezTo>
                  <a:cubicBezTo>
                    <a:pt x="553" y="57"/>
                    <a:pt x="560" y="60"/>
                    <a:pt x="566" y="58"/>
                  </a:cubicBezTo>
                  <a:close/>
                  <a:moveTo>
                    <a:pt x="470" y="96"/>
                  </a:moveTo>
                  <a:cubicBezTo>
                    <a:pt x="486" y="88"/>
                    <a:pt x="501" y="82"/>
                    <a:pt x="517" y="75"/>
                  </a:cubicBezTo>
                  <a:cubicBezTo>
                    <a:pt x="524" y="73"/>
                    <a:pt x="527" y="66"/>
                    <a:pt x="524" y="60"/>
                  </a:cubicBezTo>
                  <a:cubicBezTo>
                    <a:pt x="522" y="54"/>
                    <a:pt x="515" y="51"/>
                    <a:pt x="509" y="53"/>
                  </a:cubicBezTo>
                  <a:cubicBezTo>
                    <a:pt x="492" y="60"/>
                    <a:pt x="476" y="67"/>
                    <a:pt x="460" y="74"/>
                  </a:cubicBezTo>
                  <a:cubicBezTo>
                    <a:pt x="454" y="77"/>
                    <a:pt x="452" y="84"/>
                    <a:pt x="454" y="90"/>
                  </a:cubicBezTo>
                  <a:cubicBezTo>
                    <a:pt x="457" y="96"/>
                    <a:pt x="464" y="98"/>
                    <a:pt x="470" y="96"/>
                  </a:cubicBezTo>
                  <a:close/>
                  <a:moveTo>
                    <a:pt x="380" y="145"/>
                  </a:moveTo>
                  <a:cubicBezTo>
                    <a:pt x="394" y="136"/>
                    <a:pt x="409" y="127"/>
                    <a:pt x="424" y="119"/>
                  </a:cubicBezTo>
                  <a:cubicBezTo>
                    <a:pt x="430" y="116"/>
                    <a:pt x="432" y="109"/>
                    <a:pt x="429" y="103"/>
                  </a:cubicBezTo>
                  <a:cubicBezTo>
                    <a:pt x="426" y="97"/>
                    <a:pt x="418" y="95"/>
                    <a:pt x="413" y="98"/>
                  </a:cubicBezTo>
                  <a:cubicBezTo>
                    <a:pt x="397" y="107"/>
                    <a:pt x="382" y="116"/>
                    <a:pt x="367" y="126"/>
                  </a:cubicBezTo>
                  <a:cubicBezTo>
                    <a:pt x="362" y="129"/>
                    <a:pt x="360" y="136"/>
                    <a:pt x="363" y="142"/>
                  </a:cubicBezTo>
                  <a:cubicBezTo>
                    <a:pt x="367" y="147"/>
                    <a:pt x="374" y="149"/>
                    <a:pt x="380" y="145"/>
                  </a:cubicBezTo>
                  <a:close/>
                  <a:moveTo>
                    <a:pt x="297" y="207"/>
                  </a:moveTo>
                  <a:cubicBezTo>
                    <a:pt x="310" y="196"/>
                    <a:pt x="323" y="185"/>
                    <a:pt x="337" y="175"/>
                  </a:cubicBezTo>
                  <a:cubicBezTo>
                    <a:pt x="342" y="171"/>
                    <a:pt x="344" y="163"/>
                    <a:pt x="340" y="158"/>
                  </a:cubicBezTo>
                  <a:cubicBezTo>
                    <a:pt x="336" y="153"/>
                    <a:pt x="328" y="152"/>
                    <a:pt x="323" y="156"/>
                  </a:cubicBezTo>
                  <a:cubicBezTo>
                    <a:pt x="309" y="166"/>
                    <a:pt x="295" y="177"/>
                    <a:pt x="282" y="189"/>
                  </a:cubicBezTo>
                  <a:cubicBezTo>
                    <a:pt x="277" y="193"/>
                    <a:pt x="276" y="200"/>
                    <a:pt x="280" y="205"/>
                  </a:cubicBezTo>
                  <a:cubicBezTo>
                    <a:pt x="284" y="210"/>
                    <a:pt x="292" y="211"/>
                    <a:pt x="297" y="207"/>
                  </a:cubicBezTo>
                  <a:close/>
                  <a:moveTo>
                    <a:pt x="223" y="279"/>
                  </a:moveTo>
                  <a:cubicBezTo>
                    <a:pt x="234" y="266"/>
                    <a:pt x="246" y="253"/>
                    <a:pt x="259" y="241"/>
                  </a:cubicBezTo>
                  <a:cubicBezTo>
                    <a:pt x="263" y="237"/>
                    <a:pt x="263" y="229"/>
                    <a:pt x="259" y="225"/>
                  </a:cubicBezTo>
                  <a:cubicBezTo>
                    <a:pt x="254" y="220"/>
                    <a:pt x="247" y="220"/>
                    <a:pt x="242" y="225"/>
                  </a:cubicBezTo>
                  <a:cubicBezTo>
                    <a:pt x="229" y="237"/>
                    <a:pt x="217" y="250"/>
                    <a:pt x="205" y="263"/>
                  </a:cubicBezTo>
                  <a:cubicBezTo>
                    <a:pt x="201" y="268"/>
                    <a:pt x="201" y="275"/>
                    <a:pt x="206" y="279"/>
                  </a:cubicBezTo>
                  <a:cubicBezTo>
                    <a:pt x="211" y="284"/>
                    <a:pt x="218" y="283"/>
                    <a:pt x="223" y="279"/>
                  </a:cubicBezTo>
                  <a:close/>
                  <a:moveTo>
                    <a:pt x="159" y="360"/>
                  </a:moveTo>
                  <a:cubicBezTo>
                    <a:pt x="168" y="345"/>
                    <a:pt x="179" y="332"/>
                    <a:pt x="189" y="318"/>
                  </a:cubicBezTo>
                  <a:cubicBezTo>
                    <a:pt x="193" y="313"/>
                    <a:pt x="192" y="306"/>
                    <a:pt x="187" y="302"/>
                  </a:cubicBezTo>
                  <a:cubicBezTo>
                    <a:pt x="182" y="297"/>
                    <a:pt x="175" y="298"/>
                    <a:pt x="171" y="303"/>
                  </a:cubicBezTo>
                  <a:cubicBezTo>
                    <a:pt x="160" y="317"/>
                    <a:pt x="149" y="332"/>
                    <a:pt x="139" y="346"/>
                  </a:cubicBezTo>
                  <a:cubicBezTo>
                    <a:pt x="136" y="352"/>
                    <a:pt x="137" y="359"/>
                    <a:pt x="142" y="363"/>
                  </a:cubicBezTo>
                  <a:cubicBezTo>
                    <a:pt x="148" y="366"/>
                    <a:pt x="155" y="365"/>
                    <a:pt x="159" y="360"/>
                  </a:cubicBezTo>
                  <a:close/>
                  <a:moveTo>
                    <a:pt x="106" y="449"/>
                  </a:moveTo>
                  <a:cubicBezTo>
                    <a:pt x="114" y="433"/>
                    <a:pt x="122" y="418"/>
                    <a:pt x="131" y="403"/>
                  </a:cubicBezTo>
                  <a:cubicBezTo>
                    <a:pt x="134" y="398"/>
                    <a:pt x="132" y="390"/>
                    <a:pt x="127" y="387"/>
                  </a:cubicBezTo>
                  <a:cubicBezTo>
                    <a:pt x="121" y="384"/>
                    <a:pt x="114" y="386"/>
                    <a:pt x="111" y="391"/>
                  </a:cubicBezTo>
                  <a:cubicBezTo>
                    <a:pt x="102" y="406"/>
                    <a:pt x="93" y="422"/>
                    <a:pt x="85" y="438"/>
                  </a:cubicBezTo>
                  <a:cubicBezTo>
                    <a:pt x="82" y="444"/>
                    <a:pt x="85" y="451"/>
                    <a:pt x="90" y="454"/>
                  </a:cubicBezTo>
                  <a:cubicBezTo>
                    <a:pt x="96" y="457"/>
                    <a:pt x="103" y="454"/>
                    <a:pt x="106" y="449"/>
                  </a:cubicBezTo>
                  <a:close/>
                  <a:moveTo>
                    <a:pt x="66" y="544"/>
                  </a:moveTo>
                  <a:cubicBezTo>
                    <a:pt x="71" y="527"/>
                    <a:pt x="78" y="511"/>
                    <a:pt x="84" y="495"/>
                  </a:cubicBezTo>
                  <a:cubicBezTo>
                    <a:pt x="87" y="489"/>
                    <a:pt x="84" y="483"/>
                    <a:pt x="78" y="480"/>
                  </a:cubicBezTo>
                  <a:cubicBezTo>
                    <a:pt x="72" y="477"/>
                    <a:pt x="65" y="480"/>
                    <a:pt x="63" y="486"/>
                  </a:cubicBezTo>
                  <a:cubicBezTo>
                    <a:pt x="56" y="503"/>
                    <a:pt x="49" y="519"/>
                    <a:pt x="44" y="536"/>
                  </a:cubicBezTo>
                  <a:cubicBezTo>
                    <a:pt x="42" y="542"/>
                    <a:pt x="45" y="549"/>
                    <a:pt x="51" y="551"/>
                  </a:cubicBezTo>
                  <a:cubicBezTo>
                    <a:pt x="57" y="553"/>
                    <a:pt x="64" y="550"/>
                    <a:pt x="66" y="544"/>
                  </a:cubicBezTo>
                  <a:close/>
                  <a:moveTo>
                    <a:pt x="39" y="643"/>
                  </a:moveTo>
                  <a:cubicBezTo>
                    <a:pt x="42" y="626"/>
                    <a:pt x="46" y="610"/>
                    <a:pt x="51" y="593"/>
                  </a:cubicBezTo>
                  <a:cubicBezTo>
                    <a:pt x="52" y="587"/>
                    <a:pt x="49" y="580"/>
                    <a:pt x="42" y="579"/>
                  </a:cubicBezTo>
                  <a:cubicBezTo>
                    <a:pt x="36" y="577"/>
                    <a:pt x="30" y="581"/>
                    <a:pt x="28" y="587"/>
                  </a:cubicBezTo>
                  <a:cubicBezTo>
                    <a:pt x="23" y="604"/>
                    <a:pt x="19" y="621"/>
                    <a:pt x="16" y="639"/>
                  </a:cubicBezTo>
                  <a:cubicBezTo>
                    <a:pt x="14" y="645"/>
                    <a:pt x="19" y="651"/>
                    <a:pt x="25" y="652"/>
                  </a:cubicBezTo>
                  <a:cubicBezTo>
                    <a:pt x="31" y="654"/>
                    <a:pt x="37" y="650"/>
                    <a:pt x="39" y="643"/>
                  </a:cubicBezTo>
                  <a:close/>
                  <a:moveTo>
                    <a:pt x="25" y="746"/>
                  </a:moveTo>
                  <a:cubicBezTo>
                    <a:pt x="26" y="728"/>
                    <a:pt x="28" y="711"/>
                    <a:pt x="30" y="694"/>
                  </a:cubicBezTo>
                  <a:cubicBezTo>
                    <a:pt x="31" y="688"/>
                    <a:pt x="27" y="682"/>
                    <a:pt x="20" y="681"/>
                  </a:cubicBezTo>
                  <a:cubicBezTo>
                    <a:pt x="14" y="680"/>
                    <a:pt x="8" y="685"/>
                    <a:pt x="7" y="691"/>
                  </a:cubicBezTo>
                  <a:cubicBezTo>
                    <a:pt x="5" y="709"/>
                    <a:pt x="3" y="726"/>
                    <a:pt x="2" y="744"/>
                  </a:cubicBezTo>
                  <a:cubicBezTo>
                    <a:pt x="1" y="751"/>
                    <a:pt x="6" y="756"/>
                    <a:pt x="13" y="757"/>
                  </a:cubicBezTo>
                  <a:cubicBezTo>
                    <a:pt x="19" y="757"/>
                    <a:pt x="25" y="752"/>
                    <a:pt x="25" y="746"/>
                  </a:cubicBezTo>
                  <a:close/>
                  <a:moveTo>
                    <a:pt x="25" y="849"/>
                  </a:moveTo>
                  <a:cubicBezTo>
                    <a:pt x="24" y="832"/>
                    <a:pt x="24" y="815"/>
                    <a:pt x="24" y="797"/>
                  </a:cubicBezTo>
                  <a:cubicBezTo>
                    <a:pt x="24" y="791"/>
                    <a:pt x="18" y="785"/>
                    <a:pt x="12" y="785"/>
                  </a:cubicBezTo>
                  <a:cubicBezTo>
                    <a:pt x="5" y="785"/>
                    <a:pt x="0" y="791"/>
                    <a:pt x="0" y="797"/>
                  </a:cubicBezTo>
                  <a:cubicBezTo>
                    <a:pt x="0" y="815"/>
                    <a:pt x="1" y="833"/>
                    <a:pt x="2" y="850"/>
                  </a:cubicBezTo>
                  <a:cubicBezTo>
                    <a:pt x="2" y="857"/>
                    <a:pt x="8" y="862"/>
                    <a:pt x="14" y="861"/>
                  </a:cubicBezTo>
                  <a:cubicBezTo>
                    <a:pt x="21" y="861"/>
                    <a:pt x="26" y="855"/>
                    <a:pt x="25" y="849"/>
                  </a:cubicBezTo>
                  <a:close/>
                  <a:moveTo>
                    <a:pt x="39" y="951"/>
                  </a:moveTo>
                  <a:cubicBezTo>
                    <a:pt x="36" y="934"/>
                    <a:pt x="33" y="917"/>
                    <a:pt x="31" y="900"/>
                  </a:cubicBezTo>
                  <a:cubicBezTo>
                    <a:pt x="30" y="894"/>
                    <a:pt x="24" y="889"/>
                    <a:pt x="17" y="890"/>
                  </a:cubicBezTo>
                  <a:cubicBezTo>
                    <a:pt x="11" y="891"/>
                    <a:pt x="6" y="897"/>
                    <a:pt x="7" y="903"/>
                  </a:cubicBezTo>
                  <a:cubicBezTo>
                    <a:pt x="10" y="921"/>
                    <a:pt x="13" y="938"/>
                    <a:pt x="16" y="956"/>
                  </a:cubicBezTo>
                  <a:cubicBezTo>
                    <a:pt x="17" y="962"/>
                    <a:pt x="24" y="966"/>
                    <a:pt x="30" y="965"/>
                  </a:cubicBezTo>
                  <a:cubicBezTo>
                    <a:pt x="36" y="964"/>
                    <a:pt x="40" y="957"/>
                    <a:pt x="39" y="951"/>
                  </a:cubicBezTo>
                  <a:close/>
                  <a:moveTo>
                    <a:pt x="66" y="1051"/>
                  </a:moveTo>
                  <a:cubicBezTo>
                    <a:pt x="61" y="1034"/>
                    <a:pt x="56" y="1018"/>
                    <a:pt x="51" y="1001"/>
                  </a:cubicBezTo>
                  <a:cubicBezTo>
                    <a:pt x="49" y="995"/>
                    <a:pt x="43" y="991"/>
                    <a:pt x="37" y="993"/>
                  </a:cubicBezTo>
                  <a:cubicBezTo>
                    <a:pt x="30" y="995"/>
                    <a:pt x="27" y="1001"/>
                    <a:pt x="28" y="1008"/>
                  </a:cubicBezTo>
                  <a:cubicBezTo>
                    <a:pt x="33" y="1025"/>
                    <a:pt x="38" y="1042"/>
                    <a:pt x="44" y="1058"/>
                  </a:cubicBezTo>
                  <a:cubicBezTo>
                    <a:pt x="46" y="1064"/>
                    <a:pt x="53" y="1068"/>
                    <a:pt x="59" y="1066"/>
                  </a:cubicBezTo>
                  <a:cubicBezTo>
                    <a:pt x="65" y="1063"/>
                    <a:pt x="69" y="1057"/>
                    <a:pt x="66" y="1051"/>
                  </a:cubicBezTo>
                  <a:close/>
                  <a:moveTo>
                    <a:pt x="107" y="1145"/>
                  </a:moveTo>
                  <a:cubicBezTo>
                    <a:pt x="99" y="1130"/>
                    <a:pt x="92" y="1115"/>
                    <a:pt x="85" y="1099"/>
                  </a:cubicBezTo>
                  <a:cubicBezTo>
                    <a:pt x="82" y="1093"/>
                    <a:pt x="76" y="1090"/>
                    <a:pt x="70" y="1092"/>
                  </a:cubicBezTo>
                  <a:cubicBezTo>
                    <a:pt x="64" y="1095"/>
                    <a:pt x="61" y="1102"/>
                    <a:pt x="63" y="1108"/>
                  </a:cubicBezTo>
                  <a:cubicBezTo>
                    <a:pt x="70" y="1124"/>
                    <a:pt x="78" y="1140"/>
                    <a:pt x="86" y="1156"/>
                  </a:cubicBezTo>
                  <a:cubicBezTo>
                    <a:pt x="89" y="1162"/>
                    <a:pt x="96" y="1164"/>
                    <a:pt x="102" y="1161"/>
                  </a:cubicBezTo>
                  <a:cubicBezTo>
                    <a:pt x="107" y="1158"/>
                    <a:pt x="110" y="1151"/>
                    <a:pt x="107" y="1145"/>
                  </a:cubicBezTo>
                  <a:close/>
                  <a:moveTo>
                    <a:pt x="159" y="1234"/>
                  </a:moveTo>
                  <a:cubicBezTo>
                    <a:pt x="150" y="1220"/>
                    <a:pt x="140" y="1205"/>
                    <a:pt x="132" y="1191"/>
                  </a:cubicBezTo>
                  <a:cubicBezTo>
                    <a:pt x="128" y="1185"/>
                    <a:pt x="121" y="1183"/>
                    <a:pt x="116" y="1187"/>
                  </a:cubicBezTo>
                  <a:cubicBezTo>
                    <a:pt x="110" y="1190"/>
                    <a:pt x="108" y="1197"/>
                    <a:pt x="111" y="1203"/>
                  </a:cubicBezTo>
                  <a:cubicBezTo>
                    <a:pt x="121" y="1218"/>
                    <a:pt x="130" y="1233"/>
                    <a:pt x="140" y="1247"/>
                  </a:cubicBezTo>
                  <a:cubicBezTo>
                    <a:pt x="144" y="1253"/>
                    <a:pt x="151" y="1254"/>
                    <a:pt x="156" y="1250"/>
                  </a:cubicBezTo>
                  <a:cubicBezTo>
                    <a:pt x="162" y="1247"/>
                    <a:pt x="163" y="1239"/>
                    <a:pt x="159" y="1234"/>
                  </a:cubicBezTo>
                  <a:close/>
                  <a:moveTo>
                    <a:pt x="224" y="1315"/>
                  </a:moveTo>
                  <a:cubicBezTo>
                    <a:pt x="212" y="1302"/>
                    <a:pt x="201" y="1289"/>
                    <a:pt x="190" y="1276"/>
                  </a:cubicBezTo>
                  <a:cubicBezTo>
                    <a:pt x="186" y="1271"/>
                    <a:pt x="179" y="1270"/>
                    <a:pt x="174" y="1274"/>
                  </a:cubicBezTo>
                  <a:cubicBezTo>
                    <a:pt x="169" y="1278"/>
                    <a:pt x="168" y="1285"/>
                    <a:pt x="172" y="1290"/>
                  </a:cubicBezTo>
                  <a:cubicBezTo>
                    <a:pt x="183" y="1304"/>
                    <a:pt x="194" y="1318"/>
                    <a:pt x="206" y="1331"/>
                  </a:cubicBezTo>
                  <a:cubicBezTo>
                    <a:pt x="210" y="1336"/>
                    <a:pt x="218" y="1336"/>
                    <a:pt x="223" y="1332"/>
                  </a:cubicBezTo>
                  <a:cubicBezTo>
                    <a:pt x="228" y="1327"/>
                    <a:pt x="228" y="1320"/>
                    <a:pt x="224" y="1315"/>
                  </a:cubicBezTo>
                  <a:close/>
                  <a:moveTo>
                    <a:pt x="298" y="1387"/>
                  </a:moveTo>
                  <a:cubicBezTo>
                    <a:pt x="285" y="1376"/>
                    <a:pt x="272" y="1364"/>
                    <a:pt x="259" y="1352"/>
                  </a:cubicBezTo>
                  <a:cubicBezTo>
                    <a:pt x="255" y="1348"/>
                    <a:pt x="247" y="1348"/>
                    <a:pt x="243" y="1352"/>
                  </a:cubicBezTo>
                  <a:cubicBezTo>
                    <a:pt x="238" y="1357"/>
                    <a:pt x="238" y="1364"/>
                    <a:pt x="243" y="1369"/>
                  </a:cubicBezTo>
                  <a:cubicBezTo>
                    <a:pt x="256" y="1381"/>
                    <a:pt x="269" y="1393"/>
                    <a:pt x="283" y="1405"/>
                  </a:cubicBezTo>
                  <a:cubicBezTo>
                    <a:pt x="288" y="1409"/>
                    <a:pt x="295" y="1408"/>
                    <a:pt x="299" y="1403"/>
                  </a:cubicBezTo>
                  <a:cubicBezTo>
                    <a:pt x="303" y="1398"/>
                    <a:pt x="303" y="1391"/>
                    <a:pt x="298" y="1387"/>
                  </a:cubicBezTo>
                  <a:close/>
                  <a:moveTo>
                    <a:pt x="381" y="1448"/>
                  </a:moveTo>
                  <a:cubicBezTo>
                    <a:pt x="366" y="1439"/>
                    <a:pt x="352" y="1429"/>
                    <a:pt x="338" y="1419"/>
                  </a:cubicBezTo>
                  <a:cubicBezTo>
                    <a:pt x="333" y="1415"/>
                    <a:pt x="326" y="1416"/>
                    <a:pt x="322" y="1421"/>
                  </a:cubicBezTo>
                  <a:cubicBezTo>
                    <a:pt x="318" y="1426"/>
                    <a:pt x="319" y="1434"/>
                    <a:pt x="324" y="1438"/>
                  </a:cubicBezTo>
                  <a:cubicBezTo>
                    <a:pt x="339" y="1448"/>
                    <a:pt x="353" y="1458"/>
                    <a:pt x="368" y="1468"/>
                  </a:cubicBezTo>
                  <a:cubicBezTo>
                    <a:pt x="374" y="1471"/>
                    <a:pt x="381" y="1470"/>
                    <a:pt x="384" y="1464"/>
                  </a:cubicBezTo>
                  <a:cubicBezTo>
                    <a:pt x="388" y="1459"/>
                    <a:pt x="386" y="1452"/>
                    <a:pt x="381" y="1448"/>
                  </a:cubicBezTo>
                  <a:close/>
                  <a:moveTo>
                    <a:pt x="471" y="1498"/>
                  </a:moveTo>
                  <a:cubicBezTo>
                    <a:pt x="456" y="1490"/>
                    <a:pt x="440" y="1483"/>
                    <a:pt x="425" y="1474"/>
                  </a:cubicBezTo>
                  <a:cubicBezTo>
                    <a:pt x="420" y="1471"/>
                    <a:pt x="413" y="1473"/>
                    <a:pt x="409" y="1479"/>
                  </a:cubicBezTo>
                  <a:cubicBezTo>
                    <a:pt x="406" y="1485"/>
                    <a:pt x="408" y="1492"/>
                    <a:pt x="414" y="1495"/>
                  </a:cubicBezTo>
                  <a:cubicBezTo>
                    <a:pt x="430" y="1504"/>
                    <a:pt x="445" y="1512"/>
                    <a:pt x="462" y="1519"/>
                  </a:cubicBezTo>
                  <a:cubicBezTo>
                    <a:pt x="467" y="1522"/>
                    <a:pt x="474" y="1519"/>
                    <a:pt x="477" y="1513"/>
                  </a:cubicBezTo>
                  <a:cubicBezTo>
                    <a:pt x="480" y="1507"/>
                    <a:pt x="477" y="1500"/>
                    <a:pt x="471" y="1498"/>
                  </a:cubicBezTo>
                  <a:close/>
                  <a:moveTo>
                    <a:pt x="568" y="1535"/>
                  </a:moveTo>
                  <a:cubicBezTo>
                    <a:pt x="551" y="1530"/>
                    <a:pt x="535" y="1524"/>
                    <a:pt x="519" y="1518"/>
                  </a:cubicBezTo>
                  <a:cubicBezTo>
                    <a:pt x="513" y="1516"/>
                    <a:pt x="506" y="1519"/>
                    <a:pt x="504" y="1525"/>
                  </a:cubicBezTo>
                  <a:cubicBezTo>
                    <a:pt x="502" y="1531"/>
                    <a:pt x="505" y="1537"/>
                    <a:pt x="511" y="1540"/>
                  </a:cubicBezTo>
                  <a:cubicBezTo>
                    <a:pt x="527" y="1546"/>
                    <a:pt x="544" y="1552"/>
                    <a:pt x="561" y="1557"/>
                  </a:cubicBezTo>
                  <a:cubicBezTo>
                    <a:pt x="567" y="1559"/>
                    <a:pt x="574" y="1556"/>
                    <a:pt x="576" y="1549"/>
                  </a:cubicBezTo>
                  <a:cubicBezTo>
                    <a:pt x="578" y="1543"/>
                    <a:pt x="574" y="1537"/>
                    <a:pt x="568" y="1535"/>
                  </a:cubicBezTo>
                  <a:close/>
                  <a:moveTo>
                    <a:pt x="668" y="1559"/>
                  </a:moveTo>
                  <a:cubicBezTo>
                    <a:pt x="651" y="1556"/>
                    <a:pt x="634" y="1552"/>
                    <a:pt x="618" y="1548"/>
                  </a:cubicBezTo>
                  <a:cubicBezTo>
                    <a:pt x="611" y="1547"/>
                    <a:pt x="605" y="1551"/>
                    <a:pt x="604" y="1557"/>
                  </a:cubicBezTo>
                  <a:cubicBezTo>
                    <a:pt x="602" y="1563"/>
                    <a:pt x="606" y="1570"/>
                    <a:pt x="612" y="1571"/>
                  </a:cubicBezTo>
                  <a:cubicBezTo>
                    <a:pt x="630" y="1575"/>
                    <a:pt x="647" y="1579"/>
                    <a:pt x="665" y="1582"/>
                  </a:cubicBezTo>
                  <a:cubicBezTo>
                    <a:pt x="671" y="1583"/>
                    <a:pt x="677" y="1578"/>
                    <a:pt x="678" y="1572"/>
                  </a:cubicBezTo>
                  <a:cubicBezTo>
                    <a:pt x="679" y="1566"/>
                    <a:pt x="675" y="1560"/>
                    <a:pt x="668" y="1559"/>
                  </a:cubicBezTo>
                  <a:close/>
                  <a:moveTo>
                    <a:pt x="771" y="1569"/>
                  </a:moveTo>
                  <a:cubicBezTo>
                    <a:pt x="754" y="1568"/>
                    <a:pt x="737" y="1567"/>
                    <a:pt x="720" y="1565"/>
                  </a:cubicBezTo>
                  <a:cubicBezTo>
                    <a:pt x="713" y="1565"/>
                    <a:pt x="707" y="1569"/>
                    <a:pt x="707" y="1576"/>
                  </a:cubicBezTo>
                  <a:cubicBezTo>
                    <a:pt x="706" y="1582"/>
                    <a:pt x="711" y="1588"/>
                    <a:pt x="717" y="1589"/>
                  </a:cubicBezTo>
                  <a:cubicBezTo>
                    <a:pt x="735" y="1590"/>
                    <a:pt x="752" y="1592"/>
                    <a:pt x="770" y="1592"/>
                  </a:cubicBezTo>
                  <a:cubicBezTo>
                    <a:pt x="777" y="1592"/>
                    <a:pt x="782" y="1587"/>
                    <a:pt x="782" y="1581"/>
                  </a:cubicBezTo>
                  <a:cubicBezTo>
                    <a:pt x="783" y="1574"/>
                    <a:pt x="778" y="1569"/>
                    <a:pt x="771" y="1569"/>
                  </a:cubicBezTo>
                  <a:close/>
                  <a:moveTo>
                    <a:pt x="874" y="1565"/>
                  </a:moveTo>
                  <a:cubicBezTo>
                    <a:pt x="857" y="1567"/>
                    <a:pt x="840" y="1568"/>
                    <a:pt x="823" y="1569"/>
                  </a:cubicBezTo>
                  <a:cubicBezTo>
                    <a:pt x="816" y="1569"/>
                    <a:pt x="811" y="1574"/>
                    <a:pt x="811" y="1581"/>
                  </a:cubicBezTo>
                  <a:cubicBezTo>
                    <a:pt x="812" y="1587"/>
                    <a:pt x="817" y="1592"/>
                    <a:pt x="824" y="1592"/>
                  </a:cubicBezTo>
                  <a:cubicBezTo>
                    <a:pt x="841" y="1592"/>
                    <a:pt x="859" y="1590"/>
                    <a:pt x="877" y="1589"/>
                  </a:cubicBezTo>
                  <a:cubicBezTo>
                    <a:pt x="883" y="1588"/>
                    <a:pt x="888" y="1582"/>
                    <a:pt x="887" y="1576"/>
                  </a:cubicBezTo>
                  <a:cubicBezTo>
                    <a:pt x="886" y="1569"/>
                    <a:pt x="881" y="1565"/>
                    <a:pt x="874" y="1565"/>
                  </a:cubicBezTo>
                  <a:close/>
                  <a:moveTo>
                    <a:pt x="976" y="1548"/>
                  </a:moveTo>
                  <a:cubicBezTo>
                    <a:pt x="959" y="1552"/>
                    <a:pt x="942" y="1556"/>
                    <a:pt x="925" y="1558"/>
                  </a:cubicBezTo>
                  <a:cubicBezTo>
                    <a:pt x="919" y="1559"/>
                    <a:pt x="915" y="1566"/>
                    <a:pt x="916" y="1572"/>
                  </a:cubicBezTo>
                  <a:cubicBezTo>
                    <a:pt x="917" y="1578"/>
                    <a:pt x="923" y="1583"/>
                    <a:pt x="929" y="1582"/>
                  </a:cubicBezTo>
                  <a:cubicBezTo>
                    <a:pt x="947" y="1579"/>
                    <a:pt x="964" y="1575"/>
                    <a:pt x="981" y="1571"/>
                  </a:cubicBezTo>
                  <a:cubicBezTo>
                    <a:pt x="988" y="1570"/>
                    <a:pt x="992" y="1563"/>
                    <a:pt x="990" y="1557"/>
                  </a:cubicBezTo>
                  <a:cubicBezTo>
                    <a:pt x="989" y="1551"/>
                    <a:pt x="982" y="1547"/>
                    <a:pt x="976" y="1548"/>
                  </a:cubicBezTo>
                  <a:close/>
                  <a:moveTo>
                    <a:pt x="1075" y="1518"/>
                  </a:moveTo>
                  <a:cubicBezTo>
                    <a:pt x="1059" y="1524"/>
                    <a:pt x="1042" y="1529"/>
                    <a:pt x="1026" y="1535"/>
                  </a:cubicBezTo>
                  <a:cubicBezTo>
                    <a:pt x="1020" y="1536"/>
                    <a:pt x="1016" y="1543"/>
                    <a:pt x="1018" y="1549"/>
                  </a:cubicBezTo>
                  <a:cubicBezTo>
                    <a:pt x="1020" y="1555"/>
                    <a:pt x="1027" y="1559"/>
                    <a:pt x="1033" y="1557"/>
                  </a:cubicBezTo>
                  <a:cubicBezTo>
                    <a:pt x="1050" y="1552"/>
                    <a:pt x="1067" y="1546"/>
                    <a:pt x="1083" y="1539"/>
                  </a:cubicBezTo>
                  <a:cubicBezTo>
                    <a:pt x="1089" y="1537"/>
                    <a:pt x="1092" y="1530"/>
                    <a:pt x="1090" y="1524"/>
                  </a:cubicBezTo>
                  <a:cubicBezTo>
                    <a:pt x="1087" y="1518"/>
                    <a:pt x="1081" y="1515"/>
                    <a:pt x="1075" y="1518"/>
                  </a:cubicBezTo>
                  <a:close/>
                  <a:moveTo>
                    <a:pt x="1168" y="1474"/>
                  </a:moveTo>
                  <a:cubicBezTo>
                    <a:pt x="1153" y="1482"/>
                    <a:pt x="1138" y="1490"/>
                    <a:pt x="1122" y="1497"/>
                  </a:cubicBezTo>
                  <a:cubicBezTo>
                    <a:pt x="1116" y="1500"/>
                    <a:pt x="1114" y="1507"/>
                    <a:pt x="1116" y="1513"/>
                  </a:cubicBezTo>
                  <a:cubicBezTo>
                    <a:pt x="1119" y="1519"/>
                    <a:pt x="1126" y="1521"/>
                    <a:pt x="1132" y="1519"/>
                  </a:cubicBezTo>
                  <a:cubicBezTo>
                    <a:pt x="1148" y="1511"/>
                    <a:pt x="1164" y="1503"/>
                    <a:pt x="1179" y="1495"/>
                  </a:cubicBezTo>
                  <a:cubicBezTo>
                    <a:pt x="1185" y="1492"/>
                    <a:pt x="1187" y="1484"/>
                    <a:pt x="1184" y="1479"/>
                  </a:cubicBezTo>
                  <a:cubicBezTo>
                    <a:pt x="1181" y="1473"/>
                    <a:pt x="1174" y="1471"/>
                    <a:pt x="1168" y="1474"/>
                  </a:cubicBezTo>
                  <a:close/>
                  <a:moveTo>
                    <a:pt x="1255" y="1418"/>
                  </a:moveTo>
                  <a:cubicBezTo>
                    <a:pt x="1241" y="1429"/>
                    <a:pt x="1227" y="1438"/>
                    <a:pt x="1212" y="1448"/>
                  </a:cubicBezTo>
                  <a:cubicBezTo>
                    <a:pt x="1207" y="1451"/>
                    <a:pt x="1205" y="1459"/>
                    <a:pt x="1209" y="1464"/>
                  </a:cubicBezTo>
                  <a:cubicBezTo>
                    <a:pt x="1212" y="1469"/>
                    <a:pt x="1220" y="1471"/>
                    <a:pt x="1225" y="1468"/>
                  </a:cubicBezTo>
                  <a:cubicBezTo>
                    <a:pt x="1240" y="1458"/>
                    <a:pt x="1255" y="1448"/>
                    <a:pt x="1269" y="1437"/>
                  </a:cubicBezTo>
                  <a:cubicBezTo>
                    <a:pt x="1274" y="1434"/>
                    <a:pt x="1275" y="1426"/>
                    <a:pt x="1271" y="1421"/>
                  </a:cubicBezTo>
                  <a:cubicBezTo>
                    <a:pt x="1268" y="1416"/>
                    <a:pt x="1260" y="1415"/>
                    <a:pt x="1255" y="1418"/>
                  </a:cubicBezTo>
                  <a:close/>
                  <a:moveTo>
                    <a:pt x="1334" y="1352"/>
                  </a:moveTo>
                  <a:cubicBezTo>
                    <a:pt x="1321" y="1364"/>
                    <a:pt x="1309" y="1375"/>
                    <a:pt x="1295" y="1386"/>
                  </a:cubicBezTo>
                  <a:cubicBezTo>
                    <a:pt x="1290" y="1391"/>
                    <a:pt x="1290" y="1398"/>
                    <a:pt x="1294" y="1403"/>
                  </a:cubicBezTo>
                  <a:cubicBezTo>
                    <a:pt x="1298" y="1408"/>
                    <a:pt x="1306" y="1409"/>
                    <a:pt x="1311" y="1404"/>
                  </a:cubicBezTo>
                  <a:cubicBezTo>
                    <a:pt x="1324" y="1393"/>
                    <a:pt x="1337" y="1381"/>
                    <a:pt x="1350" y="1369"/>
                  </a:cubicBezTo>
                  <a:cubicBezTo>
                    <a:pt x="1355" y="1364"/>
                    <a:pt x="1355" y="1357"/>
                    <a:pt x="1350" y="1352"/>
                  </a:cubicBezTo>
                  <a:cubicBezTo>
                    <a:pt x="1346" y="1347"/>
                    <a:pt x="1338" y="1347"/>
                    <a:pt x="1334" y="1352"/>
                  </a:cubicBezTo>
                  <a:close/>
                  <a:moveTo>
                    <a:pt x="1403" y="1275"/>
                  </a:moveTo>
                  <a:cubicBezTo>
                    <a:pt x="1392" y="1289"/>
                    <a:pt x="1381" y="1302"/>
                    <a:pt x="1370" y="1315"/>
                  </a:cubicBezTo>
                  <a:cubicBezTo>
                    <a:pt x="1365" y="1320"/>
                    <a:pt x="1366" y="1327"/>
                    <a:pt x="1370" y="1331"/>
                  </a:cubicBezTo>
                  <a:cubicBezTo>
                    <a:pt x="1375" y="1336"/>
                    <a:pt x="1383" y="1335"/>
                    <a:pt x="1387" y="1330"/>
                  </a:cubicBezTo>
                  <a:cubicBezTo>
                    <a:pt x="1399" y="1317"/>
                    <a:pt x="1410" y="1304"/>
                    <a:pt x="1421" y="1290"/>
                  </a:cubicBezTo>
                  <a:cubicBezTo>
                    <a:pt x="1425" y="1285"/>
                    <a:pt x="1425" y="1277"/>
                    <a:pt x="1420" y="1273"/>
                  </a:cubicBezTo>
                  <a:cubicBezTo>
                    <a:pt x="1414" y="1269"/>
                    <a:pt x="1407" y="1270"/>
                    <a:pt x="1403" y="1275"/>
                  </a:cubicBezTo>
                  <a:close/>
                  <a:moveTo>
                    <a:pt x="1462" y="1190"/>
                  </a:moveTo>
                  <a:cubicBezTo>
                    <a:pt x="1453" y="1205"/>
                    <a:pt x="1443" y="1220"/>
                    <a:pt x="1434" y="1234"/>
                  </a:cubicBezTo>
                  <a:cubicBezTo>
                    <a:pt x="1430" y="1239"/>
                    <a:pt x="1431" y="1246"/>
                    <a:pt x="1437" y="1250"/>
                  </a:cubicBezTo>
                  <a:cubicBezTo>
                    <a:pt x="1442" y="1254"/>
                    <a:pt x="1449" y="1252"/>
                    <a:pt x="1453" y="1247"/>
                  </a:cubicBezTo>
                  <a:cubicBezTo>
                    <a:pt x="1463" y="1232"/>
                    <a:pt x="1473" y="1217"/>
                    <a:pt x="1482" y="1202"/>
                  </a:cubicBezTo>
                  <a:cubicBezTo>
                    <a:pt x="1485" y="1197"/>
                    <a:pt x="1483" y="1189"/>
                    <a:pt x="1478" y="1186"/>
                  </a:cubicBezTo>
                  <a:cubicBezTo>
                    <a:pt x="1472" y="1183"/>
                    <a:pt x="1465" y="1185"/>
                    <a:pt x="1462" y="1190"/>
                  </a:cubicBezTo>
                  <a:close/>
                  <a:moveTo>
                    <a:pt x="1508" y="1098"/>
                  </a:moveTo>
                  <a:cubicBezTo>
                    <a:pt x="1501" y="1114"/>
                    <a:pt x="1494" y="1130"/>
                    <a:pt x="1486" y="1145"/>
                  </a:cubicBezTo>
                  <a:cubicBezTo>
                    <a:pt x="1483" y="1151"/>
                    <a:pt x="1486" y="1158"/>
                    <a:pt x="1492" y="1161"/>
                  </a:cubicBezTo>
                  <a:cubicBezTo>
                    <a:pt x="1497" y="1164"/>
                    <a:pt x="1504" y="1161"/>
                    <a:pt x="1507" y="1155"/>
                  </a:cubicBezTo>
                  <a:cubicBezTo>
                    <a:pt x="1515" y="1140"/>
                    <a:pt x="1523" y="1124"/>
                    <a:pt x="1530" y="1107"/>
                  </a:cubicBezTo>
                  <a:cubicBezTo>
                    <a:pt x="1532" y="1101"/>
                    <a:pt x="1530" y="1094"/>
                    <a:pt x="1524" y="1092"/>
                  </a:cubicBezTo>
                  <a:cubicBezTo>
                    <a:pt x="1518" y="1089"/>
                    <a:pt x="1511" y="1092"/>
                    <a:pt x="1508" y="1098"/>
                  </a:cubicBezTo>
                  <a:close/>
                  <a:moveTo>
                    <a:pt x="1542" y="1000"/>
                  </a:moveTo>
                  <a:cubicBezTo>
                    <a:pt x="1537" y="1017"/>
                    <a:pt x="1532" y="1034"/>
                    <a:pt x="1527" y="1050"/>
                  </a:cubicBezTo>
                  <a:cubicBezTo>
                    <a:pt x="1525" y="1056"/>
                    <a:pt x="1528" y="1063"/>
                    <a:pt x="1534" y="1065"/>
                  </a:cubicBezTo>
                  <a:cubicBezTo>
                    <a:pt x="1540" y="1067"/>
                    <a:pt x="1547" y="1064"/>
                    <a:pt x="1549" y="1057"/>
                  </a:cubicBezTo>
                  <a:cubicBezTo>
                    <a:pt x="1555" y="1041"/>
                    <a:pt x="1560" y="1024"/>
                    <a:pt x="1565" y="1007"/>
                  </a:cubicBezTo>
                  <a:cubicBezTo>
                    <a:pt x="1566" y="1000"/>
                    <a:pt x="1563" y="994"/>
                    <a:pt x="1556" y="992"/>
                  </a:cubicBezTo>
                  <a:cubicBezTo>
                    <a:pt x="1550" y="990"/>
                    <a:pt x="1544" y="994"/>
                    <a:pt x="1542" y="1000"/>
                  </a:cubicBezTo>
                  <a:close/>
                  <a:moveTo>
                    <a:pt x="1562" y="899"/>
                  </a:moveTo>
                  <a:cubicBezTo>
                    <a:pt x="1560" y="916"/>
                    <a:pt x="1557" y="933"/>
                    <a:pt x="1554" y="950"/>
                  </a:cubicBezTo>
                  <a:cubicBezTo>
                    <a:pt x="1553" y="957"/>
                    <a:pt x="1557" y="963"/>
                    <a:pt x="1563" y="964"/>
                  </a:cubicBezTo>
                  <a:cubicBezTo>
                    <a:pt x="1570" y="965"/>
                    <a:pt x="1576" y="961"/>
                    <a:pt x="1577" y="955"/>
                  </a:cubicBezTo>
                  <a:cubicBezTo>
                    <a:pt x="1580" y="938"/>
                    <a:pt x="1583" y="920"/>
                    <a:pt x="1586" y="902"/>
                  </a:cubicBezTo>
                  <a:cubicBezTo>
                    <a:pt x="1587" y="896"/>
                    <a:pt x="1582" y="890"/>
                    <a:pt x="1576" y="889"/>
                  </a:cubicBezTo>
                  <a:cubicBezTo>
                    <a:pt x="1569" y="888"/>
                    <a:pt x="1563" y="893"/>
                    <a:pt x="1562" y="899"/>
                  </a:cubicBezTo>
                  <a:close/>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0" name="Freeform 62">
              <a:extLst>
                <a:ext uri="{FF2B5EF4-FFF2-40B4-BE49-F238E27FC236}">
                  <a16:creationId xmlns:a16="http://schemas.microsoft.com/office/drawing/2014/main" id="{403352EC-2369-EBFB-2751-AF77888B51F0}"/>
                </a:ext>
              </a:extLst>
            </p:cNvPr>
            <p:cNvSpPr>
              <a:spLocks noEditPoints="1"/>
            </p:cNvSpPr>
            <p:nvPr/>
          </p:nvSpPr>
          <p:spPr bwMode="auto">
            <a:xfrm>
              <a:off x="4687245" y="1956495"/>
              <a:ext cx="443628" cy="443628"/>
            </a:xfrm>
            <a:custGeom>
              <a:avLst/>
              <a:gdLst>
                <a:gd name="T0" fmla="*/ 146 w 293"/>
                <a:gd name="T1" fmla="*/ 20 h 293"/>
                <a:gd name="T2" fmla="*/ 160 w 293"/>
                <a:gd name="T3" fmla="*/ 21 h 293"/>
                <a:gd name="T4" fmla="*/ 167 w 293"/>
                <a:gd name="T5" fmla="*/ 0 h 293"/>
                <a:gd name="T6" fmla="*/ 211 w 293"/>
                <a:gd name="T7" fmla="*/ 13 h 293"/>
                <a:gd name="T8" fmla="*/ 204 w 293"/>
                <a:gd name="T9" fmla="*/ 34 h 293"/>
                <a:gd name="T10" fmla="*/ 245 w 293"/>
                <a:gd name="T11" fmla="*/ 67 h 293"/>
                <a:gd name="T12" fmla="*/ 264 w 293"/>
                <a:gd name="T13" fmla="*/ 57 h 293"/>
                <a:gd name="T14" fmla="*/ 286 w 293"/>
                <a:gd name="T15" fmla="*/ 98 h 293"/>
                <a:gd name="T16" fmla="*/ 267 w 293"/>
                <a:gd name="T17" fmla="*/ 108 h 293"/>
                <a:gd name="T18" fmla="*/ 272 w 293"/>
                <a:gd name="T19" fmla="*/ 160 h 293"/>
                <a:gd name="T20" fmla="*/ 293 w 293"/>
                <a:gd name="T21" fmla="*/ 167 h 293"/>
                <a:gd name="T22" fmla="*/ 279 w 293"/>
                <a:gd name="T23" fmla="*/ 211 h 293"/>
                <a:gd name="T24" fmla="*/ 258 w 293"/>
                <a:gd name="T25" fmla="*/ 204 h 293"/>
                <a:gd name="T26" fmla="*/ 225 w 293"/>
                <a:gd name="T27" fmla="*/ 245 h 293"/>
                <a:gd name="T28" fmla="*/ 235 w 293"/>
                <a:gd name="T29" fmla="*/ 264 h 293"/>
                <a:gd name="T30" fmla="*/ 195 w 293"/>
                <a:gd name="T31" fmla="*/ 286 h 293"/>
                <a:gd name="T32" fmla="*/ 184 w 293"/>
                <a:gd name="T33" fmla="*/ 267 h 293"/>
                <a:gd name="T34" fmla="*/ 146 w 293"/>
                <a:gd name="T35" fmla="*/ 272 h 293"/>
                <a:gd name="T36" fmla="*/ 146 w 293"/>
                <a:gd name="T37" fmla="*/ 239 h 293"/>
                <a:gd name="T38" fmla="*/ 235 w 293"/>
                <a:gd name="T39" fmla="*/ 173 h 293"/>
                <a:gd name="T40" fmla="*/ 173 w 293"/>
                <a:gd name="T41" fmla="*/ 57 h 293"/>
                <a:gd name="T42" fmla="*/ 146 w 293"/>
                <a:gd name="T43" fmla="*/ 53 h 293"/>
                <a:gd name="T44" fmla="*/ 146 w 293"/>
                <a:gd name="T45" fmla="*/ 20 h 293"/>
                <a:gd name="T46" fmla="*/ 67 w 293"/>
                <a:gd name="T47" fmla="*/ 48 h 293"/>
                <a:gd name="T48" fmla="*/ 57 w 293"/>
                <a:gd name="T49" fmla="*/ 28 h 293"/>
                <a:gd name="T50" fmla="*/ 98 w 293"/>
                <a:gd name="T51" fmla="*/ 7 h 293"/>
                <a:gd name="T52" fmla="*/ 108 w 293"/>
                <a:gd name="T53" fmla="*/ 26 h 293"/>
                <a:gd name="T54" fmla="*/ 146 w 293"/>
                <a:gd name="T55" fmla="*/ 20 h 293"/>
                <a:gd name="T56" fmla="*/ 146 w 293"/>
                <a:gd name="T57" fmla="*/ 53 h 293"/>
                <a:gd name="T58" fmla="*/ 57 w 293"/>
                <a:gd name="T59" fmla="*/ 119 h 293"/>
                <a:gd name="T60" fmla="*/ 119 w 293"/>
                <a:gd name="T61" fmla="*/ 235 h 293"/>
                <a:gd name="T62" fmla="*/ 146 w 293"/>
                <a:gd name="T63" fmla="*/ 239 h 293"/>
                <a:gd name="T64" fmla="*/ 146 w 293"/>
                <a:gd name="T65" fmla="*/ 272 h 293"/>
                <a:gd name="T66" fmla="*/ 132 w 293"/>
                <a:gd name="T67" fmla="*/ 272 h 293"/>
                <a:gd name="T68" fmla="*/ 126 w 293"/>
                <a:gd name="T69" fmla="*/ 293 h 293"/>
                <a:gd name="T70" fmla="*/ 82 w 293"/>
                <a:gd name="T71" fmla="*/ 279 h 293"/>
                <a:gd name="T72" fmla="*/ 88 w 293"/>
                <a:gd name="T73" fmla="*/ 258 h 293"/>
                <a:gd name="T74" fmla="*/ 48 w 293"/>
                <a:gd name="T75" fmla="*/ 225 h 293"/>
                <a:gd name="T76" fmla="*/ 28 w 293"/>
                <a:gd name="T77" fmla="*/ 235 h 293"/>
                <a:gd name="T78" fmla="*/ 7 w 293"/>
                <a:gd name="T79" fmla="*/ 195 h 293"/>
                <a:gd name="T80" fmla="*/ 26 w 293"/>
                <a:gd name="T81" fmla="*/ 184 h 293"/>
                <a:gd name="T82" fmla="*/ 21 w 293"/>
                <a:gd name="T83" fmla="*/ 132 h 293"/>
                <a:gd name="T84" fmla="*/ 0 w 293"/>
                <a:gd name="T85" fmla="*/ 126 h 293"/>
                <a:gd name="T86" fmla="*/ 13 w 293"/>
                <a:gd name="T87" fmla="*/ 82 h 293"/>
                <a:gd name="T88" fmla="*/ 34 w 293"/>
                <a:gd name="T89" fmla="*/ 88 h 293"/>
                <a:gd name="T90" fmla="*/ 67 w 293"/>
                <a:gd name="T91" fmla="*/ 4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3" h="293">
                  <a:moveTo>
                    <a:pt x="146" y="20"/>
                  </a:moveTo>
                  <a:cubicBezTo>
                    <a:pt x="151" y="20"/>
                    <a:pt x="156" y="20"/>
                    <a:pt x="160" y="21"/>
                  </a:cubicBezTo>
                  <a:cubicBezTo>
                    <a:pt x="167" y="0"/>
                    <a:pt x="167" y="0"/>
                    <a:pt x="167" y="0"/>
                  </a:cubicBezTo>
                  <a:cubicBezTo>
                    <a:pt x="211" y="13"/>
                    <a:pt x="211" y="13"/>
                    <a:pt x="211" y="13"/>
                  </a:cubicBezTo>
                  <a:cubicBezTo>
                    <a:pt x="204" y="34"/>
                    <a:pt x="204" y="34"/>
                    <a:pt x="204" y="34"/>
                  </a:cubicBezTo>
                  <a:cubicBezTo>
                    <a:pt x="220" y="42"/>
                    <a:pt x="234" y="54"/>
                    <a:pt x="245" y="67"/>
                  </a:cubicBezTo>
                  <a:cubicBezTo>
                    <a:pt x="264" y="57"/>
                    <a:pt x="264" y="57"/>
                    <a:pt x="264" y="57"/>
                  </a:cubicBezTo>
                  <a:cubicBezTo>
                    <a:pt x="286" y="98"/>
                    <a:pt x="286" y="98"/>
                    <a:pt x="286" y="98"/>
                  </a:cubicBezTo>
                  <a:cubicBezTo>
                    <a:pt x="267" y="108"/>
                    <a:pt x="267" y="108"/>
                    <a:pt x="267" y="108"/>
                  </a:cubicBezTo>
                  <a:cubicBezTo>
                    <a:pt x="272" y="125"/>
                    <a:pt x="274" y="142"/>
                    <a:pt x="272" y="160"/>
                  </a:cubicBezTo>
                  <a:cubicBezTo>
                    <a:pt x="293" y="167"/>
                    <a:pt x="293" y="167"/>
                    <a:pt x="293" y="167"/>
                  </a:cubicBezTo>
                  <a:cubicBezTo>
                    <a:pt x="279" y="211"/>
                    <a:pt x="279" y="211"/>
                    <a:pt x="279" y="211"/>
                  </a:cubicBezTo>
                  <a:cubicBezTo>
                    <a:pt x="258" y="204"/>
                    <a:pt x="258" y="204"/>
                    <a:pt x="258" y="204"/>
                  </a:cubicBezTo>
                  <a:cubicBezTo>
                    <a:pt x="250" y="220"/>
                    <a:pt x="239" y="234"/>
                    <a:pt x="225" y="245"/>
                  </a:cubicBezTo>
                  <a:cubicBezTo>
                    <a:pt x="235" y="264"/>
                    <a:pt x="235" y="264"/>
                    <a:pt x="235" y="264"/>
                  </a:cubicBezTo>
                  <a:cubicBezTo>
                    <a:pt x="195" y="286"/>
                    <a:pt x="195" y="286"/>
                    <a:pt x="195" y="286"/>
                  </a:cubicBezTo>
                  <a:cubicBezTo>
                    <a:pt x="184" y="267"/>
                    <a:pt x="184" y="267"/>
                    <a:pt x="184" y="267"/>
                  </a:cubicBezTo>
                  <a:cubicBezTo>
                    <a:pt x="172" y="270"/>
                    <a:pt x="159" y="272"/>
                    <a:pt x="146" y="272"/>
                  </a:cubicBezTo>
                  <a:cubicBezTo>
                    <a:pt x="146" y="239"/>
                    <a:pt x="146" y="239"/>
                    <a:pt x="146" y="239"/>
                  </a:cubicBezTo>
                  <a:cubicBezTo>
                    <a:pt x="186" y="239"/>
                    <a:pt x="223" y="214"/>
                    <a:pt x="235" y="173"/>
                  </a:cubicBezTo>
                  <a:cubicBezTo>
                    <a:pt x="250" y="124"/>
                    <a:pt x="223" y="72"/>
                    <a:pt x="173" y="57"/>
                  </a:cubicBezTo>
                  <a:cubicBezTo>
                    <a:pt x="164" y="54"/>
                    <a:pt x="155" y="53"/>
                    <a:pt x="146" y="53"/>
                  </a:cubicBezTo>
                  <a:lnTo>
                    <a:pt x="146" y="20"/>
                  </a:lnTo>
                  <a:close/>
                  <a:moveTo>
                    <a:pt x="67" y="48"/>
                  </a:moveTo>
                  <a:cubicBezTo>
                    <a:pt x="57" y="28"/>
                    <a:pt x="57" y="28"/>
                    <a:pt x="57" y="28"/>
                  </a:cubicBezTo>
                  <a:cubicBezTo>
                    <a:pt x="98" y="7"/>
                    <a:pt x="98" y="7"/>
                    <a:pt x="98" y="7"/>
                  </a:cubicBezTo>
                  <a:cubicBezTo>
                    <a:pt x="108" y="26"/>
                    <a:pt x="108" y="26"/>
                    <a:pt x="108" y="26"/>
                  </a:cubicBezTo>
                  <a:cubicBezTo>
                    <a:pt x="120" y="22"/>
                    <a:pt x="133" y="20"/>
                    <a:pt x="146" y="20"/>
                  </a:cubicBezTo>
                  <a:cubicBezTo>
                    <a:pt x="146" y="53"/>
                    <a:pt x="146" y="53"/>
                    <a:pt x="146" y="53"/>
                  </a:cubicBezTo>
                  <a:cubicBezTo>
                    <a:pt x="106" y="53"/>
                    <a:pt x="69" y="79"/>
                    <a:pt x="57" y="119"/>
                  </a:cubicBezTo>
                  <a:cubicBezTo>
                    <a:pt x="42" y="168"/>
                    <a:pt x="70" y="220"/>
                    <a:pt x="119" y="235"/>
                  </a:cubicBezTo>
                  <a:cubicBezTo>
                    <a:pt x="128" y="238"/>
                    <a:pt x="137" y="239"/>
                    <a:pt x="146" y="239"/>
                  </a:cubicBezTo>
                  <a:cubicBezTo>
                    <a:pt x="146" y="272"/>
                    <a:pt x="146" y="272"/>
                    <a:pt x="146" y="272"/>
                  </a:cubicBezTo>
                  <a:cubicBezTo>
                    <a:pt x="142" y="272"/>
                    <a:pt x="137" y="272"/>
                    <a:pt x="132" y="272"/>
                  </a:cubicBezTo>
                  <a:cubicBezTo>
                    <a:pt x="126" y="293"/>
                    <a:pt x="126" y="293"/>
                    <a:pt x="126" y="293"/>
                  </a:cubicBezTo>
                  <a:cubicBezTo>
                    <a:pt x="82" y="279"/>
                    <a:pt x="82" y="279"/>
                    <a:pt x="82" y="279"/>
                  </a:cubicBezTo>
                  <a:cubicBezTo>
                    <a:pt x="88" y="258"/>
                    <a:pt x="88" y="258"/>
                    <a:pt x="88" y="258"/>
                  </a:cubicBezTo>
                  <a:cubicBezTo>
                    <a:pt x="72" y="250"/>
                    <a:pt x="58" y="239"/>
                    <a:pt x="48" y="225"/>
                  </a:cubicBezTo>
                  <a:cubicBezTo>
                    <a:pt x="28" y="235"/>
                    <a:pt x="28" y="235"/>
                    <a:pt x="28" y="235"/>
                  </a:cubicBezTo>
                  <a:cubicBezTo>
                    <a:pt x="7" y="195"/>
                    <a:pt x="7" y="195"/>
                    <a:pt x="7" y="195"/>
                  </a:cubicBezTo>
                  <a:cubicBezTo>
                    <a:pt x="26" y="184"/>
                    <a:pt x="26" y="184"/>
                    <a:pt x="26" y="184"/>
                  </a:cubicBezTo>
                  <a:cubicBezTo>
                    <a:pt x="21" y="168"/>
                    <a:pt x="19" y="150"/>
                    <a:pt x="21" y="132"/>
                  </a:cubicBezTo>
                  <a:cubicBezTo>
                    <a:pt x="0" y="126"/>
                    <a:pt x="0" y="126"/>
                    <a:pt x="0" y="126"/>
                  </a:cubicBezTo>
                  <a:cubicBezTo>
                    <a:pt x="13" y="82"/>
                    <a:pt x="13" y="82"/>
                    <a:pt x="13" y="82"/>
                  </a:cubicBezTo>
                  <a:cubicBezTo>
                    <a:pt x="34" y="88"/>
                    <a:pt x="34" y="88"/>
                    <a:pt x="34" y="88"/>
                  </a:cubicBezTo>
                  <a:cubicBezTo>
                    <a:pt x="42" y="72"/>
                    <a:pt x="54" y="58"/>
                    <a:pt x="67" y="48"/>
                  </a:cubicBezTo>
                  <a:close/>
                </a:path>
              </a:pathLst>
            </a:custGeom>
            <a:solidFill>
              <a:srgbClr val="BBBC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1" name="Freeform 63">
              <a:extLst>
                <a:ext uri="{FF2B5EF4-FFF2-40B4-BE49-F238E27FC236}">
                  <a16:creationId xmlns:a16="http://schemas.microsoft.com/office/drawing/2014/main" id="{0A8E0934-A64D-7A29-0623-7930B4BE23AB}"/>
                </a:ext>
              </a:extLst>
            </p:cNvPr>
            <p:cNvSpPr>
              <a:spLocks noEditPoints="1"/>
            </p:cNvSpPr>
            <p:nvPr/>
          </p:nvSpPr>
          <p:spPr bwMode="auto">
            <a:xfrm>
              <a:off x="7122147" y="2305499"/>
              <a:ext cx="281922" cy="281922"/>
            </a:xfrm>
            <a:custGeom>
              <a:avLst/>
              <a:gdLst>
                <a:gd name="T0" fmla="*/ 93 w 186"/>
                <a:gd name="T1" fmla="*/ 12 h 186"/>
                <a:gd name="T2" fmla="*/ 102 w 186"/>
                <a:gd name="T3" fmla="*/ 13 h 186"/>
                <a:gd name="T4" fmla="*/ 106 w 186"/>
                <a:gd name="T5" fmla="*/ 0 h 186"/>
                <a:gd name="T6" fmla="*/ 134 w 186"/>
                <a:gd name="T7" fmla="*/ 8 h 186"/>
                <a:gd name="T8" fmla="*/ 130 w 186"/>
                <a:gd name="T9" fmla="*/ 21 h 186"/>
                <a:gd name="T10" fmla="*/ 156 w 186"/>
                <a:gd name="T11" fmla="*/ 43 h 186"/>
                <a:gd name="T12" fmla="*/ 168 w 186"/>
                <a:gd name="T13" fmla="*/ 36 h 186"/>
                <a:gd name="T14" fmla="*/ 182 w 186"/>
                <a:gd name="T15" fmla="*/ 62 h 186"/>
                <a:gd name="T16" fmla="*/ 170 w 186"/>
                <a:gd name="T17" fmla="*/ 68 h 186"/>
                <a:gd name="T18" fmla="*/ 173 w 186"/>
                <a:gd name="T19" fmla="*/ 102 h 186"/>
                <a:gd name="T20" fmla="*/ 186 w 186"/>
                <a:gd name="T21" fmla="*/ 106 h 186"/>
                <a:gd name="T22" fmla="*/ 178 w 186"/>
                <a:gd name="T23" fmla="*/ 134 h 186"/>
                <a:gd name="T24" fmla="*/ 164 w 186"/>
                <a:gd name="T25" fmla="*/ 130 h 186"/>
                <a:gd name="T26" fmla="*/ 143 w 186"/>
                <a:gd name="T27" fmla="*/ 155 h 186"/>
                <a:gd name="T28" fmla="*/ 150 w 186"/>
                <a:gd name="T29" fmla="*/ 168 h 186"/>
                <a:gd name="T30" fmla="*/ 124 w 186"/>
                <a:gd name="T31" fmla="*/ 181 h 186"/>
                <a:gd name="T32" fmla="*/ 117 w 186"/>
                <a:gd name="T33" fmla="*/ 169 h 186"/>
                <a:gd name="T34" fmla="*/ 93 w 186"/>
                <a:gd name="T35" fmla="*/ 173 h 186"/>
                <a:gd name="T36" fmla="*/ 93 w 186"/>
                <a:gd name="T37" fmla="*/ 152 h 186"/>
                <a:gd name="T38" fmla="*/ 150 w 186"/>
                <a:gd name="T39" fmla="*/ 110 h 186"/>
                <a:gd name="T40" fmla="*/ 110 w 186"/>
                <a:gd name="T41" fmla="*/ 36 h 186"/>
                <a:gd name="T42" fmla="*/ 93 w 186"/>
                <a:gd name="T43" fmla="*/ 33 h 186"/>
                <a:gd name="T44" fmla="*/ 93 w 186"/>
                <a:gd name="T45" fmla="*/ 12 h 186"/>
                <a:gd name="T46" fmla="*/ 43 w 186"/>
                <a:gd name="T47" fmla="*/ 30 h 186"/>
                <a:gd name="T48" fmla="*/ 37 w 186"/>
                <a:gd name="T49" fmla="*/ 18 h 186"/>
                <a:gd name="T50" fmla="*/ 62 w 186"/>
                <a:gd name="T51" fmla="*/ 4 h 186"/>
                <a:gd name="T52" fmla="*/ 69 w 186"/>
                <a:gd name="T53" fmla="*/ 16 h 186"/>
                <a:gd name="T54" fmla="*/ 93 w 186"/>
                <a:gd name="T55" fmla="*/ 12 h 186"/>
                <a:gd name="T56" fmla="*/ 93 w 186"/>
                <a:gd name="T57" fmla="*/ 33 h 186"/>
                <a:gd name="T58" fmla="*/ 36 w 186"/>
                <a:gd name="T59" fmla="*/ 75 h 186"/>
                <a:gd name="T60" fmla="*/ 76 w 186"/>
                <a:gd name="T61" fmla="*/ 149 h 186"/>
                <a:gd name="T62" fmla="*/ 93 w 186"/>
                <a:gd name="T63" fmla="*/ 152 h 186"/>
                <a:gd name="T64" fmla="*/ 93 w 186"/>
                <a:gd name="T65" fmla="*/ 173 h 186"/>
                <a:gd name="T66" fmla="*/ 84 w 186"/>
                <a:gd name="T67" fmla="*/ 172 h 186"/>
                <a:gd name="T68" fmla="*/ 80 w 186"/>
                <a:gd name="T69" fmla="*/ 186 h 186"/>
                <a:gd name="T70" fmla="*/ 52 w 186"/>
                <a:gd name="T71" fmla="*/ 177 h 186"/>
                <a:gd name="T72" fmla="*/ 56 w 186"/>
                <a:gd name="T73" fmla="*/ 164 h 186"/>
                <a:gd name="T74" fmla="*/ 30 w 186"/>
                <a:gd name="T75" fmla="*/ 143 h 186"/>
                <a:gd name="T76" fmla="*/ 18 w 186"/>
                <a:gd name="T77" fmla="*/ 149 h 186"/>
                <a:gd name="T78" fmla="*/ 4 w 186"/>
                <a:gd name="T79" fmla="*/ 123 h 186"/>
                <a:gd name="T80" fmla="*/ 17 w 186"/>
                <a:gd name="T81" fmla="*/ 117 h 186"/>
                <a:gd name="T82" fmla="*/ 13 w 186"/>
                <a:gd name="T83" fmla="*/ 84 h 186"/>
                <a:gd name="T84" fmla="*/ 0 w 186"/>
                <a:gd name="T85" fmla="*/ 80 h 186"/>
                <a:gd name="T86" fmla="*/ 9 w 186"/>
                <a:gd name="T87" fmla="*/ 52 h 186"/>
                <a:gd name="T88" fmla="*/ 22 w 186"/>
                <a:gd name="T89" fmla="*/ 56 h 186"/>
                <a:gd name="T90" fmla="*/ 43 w 186"/>
                <a:gd name="T91" fmla="*/ 3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6" h="186">
                  <a:moveTo>
                    <a:pt x="93" y="12"/>
                  </a:moveTo>
                  <a:cubicBezTo>
                    <a:pt x="96" y="12"/>
                    <a:pt x="99" y="13"/>
                    <a:pt x="102" y="13"/>
                  </a:cubicBezTo>
                  <a:cubicBezTo>
                    <a:pt x="106" y="0"/>
                    <a:pt x="106" y="0"/>
                    <a:pt x="106" y="0"/>
                  </a:cubicBezTo>
                  <a:cubicBezTo>
                    <a:pt x="134" y="8"/>
                    <a:pt x="134" y="8"/>
                    <a:pt x="134" y="8"/>
                  </a:cubicBezTo>
                  <a:cubicBezTo>
                    <a:pt x="130" y="21"/>
                    <a:pt x="130" y="21"/>
                    <a:pt x="130" y="21"/>
                  </a:cubicBezTo>
                  <a:cubicBezTo>
                    <a:pt x="140" y="27"/>
                    <a:pt x="149" y="34"/>
                    <a:pt x="156" y="43"/>
                  </a:cubicBezTo>
                  <a:cubicBezTo>
                    <a:pt x="168" y="36"/>
                    <a:pt x="168" y="36"/>
                    <a:pt x="168" y="36"/>
                  </a:cubicBezTo>
                  <a:cubicBezTo>
                    <a:pt x="182" y="62"/>
                    <a:pt x="182" y="62"/>
                    <a:pt x="182" y="62"/>
                  </a:cubicBezTo>
                  <a:cubicBezTo>
                    <a:pt x="170" y="68"/>
                    <a:pt x="170" y="68"/>
                    <a:pt x="170" y="68"/>
                  </a:cubicBezTo>
                  <a:cubicBezTo>
                    <a:pt x="173" y="79"/>
                    <a:pt x="174" y="90"/>
                    <a:pt x="173" y="102"/>
                  </a:cubicBezTo>
                  <a:cubicBezTo>
                    <a:pt x="186" y="106"/>
                    <a:pt x="186" y="106"/>
                    <a:pt x="186" y="106"/>
                  </a:cubicBezTo>
                  <a:cubicBezTo>
                    <a:pt x="178" y="134"/>
                    <a:pt x="178" y="134"/>
                    <a:pt x="178" y="134"/>
                  </a:cubicBezTo>
                  <a:cubicBezTo>
                    <a:pt x="164" y="130"/>
                    <a:pt x="164" y="130"/>
                    <a:pt x="164" y="130"/>
                  </a:cubicBezTo>
                  <a:cubicBezTo>
                    <a:pt x="159" y="140"/>
                    <a:pt x="152" y="148"/>
                    <a:pt x="143" y="155"/>
                  </a:cubicBezTo>
                  <a:cubicBezTo>
                    <a:pt x="150" y="168"/>
                    <a:pt x="150" y="168"/>
                    <a:pt x="150" y="168"/>
                  </a:cubicBezTo>
                  <a:cubicBezTo>
                    <a:pt x="124" y="181"/>
                    <a:pt x="124" y="181"/>
                    <a:pt x="124" y="181"/>
                  </a:cubicBezTo>
                  <a:cubicBezTo>
                    <a:pt x="117" y="169"/>
                    <a:pt x="117" y="169"/>
                    <a:pt x="117" y="169"/>
                  </a:cubicBezTo>
                  <a:cubicBezTo>
                    <a:pt x="110" y="172"/>
                    <a:pt x="101" y="173"/>
                    <a:pt x="93" y="173"/>
                  </a:cubicBezTo>
                  <a:cubicBezTo>
                    <a:pt x="93" y="152"/>
                    <a:pt x="93" y="152"/>
                    <a:pt x="93" y="152"/>
                  </a:cubicBezTo>
                  <a:cubicBezTo>
                    <a:pt x="119" y="152"/>
                    <a:pt x="142" y="135"/>
                    <a:pt x="150" y="110"/>
                  </a:cubicBezTo>
                  <a:cubicBezTo>
                    <a:pt x="159" y="79"/>
                    <a:pt x="142" y="45"/>
                    <a:pt x="110" y="36"/>
                  </a:cubicBezTo>
                  <a:cubicBezTo>
                    <a:pt x="105" y="34"/>
                    <a:pt x="99" y="33"/>
                    <a:pt x="93" y="33"/>
                  </a:cubicBezTo>
                  <a:lnTo>
                    <a:pt x="93" y="12"/>
                  </a:lnTo>
                  <a:close/>
                  <a:moveTo>
                    <a:pt x="43" y="30"/>
                  </a:moveTo>
                  <a:cubicBezTo>
                    <a:pt x="37" y="18"/>
                    <a:pt x="37" y="18"/>
                    <a:pt x="37" y="18"/>
                  </a:cubicBezTo>
                  <a:cubicBezTo>
                    <a:pt x="62" y="4"/>
                    <a:pt x="62" y="4"/>
                    <a:pt x="62" y="4"/>
                  </a:cubicBezTo>
                  <a:cubicBezTo>
                    <a:pt x="69" y="16"/>
                    <a:pt x="69" y="16"/>
                    <a:pt x="69" y="16"/>
                  </a:cubicBezTo>
                  <a:cubicBezTo>
                    <a:pt x="77" y="14"/>
                    <a:pt x="85" y="12"/>
                    <a:pt x="93" y="12"/>
                  </a:cubicBezTo>
                  <a:cubicBezTo>
                    <a:pt x="93" y="33"/>
                    <a:pt x="93" y="33"/>
                    <a:pt x="93" y="33"/>
                  </a:cubicBezTo>
                  <a:cubicBezTo>
                    <a:pt x="68" y="33"/>
                    <a:pt x="44" y="50"/>
                    <a:pt x="36" y="75"/>
                  </a:cubicBezTo>
                  <a:cubicBezTo>
                    <a:pt x="27" y="107"/>
                    <a:pt x="45" y="140"/>
                    <a:pt x="76" y="149"/>
                  </a:cubicBezTo>
                  <a:cubicBezTo>
                    <a:pt x="82" y="151"/>
                    <a:pt x="87" y="152"/>
                    <a:pt x="93" y="152"/>
                  </a:cubicBezTo>
                  <a:cubicBezTo>
                    <a:pt x="93" y="173"/>
                    <a:pt x="93" y="173"/>
                    <a:pt x="93" y="173"/>
                  </a:cubicBezTo>
                  <a:cubicBezTo>
                    <a:pt x="90" y="173"/>
                    <a:pt x="87" y="173"/>
                    <a:pt x="84" y="172"/>
                  </a:cubicBezTo>
                  <a:cubicBezTo>
                    <a:pt x="80" y="186"/>
                    <a:pt x="80" y="186"/>
                    <a:pt x="80" y="186"/>
                  </a:cubicBezTo>
                  <a:cubicBezTo>
                    <a:pt x="52" y="177"/>
                    <a:pt x="52" y="177"/>
                    <a:pt x="52" y="177"/>
                  </a:cubicBezTo>
                  <a:cubicBezTo>
                    <a:pt x="56" y="164"/>
                    <a:pt x="56" y="164"/>
                    <a:pt x="56" y="164"/>
                  </a:cubicBezTo>
                  <a:cubicBezTo>
                    <a:pt x="46" y="159"/>
                    <a:pt x="37" y="151"/>
                    <a:pt x="30" y="143"/>
                  </a:cubicBezTo>
                  <a:cubicBezTo>
                    <a:pt x="18" y="149"/>
                    <a:pt x="18" y="149"/>
                    <a:pt x="18" y="149"/>
                  </a:cubicBezTo>
                  <a:cubicBezTo>
                    <a:pt x="4" y="123"/>
                    <a:pt x="4" y="123"/>
                    <a:pt x="4" y="123"/>
                  </a:cubicBezTo>
                  <a:cubicBezTo>
                    <a:pt x="17" y="117"/>
                    <a:pt x="17" y="117"/>
                    <a:pt x="17" y="117"/>
                  </a:cubicBezTo>
                  <a:cubicBezTo>
                    <a:pt x="13" y="106"/>
                    <a:pt x="12" y="95"/>
                    <a:pt x="13" y="84"/>
                  </a:cubicBezTo>
                  <a:cubicBezTo>
                    <a:pt x="0" y="80"/>
                    <a:pt x="0" y="80"/>
                    <a:pt x="0" y="80"/>
                  </a:cubicBezTo>
                  <a:cubicBezTo>
                    <a:pt x="9" y="52"/>
                    <a:pt x="9" y="52"/>
                    <a:pt x="9" y="52"/>
                  </a:cubicBezTo>
                  <a:cubicBezTo>
                    <a:pt x="22" y="56"/>
                    <a:pt x="22" y="56"/>
                    <a:pt x="22" y="56"/>
                  </a:cubicBezTo>
                  <a:cubicBezTo>
                    <a:pt x="27" y="46"/>
                    <a:pt x="34" y="37"/>
                    <a:pt x="43" y="30"/>
                  </a:cubicBezTo>
                  <a:close/>
                </a:path>
              </a:pathLst>
            </a:custGeom>
            <a:solidFill>
              <a:srgbClr val="BBBC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2" name="Freeform 64">
              <a:extLst>
                <a:ext uri="{FF2B5EF4-FFF2-40B4-BE49-F238E27FC236}">
                  <a16:creationId xmlns:a16="http://schemas.microsoft.com/office/drawing/2014/main" id="{3C546DC8-DA44-3488-B459-DECA2848DDF2}"/>
                </a:ext>
              </a:extLst>
            </p:cNvPr>
            <p:cNvSpPr>
              <a:spLocks noEditPoints="1"/>
            </p:cNvSpPr>
            <p:nvPr/>
          </p:nvSpPr>
          <p:spPr bwMode="auto">
            <a:xfrm>
              <a:off x="5937276" y="2153635"/>
              <a:ext cx="301071" cy="303199"/>
            </a:xfrm>
            <a:custGeom>
              <a:avLst/>
              <a:gdLst>
                <a:gd name="T0" fmla="*/ 100 w 199"/>
                <a:gd name="T1" fmla="*/ 14 h 200"/>
                <a:gd name="T2" fmla="*/ 109 w 199"/>
                <a:gd name="T3" fmla="*/ 14 h 200"/>
                <a:gd name="T4" fmla="*/ 114 w 199"/>
                <a:gd name="T5" fmla="*/ 0 h 200"/>
                <a:gd name="T6" fmla="*/ 144 w 199"/>
                <a:gd name="T7" fmla="*/ 9 h 200"/>
                <a:gd name="T8" fmla="*/ 139 w 199"/>
                <a:gd name="T9" fmla="*/ 24 h 200"/>
                <a:gd name="T10" fmla="*/ 167 w 199"/>
                <a:gd name="T11" fmla="*/ 46 h 200"/>
                <a:gd name="T12" fmla="*/ 180 w 199"/>
                <a:gd name="T13" fmla="*/ 39 h 200"/>
                <a:gd name="T14" fmla="*/ 195 w 199"/>
                <a:gd name="T15" fmla="*/ 67 h 200"/>
                <a:gd name="T16" fmla="*/ 182 w 199"/>
                <a:gd name="T17" fmla="*/ 74 h 200"/>
                <a:gd name="T18" fmla="*/ 185 w 199"/>
                <a:gd name="T19" fmla="*/ 110 h 200"/>
                <a:gd name="T20" fmla="*/ 199 w 199"/>
                <a:gd name="T21" fmla="*/ 114 h 200"/>
                <a:gd name="T22" fmla="*/ 190 w 199"/>
                <a:gd name="T23" fmla="*/ 144 h 200"/>
                <a:gd name="T24" fmla="*/ 176 w 199"/>
                <a:gd name="T25" fmla="*/ 140 h 200"/>
                <a:gd name="T26" fmla="*/ 153 w 199"/>
                <a:gd name="T27" fmla="*/ 167 h 200"/>
                <a:gd name="T28" fmla="*/ 160 w 199"/>
                <a:gd name="T29" fmla="*/ 180 h 200"/>
                <a:gd name="T30" fmla="*/ 133 w 199"/>
                <a:gd name="T31" fmla="*/ 195 h 200"/>
                <a:gd name="T32" fmla="*/ 126 w 199"/>
                <a:gd name="T33" fmla="*/ 182 h 200"/>
                <a:gd name="T34" fmla="*/ 100 w 199"/>
                <a:gd name="T35" fmla="*/ 186 h 200"/>
                <a:gd name="T36" fmla="*/ 100 w 199"/>
                <a:gd name="T37" fmla="*/ 163 h 200"/>
                <a:gd name="T38" fmla="*/ 161 w 199"/>
                <a:gd name="T39" fmla="*/ 118 h 200"/>
                <a:gd name="T40" fmla="*/ 118 w 199"/>
                <a:gd name="T41" fmla="*/ 39 h 200"/>
                <a:gd name="T42" fmla="*/ 100 w 199"/>
                <a:gd name="T43" fmla="*/ 36 h 200"/>
                <a:gd name="T44" fmla="*/ 100 w 199"/>
                <a:gd name="T45" fmla="*/ 14 h 200"/>
                <a:gd name="T46" fmla="*/ 46 w 199"/>
                <a:gd name="T47" fmla="*/ 33 h 200"/>
                <a:gd name="T48" fmla="*/ 39 w 199"/>
                <a:gd name="T49" fmla="*/ 20 h 200"/>
                <a:gd name="T50" fmla="*/ 67 w 199"/>
                <a:gd name="T51" fmla="*/ 5 h 200"/>
                <a:gd name="T52" fmla="*/ 74 w 199"/>
                <a:gd name="T53" fmla="*/ 18 h 200"/>
                <a:gd name="T54" fmla="*/ 100 w 199"/>
                <a:gd name="T55" fmla="*/ 14 h 200"/>
                <a:gd name="T56" fmla="*/ 100 w 199"/>
                <a:gd name="T57" fmla="*/ 36 h 200"/>
                <a:gd name="T58" fmla="*/ 39 w 199"/>
                <a:gd name="T59" fmla="*/ 81 h 200"/>
                <a:gd name="T60" fmla="*/ 81 w 199"/>
                <a:gd name="T61" fmla="*/ 161 h 200"/>
                <a:gd name="T62" fmla="*/ 100 w 199"/>
                <a:gd name="T63" fmla="*/ 163 h 200"/>
                <a:gd name="T64" fmla="*/ 100 w 199"/>
                <a:gd name="T65" fmla="*/ 186 h 200"/>
                <a:gd name="T66" fmla="*/ 90 w 199"/>
                <a:gd name="T67" fmla="*/ 185 h 200"/>
                <a:gd name="T68" fmla="*/ 86 w 199"/>
                <a:gd name="T69" fmla="*/ 200 h 200"/>
                <a:gd name="T70" fmla="*/ 56 w 199"/>
                <a:gd name="T71" fmla="*/ 191 h 200"/>
                <a:gd name="T72" fmla="*/ 60 w 199"/>
                <a:gd name="T73" fmla="*/ 176 h 200"/>
                <a:gd name="T74" fmla="*/ 33 w 199"/>
                <a:gd name="T75" fmla="*/ 154 h 200"/>
                <a:gd name="T76" fmla="*/ 19 w 199"/>
                <a:gd name="T77" fmla="*/ 161 h 200"/>
                <a:gd name="T78" fmla="*/ 5 w 199"/>
                <a:gd name="T79" fmla="*/ 133 h 200"/>
                <a:gd name="T80" fmla="*/ 18 w 199"/>
                <a:gd name="T81" fmla="*/ 126 h 200"/>
                <a:gd name="T82" fmla="*/ 14 w 199"/>
                <a:gd name="T83" fmla="*/ 90 h 200"/>
                <a:gd name="T84" fmla="*/ 0 w 199"/>
                <a:gd name="T85" fmla="*/ 86 h 200"/>
                <a:gd name="T86" fmla="*/ 9 w 199"/>
                <a:gd name="T87" fmla="*/ 56 h 200"/>
                <a:gd name="T88" fmla="*/ 23 w 199"/>
                <a:gd name="T89" fmla="*/ 60 h 200"/>
                <a:gd name="T90" fmla="*/ 46 w 199"/>
                <a:gd name="T91" fmla="*/ 3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9" h="200">
                  <a:moveTo>
                    <a:pt x="100" y="14"/>
                  </a:moveTo>
                  <a:cubicBezTo>
                    <a:pt x="103" y="14"/>
                    <a:pt x="106" y="14"/>
                    <a:pt x="109" y="14"/>
                  </a:cubicBezTo>
                  <a:cubicBezTo>
                    <a:pt x="114" y="0"/>
                    <a:pt x="114" y="0"/>
                    <a:pt x="114" y="0"/>
                  </a:cubicBezTo>
                  <a:cubicBezTo>
                    <a:pt x="144" y="9"/>
                    <a:pt x="144" y="9"/>
                    <a:pt x="144" y="9"/>
                  </a:cubicBezTo>
                  <a:cubicBezTo>
                    <a:pt x="139" y="24"/>
                    <a:pt x="139" y="24"/>
                    <a:pt x="139" y="24"/>
                  </a:cubicBezTo>
                  <a:cubicBezTo>
                    <a:pt x="150" y="29"/>
                    <a:pt x="160" y="37"/>
                    <a:pt x="167" y="46"/>
                  </a:cubicBezTo>
                  <a:cubicBezTo>
                    <a:pt x="180" y="39"/>
                    <a:pt x="180" y="39"/>
                    <a:pt x="180" y="39"/>
                  </a:cubicBezTo>
                  <a:cubicBezTo>
                    <a:pt x="195" y="67"/>
                    <a:pt x="195" y="67"/>
                    <a:pt x="195" y="67"/>
                  </a:cubicBezTo>
                  <a:cubicBezTo>
                    <a:pt x="182" y="74"/>
                    <a:pt x="182" y="74"/>
                    <a:pt x="182" y="74"/>
                  </a:cubicBezTo>
                  <a:cubicBezTo>
                    <a:pt x="185" y="85"/>
                    <a:pt x="187" y="97"/>
                    <a:pt x="185" y="110"/>
                  </a:cubicBezTo>
                  <a:cubicBezTo>
                    <a:pt x="199" y="114"/>
                    <a:pt x="199" y="114"/>
                    <a:pt x="199" y="114"/>
                  </a:cubicBezTo>
                  <a:cubicBezTo>
                    <a:pt x="190" y="144"/>
                    <a:pt x="190" y="144"/>
                    <a:pt x="190" y="144"/>
                  </a:cubicBezTo>
                  <a:cubicBezTo>
                    <a:pt x="176" y="140"/>
                    <a:pt x="176" y="140"/>
                    <a:pt x="176" y="140"/>
                  </a:cubicBezTo>
                  <a:cubicBezTo>
                    <a:pt x="170" y="150"/>
                    <a:pt x="163" y="160"/>
                    <a:pt x="153" y="167"/>
                  </a:cubicBezTo>
                  <a:cubicBezTo>
                    <a:pt x="160" y="180"/>
                    <a:pt x="160" y="180"/>
                    <a:pt x="160" y="180"/>
                  </a:cubicBezTo>
                  <a:cubicBezTo>
                    <a:pt x="133" y="195"/>
                    <a:pt x="133" y="195"/>
                    <a:pt x="133" y="195"/>
                  </a:cubicBezTo>
                  <a:cubicBezTo>
                    <a:pt x="126" y="182"/>
                    <a:pt x="126" y="182"/>
                    <a:pt x="126" y="182"/>
                  </a:cubicBezTo>
                  <a:cubicBezTo>
                    <a:pt x="117" y="185"/>
                    <a:pt x="109" y="186"/>
                    <a:pt x="100" y="186"/>
                  </a:cubicBezTo>
                  <a:cubicBezTo>
                    <a:pt x="100" y="163"/>
                    <a:pt x="100" y="163"/>
                    <a:pt x="100" y="163"/>
                  </a:cubicBezTo>
                  <a:cubicBezTo>
                    <a:pt x="127" y="163"/>
                    <a:pt x="152" y="146"/>
                    <a:pt x="161" y="118"/>
                  </a:cubicBezTo>
                  <a:cubicBezTo>
                    <a:pt x="171" y="85"/>
                    <a:pt x="152" y="49"/>
                    <a:pt x="118" y="39"/>
                  </a:cubicBezTo>
                  <a:cubicBezTo>
                    <a:pt x="112" y="37"/>
                    <a:pt x="106" y="36"/>
                    <a:pt x="100" y="36"/>
                  </a:cubicBezTo>
                  <a:lnTo>
                    <a:pt x="100" y="14"/>
                  </a:lnTo>
                  <a:close/>
                  <a:moveTo>
                    <a:pt x="46" y="33"/>
                  </a:moveTo>
                  <a:cubicBezTo>
                    <a:pt x="39" y="20"/>
                    <a:pt x="39" y="20"/>
                    <a:pt x="39" y="20"/>
                  </a:cubicBezTo>
                  <a:cubicBezTo>
                    <a:pt x="67" y="5"/>
                    <a:pt x="67" y="5"/>
                    <a:pt x="67" y="5"/>
                  </a:cubicBezTo>
                  <a:cubicBezTo>
                    <a:pt x="74" y="18"/>
                    <a:pt x="74" y="18"/>
                    <a:pt x="74" y="18"/>
                  </a:cubicBezTo>
                  <a:cubicBezTo>
                    <a:pt x="82" y="15"/>
                    <a:pt x="91" y="14"/>
                    <a:pt x="100" y="14"/>
                  </a:cubicBezTo>
                  <a:cubicBezTo>
                    <a:pt x="100" y="36"/>
                    <a:pt x="100" y="36"/>
                    <a:pt x="100" y="36"/>
                  </a:cubicBezTo>
                  <a:cubicBezTo>
                    <a:pt x="73" y="36"/>
                    <a:pt x="47" y="54"/>
                    <a:pt x="39" y="81"/>
                  </a:cubicBezTo>
                  <a:cubicBezTo>
                    <a:pt x="29" y="115"/>
                    <a:pt x="48" y="150"/>
                    <a:pt x="81" y="161"/>
                  </a:cubicBezTo>
                  <a:cubicBezTo>
                    <a:pt x="87" y="163"/>
                    <a:pt x="94" y="163"/>
                    <a:pt x="100" y="163"/>
                  </a:cubicBezTo>
                  <a:cubicBezTo>
                    <a:pt x="100" y="186"/>
                    <a:pt x="100" y="186"/>
                    <a:pt x="100" y="186"/>
                  </a:cubicBezTo>
                  <a:cubicBezTo>
                    <a:pt x="97" y="186"/>
                    <a:pt x="93" y="186"/>
                    <a:pt x="90" y="185"/>
                  </a:cubicBezTo>
                  <a:cubicBezTo>
                    <a:pt x="86" y="200"/>
                    <a:pt x="86" y="200"/>
                    <a:pt x="86" y="200"/>
                  </a:cubicBezTo>
                  <a:cubicBezTo>
                    <a:pt x="56" y="191"/>
                    <a:pt x="56" y="191"/>
                    <a:pt x="56" y="191"/>
                  </a:cubicBezTo>
                  <a:cubicBezTo>
                    <a:pt x="60" y="176"/>
                    <a:pt x="60" y="176"/>
                    <a:pt x="60" y="176"/>
                  </a:cubicBezTo>
                  <a:cubicBezTo>
                    <a:pt x="49" y="171"/>
                    <a:pt x="40" y="163"/>
                    <a:pt x="33" y="154"/>
                  </a:cubicBezTo>
                  <a:cubicBezTo>
                    <a:pt x="19" y="161"/>
                    <a:pt x="19" y="161"/>
                    <a:pt x="19" y="161"/>
                  </a:cubicBezTo>
                  <a:cubicBezTo>
                    <a:pt x="5" y="133"/>
                    <a:pt x="5" y="133"/>
                    <a:pt x="5" y="133"/>
                  </a:cubicBezTo>
                  <a:cubicBezTo>
                    <a:pt x="18" y="126"/>
                    <a:pt x="18" y="126"/>
                    <a:pt x="18" y="126"/>
                  </a:cubicBezTo>
                  <a:cubicBezTo>
                    <a:pt x="14" y="115"/>
                    <a:pt x="13" y="103"/>
                    <a:pt x="14" y="90"/>
                  </a:cubicBezTo>
                  <a:cubicBezTo>
                    <a:pt x="0" y="86"/>
                    <a:pt x="0" y="86"/>
                    <a:pt x="0" y="86"/>
                  </a:cubicBezTo>
                  <a:cubicBezTo>
                    <a:pt x="9" y="56"/>
                    <a:pt x="9" y="56"/>
                    <a:pt x="9" y="56"/>
                  </a:cubicBezTo>
                  <a:cubicBezTo>
                    <a:pt x="23" y="60"/>
                    <a:pt x="23" y="60"/>
                    <a:pt x="23" y="60"/>
                  </a:cubicBezTo>
                  <a:cubicBezTo>
                    <a:pt x="29" y="49"/>
                    <a:pt x="37" y="40"/>
                    <a:pt x="46" y="33"/>
                  </a:cubicBezTo>
                  <a:close/>
                </a:path>
              </a:pathLst>
            </a:custGeom>
            <a:solidFill>
              <a:srgbClr val="BBBC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3" name="Freeform 65">
              <a:extLst>
                <a:ext uri="{FF2B5EF4-FFF2-40B4-BE49-F238E27FC236}">
                  <a16:creationId xmlns:a16="http://schemas.microsoft.com/office/drawing/2014/main" id="{50D99093-30C6-7609-3007-5156F9CEF039}"/>
                </a:ext>
              </a:extLst>
            </p:cNvPr>
            <p:cNvSpPr>
              <a:spLocks noEditPoints="1"/>
            </p:cNvSpPr>
            <p:nvPr/>
          </p:nvSpPr>
          <p:spPr bwMode="auto">
            <a:xfrm>
              <a:off x="4793631" y="3986946"/>
              <a:ext cx="230857" cy="230857"/>
            </a:xfrm>
            <a:custGeom>
              <a:avLst/>
              <a:gdLst>
                <a:gd name="T0" fmla="*/ 134 w 153"/>
                <a:gd name="T1" fmla="*/ 106 h 152"/>
                <a:gd name="T2" fmla="*/ 143 w 153"/>
                <a:gd name="T3" fmla="*/ 114 h 152"/>
                <a:gd name="T4" fmla="*/ 125 w 153"/>
                <a:gd name="T5" fmla="*/ 135 h 152"/>
                <a:gd name="T6" fmla="*/ 116 w 153"/>
                <a:gd name="T7" fmla="*/ 128 h 152"/>
                <a:gd name="T8" fmla="*/ 96 w 153"/>
                <a:gd name="T9" fmla="*/ 139 h 152"/>
                <a:gd name="T10" fmla="*/ 97 w 153"/>
                <a:gd name="T11" fmla="*/ 150 h 152"/>
                <a:gd name="T12" fmla="*/ 76 w 153"/>
                <a:gd name="T13" fmla="*/ 152 h 152"/>
                <a:gd name="T14" fmla="*/ 76 w 153"/>
                <a:gd name="T15" fmla="*/ 120 h 152"/>
                <a:gd name="T16" fmla="*/ 110 w 153"/>
                <a:gd name="T17" fmla="*/ 104 h 152"/>
                <a:gd name="T18" fmla="*/ 105 w 153"/>
                <a:gd name="T19" fmla="*/ 43 h 152"/>
                <a:gd name="T20" fmla="*/ 89 w 153"/>
                <a:gd name="T21" fmla="*/ 34 h 152"/>
                <a:gd name="T22" fmla="*/ 76 w 153"/>
                <a:gd name="T23" fmla="*/ 32 h 152"/>
                <a:gd name="T24" fmla="*/ 76 w 153"/>
                <a:gd name="T25" fmla="*/ 1 h 152"/>
                <a:gd name="T26" fmla="*/ 84 w 153"/>
                <a:gd name="T27" fmla="*/ 0 h 152"/>
                <a:gd name="T28" fmla="*/ 85 w 153"/>
                <a:gd name="T29" fmla="*/ 11 h 152"/>
                <a:gd name="T30" fmla="*/ 107 w 153"/>
                <a:gd name="T31" fmla="*/ 18 h 152"/>
                <a:gd name="T32" fmla="*/ 114 w 153"/>
                <a:gd name="T33" fmla="*/ 9 h 152"/>
                <a:gd name="T34" fmla="*/ 136 w 153"/>
                <a:gd name="T35" fmla="*/ 27 h 152"/>
                <a:gd name="T36" fmla="*/ 128 w 153"/>
                <a:gd name="T37" fmla="*/ 36 h 152"/>
                <a:gd name="T38" fmla="*/ 139 w 153"/>
                <a:gd name="T39" fmla="*/ 57 h 152"/>
                <a:gd name="T40" fmla="*/ 150 w 153"/>
                <a:gd name="T41" fmla="*/ 56 h 152"/>
                <a:gd name="T42" fmla="*/ 153 w 153"/>
                <a:gd name="T43" fmla="*/ 84 h 152"/>
                <a:gd name="T44" fmla="*/ 141 w 153"/>
                <a:gd name="T45" fmla="*/ 85 h 152"/>
                <a:gd name="T46" fmla="*/ 134 w 153"/>
                <a:gd name="T47" fmla="*/ 106 h 152"/>
                <a:gd name="T48" fmla="*/ 76 w 153"/>
                <a:gd name="T49" fmla="*/ 152 h 152"/>
                <a:gd name="T50" fmla="*/ 69 w 153"/>
                <a:gd name="T51" fmla="*/ 152 h 152"/>
                <a:gd name="T52" fmla="*/ 68 w 153"/>
                <a:gd name="T53" fmla="*/ 141 h 152"/>
                <a:gd name="T54" fmla="*/ 46 w 153"/>
                <a:gd name="T55" fmla="*/ 134 h 152"/>
                <a:gd name="T56" fmla="*/ 39 w 153"/>
                <a:gd name="T57" fmla="*/ 143 h 152"/>
                <a:gd name="T58" fmla="*/ 17 w 153"/>
                <a:gd name="T59" fmla="*/ 125 h 152"/>
                <a:gd name="T60" fmla="*/ 24 w 153"/>
                <a:gd name="T61" fmla="*/ 116 h 152"/>
                <a:gd name="T62" fmla="*/ 14 w 153"/>
                <a:gd name="T63" fmla="*/ 96 h 152"/>
                <a:gd name="T64" fmla="*/ 3 w 153"/>
                <a:gd name="T65" fmla="*/ 97 h 152"/>
                <a:gd name="T66" fmla="*/ 0 w 153"/>
                <a:gd name="T67" fmla="*/ 69 h 152"/>
                <a:gd name="T68" fmla="*/ 11 w 153"/>
                <a:gd name="T69" fmla="*/ 68 h 152"/>
                <a:gd name="T70" fmla="*/ 18 w 153"/>
                <a:gd name="T71" fmla="*/ 46 h 152"/>
                <a:gd name="T72" fmla="*/ 10 w 153"/>
                <a:gd name="T73" fmla="*/ 38 h 152"/>
                <a:gd name="T74" fmla="*/ 28 w 153"/>
                <a:gd name="T75" fmla="*/ 17 h 152"/>
                <a:gd name="T76" fmla="*/ 36 w 153"/>
                <a:gd name="T77" fmla="*/ 24 h 152"/>
                <a:gd name="T78" fmla="*/ 57 w 153"/>
                <a:gd name="T79" fmla="*/ 14 h 152"/>
                <a:gd name="T80" fmla="*/ 56 w 153"/>
                <a:gd name="T81" fmla="*/ 2 h 152"/>
                <a:gd name="T82" fmla="*/ 76 w 153"/>
                <a:gd name="T83" fmla="*/ 1 h 152"/>
                <a:gd name="T84" fmla="*/ 76 w 153"/>
                <a:gd name="T85" fmla="*/ 32 h 152"/>
                <a:gd name="T86" fmla="*/ 43 w 153"/>
                <a:gd name="T87" fmla="*/ 48 h 152"/>
                <a:gd name="T88" fmla="*/ 48 w 153"/>
                <a:gd name="T89" fmla="*/ 110 h 152"/>
                <a:gd name="T90" fmla="*/ 64 w 153"/>
                <a:gd name="T91" fmla="*/ 118 h 152"/>
                <a:gd name="T92" fmla="*/ 76 w 153"/>
                <a:gd name="T93" fmla="*/ 120 h 152"/>
                <a:gd name="T94" fmla="*/ 76 w 153"/>
                <a:gd name="T95"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3" h="152">
                  <a:moveTo>
                    <a:pt x="134" y="106"/>
                  </a:moveTo>
                  <a:cubicBezTo>
                    <a:pt x="143" y="114"/>
                    <a:pt x="143" y="114"/>
                    <a:pt x="143" y="114"/>
                  </a:cubicBezTo>
                  <a:cubicBezTo>
                    <a:pt x="125" y="135"/>
                    <a:pt x="125" y="135"/>
                    <a:pt x="125" y="135"/>
                  </a:cubicBezTo>
                  <a:cubicBezTo>
                    <a:pt x="116" y="128"/>
                    <a:pt x="116" y="128"/>
                    <a:pt x="116" y="128"/>
                  </a:cubicBezTo>
                  <a:cubicBezTo>
                    <a:pt x="110" y="133"/>
                    <a:pt x="103" y="136"/>
                    <a:pt x="96" y="139"/>
                  </a:cubicBezTo>
                  <a:cubicBezTo>
                    <a:pt x="97" y="150"/>
                    <a:pt x="97" y="150"/>
                    <a:pt x="97" y="150"/>
                  </a:cubicBezTo>
                  <a:cubicBezTo>
                    <a:pt x="76" y="152"/>
                    <a:pt x="76" y="152"/>
                    <a:pt x="76" y="152"/>
                  </a:cubicBezTo>
                  <a:cubicBezTo>
                    <a:pt x="76" y="120"/>
                    <a:pt x="76" y="120"/>
                    <a:pt x="76" y="120"/>
                  </a:cubicBezTo>
                  <a:cubicBezTo>
                    <a:pt x="89" y="120"/>
                    <a:pt x="101" y="114"/>
                    <a:pt x="110" y="104"/>
                  </a:cubicBezTo>
                  <a:cubicBezTo>
                    <a:pt x="126" y="86"/>
                    <a:pt x="123" y="58"/>
                    <a:pt x="105" y="43"/>
                  </a:cubicBezTo>
                  <a:cubicBezTo>
                    <a:pt x="100" y="39"/>
                    <a:pt x="95" y="36"/>
                    <a:pt x="89" y="34"/>
                  </a:cubicBezTo>
                  <a:cubicBezTo>
                    <a:pt x="85" y="33"/>
                    <a:pt x="81" y="32"/>
                    <a:pt x="76" y="32"/>
                  </a:cubicBezTo>
                  <a:cubicBezTo>
                    <a:pt x="76" y="1"/>
                    <a:pt x="76" y="1"/>
                    <a:pt x="76" y="1"/>
                  </a:cubicBezTo>
                  <a:cubicBezTo>
                    <a:pt x="84" y="0"/>
                    <a:pt x="84" y="0"/>
                    <a:pt x="84" y="0"/>
                  </a:cubicBezTo>
                  <a:cubicBezTo>
                    <a:pt x="85" y="11"/>
                    <a:pt x="85" y="11"/>
                    <a:pt x="85" y="11"/>
                  </a:cubicBezTo>
                  <a:cubicBezTo>
                    <a:pt x="92" y="12"/>
                    <a:pt x="100" y="15"/>
                    <a:pt x="107" y="18"/>
                  </a:cubicBezTo>
                  <a:cubicBezTo>
                    <a:pt x="114" y="9"/>
                    <a:pt x="114" y="9"/>
                    <a:pt x="114" y="9"/>
                  </a:cubicBezTo>
                  <a:cubicBezTo>
                    <a:pt x="136" y="27"/>
                    <a:pt x="136" y="27"/>
                    <a:pt x="136" y="27"/>
                  </a:cubicBezTo>
                  <a:cubicBezTo>
                    <a:pt x="128" y="36"/>
                    <a:pt x="128" y="36"/>
                    <a:pt x="128" y="36"/>
                  </a:cubicBezTo>
                  <a:cubicBezTo>
                    <a:pt x="133" y="42"/>
                    <a:pt x="137" y="49"/>
                    <a:pt x="139" y="57"/>
                  </a:cubicBezTo>
                  <a:cubicBezTo>
                    <a:pt x="150" y="56"/>
                    <a:pt x="150" y="56"/>
                    <a:pt x="150" y="56"/>
                  </a:cubicBezTo>
                  <a:cubicBezTo>
                    <a:pt x="153" y="84"/>
                    <a:pt x="153" y="84"/>
                    <a:pt x="153" y="84"/>
                  </a:cubicBezTo>
                  <a:cubicBezTo>
                    <a:pt x="141" y="85"/>
                    <a:pt x="141" y="85"/>
                    <a:pt x="141" y="85"/>
                  </a:cubicBezTo>
                  <a:cubicBezTo>
                    <a:pt x="140" y="92"/>
                    <a:pt x="138" y="100"/>
                    <a:pt x="134" y="106"/>
                  </a:cubicBezTo>
                  <a:close/>
                  <a:moveTo>
                    <a:pt x="76" y="152"/>
                  </a:moveTo>
                  <a:cubicBezTo>
                    <a:pt x="69" y="152"/>
                    <a:pt x="69" y="152"/>
                    <a:pt x="69" y="152"/>
                  </a:cubicBezTo>
                  <a:cubicBezTo>
                    <a:pt x="68" y="141"/>
                    <a:pt x="68" y="141"/>
                    <a:pt x="68" y="141"/>
                  </a:cubicBezTo>
                  <a:cubicBezTo>
                    <a:pt x="60" y="140"/>
                    <a:pt x="53" y="138"/>
                    <a:pt x="46" y="134"/>
                  </a:cubicBezTo>
                  <a:cubicBezTo>
                    <a:pt x="39" y="143"/>
                    <a:pt x="39" y="143"/>
                    <a:pt x="39" y="143"/>
                  </a:cubicBezTo>
                  <a:cubicBezTo>
                    <a:pt x="17" y="125"/>
                    <a:pt x="17" y="125"/>
                    <a:pt x="17" y="125"/>
                  </a:cubicBezTo>
                  <a:cubicBezTo>
                    <a:pt x="24" y="116"/>
                    <a:pt x="24" y="116"/>
                    <a:pt x="24" y="116"/>
                  </a:cubicBezTo>
                  <a:cubicBezTo>
                    <a:pt x="20" y="110"/>
                    <a:pt x="16" y="103"/>
                    <a:pt x="14" y="96"/>
                  </a:cubicBezTo>
                  <a:cubicBezTo>
                    <a:pt x="3" y="97"/>
                    <a:pt x="3" y="97"/>
                    <a:pt x="3" y="97"/>
                  </a:cubicBezTo>
                  <a:cubicBezTo>
                    <a:pt x="0" y="69"/>
                    <a:pt x="0" y="69"/>
                    <a:pt x="0" y="69"/>
                  </a:cubicBezTo>
                  <a:cubicBezTo>
                    <a:pt x="11" y="68"/>
                    <a:pt x="11" y="68"/>
                    <a:pt x="11" y="68"/>
                  </a:cubicBezTo>
                  <a:cubicBezTo>
                    <a:pt x="12" y="60"/>
                    <a:pt x="15" y="53"/>
                    <a:pt x="18" y="46"/>
                  </a:cubicBezTo>
                  <a:cubicBezTo>
                    <a:pt x="10" y="38"/>
                    <a:pt x="10" y="38"/>
                    <a:pt x="10" y="38"/>
                  </a:cubicBezTo>
                  <a:cubicBezTo>
                    <a:pt x="28" y="17"/>
                    <a:pt x="28" y="17"/>
                    <a:pt x="28" y="17"/>
                  </a:cubicBezTo>
                  <a:cubicBezTo>
                    <a:pt x="36" y="24"/>
                    <a:pt x="36" y="24"/>
                    <a:pt x="36" y="24"/>
                  </a:cubicBezTo>
                  <a:cubicBezTo>
                    <a:pt x="43" y="19"/>
                    <a:pt x="49" y="16"/>
                    <a:pt x="57" y="14"/>
                  </a:cubicBezTo>
                  <a:cubicBezTo>
                    <a:pt x="56" y="2"/>
                    <a:pt x="56" y="2"/>
                    <a:pt x="56" y="2"/>
                  </a:cubicBezTo>
                  <a:cubicBezTo>
                    <a:pt x="76" y="1"/>
                    <a:pt x="76" y="1"/>
                    <a:pt x="76" y="1"/>
                  </a:cubicBezTo>
                  <a:cubicBezTo>
                    <a:pt x="76" y="32"/>
                    <a:pt x="76" y="32"/>
                    <a:pt x="76" y="32"/>
                  </a:cubicBezTo>
                  <a:cubicBezTo>
                    <a:pt x="64" y="32"/>
                    <a:pt x="51" y="38"/>
                    <a:pt x="43" y="48"/>
                  </a:cubicBezTo>
                  <a:cubicBezTo>
                    <a:pt x="27" y="66"/>
                    <a:pt x="30" y="94"/>
                    <a:pt x="48" y="110"/>
                  </a:cubicBezTo>
                  <a:cubicBezTo>
                    <a:pt x="53" y="114"/>
                    <a:pt x="58" y="116"/>
                    <a:pt x="64" y="118"/>
                  </a:cubicBezTo>
                  <a:cubicBezTo>
                    <a:pt x="68" y="119"/>
                    <a:pt x="72" y="120"/>
                    <a:pt x="76" y="120"/>
                  </a:cubicBezTo>
                  <a:lnTo>
                    <a:pt x="76" y="152"/>
                  </a:lnTo>
                  <a:close/>
                </a:path>
              </a:pathLst>
            </a:custGeom>
            <a:solidFill>
              <a:srgbClr val="BBBC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4" name="Freeform 66">
              <a:extLst>
                <a:ext uri="{FF2B5EF4-FFF2-40B4-BE49-F238E27FC236}">
                  <a16:creationId xmlns:a16="http://schemas.microsoft.com/office/drawing/2014/main" id="{4583335A-9BED-6873-1F30-7CE00F1B88A6}"/>
                </a:ext>
              </a:extLst>
            </p:cNvPr>
            <p:cNvSpPr>
              <a:spLocks noEditPoints="1"/>
            </p:cNvSpPr>
            <p:nvPr/>
          </p:nvSpPr>
          <p:spPr bwMode="auto">
            <a:xfrm>
              <a:off x="7494423" y="3995900"/>
              <a:ext cx="229793" cy="231921"/>
            </a:xfrm>
            <a:custGeom>
              <a:avLst/>
              <a:gdLst>
                <a:gd name="T0" fmla="*/ 134 w 152"/>
                <a:gd name="T1" fmla="*/ 107 h 153"/>
                <a:gd name="T2" fmla="*/ 143 w 152"/>
                <a:gd name="T3" fmla="*/ 114 h 153"/>
                <a:gd name="T4" fmla="*/ 125 w 152"/>
                <a:gd name="T5" fmla="*/ 136 h 153"/>
                <a:gd name="T6" fmla="*/ 116 w 152"/>
                <a:gd name="T7" fmla="*/ 128 h 153"/>
                <a:gd name="T8" fmla="*/ 96 w 152"/>
                <a:gd name="T9" fmla="*/ 139 h 153"/>
                <a:gd name="T10" fmla="*/ 97 w 152"/>
                <a:gd name="T11" fmla="*/ 150 h 153"/>
                <a:gd name="T12" fmla="*/ 76 w 152"/>
                <a:gd name="T13" fmla="*/ 152 h 153"/>
                <a:gd name="T14" fmla="*/ 76 w 152"/>
                <a:gd name="T15" fmla="*/ 120 h 153"/>
                <a:gd name="T16" fmla="*/ 110 w 152"/>
                <a:gd name="T17" fmla="*/ 105 h 153"/>
                <a:gd name="T18" fmla="*/ 104 w 152"/>
                <a:gd name="T19" fmla="*/ 43 h 153"/>
                <a:gd name="T20" fmla="*/ 89 w 152"/>
                <a:gd name="T21" fmla="*/ 34 h 153"/>
                <a:gd name="T22" fmla="*/ 76 w 152"/>
                <a:gd name="T23" fmla="*/ 33 h 153"/>
                <a:gd name="T24" fmla="*/ 76 w 152"/>
                <a:gd name="T25" fmla="*/ 1 h 153"/>
                <a:gd name="T26" fmla="*/ 84 w 152"/>
                <a:gd name="T27" fmla="*/ 0 h 153"/>
                <a:gd name="T28" fmla="*/ 84 w 152"/>
                <a:gd name="T29" fmla="*/ 11 h 153"/>
                <a:gd name="T30" fmla="*/ 106 w 152"/>
                <a:gd name="T31" fmla="*/ 18 h 153"/>
                <a:gd name="T32" fmla="*/ 114 w 152"/>
                <a:gd name="T33" fmla="*/ 10 h 153"/>
                <a:gd name="T34" fmla="*/ 135 w 152"/>
                <a:gd name="T35" fmla="*/ 28 h 153"/>
                <a:gd name="T36" fmla="*/ 128 w 152"/>
                <a:gd name="T37" fmla="*/ 36 h 153"/>
                <a:gd name="T38" fmla="*/ 139 w 152"/>
                <a:gd name="T39" fmla="*/ 57 h 153"/>
                <a:gd name="T40" fmla="*/ 150 w 152"/>
                <a:gd name="T41" fmla="*/ 56 h 153"/>
                <a:gd name="T42" fmla="*/ 152 w 152"/>
                <a:gd name="T43" fmla="*/ 84 h 153"/>
                <a:gd name="T44" fmla="*/ 141 w 152"/>
                <a:gd name="T45" fmla="*/ 85 h 153"/>
                <a:gd name="T46" fmla="*/ 134 w 152"/>
                <a:gd name="T47" fmla="*/ 107 h 153"/>
                <a:gd name="T48" fmla="*/ 76 w 152"/>
                <a:gd name="T49" fmla="*/ 152 h 153"/>
                <a:gd name="T50" fmla="*/ 69 w 152"/>
                <a:gd name="T51" fmla="*/ 153 h 153"/>
                <a:gd name="T52" fmla="*/ 68 w 152"/>
                <a:gd name="T53" fmla="*/ 141 h 153"/>
                <a:gd name="T54" fmla="*/ 46 w 152"/>
                <a:gd name="T55" fmla="*/ 134 h 153"/>
                <a:gd name="T56" fmla="*/ 38 w 152"/>
                <a:gd name="T57" fmla="*/ 143 h 153"/>
                <a:gd name="T58" fmla="*/ 17 w 152"/>
                <a:gd name="T59" fmla="*/ 125 h 153"/>
                <a:gd name="T60" fmla="*/ 24 w 152"/>
                <a:gd name="T61" fmla="*/ 116 h 153"/>
                <a:gd name="T62" fmla="*/ 14 w 152"/>
                <a:gd name="T63" fmla="*/ 96 h 153"/>
                <a:gd name="T64" fmla="*/ 2 w 152"/>
                <a:gd name="T65" fmla="*/ 97 h 153"/>
                <a:gd name="T66" fmla="*/ 0 w 152"/>
                <a:gd name="T67" fmla="*/ 69 h 153"/>
                <a:gd name="T68" fmla="*/ 11 w 152"/>
                <a:gd name="T69" fmla="*/ 68 h 153"/>
                <a:gd name="T70" fmla="*/ 18 w 152"/>
                <a:gd name="T71" fmla="*/ 46 h 153"/>
                <a:gd name="T72" fmla="*/ 9 w 152"/>
                <a:gd name="T73" fmla="*/ 39 h 153"/>
                <a:gd name="T74" fmla="*/ 27 w 152"/>
                <a:gd name="T75" fmla="*/ 17 h 153"/>
                <a:gd name="T76" fmla="*/ 36 w 152"/>
                <a:gd name="T77" fmla="*/ 25 h 153"/>
                <a:gd name="T78" fmla="*/ 56 w 152"/>
                <a:gd name="T79" fmla="*/ 14 h 153"/>
                <a:gd name="T80" fmla="*/ 55 w 152"/>
                <a:gd name="T81" fmla="*/ 3 h 153"/>
                <a:gd name="T82" fmla="*/ 76 w 152"/>
                <a:gd name="T83" fmla="*/ 1 h 153"/>
                <a:gd name="T84" fmla="*/ 76 w 152"/>
                <a:gd name="T85" fmla="*/ 33 h 153"/>
                <a:gd name="T86" fmla="*/ 42 w 152"/>
                <a:gd name="T87" fmla="*/ 48 h 153"/>
                <a:gd name="T88" fmla="*/ 48 w 152"/>
                <a:gd name="T89" fmla="*/ 110 h 153"/>
                <a:gd name="T90" fmla="*/ 63 w 152"/>
                <a:gd name="T91" fmla="*/ 118 h 153"/>
                <a:gd name="T92" fmla="*/ 76 w 152"/>
                <a:gd name="T93" fmla="*/ 120 h 153"/>
                <a:gd name="T94" fmla="*/ 76 w 152"/>
                <a:gd name="T95" fmla="*/ 15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153">
                  <a:moveTo>
                    <a:pt x="134" y="107"/>
                  </a:moveTo>
                  <a:cubicBezTo>
                    <a:pt x="143" y="114"/>
                    <a:pt x="143" y="114"/>
                    <a:pt x="143" y="114"/>
                  </a:cubicBezTo>
                  <a:cubicBezTo>
                    <a:pt x="125" y="136"/>
                    <a:pt x="125" y="136"/>
                    <a:pt x="125" y="136"/>
                  </a:cubicBezTo>
                  <a:cubicBezTo>
                    <a:pt x="116" y="128"/>
                    <a:pt x="116" y="128"/>
                    <a:pt x="116" y="128"/>
                  </a:cubicBezTo>
                  <a:cubicBezTo>
                    <a:pt x="110" y="133"/>
                    <a:pt x="103" y="137"/>
                    <a:pt x="96" y="139"/>
                  </a:cubicBezTo>
                  <a:cubicBezTo>
                    <a:pt x="97" y="150"/>
                    <a:pt x="97" y="150"/>
                    <a:pt x="97" y="150"/>
                  </a:cubicBezTo>
                  <a:cubicBezTo>
                    <a:pt x="76" y="152"/>
                    <a:pt x="76" y="152"/>
                    <a:pt x="76" y="152"/>
                  </a:cubicBezTo>
                  <a:cubicBezTo>
                    <a:pt x="76" y="120"/>
                    <a:pt x="76" y="120"/>
                    <a:pt x="76" y="120"/>
                  </a:cubicBezTo>
                  <a:cubicBezTo>
                    <a:pt x="89" y="120"/>
                    <a:pt x="101" y="115"/>
                    <a:pt x="110" y="105"/>
                  </a:cubicBezTo>
                  <a:cubicBezTo>
                    <a:pt x="125" y="86"/>
                    <a:pt x="123" y="58"/>
                    <a:pt x="104" y="43"/>
                  </a:cubicBezTo>
                  <a:cubicBezTo>
                    <a:pt x="100" y="39"/>
                    <a:pt x="95" y="36"/>
                    <a:pt x="89" y="34"/>
                  </a:cubicBezTo>
                  <a:cubicBezTo>
                    <a:pt x="85" y="33"/>
                    <a:pt x="80" y="33"/>
                    <a:pt x="76" y="33"/>
                  </a:cubicBezTo>
                  <a:cubicBezTo>
                    <a:pt x="76" y="1"/>
                    <a:pt x="76" y="1"/>
                    <a:pt x="76" y="1"/>
                  </a:cubicBezTo>
                  <a:cubicBezTo>
                    <a:pt x="84" y="0"/>
                    <a:pt x="84" y="0"/>
                    <a:pt x="84" y="0"/>
                  </a:cubicBezTo>
                  <a:cubicBezTo>
                    <a:pt x="84" y="11"/>
                    <a:pt x="84" y="11"/>
                    <a:pt x="84" y="11"/>
                  </a:cubicBezTo>
                  <a:cubicBezTo>
                    <a:pt x="92" y="12"/>
                    <a:pt x="100" y="15"/>
                    <a:pt x="106" y="18"/>
                  </a:cubicBezTo>
                  <a:cubicBezTo>
                    <a:pt x="114" y="10"/>
                    <a:pt x="114" y="10"/>
                    <a:pt x="114" y="10"/>
                  </a:cubicBezTo>
                  <a:cubicBezTo>
                    <a:pt x="135" y="28"/>
                    <a:pt x="135" y="28"/>
                    <a:pt x="135" y="28"/>
                  </a:cubicBezTo>
                  <a:cubicBezTo>
                    <a:pt x="128" y="36"/>
                    <a:pt x="128" y="36"/>
                    <a:pt x="128" y="36"/>
                  </a:cubicBezTo>
                  <a:cubicBezTo>
                    <a:pt x="133" y="43"/>
                    <a:pt x="136" y="49"/>
                    <a:pt x="139" y="57"/>
                  </a:cubicBezTo>
                  <a:cubicBezTo>
                    <a:pt x="150" y="56"/>
                    <a:pt x="150" y="56"/>
                    <a:pt x="150" y="56"/>
                  </a:cubicBezTo>
                  <a:cubicBezTo>
                    <a:pt x="152" y="84"/>
                    <a:pt x="152" y="84"/>
                    <a:pt x="152" y="84"/>
                  </a:cubicBezTo>
                  <a:cubicBezTo>
                    <a:pt x="141" y="85"/>
                    <a:pt x="141" y="85"/>
                    <a:pt x="141" y="85"/>
                  </a:cubicBezTo>
                  <a:cubicBezTo>
                    <a:pt x="140" y="93"/>
                    <a:pt x="138" y="100"/>
                    <a:pt x="134" y="107"/>
                  </a:cubicBezTo>
                  <a:close/>
                  <a:moveTo>
                    <a:pt x="76" y="152"/>
                  </a:moveTo>
                  <a:cubicBezTo>
                    <a:pt x="69" y="153"/>
                    <a:pt x="69" y="153"/>
                    <a:pt x="69" y="153"/>
                  </a:cubicBezTo>
                  <a:cubicBezTo>
                    <a:pt x="68" y="141"/>
                    <a:pt x="68" y="141"/>
                    <a:pt x="68" y="141"/>
                  </a:cubicBezTo>
                  <a:cubicBezTo>
                    <a:pt x="60" y="140"/>
                    <a:pt x="53" y="138"/>
                    <a:pt x="46" y="134"/>
                  </a:cubicBezTo>
                  <a:cubicBezTo>
                    <a:pt x="38" y="143"/>
                    <a:pt x="38" y="143"/>
                    <a:pt x="38" y="143"/>
                  </a:cubicBezTo>
                  <a:cubicBezTo>
                    <a:pt x="17" y="125"/>
                    <a:pt x="17" y="125"/>
                    <a:pt x="17" y="125"/>
                  </a:cubicBezTo>
                  <a:cubicBezTo>
                    <a:pt x="24" y="116"/>
                    <a:pt x="24" y="116"/>
                    <a:pt x="24" y="116"/>
                  </a:cubicBezTo>
                  <a:cubicBezTo>
                    <a:pt x="19" y="110"/>
                    <a:pt x="16" y="103"/>
                    <a:pt x="14" y="96"/>
                  </a:cubicBezTo>
                  <a:cubicBezTo>
                    <a:pt x="2" y="97"/>
                    <a:pt x="2" y="97"/>
                    <a:pt x="2" y="97"/>
                  </a:cubicBezTo>
                  <a:cubicBezTo>
                    <a:pt x="0" y="69"/>
                    <a:pt x="0" y="69"/>
                    <a:pt x="0" y="69"/>
                  </a:cubicBezTo>
                  <a:cubicBezTo>
                    <a:pt x="11" y="68"/>
                    <a:pt x="11" y="68"/>
                    <a:pt x="11" y="68"/>
                  </a:cubicBezTo>
                  <a:cubicBezTo>
                    <a:pt x="12" y="60"/>
                    <a:pt x="14" y="53"/>
                    <a:pt x="18" y="46"/>
                  </a:cubicBezTo>
                  <a:cubicBezTo>
                    <a:pt x="9" y="39"/>
                    <a:pt x="9" y="39"/>
                    <a:pt x="9" y="39"/>
                  </a:cubicBezTo>
                  <a:cubicBezTo>
                    <a:pt x="27" y="17"/>
                    <a:pt x="27" y="17"/>
                    <a:pt x="27" y="17"/>
                  </a:cubicBezTo>
                  <a:cubicBezTo>
                    <a:pt x="36" y="25"/>
                    <a:pt x="36" y="25"/>
                    <a:pt x="36" y="25"/>
                  </a:cubicBezTo>
                  <a:cubicBezTo>
                    <a:pt x="42" y="20"/>
                    <a:pt x="49" y="16"/>
                    <a:pt x="56" y="14"/>
                  </a:cubicBezTo>
                  <a:cubicBezTo>
                    <a:pt x="55" y="3"/>
                    <a:pt x="55" y="3"/>
                    <a:pt x="55" y="3"/>
                  </a:cubicBezTo>
                  <a:cubicBezTo>
                    <a:pt x="76" y="1"/>
                    <a:pt x="76" y="1"/>
                    <a:pt x="76" y="1"/>
                  </a:cubicBezTo>
                  <a:cubicBezTo>
                    <a:pt x="76" y="33"/>
                    <a:pt x="76" y="33"/>
                    <a:pt x="76" y="33"/>
                  </a:cubicBezTo>
                  <a:cubicBezTo>
                    <a:pt x="63" y="33"/>
                    <a:pt x="51" y="38"/>
                    <a:pt x="42" y="48"/>
                  </a:cubicBezTo>
                  <a:cubicBezTo>
                    <a:pt x="27" y="67"/>
                    <a:pt x="29" y="94"/>
                    <a:pt x="48" y="110"/>
                  </a:cubicBezTo>
                  <a:cubicBezTo>
                    <a:pt x="52" y="114"/>
                    <a:pt x="58" y="117"/>
                    <a:pt x="63" y="118"/>
                  </a:cubicBezTo>
                  <a:cubicBezTo>
                    <a:pt x="67" y="120"/>
                    <a:pt x="72" y="120"/>
                    <a:pt x="76" y="120"/>
                  </a:cubicBezTo>
                  <a:lnTo>
                    <a:pt x="76" y="152"/>
                  </a:lnTo>
                  <a:close/>
                </a:path>
              </a:pathLst>
            </a:custGeom>
            <a:solidFill>
              <a:srgbClr val="BBBC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5" name="Freeform 67">
              <a:extLst>
                <a:ext uri="{FF2B5EF4-FFF2-40B4-BE49-F238E27FC236}">
                  <a16:creationId xmlns:a16="http://schemas.microsoft.com/office/drawing/2014/main" id="{DC83F452-D478-D63C-17F8-3E897BD9A975}"/>
                </a:ext>
              </a:extLst>
            </p:cNvPr>
            <p:cNvSpPr>
              <a:spLocks noEditPoints="1"/>
            </p:cNvSpPr>
            <p:nvPr/>
          </p:nvSpPr>
          <p:spPr bwMode="auto">
            <a:xfrm>
              <a:off x="4358936" y="3654152"/>
              <a:ext cx="226601" cy="225537"/>
            </a:xfrm>
            <a:custGeom>
              <a:avLst/>
              <a:gdLst>
                <a:gd name="T0" fmla="*/ 75 w 149"/>
                <a:gd name="T1" fmla="*/ 10 h 149"/>
                <a:gd name="T2" fmla="*/ 82 w 149"/>
                <a:gd name="T3" fmla="*/ 10 h 149"/>
                <a:gd name="T4" fmla="*/ 85 w 149"/>
                <a:gd name="T5" fmla="*/ 0 h 149"/>
                <a:gd name="T6" fmla="*/ 108 w 149"/>
                <a:gd name="T7" fmla="*/ 7 h 149"/>
                <a:gd name="T8" fmla="*/ 104 w 149"/>
                <a:gd name="T9" fmla="*/ 17 h 149"/>
                <a:gd name="T10" fmla="*/ 125 w 149"/>
                <a:gd name="T11" fmla="*/ 34 h 149"/>
                <a:gd name="T12" fmla="*/ 135 w 149"/>
                <a:gd name="T13" fmla="*/ 29 h 149"/>
                <a:gd name="T14" fmla="*/ 146 w 149"/>
                <a:gd name="T15" fmla="*/ 50 h 149"/>
                <a:gd name="T16" fmla="*/ 136 w 149"/>
                <a:gd name="T17" fmla="*/ 55 h 149"/>
                <a:gd name="T18" fmla="*/ 139 w 149"/>
                <a:gd name="T19" fmla="*/ 82 h 149"/>
                <a:gd name="T20" fmla="*/ 149 w 149"/>
                <a:gd name="T21" fmla="*/ 85 h 149"/>
                <a:gd name="T22" fmla="*/ 142 w 149"/>
                <a:gd name="T23" fmla="*/ 107 h 149"/>
                <a:gd name="T24" fmla="*/ 132 w 149"/>
                <a:gd name="T25" fmla="*/ 104 h 149"/>
                <a:gd name="T26" fmla="*/ 115 w 149"/>
                <a:gd name="T27" fmla="*/ 125 h 149"/>
                <a:gd name="T28" fmla="*/ 120 w 149"/>
                <a:gd name="T29" fmla="*/ 135 h 149"/>
                <a:gd name="T30" fmla="*/ 99 w 149"/>
                <a:gd name="T31" fmla="*/ 146 h 149"/>
                <a:gd name="T32" fmla="*/ 94 w 149"/>
                <a:gd name="T33" fmla="*/ 136 h 149"/>
                <a:gd name="T34" fmla="*/ 75 w 149"/>
                <a:gd name="T35" fmla="*/ 139 h 149"/>
                <a:gd name="T36" fmla="*/ 75 w 149"/>
                <a:gd name="T37" fmla="*/ 122 h 149"/>
                <a:gd name="T38" fmla="*/ 120 w 149"/>
                <a:gd name="T39" fmla="*/ 88 h 149"/>
                <a:gd name="T40" fmla="*/ 89 w 149"/>
                <a:gd name="T41" fmla="*/ 29 h 149"/>
                <a:gd name="T42" fmla="*/ 75 w 149"/>
                <a:gd name="T43" fmla="*/ 27 h 149"/>
                <a:gd name="T44" fmla="*/ 75 w 149"/>
                <a:gd name="T45" fmla="*/ 10 h 149"/>
                <a:gd name="T46" fmla="*/ 35 w 149"/>
                <a:gd name="T47" fmla="*/ 24 h 149"/>
                <a:gd name="T48" fmla="*/ 29 w 149"/>
                <a:gd name="T49" fmla="*/ 14 h 149"/>
                <a:gd name="T50" fmla="*/ 50 w 149"/>
                <a:gd name="T51" fmla="*/ 3 h 149"/>
                <a:gd name="T52" fmla="*/ 55 w 149"/>
                <a:gd name="T53" fmla="*/ 13 h 149"/>
                <a:gd name="T54" fmla="*/ 75 w 149"/>
                <a:gd name="T55" fmla="*/ 10 h 149"/>
                <a:gd name="T56" fmla="*/ 75 w 149"/>
                <a:gd name="T57" fmla="*/ 27 h 149"/>
                <a:gd name="T58" fmla="*/ 29 w 149"/>
                <a:gd name="T59" fmla="*/ 61 h 149"/>
                <a:gd name="T60" fmla="*/ 61 w 149"/>
                <a:gd name="T61" fmla="*/ 120 h 149"/>
                <a:gd name="T62" fmla="*/ 75 w 149"/>
                <a:gd name="T63" fmla="*/ 122 h 149"/>
                <a:gd name="T64" fmla="*/ 75 w 149"/>
                <a:gd name="T65" fmla="*/ 139 h 149"/>
                <a:gd name="T66" fmla="*/ 68 w 149"/>
                <a:gd name="T67" fmla="*/ 138 h 149"/>
                <a:gd name="T68" fmla="*/ 64 w 149"/>
                <a:gd name="T69" fmla="*/ 149 h 149"/>
                <a:gd name="T70" fmla="*/ 42 w 149"/>
                <a:gd name="T71" fmla="*/ 142 h 149"/>
                <a:gd name="T72" fmla="*/ 45 w 149"/>
                <a:gd name="T73" fmla="*/ 132 h 149"/>
                <a:gd name="T74" fmla="*/ 24 w 149"/>
                <a:gd name="T75" fmla="*/ 115 h 149"/>
                <a:gd name="T76" fmla="*/ 15 w 149"/>
                <a:gd name="T77" fmla="*/ 120 h 149"/>
                <a:gd name="T78" fmla="*/ 3 w 149"/>
                <a:gd name="T79" fmla="*/ 99 h 149"/>
                <a:gd name="T80" fmla="*/ 13 w 149"/>
                <a:gd name="T81" fmla="*/ 94 h 149"/>
                <a:gd name="T82" fmla="*/ 11 w 149"/>
                <a:gd name="T83" fmla="*/ 67 h 149"/>
                <a:gd name="T84" fmla="*/ 0 w 149"/>
                <a:gd name="T85" fmla="*/ 64 h 149"/>
                <a:gd name="T86" fmla="*/ 7 w 149"/>
                <a:gd name="T87" fmla="*/ 42 h 149"/>
                <a:gd name="T88" fmla="*/ 18 w 149"/>
                <a:gd name="T89" fmla="*/ 45 h 149"/>
                <a:gd name="T90" fmla="*/ 35 w 149"/>
                <a:gd name="T91" fmla="*/ 2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9" h="149">
                  <a:moveTo>
                    <a:pt x="75" y="10"/>
                  </a:moveTo>
                  <a:cubicBezTo>
                    <a:pt x="77" y="10"/>
                    <a:pt x="79" y="10"/>
                    <a:pt x="82" y="10"/>
                  </a:cubicBezTo>
                  <a:cubicBezTo>
                    <a:pt x="85" y="0"/>
                    <a:pt x="85" y="0"/>
                    <a:pt x="85" y="0"/>
                  </a:cubicBezTo>
                  <a:cubicBezTo>
                    <a:pt x="108" y="7"/>
                    <a:pt x="108" y="7"/>
                    <a:pt x="108" y="7"/>
                  </a:cubicBezTo>
                  <a:cubicBezTo>
                    <a:pt x="104" y="17"/>
                    <a:pt x="104" y="17"/>
                    <a:pt x="104" y="17"/>
                  </a:cubicBezTo>
                  <a:cubicBezTo>
                    <a:pt x="112" y="22"/>
                    <a:pt x="119" y="27"/>
                    <a:pt x="125" y="34"/>
                  </a:cubicBezTo>
                  <a:cubicBezTo>
                    <a:pt x="135" y="29"/>
                    <a:pt x="135" y="29"/>
                    <a:pt x="135" y="29"/>
                  </a:cubicBezTo>
                  <a:cubicBezTo>
                    <a:pt x="146" y="50"/>
                    <a:pt x="146" y="50"/>
                    <a:pt x="146" y="50"/>
                  </a:cubicBezTo>
                  <a:cubicBezTo>
                    <a:pt x="136" y="55"/>
                    <a:pt x="136" y="55"/>
                    <a:pt x="136" y="55"/>
                  </a:cubicBezTo>
                  <a:cubicBezTo>
                    <a:pt x="139" y="63"/>
                    <a:pt x="140" y="72"/>
                    <a:pt x="139" y="82"/>
                  </a:cubicBezTo>
                  <a:cubicBezTo>
                    <a:pt x="149" y="85"/>
                    <a:pt x="149" y="85"/>
                    <a:pt x="149" y="85"/>
                  </a:cubicBezTo>
                  <a:cubicBezTo>
                    <a:pt x="142" y="107"/>
                    <a:pt x="142" y="107"/>
                    <a:pt x="142" y="107"/>
                  </a:cubicBezTo>
                  <a:cubicBezTo>
                    <a:pt x="132" y="104"/>
                    <a:pt x="132" y="104"/>
                    <a:pt x="132" y="104"/>
                  </a:cubicBezTo>
                  <a:cubicBezTo>
                    <a:pt x="128" y="112"/>
                    <a:pt x="122" y="119"/>
                    <a:pt x="115" y="125"/>
                  </a:cubicBezTo>
                  <a:cubicBezTo>
                    <a:pt x="120" y="135"/>
                    <a:pt x="120" y="135"/>
                    <a:pt x="120" y="135"/>
                  </a:cubicBezTo>
                  <a:cubicBezTo>
                    <a:pt x="99" y="146"/>
                    <a:pt x="99" y="146"/>
                    <a:pt x="99" y="146"/>
                  </a:cubicBezTo>
                  <a:cubicBezTo>
                    <a:pt x="94" y="136"/>
                    <a:pt x="94" y="136"/>
                    <a:pt x="94" y="136"/>
                  </a:cubicBezTo>
                  <a:cubicBezTo>
                    <a:pt x="88" y="138"/>
                    <a:pt x="81" y="139"/>
                    <a:pt x="75" y="139"/>
                  </a:cubicBezTo>
                  <a:cubicBezTo>
                    <a:pt x="75" y="122"/>
                    <a:pt x="75" y="122"/>
                    <a:pt x="75" y="122"/>
                  </a:cubicBezTo>
                  <a:cubicBezTo>
                    <a:pt x="95" y="122"/>
                    <a:pt x="114" y="109"/>
                    <a:pt x="120" y="88"/>
                  </a:cubicBezTo>
                  <a:cubicBezTo>
                    <a:pt x="128" y="63"/>
                    <a:pt x="114" y="37"/>
                    <a:pt x="89" y="29"/>
                  </a:cubicBezTo>
                  <a:cubicBezTo>
                    <a:pt x="84" y="28"/>
                    <a:pt x="79" y="27"/>
                    <a:pt x="75" y="27"/>
                  </a:cubicBezTo>
                  <a:lnTo>
                    <a:pt x="75" y="10"/>
                  </a:lnTo>
                  <a:close/>
                  <a:moveTo>
                    <a:pt x="35" y="24"/>
                  </a:moveTo>
                  <a:cubicBezTo>
                    <a:pt x="29" y="14"/>
                    <a:pt x="29" y="14"/>
                    <a:pt x="29" y="14"/>
                  </a:cubicBezTo>
                  <a:cubicBezTo>
                    <a:pt x="50" y="3"/>
                    <a:pt x="50" y="3"/>
                    <a:pt x="50" y="3"/>
                  </a:cubicBezTo>
                  <a:cubicBezTo>
                    <a:pt x="55" y="13"/>
                    <a:pt x="55" y="13"/>
                    <a:pt x="55" y="13"/>
                  </a:cubicBezTo>
                  <a:cubicBezTo>
                    <a:pt x="61" y="11"/>
                    <a:pt x="68" y="10"/>
                    <a:pt x="75" y="10"/>
                  </a:cubicBezTo>
                  <a:cubicBezTo>
                    <a:pt x="75" y="27"/>
                    <a:pt x="75" y="27"/>
                    <a:pt x="75" y="27"/>
                  </a:cubicBezTo>
                  <a:cubicBezTo>
                    <a:pt x="54" y="27"/>
                    <a:pt x="35" y="40"/>
                    <a:pt x="29" y="61"/>
                  </a:cubicBezTo>
                  <a:cubicBezTo>
                    <a:pt x="22" y="86"/>
                    <a:pt x="36" y="112"/>
                    <a:pt x="61" y="120"/>
                  </a:cubicBezTo>
                  <a:cubicBezTo>
                    <a:pt x="65" y="121"/>
                    <a:pt x="70" y="122"/>
                    <a:pt x="75" y="122"/>
                  </a:cubicBezTo>
                  <a:cubicBezTo>
                    <a:pt x="75" y="139"/>
                    <a:pt x="75" y="139"/>
                    <a:pt x="75" y="139"/>
                  </a:cubicBezTo>
                  <a:cubicBezTo>
                    <a:pt x="72" y="139"/>
                    <a:pt x="70" y="139"/>
                    <a:pt x="68" y="138"/>
                  </a:cubicBezTo>
                  <a:cubicBezTo>
                    <a:pt x="64" y="149"/>
                    <a:pt x="64" y="149"/>
                    <a:pt x="64" y="149"/>
                  </a:cubicBezTo>
                  <a:cubicBezTo>
                    <a:pt x="42" y="142"/>
                    <a:pt x="42" y="142"/>
                    <a:pt x="42" y="142"/>
                  </a:cubicBezTo>
                  <a:cubicBezTo>
                    <a:pt x="45" y="132"/>
                    <a:pt x="45" y="132"/>
                    <a:pt x="45" y="132"/>
                  </a:cubicBezTo>
                  <a:cubicBezTo>
                    <a:pt x="37" y="127"/>
                    <a:pt x="30" y="122"/>
                    <a:pt x="24" y="115"/>
                  </a:cubicBezTo>
                  <a:cubicBezTo>
                    <a:pt x="15" y="120"/>
                    <a:pt x="15" y="120"/>
                    <a:pt x="15" y="120"/>
                  </a:cubicBezTo>
                  <a:cubicBezTo>
                    <a:pt x="3" y="99"/>
                    <a:pt x="3" y="99"/>
                    <a:pt x="3" y="99"/>
                  </a:cubicBezTo>
                  <a:cubicBezTo>
                    <a:pt x="13" y="94"/>
                    <a:pt x="13" y="94"/>
                    <a:pt x="13" y="94"/>
                  </a:cubicBezTo>
                  <a:cubicBezTo>
                    <a:pt x="11" y="85"/>
                    <a:pt x="10" y="76"/>
                    <a:pt x="11" y="67"/>
                  </a:cubicBezTo>
                  <a:cubicBezTo>
                    <a:pt x="0" y="64"/>
                    <a:pt x="0" y="64"/>
                    <a:pt x="0" y="64"/>
                  </a:cubicBezTo>
                  <a:cubicBezTo>
                    <a:pt x="7" y="42"/>
                    <a:pt x="7" y="42"/>
                    <a:pt x="7" y="42"/>
                  </a:cubicBezTo>
                  <a:cubicBezTo>
                    <a:pt x="18" y="45"/>
                    <a:pt x="18" y="45"/>
                    <a:pt x="18" y="45"/>
                  </a:cubicBezTo>
                  <a:cubicBezTo>
                    <a:pt x="22" y="37"/>
                    <a:pt x="28" y="30"/>
                    <a:pt x="35" y="24"/>
                  </a:cubicBezTo>
                  <a:close/>
                </a:path>
              </a:pathLst>
            </a:custGeom>
            <a:solidFill>
              <a:srgbClr val="BBBC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6" name="Freeform 68">
              <a:extLst>
                <a:ext uri="{FF2B5EF4-FFF2-40B4-BE49-F238E27FC236}">
                  <a16:creationId xmlns:a16="http://schemas.microsoft.com/office/drawing/2014/main" id="{60FD486C-43BA-3A6A-C55A-337EA3F28833}"/>
                </a:ext>
              </a:extLst>
            </p:cNvPr>
            <p:cNvSpPr>
              <a:spLocks/>
            </p:cNvSpPr>
            <p:nvPr/>
          </p:nvSpPr>
          <p:spPr bwMode="auto">
            <a:xfrm>
              <a:off x="4098749" y="2408096"/>
              <a:ext cx="2264949" cy="1257478"/>
            </a:xfrm>
            <a:custGeom>
              <a:avLst/>
              <a:gdLst>
                <a:gd name="T0" fmla="*/ 1080 w 1495"/>
                <a:gd name="T1" fmla="*/ 0 h 830"/>
                <a:gd name="T2" fmla="*/ 739 w 1495"/>
                <a:gd name="T3" fmla="*/ 179 h 830"/>
                <a:gd name="T4" fmla="*/ 633 w 1495"/>
                <a:gd name="T5" fmla="*/ 162 h 830"/>
                <a:gd name="T6" fmla="*/ 347 w 1495"/>
                <a:gd name="T7" fmla="*/ 324 h 830"/>
                <a:gd name="T8" fmla="*/ 240 w 1495"/>
                <a:gd name="T9" fmla="*/ 298 h 830"/>
                <a:gd name="T10" fmla="*/ 0 w 1495"/>
                <a:gd name="T11" fmla="*/ 539 h 830"/>
                <a:gd name="T12" fmla="*/ 633 w 1495"/>
                <a:gd name="T13" fmla="*/ 828 h 830"/>
                <a:gd name="T14" fmla="*/ 1080 w 1495"/>
                <a:gd name="T15" fmla="*/ 830 h 830"/>
                <a:gd name="T16" fmla="*/ 1495 w 1495"/>
                <a:gd name="T17" fmla="*/ 415 h 830"/>
                <a:gd name="T18" fmla="*/ 1080 w 1495"/>
                <a:gd name="T19" fmla="*/ 0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5" h="830">
                  <a:moveTo>
                    <a:pt x="1080" y="0"/>
                  </a:moveTo>
                  <a:cubicBezTo>
                    <a:pt x="938" y="0"/>
                    <a:pt x="814" y="71"/>
                    <a:pt x="739" y="179"/>
                  </a:cubicBezTo>
                  <a:cubicBezTo>
                    <a:pt x="705" y="168"/>
                    <a:pt x="670" y="162"/>
                    <a:pt x="633" y="162"/>
                  </a:cubicBezTo>
                  <a:cubicBezTo>
                    <a:pt x="511" y="162"/>
                    <a:pt x="405" y="227"/>
                    <a:pt x="347" y="324"/>
                  </a:cubicBezTo>
                  <a:cubicBezTo>
                    <a:pt x="315" y="308"/>
                    <a:pt x="278" y="298"/>
                    <a:pt x="240" y="298"/>
                  </a:cubicBezTo>
                  <a:cubicBezTo>
                    <a:pt x="107" y="298"/>
                    <a:pt x="0" y="406"/>
                    <a:pt x="0" y="539"/>
                  </a:cubicBezTo>
                  <a:cubicBezTo>
                    <a:pt x="0" y="671"/>
                    <a:pt x="66" y="828"/>
                    <a:pt x="633" y="828"/>
                  </a:cubicBezTo>
                  <a:cubicBezTo>
                    <a:pt x="712" y="828"/>
                    <a:pt x="991" y="830"/>
                    <a:pt x="1080" y="830"/>
                  </a:cubicBezTo>
                  <a:cubicBezTo>
                    <a:pt x="1309" y="830"/>
                    <a:pt x="1495" y="644"/>
                    <a:pt x="1495" y="415"/>
                  </a:cubicBezTo>
                  <a:cubicBezTo>
                    <a:pt x="1495" y="186"/>
                    <a:pt x="1309" y="0"/>
                    <a:pt x="1080" y="0"/>
                  </a:cubicBezTo>
                  <a:close/>
                </a:path>
              </a:pathLst>
            </a:custGeom>
            <a:solidFill>
              <a:srgbClr val="C4D60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7" name="Freeform 70">
              <a:extLst>
                <a:ext uri="{FF2B5EF4-FFF2-40B4-BE49-F238E27FC236}">
                  <a16:creationId xmlns:a16="http://schemas.microsoft.com/office/drawing/2014/main" id="{DF79D5FC-BC82-E948-E71D-0A58955D1A03}"/>
                </a:ext>
              </a:extLst>
            </p:cNvPr>
            <p:cNvSpPr>
              <a:spLocks/>
            </p:cNvSpPr>
            <p:nvPr/>
          </p:nvSpPr>
          <p:spPr bwMode="auto">
            <a:xfrm flipH="1">
              <a:off x="5837612" y="2745231"/>
              <a:ext cx="2049614" cy="1030345"/>
            </a:xfrm>
            <a:custGeom>
              <a:avLst/>
              <a:gdLst>
                <a:gd name="T0" fmla="*/ 1080 w 1495"/>
                <a:gd name="T1" fmla="*/ 0 h 830"/>
                <a:gd name="T2" fmla="*/ 739 w 1495"/>
                <a:gd name="T3" fmla="*/ 179 h 830"/>
                <a:gd name="T4" fmla="*/ 633 w 1495"/>
                <a:gd name="T5" fmla="*/ 162 h 830"/>
                <a:gd name="T6" fmla="*/ 348 w 1495"/>
                <a:gd name="T7" fmla="*/ 324 h 830"/>
                <a:gd name="T8" fmla="*/ 240 w 1495"/>
                <a:gd name="T9" fmla="*/ 298 h 830"/>
                <a:gd name="T10" fmla="*/ 0 w 1495"/>
                <a:gd name="T11" fmla="*/ 539 h 830"/>
                <a:gd name="T12" fmla="*/ 633 w 1495"/>
                <a:gd name="T13" fmla="*/ 828 h 830"/>
                <a:gd name="T14" fmla="*/ 1080 w 1495"/>
                <a:gd name="T15" fmla="*/ 830 h 830"/>
                <a:gd name="T16" fmla="*/ 1495 w 1495"/>
                <a:gd name="T17" fmla="*/ 415 h 830"/>
                <a:gd name="T18" fmla="*/ 1080 w 1495"/>
                <a:gd name="T19" fmla="*/ 0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5" h="830">
                  <a:moveTo>
                    <a:pt x="1080" y="0"/>
                  </a:moveTo>
                  <a:cubicBezTo>
                    <a:pt x="939" y="0"/>
                    <a:pt x="814" y="71"/>
                    <a:pt x="739" y="179"/>
                  </a:cubicBezTo>
                  <a:cubicBezTo>
                    <a:pt x="706" y="168"/>
                    <a:pt x="670" y="162"/>
                    <a:pt x="633" y="162"/>
                  </a:cubicBezTo>
                  <a:cubicBezTo>
                    <a:pt x="512" y="162"/>
                    <a:pt x="406" y="227"/>
                    <a:pt x="348" y="324"/>
                  </a:cubicBezTo>
                  <a:cubicBezTo>
                    <a:pt x="315" y="307"/>
                    <a:pt x="279" y="298"/>
                    <a:pt x="240" y="298"/>
                  </a:cubicBezTo>
                  <a:cubicBezTo>
                    <a:pt x="108" y="298"/>
                    <a:pt x="0" y="406"/>
                    <a:pt x="0" y="539"/>
                  </a:cubicBezTo>
                  <a:cubicBezTo>
                    <a:pt x="0" y="671"/>
                    <a:pt x="67" y="828"/>
                    <a:pt x="633" y="828"/>
                  </a:cubicBezTo>
                  <a:cubicBezTo>
                    <a:pt x="712" y="828"/>
                    <a:pt x="992" y="830"/>
                    <a:pt x="1080" y="830"/>
                  </a:cubicBezTo>
                  <a:cubicBezTo>
                    <a:pt x="1310" y="830"/>
                    <a:pt x="1495" y="644"/>
                    <a:pt x="1495" y="415"/>
                  </a:cubicBezTo>
                  <a:cubicBezTo>
                    <a:pt x="1495" y="186"/>
                    <a:pt x="1310" y="0"/>
                    <a:pt x="1080" y="0"/>
                  </a:cubicBez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8" name="Freeform 119">
              <a:extLst>
                <a:ext uri="{FF2B5EF4-FFF2-40B4-BE49-F238E27FC236}">
                  <a16:creationId xmlns:a16="http://schemas.microsoft.com/office/drawing/2014/main" id="{0EF317DE-3E0D-7B3F-5E4F-F809677B8CEB}"/>
                </a:ext>
              </a:extLst>
            </p:cNvPr>
            <p:cNvSpPr>
              <a:spLocks/>
            </p:cNvSpPr>
            <p:nvPr/>
          </p:nvSpPr>
          <p:spPr bwMode="auto">
            <a:xfrm>
              <a:off x="4676076" y="5486895"/>
              <a:ext cx="378733" cy="51065"/>
            </a:xfrm>
            <a:custGeom>
              <a:avLst/>
              <a:gdLst>
                <a:gd name="T0" fmla="*/ 215 w 250"/>
                <a:gd name="T1" fmla="*/ 0 h 34"/>
                <a:gd name="T2" fmla="*/ 36 w 250"/>
                <a:gd name="T3" fmla="*/ 0 h 34"/>
                <a:gd name="T4" fmla="*/ 27 w 250"/>
                <a:gd name="T5" fmla="*/ 2 h 34"/>
                <a:gd name="T6" fmla="*/ 27 w 250"/>
                <a:gd name="T7" fmla="*/ 2 h 34"/>
                <a:gd name="T8" fmla="*/ 26 w 250"/>
                <a:gd name="T9" fmla="*/ 2 h 34"/>
                <a:gd name="T10" fmla="*/ 0 w 250"/>
                <a:gd name="T11" fmla="*/ 14 h 34"/>
                <a:gd name="T12" fmla="*/ 125 w 250"/>
                <a:gd name="T13" fmla="*/ 34 h 34"/>
                <a:gd name="T14" fmla="*/ 250 w 250"/>
                <a:gd name="T15" fmla="*/ 14 h 34"/>
                <a:gd name="T16" fmla="*/ 215 w 250"/>
                <a:gd name="T17"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34">
                  <a:moveTo>
                    <a:pt x="215" y="0"/>
                  </a:moveTo>
                  <a:cubicBezTo>
                    <a:pt x="36" y="0"/>
                    <a:pt x="36" y="0"/>
                    <a:pt x="36" y="0"/>
                  </a:cubicBezTo>
                  <a:cubicBezTo>
                    <a:pt x="33" y="1"/>
                    <a:pt x="30" y="1"/>
                    <a:pt x="27" y="2"/>
                  </a:cubicBezTo>
                  <a:cubicBezTo>
                    <a:pt x="27" y="2"/>
                    <a:pt x="27" y="2"/>
                    <a:pt x="27" y="2"/>
                  </a:cubicBezTo>
                  <a:cubicBezTo>
                    <a:pt x="26" y="2"/>
                    <a:pt x="26" y="2"/>
                    <a:pt x="26" y="2"/>
                  </a:cubicBezTo>
                  <a:cubicBezTo>
                    <a:pt x="10" y="5"/>
                    <a:pt x="0" y="9"/>
                    <a:pt x="0" y="14"/>
                  </a:cubicBezTo>
                  <a:cubicBezTo>
                    <a:pt x="0" y="25"/>
                    <a:pt x="56" y="34"/>
                    <a:pt x="125" y="34"/>
                  </a:cubicBezTo>
                  <a:cubicBezTo>
                    <a:pt x="194" y="34"/>
                    <a:pt x="250" y="25"/>
                    <a:pt x="250" y="14"/>
                  </a:cubicBezTo>
                  <a:cubicBezTo>
                    <a:pt x="250" y="8"/>
                    <a:pt x="237" y="4"/>
                    <a:pt x="215" y="0"/>
                  </a:cubicBezTo>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39" name="Freeform 121">
              <a:extLst>
                <a:ext uri="{FF2B5EF4-FFF2-40B4-BE49-F238E27FC236}">
                  <a16:creationId xmlns:a16="http://schemas.microsoft.com/office/drawing/2014/main" id="{5D18F912-EABD-10AC-22DB-931E314C1C2D}"/>
                </a:ext>
              </a:extLst>
            </p:cNvPr>
            <p:cNvSpPr>
              <a:spLocks/>
            </p:cNvSpPr>
            <p:nvPr/>
          </p:nvSpPr>
          <p:spPr bwMode="auto">
            <a:xfrm>
              <a:off x="6723998" y="5570939"/>
              <a:ext cx="569163" cy="56384"/>
            </a:xfrm>
            <a:custGeom>
              <a:avLst/>
              <a:gdLst>
                <a:gd name="T0" fmla="*/ 368 w 376"/>
                <a:gd name="T1" fmla="*/ 0 h 37"/>
                <a:gd name="T2" fmla="*/ 344 w 376"/>
                <a:gd name="T3" fmla="*/ 12 h 37"/>
                <a:gd name="T4" fmla="*/ 30 w 376"/>
                <a:gd name="T5" fmla="*/ 12 h 37"/>
                <a:gd name="T6" fmla="*/ 8 w 376"/>
                <a:gd name="T7" fmla="*/ 0 h 37"/>
                <a:gd name="T8" fmla="*/ 0 w 376"/>
                <a:gd name="T9" fmla="*/ 8 h 37"/>
                <a:gd name="T10" fmla="*/ 188 w 376"/>
                <a:gd name="T11" fmla="*/ 37 h 37"/>
                <a:gd name="T12" fmla="*/ 376 w 376"/>
                <a:gd name="T13" fmla="*/ 8 h 37"/>
                <a:gd name="T14" fmla="*/ 368 w 376"/>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6" h="37">
                  <a:moveTo>
                    <a:pt x="368" y="0"/>
                  </a:moveTo>
                  <a:cubicBezTo>
                    <a:pt x="362" y="7"/>
                    <a:pt x="353" y="12"/>
                    <a:pt x="344" y="12"/>
                  </a:cubicBezTo>
                  <a:cubicBezTo>
                    <a:pt x="30" y="12"/>
                    <a:pt x="30" y="12"/>
                    <a:pt x="30" y="12"/>
                  </a:cubicBezTo>
                  <a:cubicBezTo>
                    <a:pt x="21" y="12"/>
                    <a:pt x="13" y="7"/>
                    <a:pt x="8" y="0"/>
                  </a:cubicBezTo>
                  <a:cubicBezTo>
                    <a:pt x="3" y="2"/>
                    <a:pt x="0" y="5"/>
                    <a:pt x="0" y="8"/>
                  </a:cubicBezTo>
                  <a:cubicBezTo>
                    <a:pt x="0" y="24"/>
                    <a:pt x="85" y="37"/>
                    <a:pt x="188" y="37"/>
                  </a:cubicBezTo>
                  <a:cubicBezTo>
                    <a:pt x="292" y="37"/>
                    <a:pt x="376" y="24"/>
                    <a:pt x="376" y="8"/>
                  </a:cubicBezTo>
                  <a:cubicBezTo>
                    <a:pt x="376" y="5"/>
                    <a:pt x="374" y="2"/>
                    <a:pt x="368" y="0"/>
                  </a:cubicBezTo>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0" name="Rectangle 122">
              <a:extLst>
                <a:ext uri="{FF2B5EF4-FFF2-40B4-BE49-F238E27FC236}">
                  <a16:creationId xmlns:a16="http://schemas.microsoft.com/office/drawing/2014/main" id="{0EE6C5A7-271E-62B1-8278-26C5A9A0EC60}"/>
                </a:ext>
              </a:extLst>
            </p:cNvPr>
            <p:cNvSpPr>
              <a:spLocks noChangeArrowheads="1"/>
            </p:cNvSpPr>
            <p:nvPr/>
          </p:nvSpPr>
          <p:spPr bwMode="auto">
            <a:xfrm>
              <a:off x="5686739" y="5147525"/>
              <a:ext cx="393627" cy="139365"/>
            </a:xfrm>
            <a:prstGeom prst="rect">
              <a:avLst/>
            </a:pr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1" name="Freeform 123">
              <a:extLst>
                <a:ext uri="{FF2B5EF4-FFF2-40B4-BE49-F238E27FC236}">
                  <a16:creationId xmlns:a16="http://schemas.microsoft.com/office/drawing/2014/main" id="{164745E5-D8BE-E52B-EECC-00A0490E268D}"/>
                </a:ext>
              </a:extLst>
            </p:cNvPr>
            <p:cNvSpPr>
              <a:spLocks/>
            </p:cNvSpPr>
            <p:nvPr/>
          </p:nvSpPr>
          <p:spPr bwMode="auto">
            <a:xfrm>
              <a:off x="5595247" y="5236888"/>
              <a:ext cx="581929" cy="110641"/>
            </a:xfrm>
            <a:custGeom>
              <a:avLst/>
              <a:gdLst>
                <a:gd name="T0" fmla="*/ 0 w 384"/>
                <a:gd name="T1" fmla="*/ 33 h 73"/>
                <a:gd name="T2" fmla="*/ 0 w 384"/>
                <a:gd name="T3" fmla="*/ 73 h 73"/>
                <a:gd name="T4" fmla="*/ 384 w 384"/>
                <a:gd name="T5" fmla="*/ 73 h 73"/>
                <a:gd name="T6" fmla="*/ 384 w 384"/>
                <a:gd name="T7" fmla="*/ 33 h 73"/>
                <a:gd name="T8" fmla="*/ 0 w 384"/>
                <a:gd name="T9" fmla="*/ 33 h 73"/>
              </a:gdLst>
              <a:ahLst/>
              <a:cxnLst>
                <a:cxn ang="0">
                  <a:pos x="T0" y="T1"/>
                </a:cxn>
                <a:cxn ang="0">
                  <a:pos x="T2" y="T3"/>
                </a:cxn>
                <a:cxn ang="0">
                  <a:pos x="T4" y="T5"/>
                </a:cxn>
                <a:cxn ang="0">
                  <a:pos x="T6" y="T7"/>
                </a:cxn>
                <a:cxn ang="0">
                  <a:pos x="T8" y="T9"/>
                </a:cxn>
              </a:cxnLst>
              <a:rect l="0" t="0" r="r" b="b"/>
              <a:pathLst>
                <a:path w="384" h="73">
                  <a:moveTo>
                    <a:pt x="0" y="33"/>
                  </a:moveTo>
                  <a:cubicBezTo>
                    <a:pt x="0" y="73"/>
                    <a:pt x="0" y="73"/>
                    <a:pt x="0" y="73"/>
                  </a:cubicBezTo>
                  <a:cubicBezTo>
                    <a:pt x="384" y="73"/>
                    <a:pt x="384" y="73"/>
                    <a:pt x="384" y="73"/>
                  </a:cubicBezTo>
                  <a:cubicBezTo>
                    <a:pt x="384" y="33"/>
                    <a:pt x="384" y="33"/>
                    <a:pt x="384" y="33"/>
                  </a:cubicBezTo>
                  <a:cubicBezTo>
                    <a:pt x="128" y="0"/>
                    <a:pt x="0" y="33"/>
                    <a:pt x="0" y="33"/>
                  </a:cubicBezTo>
                  <a:close/>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2" name="Freeform 124">
              <a:extLst>
                <a:ext uri="{FF2B5EF4-FFF2-40B4-BE49-F238E27FC236}">
                  <a16:creationId xmlns:a16="http://schemas.microsoft.com/office/drawing/2014/main" id="{48B9DDC8-8D3E-D889-DD85-68B339D0871A}"/>
                </a:ext>
              </a:extLst>
            </p:cNvPr>
            <p:cNvSpPr>
              <a:spLocks/>
            </p:cNvSpPr>
            <p:nvPr/>
          </p:nvSpPr>
          <p:spPr bwMode="auto">
            <a:xfrm>
              <a:off x="5098426" y="4244311"/>
              <a:ext cx="1575571" cy="945768"/>
            </a:xfrm>
            <a:custGeom>
              <a:avLst/>
              <a:gdLst>
                <a:gd name="T0" fmla="*/ 1040 w 1040"/>
                <a:gd name="T1" fmla="*/ 600 h 624"/>
                <a:gd name="T2" fmla="*/ 1016 w 1040"/>
                <a:gd name="T3" fmla="*/ 624 h 624"/>
                <a:gd name="T4" fmla="*/ 24 w 1040"/>
                <a:gd name="T5" fmla="*/ 624 h 624"/>
                <a:gd name="T6" fmla="*/ 0 w 1040"/>
                <a:gd name="T7" fmla="*/ 600 h 624"/>
                <a:gd name="T8" fmla="*/ 0 w 1040"/>
                <a:gd name="T9" fmla="*/ 24 h 624"/>
                <a:gd name="T10" fmla="*/ 24 w 1040"/>
                <a:gd name="T11" fmla="*/ 0 h 624"/>
                <a:gd name="T12" fmla="*/ 1016 w 1040"/>
                <a:gd name="T13" fmla="*/ 0 h 624"/>
                <a:gd name="T14" fmla="*/ 1040 w 1040"/>
                <a:gd name="T15" fmla="*/ 24 h 624"/>
                <a:gd name="T16" fmla="*/ 1040 w 1040"/>
                <a:gd name="T17" fmla="*/ 600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0" h="624">
                  <a:moveTo>
                    <a:pt x="1040" y="600"/>
                  </a:moveTo>
                  <a:cubicBezTo>
                    <a:pt x="1040" y="613"/>
                    <a:pt x="1029" y="624"/>
                    <a:pt x="1016" y="624"/>
                  </a:cubicBezTo>
                  <a:cubicBezTo>
                    <a:pt x="24" y="624"/>
                    <a:pt x="24" y="624"/>
                    <a:pt x="24" y="624"/>
                  </a:cubicBezTo>
                  <a:cubicBezTo>
                    <a:pt x="11" y="624"/>
                    <a:pt x="0" y="613"/>
                    <a:pt x="0" y="600"/>
                  </a:cubicBezTo>
                  <a:cubicBezTo>
                    <a:pt x="0" y="24"/>
                    <a:pt x="0" y="24"/>
                    <a:pt x="0" y="24"/>
                  </a:cubicBezTo>
                  <a:cubicBezTo>
                    <a:pt x="0" y="11"/>
                    <a:pt x="11" y="0"/>
                    <a:pt x="24" y="0"/>
                  </a:cubicBezTo>
                  <a:cubicBezTo>
                    <a:pt x="1016" y="0"/>
                    <a:pt x="1016" y="0"/>
                    <a:pt x="1016" y="0"/>
                  </a:cubicBezTo>
                  <a:cubicBezTo>
                    <a:pt x="1029" y="0"/>
                    <a:pt x="1040" y="11"/>
                    <a:pt x="1040" y="24"/>
                  </a:cubicBezTo>
                  <a:cubicBezTo>
                    <a:pt x="1040" y="600"/>
                    <a:pt x="1040" y="600"/>
                    <a:pt x="1040" y="600"/>
                  </a:cubicBezTo>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3" name="Freeform 125">
              <a:extLst>
                <a:ext uri="{FF2B5EF4-FFF2-40B4-BE49-F238E27FC236}">
                  <a16:creationId xmlns:a16="http://schemas.microsoft.com/office/drawing/2014/main" id="{F765D143-5EDB-44C8-030B-FA1221963CC1}"/>
                </a:ext>
              </a:extLst>
            </p:cNvPr>
            <p:cNvSpPr>
              <a:spLocks/>
            </p:cNvSpPr>
            <p:nvPr/>
          </p:nvSpPr>
          <p:spPr bwMode="auto">
            <a:xfrm>
              <a:off x="5159066" y="4304951"/>
              <a:ext cx="1447908" cy="824488"/>
            </a:xfrm>
            <a:custGeom>
              <a:avLst/>
              <a:gdLst>
                <a:gd name="T0" fmla="*/ 956 w 956"/>
                <a:gd name="T1" fmla="*/ 533 h 544"/>
                <a:gd name="T2" fmla="*/ 947 w 956"/>
                <a:gd name="T3" fmla="*/ 544 h 544"/>
                <a:gd name="T4" fmla="*/ 14 w 956"/>
                <a:gd name="T5" fmla="*/ 544 h 544"/>
                <a:gd name="T6" fmla="*/ 0 w 956"/>
                <a:gd name="T7" fmla="*/ 533 h 544"/>
                <a:gd name="T8" fmla="*/ 0 w 956"/>
                <a:gd name="T9" fmla="*/ 7 h 544"/>
                <a:gd name="T10" fmla="*/ 14 w 956"/>
                <a:gd name="T11" fmla="*/ 0 h 544"/>
                <a:gd name="T12" fmla="*/ 947 w 956"/>
                <a:gd name="T13" fmla="*/ 0 h 544"/>
                <a:gd name="T14" fmla="*/ 956 w 956"/>
                <a:gd name="T15" fmla="*/ 7 h 544"/>
                <a:gd name="T16" fmla="*/ 956 w 956"/>
                <a:gd name="T17" fmla="*/ 533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6" h="544">
                  <a:moveTo>
                    <a:pt x="956" y="533"/>
                  </a:moveTo>
                  <a:cubicBezTo>
                    <a:pt x="956" y="539"/>
                    <a:pt x="952" y="544"/>
                    <a:pt x="947" y="544"/>
                  </a:cubicBezTo>
                  <a:cubicBezTo>
                    <a:pt x="14" y="544"/>
                    <a:pt x="14" y="544"/>
                    <a:pt x="14" y="544"/>
                  </a:cubicBezTo>
                  <a:cubicBezTo>
                    <a:pt x="9" y="544"/>
                    <a:pt x="0" y="539"/>
                    <a:pt x="0" y="533"/>
                  </a:cubicBezTo>
                  <a:cubicBezTo>
                    <a:pt x="0" y="7"/>
                    <a:pt x="0" y="7"/>
                    <a:pt x="0" y="7"/>
                  </a:cubicBezTo>
                  <a:cubicBezTo>
                    <a:pt x="0" y="2"/>
                    <a:pt x="9" y="0"/>
                    <a:pt x="14" y="0"/>
                  </a:cubicBezTo>
                  <a:cubicBezTo>
                    <a:pt x="947" y="0"/>
                    <a:pt x="947" y="0"/>
                    <a:pt x="947" y="0"/>
                  </a:cubicBezTo>
                  <a:cubicBezTo>
                    <a:pt x="952" y="0"/>
                    <a:pt x="956" y="2"/>
                    <a:pt x="956" y="7"/>
                  </a:cubicBezTo>
                  <a:cubicBezTo>
                    <a:pt x="956" y="533"/>
                    <a:pt x="956" y="533"/>
                    <a:pt x="956" y="5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4" name="Freeform 126">
              <a:extLst>
                <a:ext uri="{FF2B5EF4-FFF2-40B4-BE49-F238E27FC236}">
                  <a16:creationId xmlns:a16="http://schemas.microsoft.com/office/drawing/2014/main" id="{90958D39-2E2D-D974-649B-0CAE2E8E75F6}"/>
                </a:ext>
              </a:extLst>
            </p:cNvPr>
            <p:cNvSpPr>
              <a:spLocks noEditPoints="1"/>
            </p:cNvSpPr>
            <p:nvPr/>
          </p:nvSpPr>
          <p:spPr bwMode="auto">
            <a:xfrm>
              <a:off x="5164386" y="4303887"/>
              <a:ext cx="1442589" cy="825552"/>
            </a:xfrm>
            <a:custGeom>
              <a:avLst/>
              <a:gdLst>
                <a:gd name="T0" fmla="*/ 0 w 953"/>
                <a:gd name="T1" fmla="*/ 540 h 545"/>
                <a:gd name="T2" fmla="*/ 11 w 953"/>
                <a:gd name="T3" fmla="*/ 545 h 545"/>
                <a:gd name="T4" fmla="*/ 0 w 953"/>
                <a:gd name="T5" fmla="*/ 540 h 545"/>
                <a:gd name="T6" fmla="*/ 944 w 953"/>
                <a:gd name="T7" fmla="*/ 0 h 545"/>
                <a:gd name="T8" fmla="*/ 942 w 953"/>
                <a:gd name="T9" fmla="*/ 1 h 545"/>
                <a:gd name="T10" fmla="*/ 944 w 953"/>
                <a:gd name="T11" fmla="*/ 1 h 545"/>
                <a:gd name="T12" fmla="*/ 953 w 953"/>
                <a:gd name="T13" fmla="*/ 6 h 545"/>
                <a:gd name="T14" fmla="*/ 944 w 953"/>
                <a:gd name="T15" fmla="*/ 0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545">
                  <a:moveTo>
                    <a:pt x="0" y="540"/>
                  </a:moveTo>
                  <a:cubicBezTo>
                    <a:pt x="2" y="543"/>
                    <a:pt x="7" y="545"/>
                    <a:pt x="11" y="545"/>
                  </a:cubicBezTo>
                  <a:cubicBezTo>
                    <a:pt x="7" y="545"/>
                    <a:pt x="3" y="543"/>
                    <a:pt x="0" y="540"/>
                  </a:cubicBezTo>
                  <a:moveTo>
                    <a:pt x="944" y="0"/>
                  </a:moveTo>
                  <a:cubicBezTo>
                    <a:pt x="942" y="1"/>
                    <a:pt x="942" y="1"/>
                    <a:pt x="942" y="1"/>
                  </a:cubicBezTo>
                  <a:cubicBezTo>
                    <a:pt x="944" y="1"/>
                    <a:pt x="944" y="1"/>
                    <a:pt x="944" y="1"/>
                  </a:cubicBezTo>
                  <a:cubicBezTo>
                    <a:pt x="949" y="1"/>
                    <a:pt x="952" y="3"/>
                    <a:pt x="953" y="6"/>
                  </a:cubicBezTo>
                  <a:cubicBezTo>
                    <a:pt x="952" y="2"/>
                    <a:pt x="948" y="0"/>
                    <a:pt x="944" y="0"/>
                  </a:cubicBezTo>
                </a:path>
              </a:pathLst>
            </a:custGeom>
            <a:solidFill>
              <a:srgbClr val="B96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5" name="Freeform 127">
              <a:extLst>
                <a:ext uri="{FF2B5EF4-FFF2-40B4-BE49-F238E27FC236}">
                  <a16:creationId xmlns:a16="http://schemas.microsoft.com/office/drawing/2014/main" id="{C1E95115-C1F9-0F78-1B5A-173B0EA85587}"/>
                </a:ext>
              </a:extLst>
            </p:cNvPr>
            <p:cNvSpPr>
              <a:spLocks/>
            </p:cNvSpPr>
            <p:nvPr/>
          </p:nvSpPr>
          <p:spPr bwMode="auto">
            <a:xfrm>
              <a:off x="5162258" y="4304951"/>
              <a:ext cx="1444716" cy="824488"/>
            </a:xfrm>
            <a:custGeom>
              <a:avLst/>
              <a:gdLst>
                <a:gd name="T0" fmla="*/ 945 w 954"/>
                <a:gd name="T1" fmla="*/ 0 h 544"/>
                <a:gd name="T2" fmla="*/ 943 w 954"/>
                <a:gd name="T3" fmla="*/ 0 h 544"/>
                <a:gd name="T4" fmla="*/ 0 w 954"/>
                <a:gd name="T5" fmla="*/ 535 h 544"/>
                <a:gd name="T6" fmla="*/ 1 w 954"/>
                <a:gd name="T7" fmla="*/ 539 h 544"/>
                <a:gd name="T8" fmla="*/ 12 w 954"/>
                <a:gd name="T9" fmla="*/ 544 h 544"/>
                <a:gd name="T10" fmla="*/ 12 w 954"/>
                <a:gd name="T11" fmla="*/ 544 h 544"/>
                <a:gd name="T12" fmla="*/ 945 w 954"/>
                <a:gd name="T13" fmla="*/ 544 h 544"/>
                <a:gd name="T14" fmla="*/ 954 w 954"/>
                <a:gd name="T15" fmla="*/ 533 h 544"/>
                <a:gd name="T16" fmla="*/ 954 w 954"/>
                <a:gd name="T17" fmla="*/ 7 h 544"/>
                <a:gd name="T18" fmla="*/ 954 w 954"/>
                <a:gd name="T19" fmla="*/ 7 h 544"/>
                <a:gd name="T20" fmla="*/ 954 w 954"/>
                <a:gd name="T21" fmla="*/ 5 h 544"/>
                <a:gd name="T22" fmla="*/ 945 w 954"/>
                <a:gd name="T23"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54" h="544">
                  <a:moveTo>
                    <a:pt x="945" y="0"/>
                  </a:moveTo>
                  <a:cubicBezTo>
                    <a:pt x="943" y="0"/>
                    <a:pt x="943" y="0"/>
                    <a:pt x="943" y="0"/>
                  </a:cubicBezTo>
                  <a:cubicBezTo>
                    <a:pt x="0" y="535"/>
                    <a:pt x="0" y="535"/>
                    <a:pt x="0" y="535"/>
                  </a:cubicBezTo>
                  <a:cubicBezTo>
                    <a:pt x="0" y="537"/>
                    <a:pt x="0" y="538"/>
                    <a:pt x="1" y="539"/>
                  </a:cubicBezTo>
                  <a:cubicBezTo>
                    <a:pt x="4" y="542"/>
                    <a:pt x="8" y="544"/>
                    <a:pt x="12" y="544"/>
                  </a:cubicBezTo>
                  <a:cubicBezTo>
                    <a:pt x="12" y="544"/>
                    <a:pt x="12" y="544"/>
                    <a:pt x="12" y="544"/>
                  </a:cubicBezTo>
                  <a:cubicBezTo>
                    <a:pt x="945" y="544"/>
                    <a:pt x="945" y="544"/>
                    <a:pt x="945" y="544"/>
                  </a:cubicBezTo>
                  <a:cubicBezTo>
                    <a:pt x="950" y="544"/>
                    <a:pt x="954" y="539"/>
                    <a:pt x="954" y="533"/>
                  </a:cubicBezTo>
                  <a:cubicBezTo>
                    <a:pt x="954" y="7"/>
                    <a:pt x="954" y="7"/>
                    <a:pt x="954" y="7"/>
                  </a:cubicBezTo>
                  <a:cubicBezTo>
                    <a:pt x="954" y="7"/>
                    <a:pt x="954" y="7"/>
                    <a:pt x="954" y="7"/>
                  </a:cubicBezTo>
                  <a:cubicBezTo>
                    <a:pt x="954" y="7"/>
                    <a:pt x="954" y="6"/>
                    <a:pt x="954" y="5"/>
                  </a:cubicBezTo>
                  <a:cubicBezTo>
                    <a:pt x="953" y="2"/>
                    <a:pt x="950" y="0"/>
                    <a:pt x="945" y="0"/>
                  </a:cubicBezTo>
                </a:path>
              </a:pathLst>
            </a:custGeom>
            <a:solidFill>
              <a:srgbClr val="F1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6" name="Freeform 128">
              <a:extLst>
                <a:ext uri="{FF2B5EF4-FFF2-40B4-BE49-F238E27FC236}">
                  <a16:creationId xmlns:a16="http://schemas.microsoft.com/office/drawing/2014/main" id="{2B2DA416-1AF6-3C8E-673E-170034C876B9}"/>
                </a:ext>
              </a:extLst>
            </p:cNvPr>
            <p:cNvSpPr>
              <a:spLocks/>
            </p:cNvSpPr>
            <p:nvPr/>
          </p:nvSpPr>
          <p:spPr bwMode="auto">
            <a:xfrm>
              <a:off x="6728254" y="4777303"/>
              <a:ext cx="563844" cy="812786"/>
            </a:xfrm>
            <a:custGeom>
              <a:avLst/>
              <a:gdLst>
                <a:gd name="T0" fmla="*/ 372 w 372"/>
                <a:gd name="T1" fmla="*/ 506 h 536"/>
                <a:gd name="T2" fmla="*/ 341 w 372"/>
                <a:gd name="T3" fmla="*/ 536 h 536"/>
                <a:gd name="T4" fmla="*/ 27 w 372"/>
                <a:gd name="T5" fmla="*/ 536 h 536"/>
                <a:gd name="T6" fmla="*/ 0 w 372"/>
                <a:gd name="T7" fmla="*/ 506 h 536"/>
                <a:gd name="T8" fmla="*/ 0 w 372"/>
                <a:gd name="T9" fmla="*/ 27 h 536"/>
                <a:gd name="T10" fmla="*/ 27 w 372"/>
                <a:gd name="T11" fmla="*/ 0 h 536"/>
                <a:gd name="T12" fmla="*/ 341 w 372"/>
                <a:gd name="T13" fmla="*/ 0 h 536"/>
                <a:gd name="T14" fmla="*/ 372 w 372"/>
                <a:gd name="T15" fmla="*/ 27 h 536"/>
                <a:gd name="T16" fmla="*/ 372 w 372"/>
                <a:gd name="T17" fmla="*/ 50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2" h="536">
                  <a:moveTo>
                    <a:pt x="372" y="506"/>
                  </a:moveTo>
                  <a:cubicBezTo>
                    <a:pt x="372" y="522"/>
                    <a:pt x="356" y="536"/>
                    <a:pt x="341" y="536"/>
                  </a:cubicBezTo>
                  <a:cubicBezTo>
                    <a:pt x="27" y="536"/>
                    <a:pt x="27" y="536"/>
                    <a:pt x="27" y="536"/>
                  </a:cubicBezTo>
                  <a:cubicBezTo>
                    <a:pt x="11" y="536"/>
                    <a:pt x="0" y="522"/>
                    <a:pt x="0" y="506"/>
                  </a:cubicBezTo>
                  <a:cubicBezTo>
                    <a:pt x="0" y="27"/>
                    <a:pt x="0" y="27"/>
                    <a:pt x="0" y="27"/>
                  </a:cubicBezTo>
                  <a:cubicBezTo>
                    <a:pt x="0" y="11"/>
                    <a:pt x="11" y="0"/>
                    <a:pt x="27" y="0"/>
                  </a:cubicBezTo>
                  <a:cubicBezTo>
                    <a:pt x="341" y="0"/>
                    <a:pt x="341" y="0"/>
                    <a:pt x="341" y="0"/>
                  </a:cubicBezTo>
                  <a:cubicBezTo>
                    <a:pt x="356" y="0"/>
                    <a:pt x="372" y="11"/>
                    <a:pt x="372" y="27"/>
                  </a:cubicBezTo>
                  <a:cubicBezTo>
                    <a:pt x="372" y="506"/>
                    <a:pt x="372" y="506"/>
                    <a:pt x="372" y="506"/>
                  </a:cubicBezTo>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7" name="Freeform 129">
              <a:extLst>
                <a:ext uri="{FF2B5EF4-FFF2-40B4-BE49-F238E27FC236}">
                  <a16:creationId xmlns:a16="http://schemas.microsoft.com/office/drawing/2014/main" id="{65D249C5-7C34-8979-70CD-5953D5C3B857}"/>
                </a:ext>
              </a:extLst>
            </p:cNvPr>
            <p:cNvSpPr>
              <a:spLocks/>
            </p:cNvSpPr>
            <p:nvPr/>
          </p:nvSpPr>
          <p:spPr bwMode="auto">
            <a:xfrm>
              <a:off x="4712247" y="4990074"/>
              <a:ext cx="307454" cy="502140"/>
            </a:xfrm>
            <a:custGeom>
              <a:avLst/>
              <a:gdLst>
                <a:gd name="T0" fmla="*/ 203 w 203"/>
                <a:gd name="T1" fmla="*/ 329 h 332"/>
                <a:gd name="T2" fmla="*/ 202 w 203"/>
                <a:gd name="T3" fmla="*/ 328 h 332"/>
                <a:gd name="T4" fmla="*/ 1 w 203"/>
                <a:gd name="T5" fmla="*/ 328 h 332"/>
                <a:gd name="T6" fmla="*/ 3 w 203"/>
                <a:gd name="T7" fmla="*/ 329 h 332"/>
                <a:gd name="T8" fmla="*/ 3 w 203"/>
                <a:gd name="T9" fmla="*/ 2 h 332"/>
                <a:gd name="T10" fmla="*/ 1 w 203"/>
                <a:gd name="T11" fmla="*/ 8 h 332"/>
                <a:gd name="T12" fmla="*/ 202 w 203"/>
                <a:gd name="T13" fmla="*/ 8 h 332"/>
                <a:gd name="T14" fmla="*/ 203 w 203"/>
                <a:gd name="T15" fmla="*/ 2 h 332"/>
                <a:gd name="T16" fmla="*/ 203 w 203"/>
                <a:gd name="T17" fmla="*/ 32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332">
                  <a:moveTo>
                    <a:pt x="203" y="329"/>
                  </a:moveTo>
                  <a:cubicBezTo>
                    <a:pt x="203" y="332"/>
                    <a:pt x="203" y="328"/>
                    <a:pt x="202" y="328"/>
                  </a:cubicBezTo>
                  <a:cubicBezTo>
                    <a:pt x="1" y="328"/>
                    <a:pt x="1" y="328"/>
                    <a:pt x="1" y="328"/>
                  </a:cubicBezTo>
                  <a:cubicBezTo>
                    <a:pt x="0" y="328"/>
                    <a:pt x="3" y="332"/>
                    <a:pt x="3" y="329"/>
                  </a:cubicBezTo>
                  <a:cubicBezTo>
                    <a:pt x="3" y="2"/>
                    <a:pt x="3" y="2"/>
                    <a:pt x="3" y="2"/>
                  </a:cubicBezTo>
                  <a:cubicBezTo>
                    <a:pt x="3" y="0"/>
                    <a:pt x="0" y="8"/>
                    <a:pt x="1" y="8"/>
                  </a:cubicBezTo>
                  <a:cubicBezTo>
                    <a:pt x="202" y="8"/>
                    <a:pt x="202" y="8"/>
                    <a:pt x="202" y="8"/>
                  </a:cubicBezTo>
                  <a:cubicBezTo>
                    <a:pt x="203" y="8"/>
                    <a:pt x="203" y="0"/>
                    <a:pt x="203" y="2"/>
                  </a:cubicBezTo>
                  <a:cubicBezTo>
                    <a:pt x="203" y="329"/>
                    <a:pt x="203" y="329"/>
                    <a:pt x="203" y="3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8" name="Freeform 130">
              <a:extLst>
                <a:ext uri="{FF2B5EF4-FFF2-40B4-BE49-F238E27FC236}">
                  <a16:creationId xmlns:a16="http://schemas.microsoft.com/office/drawing/2014/main" id="{0F8EC19F-CA2C-87C5-D7AD-95E86C613BC8}"/>
                </a:ext>
              </a:extLst>
            </p:cNvPr>
            <p:cNvSpPr>
              <a:spLocks/>
            </p:cNvSpPr>
            <p:nvPr/>
          </p:nvSpPr>
          <p:spPr bwMode="auto">
            <a:xfrm>
              <a:off x="5001616" y="4994329"/>
              <a:ext cx="5319" cy="7447"/>
            </a:xfrm>
            <a:custGeom>
              <a:avLst/>
              <a:gdLst>
                <a:gd name="T0" fmla="*/ 3 w 3"/>
                <a:gd name="T1" fmla="*/ 0 h 5"/>
                <a:gd name="T2" fmla="*/ 0 w 3"/>
                <a:gd name="T3" fmla="*/ 5 h 5"/>
                <a:gd name="T4" fmla="*/ 3 w 3"/>
                <a:gd name="T5" fmla="*/ 5 h 5"/>
                <a:gd name="T6" fmla="*/ 3 w 3"/>
                <a:gd name="T7" fmla="*/ 0 h 5"/>
              </a:gdLst>
              <a:ahLst/>
              <a:cxnLst>
                <a:cxn ang="0">
                  <a:pos x="T0" y="T1"/>
                </a:cxn>
                <a:cxn ang="0">
                  <a:pos x="T2" y="T3"/>
                </a:cxn>
                <a:cxn ang="0">
                  <a:pos x="T4" y="T5"/>
                </a:cxn>
                <a:cxn ang="0">
                  <a:pos x="T6" y="T7"/>
                </a:cxn>
              </a:cxnLst>
              <a:rect l="0" t="0" r="r" b="b"/>
              <a:pathLst>
                <a:path w="3" h="5">
                  <a:moveTo>
                    <a:pt x="3" y="0"/>
                  </a:moveTo>
                  <a:cubicBezTo>
                    <a:pt x="2" y="2"/>
                    <a:pt x="1" y="3"/>
                    <a:pt x="0" y="5"/>
                  </a:cubicBezTo>
                  <a:cubicBezTo>
                    <a:pt x="3" y="5"/>
                    <a:pt x="3" y="5"/>
                    <a:pt x="3" y="5"/>
                  </a:cubicBezTo>
                  <a:cubicBezTo>
                    <a:pt x="3" y="0"/>
                    <a:pt x="3" y="0"/>
                    <a:pt x="3" y="0"/>
                  </a:cubicBezTo>
                </a:path>
              </a:pathLst>
            </a:custGeom>
            <a:solidFill>
              <a:srgbClr val="F1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49" name="Freeform 131">
              <a:extLst>
                <a:ext uri="{FF2B5EF4-FFF2-40B4-BE49-F238E27FC236}">
                  <a16:creationId xmlns:a16="http://schemas.microsoft.com/office/drawing/2014/main" id="{2F51AB32-DB9B-9B94-C816-1CC32F6A522D}"/>
                </a:ext>
              </a:extLst>
            </p:cNvPr>
            <p:cNvSpPr>
              <a:spLocks/>
            </p:cNvSpPr>
            <p:nvPr/>
          </p:nvSpPr>
          <p:spPr bwMode="auto">
            <a:xfrm>
              <a:off x="4725013" y="5001776"/>
              <a:ext cx="281922" cy="424479"/>
            </a:xfrm>
            <a:custGeom>
              <a:avLst/>
              <a:gdLst>
                <a:gd name="T0" fmla="*/ 186 w 186"/>
                <a:gd name="T1" fmla="*/ 0 h 280"/>
                <a:gd name="T2" fmla="*/ 183 w 186"/>
                <a:gd name="T3" fmla="*/ 0 h 280"/>
                <a:gd name="T4" fmla="*/ 3 w 186"/>
                <a:gd name="T5" fmla="*/ 280 h 280"/>
                <a:gd name="T6" fmla="*/ 182 w 186"/>
                <a:gd name="T7" fmla="*/ 280 h 280"/>
                <a:gd name="T8" fmla="*/ 186 w 186"/>
                <a:gd name="T9" fmla="*/ 0 h 280"/>
              </a:gdLst>
              <a:ahLst/>
              <a:cxnLst>
                <a:cxn ang="0">
                  <a:pos x="T0" y="T1"/>
                </a:cxn>
                <a:cxn ang="0">
                  <a:pos x="T2" y="T3"/>
                </a:cxn>
                <a:cxn ang="0">
                  <a:pos x="T4" y="T5"/>
                </a:cxn>
                <a:cxn ang="0">
                  <a:pos x="T6" y="T7"/>
                </a:cxn>
                <a:cxn ang="0">
                  <a:pos x="T8" y="T9"/>
                </a:cxn>
              </a:cxnLst>
              <a:rect l="0" t="0" r="r" b="b"/>
              <a:pathLst>
                <a:path w="186" h="280">
                  <a:moveTo>
                    <a:pt x="186" y="0"/>
                  </a:moveTo>
                  <a:cubicBezTo>
                    <a:pt x="183" y="0"/>
                    <a:pt x="183" y="0"/>
                    <a:pt x="183" y="0"/>
                  </a:cubicBezTo>
                  <a:cubicBezTo>
                    <a:pt x="140" y="72"/>
                    <a:pt x="0" y="280"/>
                    <a:pt x="3" y="280"/>
                  </a:cubicBezTo>
                  <a:cubicBezTo>
                    <a:pt x="182" y="280"/>
                    <a:pt x="182" y="280"/>
                    <a:pt x="182" y="280"/>
                  </a:cubicBezTo>
                  <a:cubicBezTo>
                    <a:pt x="186" y="0"/>
                    <a:pt x="186" y="0"/>
                    <a:pt x="186" y="0"/>
                  </a:cubicBezTo>
                </a:path>
              </a:pathLst>
            </a:custGeom>
            <a:solidFill>
              <a:srgbClr val="F1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0" name="Freeform 132">
              <a:extLst>
                <a:ext uri="{FF2B5EF4-FFF2-40B4-BE49-F238E27FC236}">
                  <a16:creationId xmlns:a16="http://schemas.microsoft.com/office/drawing/2014/main" id="{89FE6127-EDB7-025A-1A4B-CE1763AC92D1}"/>
                </a:ext>
              </a:extLst>
            </p:cNvPr>
            <p:cNvSpPr>
              <a:spLocks noEditPoints="1"/>
            </p:cNvSpPr>
            <p:nvPr/>
          </p:nvSpPr>
          <p:spPr bwMode="auto">
            <a:xfrm>
              <a:off x="4706927" y="4908157"/>
              <a:ext cx="319157" cy="602142"/>
            </a:xfrm>
            <a:custGeom>
              <a:avLst/>
              <a:gdLst>
                <a:gd name="T0" fmla="*/ 182 w 211"/>
                <a:gd name="T1" fmla="*/ 0 h 398"/>
                <a:gd name="T2" fmla="*/ 28 w 211"/>
                <a:gd name="T3" fmla="*/ 0 h 398"/>
                <a:gd name="T4" fmla="*/ 0 w 211"/>
                <a:gd name="T5" fmla="*/ 28 h 398"/>
                <a:gd name="T6" fmla="*/ 0 w 211"/>
                <a:gd name="T7" fmla="*/ 369 h 398"/>
                <a:gd name="T8" fmla="*/ 28 w 211"/>
                <a:gd name="T9" fmla="*/ 398 h 398"/>
                <a:gd name="T10" fmla="*/ 182 w 211"/>
                <a:gd name="T11" fmla="*/ 398 h 398"/>
                <a:gd name="T12" fmla="*/ 211 w 211"/>
                <a:gd name="T13" fmla="*/ 369 h 398"/>
                <a:gd name="T14" fmla="*/ 211 w 211"/>
                <a:gd name="T15" fmla="*/ 28 h 398"/>
                <a:gd name="T16" fmla="*/ 182 w 211"/>
                <a:gd name="T17" fmla="*/ 0 h 398"/>
                <a:gd name="T18" fmla="*/ 80 w 211"/>
                <a:gd name="T19" fmla="*/ 32 h 398"/>
                <a:gd name="T20" fmla="*/ 132 w 211"/>
                <a:gd name="T21" fmla="*/ 32 h 398"/>
                <a:gd name="T22" fmla="*/ 140 w 211"/>
                <a:gd name="T23" fmla="*/ 39 h 398"/>
                <a:gd name="T24" fmla="*/ 132 w 211"/>
                <a:gd name="T25" fmla="*/ 47 h 398"/>
                <a:gd name="T26" fmla="*/ 80 w 211"/>
                <a:gd name="T27" fmla="*/ 47 h 398"/>
                <a:gd name="T28" fmla="*/ 73 w 211"/>
                <a:gd name="T29" fmla="*/ 39 h 398"/>
                <a:gd name="T30" fmla="*/ 80 w 211"/>
                <a:gd name="T31" fmla="*/ 32 h 398"/>
                <a:gd name="T32" fmla="*/ 106 w 211"/>
                <a:gd name="T33" fmla="*/ 383 h 398"/>
                <a:gd name="T34" fmla="*/ 85 w 211"/>
                <a:gd name="T35" fmla="*/ 362 h 398"/>
                <a:gd name="T36" fmla="*/ 106 w 211"/>
                <a:gd name="T37" fmla="*/ 341 h 398"/>
                <a:gd name="T38" fmla="*/ 127 w 211"/>
                <a:gd name="T39" fmla="*/ 362 h 398"/>
                <a:gd name="T40" fmla="*/ 106 w 211"/>
                <a:gd name="T41" fmla="*/ 383 h 398"/>
                <a:gd name="T42" fmla="*/ 197 w 211"/>
                <a:gd name="T43" fmla="*/ 335 h 398"/>
                <a:gd name="T44" fmla="*/ 16 w 211"/>
                <a:gd name="T45" fmla="*/ 335 h 398"/>
                <a:gd name="T46" fmla="*/ 16 w 211"/>
                <a:gd name="T47" fmla="*/ 63 h 398"/>
                <a:gd name="T48" fmla="*/ 197 w 211"/>
                <a:gd name="T49" fmla="*/ 63 h 398"/>
                <a:gd name="T50" fmla="*/ 197 w 211"/>
                <a:gd name="T51" fmla="*/ 335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1" h="398">
                  <a:moveTo>
                    <a:pt x="182" y="0"/>
                  </a:moveTo>
                  <a:cubicBezTo>
                    <a:pt x="28" y="0"/>
                    <a:pt x="28" y="0"/>
                    <a:pt x="28" y="0"/>
                  </a:cubicBezTo>
                  <a:cubicBezTo>
                    <a:pt x="13" y="0"/>
                    <a:pt x="0" y="12"/>
                    <a:pt x="0" y="28"/>
                  </a:cubicBezTo>
                  <a:cubicBezTo>
                    <a:pt x="0" y="369"/>
                    <a:pt x="0" y="369"/>
                    <a:pt x="0" y="369"/>
                  </a:cubicBezTo>
                  <a:cubicBezTo>
                    <a:pt x="0" y="385"/>
                    <a:pt x="13" y="398"/>
                    <a:pt x="28" y="398"/>
                  </a:cubicBezTo>
                  <a:cubicBezTo>
                    <a:pt x="182" y="398"/>
                    <a:pt x="182" y="398"/>
                    <a:pt x="182" y="398"/>
                  </a:cubicBezTo>
                  <a:cubicBezTo>
                    <a:pt x="198" y="398"/>
                    <a:pt x="211" y="385"/>
                    <a:pt x="211" y="369"/>
                  </a:cubicBezTo>
                  <a:cubicBezTo>
                    <a:pt x="211" y="28"/>
                    <a:pt x="211" y="28"/>
                    <a:pt x="211" y="28"/>
                  </a:cubicBezTo>
                  <a:cubicBezTo>
                    <a:pt x="211" y="12"/>
                    <a:pt x="198" y="0"/>
                    <a:pt x="182" y="0"/>
                  </a:cubicBezTo>
                  <a:close/>
                  <a:moveTo>
                    <a:pt x="80" y="32"/>
                  </a:moveTo>
                  <a:cubicBezTo>
                    <a:pt x="132" y="32"/>
                    <a:pt x="132" y="32"/>
                    <a:pt x="132" y="32"/>
                  </a:cubicBezTo>
                  <a:cubicBezTo>
                    <a:pt x="136" y="32"/>
                    <a:pt x="140" y="35"/>
                    <a:pt x="140" y="39"/>
                  </a:cubicBezTo>
                  <a:cubicBezTo>
                    <a:pt x="140" y="43"/>
                    <a:pt x="136" y="47"/>
                    <a:pt x="132" y="47"/>
                  </a:cubicBezTo>
                  <a:cubicBezTo>
                    <a:pt x="80" y="47"/>
                    <a:pt x="80" y="47"/>
                    <a:pt x="80" y="47"/>
                  </a:cubicBezTo>
                  <a:cubicBezTo>
                    <a:pt x="76" y="47"/>
                    <a:pt x="73" y="43"/>
                    <a:pt x="73" y="39"/>
                  </a:cubicBezTo>
                  <a:cubicBezTo>
                    <a:pt x="73" y="35"/>
                    <a:pt x="76" y="32"/>
                    <a:pt x="80" y="32"/>
                  </a:cubicBezTo>
                  <a:close/>
                  <a:moveTo>
                    <a:pt x="106" y="383"/>
                  </a:moveTo>
                  <a:cubicBezTo>
                    <a:pt x="94" y="383"/>
                    <a:pt x="85" y="373"/>
                    <a:pt x="85" y="362"/>
                  </a:cubicBezTo>
                  <a:cubicBezTo>
                    <a:pt x="85" y="350"/>
                    <a:pt x="94" y="341"/>
                    <a:pt x="106" y="341"/>
                  </a:cubicBezTo>
                  <a:cubicBezTo>
                    <a:pt x="117" y="341"/>
                    <a:pt x="127" y="350"/>
                    <a:pt x="127" y="362"/>
                  </a:cubicBezTo>
                  <a:cubicBezTo>
                    <a:pt x="127" y="373"/>
                    <a:pt x="117" y="383"/>
                    <a:pt x="106" y="383"/>
                  </a:cubicBezTo>
                  <a:close/>
                  <a:moveTo>
                    <a:pt x="197" y="335"/>
                  </a:moveTo>
                  <a:cubicBezTo>
                    <a:pt x="16" y="335"/>
                    <a:pt x="16" y="335"/>
                    <a:pt x="16" y="335"/>
                  </a:cubicBezTo>
                  <a:cubicBezTo>
                    <a:pt x="16" y="63"/>
                    <a:pt x="16" y="63"/>
                    <a:pt x="16" y="63"/>
                  </a:cubicBezTo>
                  <a:cubicBezTo>
                    <a:pt x="197" y="63"/>
                    <a:pt x="197" y="63"/>
                    <a:pt x="197" y="63"/>
                  </a:cubicBezTo>
                  <a:lnTo>
                    <a:pt x="197" y="335"/>
                  </a:lnTo>
                  <a:close/>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1" name="Freeform 133">
              <a:extLst>
                <a:ext uri="{FF2B5EF4-FFF2-40B4-BE49-F238E27FC236}">
                  <a16:creationId xmlns:a16="http://schemas.microsoft.com/office/drawing/2014/main" id="{D3E93FD7-BBBA-0AB7-CD98-E5622D99D0EF}"/>
                </a:ext>
              </a:extLst>
            </p:cNvPr>
            <p:cNvSpPr>
              <a:spLocks/>
            </p:cNvSpPr>
            <p:nvPr/>
          </p:nvSpPr>
          <p:spPr bwMode="auto">
            <a:xfrm>
              <a:off x="4822888" y="4961350"/>
              <a:ext cx="86172" cy="11702"/>
            </a:xfrm>
            <a:custGeom>
              <a:avLst/>
              <a:gdLst>
                <a:gd name="T0" fmla="*/ 4 w 57"/>
                <a:gd name="T1" fmla="*/ 8 h 8"/>
                <a:gd name="T2" fmla="*/ 54 w 57"/>
                <a:gd name="T3" fmla="*/ 8 h 8"/>
                <a:gd name="T4" fmla="*/ 57 w 57"/>
                <a:gd name="T5" fmla="*/ 4 h 8"/>
                <a:gd name="T6" fmla="*/ 54 w 57"/>
                <a:gd name="T7" fmla="*/ 0 h 8"/>
                <a:gd name="T8" fmla="*/ 4 w 57"/>
                <a:gd name="T9" fmla="*/ 0 h 8"/>
                <a:gd name="T10" fmla="*/ 0 w 57"/>
                <a:gd name="T11" fmla="*/ 4 h 8"/>
                <a:gd name="T12" fmla="*/ 4 w 57"/>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57" h="8">
                  <a:moveTo>
                    <a:pt x="4" y="8"/>
                  </a:moveTo>
                  <a:cubicBezTo>
                    <a:pt x="54" y="8"/>
                    <a:pt x="54" y="8"/>
                    <a:pt x="54" y="8"/>
                  </a:cubicBezTo>
                  <a:cubicBezTo>
                    <a:pt x="56" y="8"/>
                    <a:pt x="57" y="6"/>
                    <a:pt x="57" y="4"/>
                  </a:cubicBezTo>
                  <a:cubicBezTo>
                    <a:pt x="57" y="2"/>
                    <a:pt x="56" y="0"/>
                    <a:pt x="54" y="0"/>
                  </a:cubicBezTo>
                  <a:cubicBezTo>
                    <a:pt x="4" y="0"/>
                    <a:pt x="4" y="0"/>
                    <a:pt x="4" y="0"/>
                  </a:cubicBezTo>
                  <a:cubicBezTo>
                    <a:pt x="2" y="0"/>
                    <a:pt x="0" y="2"/>
                    <a:pt x="0" y="4"/>
                  </a:cubicBezTo>
                  <a:cubicBezTo>
                    <a:pt x="0" y="6"/>
                    <a:pt x="2" y="8"/>
                    <a:pt x="4" y="8"/>
                  </a:cubicBezTo>
                  <a:close/>
                </a:path>
              </a:pathLst>
            </a:custGeom>
            <a:solidFill>
              <a:srgbClr val="B035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2" name="Freeform 134">
              <a:extLst>
                <a:ext uri="{FF2B5EF4-FFF2-40B4-BE49-F238E27FC236}">
                  <a16:creationId xmlns:a16="http://schemas.microsoft.com/office/drawing/2014/main" id="{EA1A5948-AA60-351F-8CE9-2D8D9DCE6863}"/>
                </a:ext>
              </a:extLst>
            </p:cNvPr>
            <p:cNvSpPr>
              <a:spLocks/>
            </p:cNvSpPr>
            <p:nvPr/>
          </p:nvSpPr>
          <p:spPr bwMode="auto">
            <a:xfrm>
              <a:off x="6788894" y="4844326"/>
              <a:ext cx="439373" cy="658527"/>
            </a:xfrm>
            <a:custGeom>
              <a:avLst/>
              <a:gdLst>
                <a:gd name="T0" fmla="*/ 288 w 290"/>
                <a:gd name="T1" fmla="*/ 432 h 435"/>
                <a:gd name="T2" fmla="*/ 288 w 290"/>
                <a:gd name="T3" fmla="*/ 432 h 435"/>
                <a:gd name="T4" fmla="*/ 2 w 290"/>
                <a:gd name="T5" fmla="*/ 432 h 435"/>
                <a:gd name="T6" fmla="*/ 0 w 290"/>
                <a:gd name="T7" fmla="*/ 432 h 435"/>
                <a:gd name="T8" fmla="*/ 0 w 290"/>
                <a:gd name="T9" fmla="*/ 4 h 435"/>
                <a:gd name="T10" fmla="*/ 2 w 290"/>
                <a:gd name="T11" fmla="*/ 0 h 435"/>
                <a:gd name="T12" fmla="*/ 288 w 290"/>
                <a:gd name="T13" fmla="*/ 0 h 435"/>
                <a:gd name="T14" fmla="*/ 288 w 290"/>
                <a:gd name="T15" fmla="*/ 4 h 435"/>
                <a:gd name="T16" fmla="*/ 288 w 290"/>
                <a:gd name="T17" fmla="*/ 432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435">
                  <a:moveTo>
                    <a:pt x="288" y="432"/>
                  </a:moveTo>
                  <a:cubicBezTo>
                    <a:pt x="288" y="435"/>
                    <a:pt x="290" y="432"/>
                    <a:pt x="288" y="432"/>
                  </a:cubicBezTo>
                  <a:cubicBezTo>
                    <a:pt x="2" y="432"/>
                    <a:pt x="2" y="432"/>
                    <a:pt x="2" y="432"/>
                  </a:cubicBezTo>
                  <a:cubicBezTo>
                    <a:pt x="1" y="432"/>
                    <a:pt x="0" y="435"/>
                    <a:pt x="0" y="432"/>
                  </a:cubicBezTo>
                  <a:cubicBezTo>
                    <a:pt x="0" y="4"/>
                    <a:pt x="0" y="4"/>
                    <a:pt x="0" y="4"/>
                  </a:cubicBezTo>
                  <a:cubicBezTo>
                    <a:pt x="0" y="0"/>
                    <a:pt x="1" y="0"/>
                    <a:pt x="2" y="0"/>
                  </a:cubicBezTo>
                  <a:cubicBezTo>
                    <a:pt x="288" y="0"/>
                    <a:pt x="288" y="0"/>
                    <a:pt x="288" y="0"/>
                  </a:cubicBezTo>
                  <a:cubicBezTo>
                    <a:pt x="290" y="0"/>
                    <a:pt x="288" y="0"/>
                    <a:pt x="288" y="4"/>
                  </a:cubicBezTo>
                  <a:cubicBezTo>
                    <a:pt x="288" y="432"/>
                    <a:pt x="288" y="432"/>
                    <a:pt x="288" y="43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3" name="Freeform 135">
              <a:extLst>
                <a:ext uri="{FF2B5EF4-FFF2-40B4-BE49-F238E27FC236}">
                  <a16:creationId xmlns:a16="http://schemas.microsoft.com/office/drawing/2014/main" id="{2413D0E4-32CF-042E-C23E-2942201CCF53}"/>
                </a:ext>
              </a:extLst>
            </p:cNvPr>
            <p:cNvSpPr>
              <a:spLocks/>
            </p:cNvSpPr>
            <p:nvPr/>
          </p:nvSpPr>
          <p:spPr bwMode="auto">
            <a:xfrm>
              <a:off x="7225075" y="4853900"/>
              <a:ext cx="0" cy="644697"/>
            </a:xfrm>
            <a:custGeom>
              <a:avLst/>
              <a:gdLst>
                <a:gd name="T0" fmla="*/ 0 h 426"/>
                <a:gd name="T1" fmla="*/ 1 h 426"/>
                <a:gd name="T2" fmla="*/ 426 h 426"/>
                <a:gd name="T3" fmla="*/ 426 h 426"/>
                <a:gd name="T4" fmla="*/ 0 h 426"/>
                <a:gd name="T5" fmla="*/ 0 h 426"/>
              </a:gdLst>
              <a:ahLst/>
              <a:cxnLst>
                <a:cxn ang="0">
                  <a:pos x="0" y="T0"/>
                </a:cxn>
                <a:cxn ang="0">
                  <a:pos x="0" y="T1"/>
                </a:cxn>
                <a:cxn ang="0">
                  <a:pos x="0" y="T2"/>
                </a:cxn>
                <a:cxn ang="0">
                  <a:pos x="0" y="T3"/>
                </a:cxn>
                <a:cxn ang="0">
                  <a:pos x="0" y="T4"/>
                </a:cxn>
                <a:cxn ang="0">
                  <a:pos x="0" y="T5"/>
                </a:cxn>
              </a:cxnLst>
              <a:rect l="0" t="0" r="r" b="b"/>
              <a:pathLst>
                <a:path h="426">
                  <a:moveTo>
                    <a:pt x="0" y="0"/>
                  </a:moveTo>
                  <a:cubicBezTo>
                    <a:pt x="0" y="0"/>
                    <a:pt x="0" y="0"/>
                    <a:pt x="0" y="1"/>
                  </a:cubicBezTo>
                  <a:cubicBezTo>
                    <a:pt x="0" y="426"/>
                    <a:pt x="0" y="426"/>
                    <a:pt x="0" y="426"/>
                  </a:cubicBezTo>
                  <a:cubicBezTo>
                    <a:pt x="0" y="426"/>
                    <a:pt x="0" y="426"/>
                    <a:pt x="0" y="426"/>
                  </a:cubicBezTo>
                  <a:cubicBezTo>
                    <a:pt x="0" y="0"/>
                    <a:pt x="0" y="0"/>
                    <a:pt x="0" y="0"/>
                  </a:cubicBezTo>
                  <a:cubicBezTo>
                    <a:pt x="0" y="0"/>
                    <a:pt x="0" y="0"/>
                    <a:pt x="0" y="0"/>
                  </a:cubicBezTo>
                </a:path>
              </a:pathLst>
            </a:custGeom>
            <a:solidFill>
              <a:srgbClr val="B96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4" name="Freeform 136">
              <a:extLst>
                <a:ext uri="{FF2B5EF4-FFF2-40B4-BE49-F238E27FC236}">
                  <a16:creationId xmlns:a16="http://schemas.microsoft.com/office/drawing/2014/main" id="{39DFA170-8C58-5F77-9FEB-6987C3267D32}"/>
                </a:ext>
              </a:extLst>
            </p:cNvPr>
            <p:cNvSpPr>
              <a:spLocks/>
            </p:cNvSpPr>
            <p:nvPr/>
          </p:nvSpPr>
          <p:spPr bwMode="auto">
            <a:xfrm>
              <a:off x="6787830" y="4854964"/>
              <a:ext cx="437245" cy="643633"/>
            </a:xfrm>
            <a:custGeom>
              <a:avLst/>
              <a:gdLst>
                <a:gd name="T0" fmla="*/ 289 w 289"/>
                <a:gd name="T1" fmla="*/ 0 h 425"/>
                <a:gd name="T2" fmla="*/ 3 w 289"/>
                <a:gd name="T3" fmla="*/ 425 h 425"/>
                <a:gd name="T4" fmla="*/ 289 w 289"/>
                <a:gd name="T5" fmla="*/ 425 h 425"/>
                <a:gd name="T6" fmla="*/ 289 w 289"/>
                <a:gd name="T7" fmla="*/ 425 h 425"/>
                <a:gd name="T8" fmla="*/ 289 w 289"/>
                <a:gd name="T9" fmla="*/ 425 h 425"/>
                <a:gd name="T10" fmla="*/ 289 w 289"/>
                <a:gd name="T11" fmla="*/ 0 h 425"/>
              </a:gdLst>
              <a:ahLst/>
              <a:cxnLst>
                <a:cxn ang="0">
                  <a:pos x="T0" y="T1"/>
                </a:cxn>
                <a:cxn ang="0">
                  <a:pos x="T2" y="T3"/>
                </a:cxn>
                <a:cxn ang="0">
                  <a:pos x="T4" y="T5"/>
                </a:cxn>
                <a:cxn ang="0">
                  <a:pos x="T6" y="T7"/>
                </a:cxn>
                <a:cxn ang="0">
                  <a:pos x="T8" y="T9"/>
                </a:cxn>
                <a:cxn ang="0">
                  <a:pos x="T10" y="T11"/>
                </a:cxn>
              </a:cxnLst>
              <a:rect l="0" t="0" r="r" b="b"/>
              <a:pathLst>
                <a:path w="289" h="425">
                  <a:moveTo>
                    <a:pt x="289" y="0"/>
                  </a:moveTo>
                  <a:cubicBezTo>
                    <a:pt x="279" y="13"/>
                    <a:pt x="0" y="425"/>
                    <a:pt x="3" y="425"/>
                  </a:cubicBezTo>
                  <a:cubicBezTo>
                    <a:pt x="289" y="425"/>
                    <a:pt x="289" y="425"/>
                    <a:pt x="289" y="425"/>
                  </a:cubicBezTo>
                  <a:cubicBezTo>
                    <a:pt x="289" y="425"/>
                    <a:pt x="289" y="425"/>
                    <a:pt x="289" y="425"/>
                  </a:cubicBezTo>
                  <a:cubicBezTo>
                    <a:pt x="289" y="425"/>
                    <a:pt x="289" y="425"/>
                    <a:pt x="289" y="425"/>
                  </a:cubicBezTo>
                  <a:cubicBezTo>
                    <a:pt x="289" y="0"/>
                    <a:pt x="289" y="0"/>
                    <a:pt x="289" y="0"/>
                  </a:cubicBezTo>
                </a:path>
              </a:pathLst>
            </a:custGeom>
            <a:solidFill>
              <a:srgbClr val="F1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5" name="Oval 137">
              <a:extLst>
                <a:ext uri="{FF2B5EF4-FFF2-40B4-BE49-F238E27FC236}">
                  <a16:creationId xmlns:a16="http://schemas.microsoft.com/office/drawing/2014/main" id="{F02EF1B9-1FD9-AEB8-8F75-CC6C1082553F}"/>
                </a:ext>
              </a:extLst>
            </p:cNvPr>
            <p:cNvSpPr>
              <a:spLocks noChangeArrowheads="1"/>
            </p:cNvSpPr>
            <p:nvPr/>
          </p:nvSpPr>
          <p:spPr bwMode="auto">
            <a:xfrm>
              <a:off x="5308006" y="5648601"/>
              <a:ext cx="1151092" cy="48937"/>
            </a:xfrm>
            <a:prstGeom prst="ellipse">
              <a:avLst/>
            </a:pr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6" name="Freeform 138">
              <a:extLst>
                <a:ext uri="{FF2B5EF4-FFF2-40B4-BE49-F238E27FC236}">
                  <a16:creationId xmlns:a16="http://schemas.microsoft.com/office/drawing/2014/main" id="{33926276-6AF1-D9CC-14C2-BEB9D0FDCE34}"/>
                </a:ext>
              </a:extLst>
            </p:cNvPr>
            <p:cNvSpPr>
              <a:spLocks/>
            </p:cNvSpPr>
            <p:nvPr/>
          </p:nvSpPr>
          <p:spPr bwMode="auto">
            <a:xfrm>
              <a:off x="5312262" y="5383701"/>
              <a:ext cx="1147901" cy="272347"/>
            </a:xfrm>
            <a:custGeom>
              <a:avLst/>
              <a:gdLst>
                <a:gd name="T0" fmla="*/ 713 w 758"/>
                <a:gd name="T1" fmla="*/ 0 h 180"/>
                <a:gd name="T2" fmla="*/ 699 w 758"/>
                <a:gd name="T3" fmla="*/ 0 h 180"/>
                <a:gd name="T4" fmla="*/ 49 w 758"/>
                <a:gd name="T5" fmla="*/ 0 h 180"/>
                <a:gd name="T6" fmla="*/ 46 w 758"/>
                <a:gd name="T7" fmla="*/ 0 h 180"/>
                <a:gd name="T8" fmla="*/ 44 w 758"/>
                <a:gd name="T9" fmla="*/ 0 h 180"/>
                <a:gd name="T10" fmla="*/ 1 w 758"/>
                <a:gd name="T11" fmla="*/ 179 h 180"/>
                <a:gd name="T12" fmla="*/ 5 w 758"/>
                <a:gd name="T13" fmla="*/ 180 h 180"/>
                <a:gd name="T14" fmla="*/ 756 w 758"/>
                <a:gd name="T15" fmla="*/ 180 h 180"/>
                <a:gd name="T16" fmla="*/ 757 w 758"/>
                <a:gd name="T17" fmla="*/ 178 h 180"/>
                <a:gd name="T18" fmla="*/ 713 w 758"/>
                <a:gd name="T19"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8" h="180">
                  <a:moveTo>
                    <a:pt x="713" y="0"/>
                  </a:moveTo>
                  <a:cubicBezTo>
                    <a:pt x="708" y="0"/>
                    <a:pt x="705" y="0"/>
                    <a:pt x="699" y="0"/>
                  </a:cubicBezTo>
                  <a:cubicBezTo>
                    <a:pt x="482" y="0"/>
                    <a:pt x="265" y="0"/>
                    <a:pt x="49" y="0"/>
                  </a:cubicBezTo>
                  <a:cubicBezTo>
                    <a:pt x="48" y="0"/>
                    <a:pt x="47" y="0"/>
                    <a:pt x="46" y="0"/>
                  </a:cubicBezTo>
                  <a:cubicBezTo>
                    <a:pt x="45" y="0"/>
                    <a:pt x="45" y="0"/>
                    <a:pt x="44" y="0"/>
                  </a:cubicBezTo>
                  <a:cubicBezTo>
                    <a:pt x="32" y="60"/>
                    <a:pt x="15" y="119"/>
                    <a:pt x="1" y="179"/>
                  </a:cubicBezTo>
                  <a:cubicBezTo>
                    <a:pt x="0" y="180"/>
                    <a:pt x="3" y="180"/>
                    <a:pt x="5" y="180"/>
                  </a:cubicBezTo>
                  <a:cubicBezTo>
                    <a:pt x="255" y="180"/>
                    <a:pt x="506" y="180"/>
                    <a:pt x="756" y="180"/>
                  </a:cubicBezTo>
                  <a:cubicBezTo>
                    <a:pt x="758" y="180"/>
                    <a:pt x="757" y="180"/>
                    <a:pt x="757" y="178"/>
                  </a:cubicBezTo>
                  <a:cubicBezTo>
                    <a:pt x="744" y="119"/>
                    <a:pt x="727" y="60"/>
                    <a:pt x="713" y="0"/>
                  </a:cubicBezTo>
                  <a:close/>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nvGrpSpPr>
            <p:cNvPr id="157" name="组合 1">
              <a:extLst>
                <a:ext uri="{FF2B5EF4-FFF2-40B4-BE49-F238E27FC236}">
                  <a16:creationId xmlns:a16="http://schemas.microsoft.com/office/drawing/2014/main" id="{D7DF5E1B-96CF-D730-7ED9-057277FF4697}"/>
                </a:ext>
              </a:extLst>
            </p:cNvPr>
            <p:cNvGrpSpPr/>
            <p:nvPr/>
          </p:nvGrpSpPr>
          <p:grpSpPr>
            <a:xfrm>
              <a:off x="5361199" y="5401786"/>
              <a:ext cx="1067047" cy="236176"/>
              <a:chOff x="5361199" y="5401786"/>
              <a:chExt cx="1067047" cy="236176"/>
            </a:xfrm>
          </p:grpSpPr>
          <p:sp>
            <p:nvSpPr>
              <p:cNvPr id="183" name="Freeform 139">
                <a:extLst>
                  <a:ext uri="{FF2B5EF4-FFF2-40B4-BE49-F238E27FC236}">
                    <a16:creationId xmlns:a16="http://schemas.microsoft.com/office/drawing/2014/main" id="{C18E40D8-3A81-210A-E844-623DF2E38940}"/>
                  </a:ext>
                </a:extLst>
              </p:cNvPr>
              <p:cNvSpPr>
                <a:spLocks/>
              </p:cNvSpPr>
              <p:nvPr/>
            </p:nvSpPr>
            <p:spPr bwMode="auto">
              <a:xfrm>
                <a:off x="5411200" y="5404978"/>
                <a:ext cx="65959" cy="43618"/>
              </a:xfrm>
              <a:custGeom>
                <a:avLst/>
                <a:gdLst>
                  <a:gd name="T0" fmla="*/ 39 w 44"/>
                  <a:gd name="T1" fmla="*/ 27 h 29"/>
                  <a:gd name="T2" fmla="*/ 36 w 44"/>
                  <a:gd name="T3" fmla="*/ 29 h 29"/>
                  <a:gd name="T4" fmla="*/ 2 w 44"/>
                  <a:gd name="T5" fmla="*/ 29 h 29"/>
                  <a:gd name="T6" fmla="*/ 0 w 44"/>
                  <a:gd name="T7" fmla="*/ 27 h 29"/>
                  <a:gd name="T8" fmla="*/ 5 w 44"/>
                  <a:gd name="T9" fmla="*/ 1 h 29"/>
                  <a:gd name="T10" fmla="*/ 7 w 44"/>
                  <a:gd name="T11" fmla="*/ 0 h 29"/>
                  <a:gd name="T12" fmla="*/ 42 w 44"/>
                  <a:gd name="T13" fmla="*/ 0 h 29"/>
                  <a:gd name="T14" fmla="*/ 44 w 44"/>
                  <a:gd name="T15" fmla="*/ 1 h 29"/>
                  <a:gd name="T16" fmla="*/ 39 w 44"/>
                  <a:gd name="T17" fmla="*/ 2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9">
                    <a:moveTo>
                      <a:pt x="39" y="27"/>
                    </a:moveTo>
                    <a:cubicBezTo>
                      <a:pt x="39" y="28"/>
                      <a:pt x="38" y="29"/>
                      <a:pt x="36" y="29"/>
                    </a:cubicBezTo>
                    <a:cubicBezTo>
                      <a:pt x="23" y="29"/>
                      <a:pt x="16" y="29"/>
                      <a:pt x="2" y="29"/>
                    </a:cubicBezTo>
                    <a:cubicBezTo>
                      <a:pt x="0" y="29"/>
                      <a:pt x="0" y="28"/>
                      <a:pt x="0" y="27"/>
                    </a:cubicBezTo>
                    <a:cubicBezTo>
                      <a:pt x="2" y="18"/>
                      <a:pt x="3" y="13"/>
                      <a:pt x="5" y="1"/>
                    </a:cubicBezTo>
                    <a:cubicBezTo>
                      <a:pt x="5" y="0"/>
                      <a:pt x="6" y="0"/>
                      <a:pt x="7" y="0"/>
                    </a:cubicBezTo>
                    <a:cubicBezTo>
                      <a:pt x="21" y="0"/>
                      <a:pt x="28" y="0"/>
                      <a:pt x="42" y="0"/>
                    </a:cubicBezTo>
                    <a:cubicBezTo>
                      <a:pt x="43" y="0"/>
                      <a:pt x="44" y="0"/>
                      <a:pt x="44" y="1"/>
                    </a:cubicBezTo>
                    <a:cubicBezTo>
                      <a:pt x="42" y="13"/>
                      <a:pt x="41" y="18"/>
                      <a:pt x="39"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84" name="Freeform 140">
                <a:extLst>
                  <a:ext uri="{FF2B5EF4-FFF2-40B4-BE49-F238E27FC236}">
                    <a16:creationId xmlns:a16="http://schemas.microsoft.com/office/drawing/2014/main" id="{776FE782-DAAF-2CC3-1AA2-4D0E43CB513F}"/>
                  </a:ext>
                </a:extLst>
              </p:cNvPr>
              <p:cNvSpPr>
                <a:spLocks/>
              </p:cNvSpPr>
              <p:nvPr/>
            </p:nvSpPr>
            <p:spPr bwMode="auto">
              <a:xfrm>
                <a:off x="5508011" y="5458170"/>
                <a:ext cx="64895" cy="36171"/>
              </a:xfrm>
              <a:custGeom>
                <a:avLst/>
                <a:gdLst>
                  <a:gd name="T0" fmla="*/ 39 w 43"/>
                  <a:gd name="T1" fmla="*/ 23 h 24"/>
                  <a:gd name="T2" fmla="*/ 36 w 43"/>
                  <a:gd name="T3" fmla="*/ 24 h 24"/>
                  <a:gd name="T4" fmla="*/ 2 w 43"/>
                  <a:gd name="T5" fmla="*/ 24 h 24"/>
                  <a:gd name="T6" fmla="*/ 0 w 43"/>
                  <a:gd name="T7" fmla="*/ 23 h 24"/>
                  <a:gd name="T8" fmla="*/ 5 w 43"/>
                  <a:gd name="T9" fmla="*/ 1 h 24"/>
                  <a:gd name="T10" fmla="*/ 8 w 43"/>
                  <a:gd name="T11" fmla="*/ 0 h 24"/>
                  <a:gd name="T12" fmla="*/ 41 w 43"/>
                  <a:gd name="T13" fmla="*/ 0 h 24"/>
                  <a:gd name="T14" fmla="*/ 43 w 43"/>
                  <a:gd name="T15" fmla="*/ 1 h 24"/>
                  <a:gd name="T16" fmla="*/ 39 w 43"/>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4">
                    <a:moveTo>
                      <a:pt x="39" y="23"/>
                    </a:moveTo>
                    <a:cubicBezTo>
                      <a:pt x="39" y="23"/>
                      <a:pt x="37" y="24"/>
                      <a:pt x="36" y="24"/>
                    </a:cubicBezTo>
                    <a:cubicBezTo>
                      <a:pt x="23" y="24"/>
                      <a:pt x="16" y="24"/>
                      <a:pt x="2" y="24"/>
                    </a:cubicBezTo>
                    <a:cubicBezTo>
                      <a:pt x="1" y="24"/>
                      <a:pt x="0" y="23"/>
                      <a:pt x="0" y="23"/>
                    </a:cubicBezTo>
                    <a:cubicBezTo>
                      <a:pt x="2" y="14"/>
                      <a:pt x="3" y="10"/>
                      <a:pt x="5" y="1"/>
                    </a:cubicBezTo>
                    <a:cubicBezTo>
                      <a:pt x="5" y="0"/>
                      <a:pt x="7" y="0"/>
                      <a:pt x="8" y="0"/>
                    </a:cubicBezTo>
                    <a:cubicBezTo>
                      <a:pt x="21" y="0"/>
                      <a:pt x="28" y="0"/>
                      <a:pt x="41" y="0"/>
                    </a:cubicBezTo>
                    <a:cubicBezTo>
                      <a:pt x="42" y="0"/>
                      <a:pt x="43" y="0"/>
                      <a:pt x="43" y="1"/>
                    </a:cubicBezTo>
                    <a:cubicBezTo>
                      <a:pt x="41" y="10"/>
                      <a:pt x="41" y="14"/>
                      <a:pt x="39"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85" name="Freeform 141">
                <a:extLst>
                  <a:ext uri="{FF2B5EF4-FFF2-40B4-BE49-F238E27FC236}">
                    <a16:creationId xmlns:a16="http://schemas.microsoft.com/office/drawing/2014/main" id="{9FD159BA-4780-A413-5C2D-07E1318231A6}"/>
                  </a:ext>
                </a:extLst>
              </p:cNvPr>
              <p:cNvSpPr>
                <a:spLocks/>
              </p:cNvSpPr>
              <p:nvPr/>
            </p:nvSpPr>
            <p:spPr bwMode="auto">
              <a:xfrm>
                <a:off x="5513330" y="5501789"/>
                <a:ext cx="67023" cy="35107"/>
              </a:xfrm>
              <a:custGeom>
                <a:avLst/>
                <a:gdLst>
                  <a:gd name="T0" fmla="*/ 39 w 44"/>
                  <a:gd name="T1" fmla="*/ 21 h 23"/>
                  <a:gd name="T2" fmla="*/ 37 w 44"/>
                  <a:gd name="T3" fmla="*/ 23 h 23"/>
                  <a:gd name="T4" fmla="*/ 3 w 44"/>
                  <a:gd name="T5" fmla="*/ 23 h 23"/>
                  <a:gd name="T6" fmla="*/ 1 w 44"/>
                  <a:gd name="T7" fmla="*/ 21 h 23"/>
                  <a:gd name="T8" fmla="*/ 6 w 44"/>
                  <a:gd name="T9" fmla="*/ 1 h 23"/>
                  <a:gd name="T10" fmla="*/ 8 w 44"/>
                  <a:gd name="T11" fmla="*/ 0 h 23"/>
                  <a:gd name="T12" fmla="*/ 42 w 44"/>
                  <a:gd name="T13" fmla="*/ 0 h 23"/>
                  <a:gd name="T14" fmla="*/ 44 w 44"/>
                  <a:gd name="T15" fmla="*/ 1 h 23"/>
                  <a:gd name="T16" fmla="*/ 39 w 4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3">
                    <a:moveTo>
                      <a:pt x="39" y="21"/>
                    </a:moveTo>
                    <a:cubicBezTo>
                      <a:pt x="39" y="22"/>
                      <a:pt x="38" y="23"/>
                      <a:pt x="37" y="23"/>
                    </a:cubicBezTo>
                    <a:cubicBezTo>
                      <a:pt x="23" y="23"/>
                      <a:pt x="16" y="23"/>
                      <a:pt x="3" y="23"/>
                    </a:cubicBezTo>
                    <a:cubicBezTo>
                      <a:pt x="1" y="23"/>
                      <a:pt x="0" y="22"/>
                      <a:pt x="1" y="21"/>
                    </a:cubicBezTo>
                    <a:cubicBezTo>
                      <a:pt x="3" y="13"/>
                      <a:pt x="4" y="9"/>
                      <a:pt x="6" y="1"/>
                    </a:cubicBezTo>
                    <a:cubicBezTo>
                      <a:pt x="6" y="1"/>
                      <a:pt x="7" y="0"/>
                      <a:pt x="8" y="0"/>
                    </a:cubicBezTo>
                    <a:cubicBezTo>
                      <a:pt x="22" y="0"/>
                      <a:pt x="29" y="0"/>
                      <a:pt x="42" y="0"/>
                    </a:cubicBezTo>
                    <a:cubicBezTo>
                      <a:pt x="43" y="0"/>
                      <a:pt x="44" y="1"/>
                      <a:pt x="44" y="1"/>
                    </a:cubicBezTo>
                    <a:cubicBezTo>
                      <a:pt x="42" y="9"/>
                      <a:pt x="41" y="13"/>
                      <a:pt x="39"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86" name="Freeform 142">
                <a:extLst>
                  <a:ext uri="{FF2B5EF4-FFF2-40B4-BE49-F238E27FC236}">
                    <a16:creationId xmlns:a16="http://schemas.microsoft.com/office/drawing/2014/main" id="{61EEE484-DA92-387A-066A-7D1766A4DB42}"/>
                  </a:ext>
                </a:extLst>
              </p:cNvPr>
              <p:cNvSpPr>
                <a:spLocks/>
              </p:cNvSpPr>
              <p:nvPr/>
            </p:nvSpPr>
            <p:spPr bwMode="auto">
              <a:xfrm>
                <a:off x="5468648" y="5544343"/>
                <a:ext cx="68087" cy="35107"/>
              </a:xfrm>
              <a:custGeom>
                <a:avLst/>
                <a:gdLst>
                  <a:gd name="T0" fmla="*/ 40 w 45"/>
                  <a:gd name="T1" fmla="*/ 22 h 23"/>
                  <a:gd name="T2" fmla="*/ 37 w 45"/>
                  <a:gd name="T3" fmla="*/ 23 h 23"/>
                  <a:gd name="T4" fmla="*/ 2 w 45"/>
                  <a:gd name="T5" fmla="*/ 23 h 23"/>
                  <a:gd name="T6" fmla="*/ 0 w 45"/>
                  <a:gd name="T7" fmla="*/ 22 h 23"/>
                  <a:gd name="T8" fmla="*/ 5 w 45"/>
                  <a:gd name="T9" fmla="*/ 1 h 23"/>
                  <a:gd name="T10" fmla="*/ 8 w 45"/>
                  <a:gd name="T11" fmla="*/ 0 h 23"/>
                  <a:gd name="T12" fmla="*/ 43 w 45"/>
                  <a:gd name="T13" fmla="*/ 0 h 23"/>
                  <a:gd name="T14" fmla="*/ 45 w 45"/>
                  <a:gd name="T15" fmla="*/ 1 h 23"/>
                  <a:gd name="T16" fmla="*/ 40 w 45"/>
                  <a:gd name="T1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23">
                    <a:moveTo>
                      <a:pt x="40" y="22"/>
                    </a:moveTo>
                    <a:cubicBezTo>
                      <a:pt x="39" y="23"/>
                      <a:pt x="38" y="23"/>
                      <a:pt x="37" y="23"/>
                    </a:cubicBezTo>
                    <a:cubicBezTo>
                      <a:pt x="23" y="23"/>
                      <a:pt x="16" y="23"/>
                      <a:pt x="2" y="23"/>
                    </a:cubicBezTo>
                    <a:cubicBezTo>
                      <a:pt x="0" y="23"/>
                      <a:pt x="0" y="23"/>
                      <a:pt x="0" y="22"/>
                    </a:cubicBezTo>
                    <a:cubicBezTo>
                      <a:pt x="2" y="13"/>
                      <a:pt x="3" y="9"/>
                      <a:pt x="5" y="1"/>
                    </a:cubicBezTo>
                    <a:cubicBezTo>
                      <a:pt x="5" y="0"/>
                      <a:pt x="7" y="0"/>
                      <a:pt x="8" y="0"/>
                    </a:cubicBezTo>
                    <a:cubicBezTo>
                      <a:pt x="22" y="0"/>
                      <a:pt x="29" y="0"/>
                      <a:pt x="43" y="0"/>
                    </a:cubicBezTo>
                    <a:cubicBezTo>
                      <a:pt x="44" y="0"/>
                      <a:pt x="45" y="0"/>
                      <a:pt x="45" y="1"/>
                    </a:cubicBezTo>
                    <a:cubicBezTo>
                      <a:pt x="43" y="9"/>
                      <a:pt x="42" y="13"/>
                      <a:pt x="40"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87" name="Freeform 143">
                <a:extLst>
                  <a:ext uri="{FF2B5EF4-FFF2-40B4-BE49-F238E27FC236}">
                    <a16:creationId xmlns:a16="http://schemas.microsoft.com/office/drawing/2014/main" id="{914D03A3-C711-5765-C2B7-2257E392BCAA}"/>
                  </a:ext>
                </a:extLst>
              </p:cNvPr>
              <p:cNvSpPr>
                <a:spLocks/>
              </p:cNvSpPr>
              <p:nvPr/>
            </p:nvSpPr>
            <p:spPr bwMode="auto">
              <a:xfrm>
                <a:off x="5361199" y="5587961"/>
                <a:ext cx="72342" cy="50001"/>
              </a:xfrm>
              <a:custGeom>
                <a:avLst/>
                <a:gdLst>
                  <a:gd name="T0" fmla="*/ 41 w 48"/>
                  <a:gd name="T1" fmla="*/ 31 h 33"/>
                  <a:gd name="T2" fmla="*/ 38 w 48"/>
                  <a:gd name="T3" fmla="*/ 33 h 33"/>
                  <a:gd name="T4" fmla="*/ 2 w 48"/>
                  <a:gd name="T5" fmla="*/ 33 h 33"/>
                  <a:gd name="T6" fmla="*/ 0 w 48"/>
                  <a:gd name="T7" fmla="*/ 31 h 33"/>
                  <a:gd name="T8" fmla="*/ 7 w 48"/>
                  <a:gd name="T9" fmla="*/ 2 h 33"/>
                  <a:gd name="T10" fmla="*/ 10 w 48"/>
                  <a:gd name="T11" fmla="*/ 0 h 33"/>
                  <a:gd name="T12" fmla="*/ 46 w 48"/>
                  <a:gd name="T13" fmla="*/ 0 h 33"/>
                  <a:gd name="T14" fmla="*/ 48 w 48"/>
                  <a:gd name="T15" fmla="*/ 2 h 33"/>
                  <a:gd name="T16" fmla="*/ 41 w 48"/>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33">
                    <a:moveTo>
                      <a:pt x="41" y="31"/>
                    </a:moveTo>
                    <a:cubicBezTo>
                      <a:pt x="41" y="32"/>
                      <a:pt x="40" y="33"/>
                      <a:pt x="38" y="33"/>
                    </a:cubicBezTo>
                    <a:cubicBezTo>
                      <a:pt x="24" y="33"/>
                      <a:pt x="17" y="33"/>
                      <a:pt x="2" y="33"/>
                    </a:cubicBezTo>
                    <a:cubicBezTo>
                      <a:pt x="1" y="33"/>
                      <a:pt x="0" y="32"/>
                      <a:pt x="0" y="31"/>
                    </a:cubicBezTo>
                    <a:cubicBezTo>
                      <a:pt x="3" y="18"/>
                      <a:pt x="5" y="13"/>
                      <a:pt x="7" y="2"/>
                    </a:cubicBezTo>
                    <a:cubicBezTo>
                      <a:pt x="8" y="1"/>
                      <a:pt x="9" y="0"/>
                      <a:pt x="10" y="0"/>
                    </a:cubicBezTo>
                    <a:cubicBezTo>
                      <a:pt x="24" y="0"/>
                      <a:pt x="32" y="0"/>
                      <a:pt x="46" y="0"/>
                    </a:cubicBezTo>
                    <a:cubicBezTo>
                      <a:pt x="47" y="0"/>
                      <a:pt x="48" y="1"/>
                      <a:pt x="48" y="2"/>
                    </a:cubicBezTo>
                    <a:cubicBezTo>
                      <a:pt x="45" y="12"/>
                      <a:pt x="44" y="18"/>
                      <a:pt x="41"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88" name="Freeform 144">
                <a:extLst>
                  <a:ext uri="{FF2B5EF4-FFF2-40B4-BE49-F238E27FC236}">
                    <a16:creationId xmlns:a16="http://schemas.microsoft.com/office/drawing/2014/main" id="{6D2B6981-B0A7-01FE-76E8-E6BEC0F19504}"/>
                  </a:ext>
                </a:extLst>
              </p:cNvPr>
              <p:cNvSpPr>
                <a:spLocks/>
              </p:cNvSpPr>
              <p:nvPr/>
            </p:nvSpPr>
            <p:spPr bwMode="auto">
              <a:xfrm>
                <a:off x="5436733" y="5587961"/>
                <a:ext cx="69151" cy="50001"/>
              </a:xfrm>
              <a:custGeom>
                <a:avLst/>
                <a:gdLst>
                  <a:gd name="T0" fmla="*/ 40 w 46"/>
                  <a:gd name="T1" fmla="*/ 31 h 33"/>
                  <a:gd name="T2" fmla="*/ 38 w 46"/>
                  <a:gd name="T3" fmla="*/ 33 h 33"/>
                  <a:gd name="T4" fmla="*/ 2 w 46"/>
                  <a:gd name="T5" fmla="*/ 33 h 33"/>
                  <a:gd name="T6" fmla="*/ 0 w 46"/>
                  <a:gd name="T7" fmla="*/ 31 h 33"/>
                  <a:gd name="T8" fmla="*/ 6 w 46"/>
                  <a:gd name="T9" fmla="*/ 2 h 33"/>
                  <a:gd name="T10" fmla="*/ 9 w 46"/>
                  <a:gd name="T11" fmla="*/ 0 h 33"/>
                  <a:gd name="T12" fmla="*/ 44 w 46"/>
                  <a:gd name="T13" fmla="*/ 0 h 33"/>
                  <a:gd name="T14" fmla="*/ 46 w 46"/>
                  <a:gd name="T15" fmla="*/ 1 h 33"/>
                  <a:gd name="T16" fmla="*/ 40 w 46"/>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33">
                    <a:moveTo>
                      <a:pt x="40" y="31"/>
                    </a:moveTo>
                    <a:cubicBezTo>
                      <a:pt x="40" y="32"/>
                      <a:pt x="39" y="33"/>
                      <a:pt x="38" y="33"/>
                    </a:cubicBezTo>
                    <a:cubicBezTo>
                      <a:pt x="23" y="33"/>
                      <a:pt x="16" y="33"/>
                      <a:pt x="2" y="33"/>
                    </a:cubicBezTo>
                    <a:cubicBezTo>
                      <a:pt x="0" y="33"/>
                      <a:pt x="0" y="32"/>
                      <a:pt x="0" y="31"/>
                    </a:cubicBezTo>
                    <a:cubicBezTo>
                      <a:pt x="2" y="18"/>
                      <a:pt x="4" y="12"/>
                      <a:pt x="6" y="2"/>
                    </a:cubicBezTo>
                    <a:cubicBezTo>
                      <a:pt x="6" y="1"/>
                      <a:pt x="8" y="0"/>
                      <a:pt x="9" y="0"/>
                    </a:cubicBezTo>
                    <a:cubicBezTo>
                      <a:pt x="23" y="0"/>
                      <a:pt x="30" y="0"/>
                      <a:pt x="44" y="0"/>
                    </a:cubicBezTo>
                    <a:cubicBezTo>
                      <a:pt x="46" y="0"/>
                      <a:pt x="46" y="1"/>
                      <a:pt x="46" y="1"/>
                    </a:cubicBezTo>
                    <a:cubicBezTo>
                      <a:pt x="44" y="12"/>
                      <a:pt x="43" y="18"/>
                      <a:pt x="40"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89" name="Freeform 145">
                <a:extLst>
                  <a:ext uri="{FF2B5EF4-FFF2-40B4-BE49-F238E27FC236}">
                    <a16:creationId xmlns:a16="http://schemas.microsoft.com/office/drawing/2014/main" id="{33951132-674F-6507-0CEF-6987C0DE3E99}"/>
                  </a:ext>
                </a:extLst>
              </p:cNvPr>
              <p:cNvSpPr>
                <a:spLocks/>
              </p:cNvSpPr>
              <p:nvPr/>
            </p:nvSpPr>
            <p:spPr bwMode="auto">
              <a:xfrm>
                <a:off x="5511203" y="5587961"/>
                <a:ext cx="69151" cy="50001"/>
              </a:xfrm>
              <a:custGeom>
                <a:avLst/>
                <a:gdLst>
                  <a:gd name="T0" fmla="*/ 40 w 46"/>
                  <a:gd name="T1" fmla="*/ 31 h 33"/>
                  <a:gd name="T2" fmla="*/ 38 w 46"/>
                  <a:gd name="T3" fmla="*/ 33 h 33"/>
                  <a:gd name="T4" fmla="*/ 2 w 46"/>
                  <a:gd name="T5" fmla="*/ 33 h 33"/>
                  <a:gd name="T6" fmla="*/ 0 w 46"/>
                  <a:gd name="T7" fmla="*/ 31 h 33"/>
                  <a:gd name="T8" fmla="*/ 6 w 46"/>
                  <a:gd name="T9" fmla="*/ 1 h 33"/>
                  <a:gd name="T10" fmla="*/ 8 w 46"/>
                  <a:gd name="T11" fmla="*/ 0 h 33"/>
                  <a:gd name="T12" fmla="*/ 44 w 46"/>
                  <a:gd name="T13" fmla="*/ 0 h 33"/>
                  <a:gd name="T14" fmla="*/ 46 w 46"/>
                  <a:gd name="T15" fmla="*/ 1 h 33"/>
                  <a:gd name="T16" fmla="*/ 40 w 46"/>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33">
                    <a:moveTo>
                      <a:pt x="40" y="31"/>
                    </a:moveTo>
                    <a:cubicBezTo>
                      <a:pt x="40" y="32"/>
                      <a:pt x="39" y="33"/>
                      <a:pt x="38" y="33"/>
                    </a:cubicBezTo>
                    <a:cubicBezTo>
                      <a:pt x="23" y="33"/>
                      <a:pt x="16" y="33"/>
                      <a:pt x="2" y="33"/>
                    </a:cubicBezTo>
                    <a:cubicBezTo>
                      <a:pt x="1" y="33"/>
                      <a:pt x="0" y="32"/>
                      <a:pt x="0" y="31"/>
                    </a:cubicBezTo>
                    <a:cubicBezTo>
                      <a:pt x="2" y="18"/>
                      <a:pt x="3" y="12"/>
                      <a:pt x="6" y="1"/>
                    </a:cubicBezTo>
                    <a:cubicBezTo>
                      <a:pt x="6" y="1"/>
                      <a:pt x="7" y="0"/>
                      <a:pt x="8" y="0"/>
                    </a:cubicBezTo>
                    <a:cubicBezTo>
                      <a:pt x="23" y="0"/>
                      <a:pt x="30" y="0"/>
                      <a:pt x="44" y="0"/>
                    </a:cubicBezTo>
                    <a:cubicBezTo>
                      <a:pt x="45" y="0"/>
                      <a:pt x="46" y="0"/>
                      <a:pt x="46" y="1"/>
                    </a:cubicBezTo>
                    <a:cubicBezTo>
                      <a:pt x="43" y="12"/>
                      <a:pt x="42" y="18"/>
                      <a:pt x="40"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0" name="Freeform 146">
                <a:extLst>
                  <a:ext uri="{FF2B5EF4-FFF2-40B4-BE49-F238E27FC236}">
                    <a16:creationId xmlns:a16="http://schemas.microsoft.com/office/drawing/2014/main" id="{BF86E132-2B40-E2CA-FDF8-62C7E164511E}"/>
                  </a:ext>
                </a:extLst>
              </p:cNvPr>
              <p:cNvSpPr>
                <a:spLocks/>
              </p:cNvSpPr>
              <p:nvPr/>
            </p:nvSpPr>
            <p:spPr bwMode="auto">
              <a:xfrm>
                <a:off x="6136750" y="5586897"/>
                <a:ext cx="68087" cy="47874"/>
              </a:xfrm>
              <a:custGeom>
                <a:avLst/>
                <a:gdLst>
                  <a:gd name="T0" fmla="*/ 45 w 45"/>
                  <a:gd name="T1" fmla="*/ 30 h 32"/>
                  <a:gd name="T2" fmla="*/ 43 w 45"/>
                  <a:gd name="T3" fmla="*/ 32 h 32"/>
                  <a:gd name="T4" fmla="*/ 7 w 45"/>
                  <a:gd name="T5" fmla="*/ 32 h 32"/>
                  <a:gd name="T6" fmla="*/ 5 w 45"/>
                  <a:gd name="T7" fmla="*/ 30 h 32"/>
                  <a:gd name="T8" fmla="*/ 0 w 45"/>
                  <a:gd name="T9" fmla="*/ 1 h 32"/>
                  <a:gd name="T10" fmla="*/ 3 w 45"/>
                  <a:gd name="T11" fmla="*/ 0 h 32"/>
                  <a:gd name="T12" fmla="*/ 37 w 45"/>
                  <a:gd name="T13" fmla="*/ 0 h 32"/>
                  <a:gd name="T14" fmla="*/ 40 w 45"/>
                  <a:gd name="T15" fmla="*/ 1 h 32"/>
                  <a:gd name="T16" fmla="*/ 45 w 45"/>
                  <a:gd name="T17"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2">
                    <a:moveTo>
                      <a:pt x="45" y="30"/>
                    </a:moveTo>
                    <a:cubicBezTo>
                      <a:pt x="45" y="31"/>
                      <a:pt x="44" y="32"/>
                      <a:pt x="43" y="32"/>
                    </a:cubicBezTo>
                    <a:cubicBezTo>
                      <a:pt x="29" y="32"/>
                      <a:pt x="22" y="32"/>
                      <a:pt x="7" y="32"/>
                    </a:cubicBezTo>
                    <a:cubicBezTo>
                      <a:pt x="6" y="32"/>
                      <a:pt x="5" y="31"/>
                      <a:pt x="5" y="30"/>
                    </a:cubicBezTo>
                    <a:cubicBezTo>
                      <a:pt x="3" y="18"/>
                      <a:pt x="2" y="12"/>
                      <a:pt x="0" y="1"/>
                    </a:cubicBezTo>
                    <a:cubicBezTo>
                      <a:pt x="0" y="1"/>
                      <a:pt x="1" y="0"/>
                      <a:pt x="3" y="0"/>
                    </a:cubicBezTo>
                    <a:cubicBezTo>
                      <a:pt x="16" y="0"/>
                      <a:pt x="23" y="0"/>
                      <a:pt x="37" y="0"/>
                    </a:cubicBezTo>
                    <a:cubicBezTo>
                      <a:pt x="39" y="0"/>
                      <a:pt x="40" y="0"/>
                      <a:pt x="40" y="1"/>
                    </a:cubicBezTo>
                    <a:cubicBezTo>
                      <a:pt x="42" y="12"/>
                      <a:pt x="43" y="17"/>
                      <a:pt x="45" y="3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1" name="Freeform 147">
                <a:extLst>
                  <a:ext uri="{FF2B5EF4-FFF2-40B4-BE49-F238E27FC236}">
                    <a16:creationId xmlns:a16="http://schemas.microsoft.com/office/drawing/2014/main" id="{2D3551B1-8D89-8F1B-C376-485986244C0D}"/>
                  </a:ext>
                </a:extLst>
              </p:cNvPr>
              <p:cNvSpPr>
                <a:spLocks/>
              </p:cNvSpPr>
              <p:nvPr/>
            </p:nvSpPr>
            <p:spPr bwMode="auto">
              <a:xfrm>
                <a:off x="6213348" y="5609238"/>
                <a:ext cx="64895" cy="25533"/>
              </a:xfrm>
              <a:custGeom>
                <a:avLst/>
                <a:gdLst>
                  <a:gd name="T0" fmla="*/ 43 w 43"/>
                  <a:gd name="T1" fmla="*/ 15 h 17"/>
                  <a:gd name="T2" fmla="*/ 41 w 43"/>
                  <a:gd name="T3" fmla="*/ 17 h 17"/>
                  <a:gd name="T4" fmla="*/ 5 w 43"/>
                  <a:gd name="T5" fmla="*/ 17 h 17"/>
                  <a:gd name="T6" fmla="*/ 3 w 43"/>
                  <a:gd name="T7" fmla="*/ 15 h 17"/>
                  <a:gd name="T8" fmla="*/ 0 w 43"/>
                  <a:gd name="T9" fmla="*/ 2 h 17"/>
                  <a:gd name="T10" fmla="*/ 2 w 43"/>
                  <a:gd name="T11" fmla="*/ 0 h 17"/>
                  <a:gd name="T12" fmla="*/ 38 w 43"/>
                  <a:gd name="T13" fmla="*/ 0 h 17"/>
                  <a:gd name="T14" fmla="*/ 40 w 43"/>
                  <a:gd name="T15" fmla="*/ 2 h 17"/>
                  <a:gd name="T16" fmla="*/ 43 w 43"/>
                  <a:gd name="T17"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15"/>
                    </a:moveTo>
                    <a:cubicBezTo>
                      <a:pt x="43" y="16"/>
                      <a:pt x="42" y="17"/>
                      <a:pt x="41" y="17"/>
                    </a:cubicBezTo>
                    <a:cubicBezTo>
                      <a:pt x="27" y="17"/>
                      <a:pt x="20" y="17"/>
                      <a:pt x="5" y="17"/>
                    </a:cubicBezTo>
                    <a:cubicBezTo>
                      <a:pt x="4" y="17"/>
                      <a:pt x="3" y="16"/>
                      <a:pt x="3" y="15"/>
                    </a:cubicBezTo>
                    <a:cubicBezTo>
                      <a:pt x="2" y="10"/>
                      <a:pt x="1" y="7"/>
                      <a:pt x="0" y="2"/>
                    </a:cubicBezTo>
                    <a:cubicBezTo>
                      <a:pt x="0" y="1"/>
                      <a:pt x="1" y="0"/>
                      <a:pt x="2" y="0"/>
                    </a:cubicBezTo>
                    <a:cubicBezTo>
                      <a:pt x="17" y="0"/>
                      <a:pt x="24" y="0"/>
                      <a:pt x="38" y="0"/>
                    </a:cubicBezTo>
                    <a:cubicBezTo>
                      <a:pt x="39" y="0"/>
                      <a:pt x="40" y="1"/>
                      <a:pt x="40" y="2"/>
                    </a:cubicBezTo>
                    <a:cubicBezTo>
                      <a:pt x="42" y="7"/>
                      <a:pt x="42" y="9"/>
                      <a:pt x="43"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2" name="Freeform 148">
                <a:extLst>
                  <a:ext uri="{FF2B5EF4-FFF2-40B4-BE49-F238E27FC236}">
                    <a16:creationId xmlns:a16="http://schemas.microsoft.com/office/drawing/2014/main" id="{19C66B95-9DB9-2914-36DF-5D1F5A7FE54F}"/>
                  </a:ext>
                </a:extLst>
              </p:cNvPr>
              <p:cNvSpPr>
                <a:spLocks/>
              </p:cNvSpPr>
              <p:nvPr/>
            </p:nvSpPr>
            <p:spPr bwMode="auto">
              <a:xfrm>
                <a:off x="6362287" y="5609238"/>
                <a:ext cx="65959" cy="25533"/>
              </a:xfrm>
              <a:custGeom>
                <a:avLst/>
                <a:gdLst>
                  <a:gd name="T0" fmla="*/ 44 w 44"/>
                  <a:gd name="T1" fmla="*/ 15 h 17"/>
                  <a:gd name="T2" fmla="*/ 42 w 44"/>
                  <a:gd name="T3" fmla="*/ 17 h 17"/>
                  <a:gd name="T4" fmla="*/ 6 w 44"/>
                  <a:gd name="T5" fmla="*/ 17 h 17"/>
                  <a:gd name="T6" fmla="*/ 3 w 44"/>
                  <a:gd name="T7" fmla="*/ 15 h 17"/>
                  <a:gd name="T8" fmla="*/ 0 w 44"/>
                  <a:gd name="T9" fmla="*/ 1 h 17"/>
                  <a:gd name="T10" fmla="*/ 2 w 44"/>
                  <a:gd name="T11" fmla="*/ 0 h 17"/>
                  <a:gd name="T12" fmla="*/ 38 w 44"/>
                  <a:gd name="T13" fmla="*/ 0 h 17"/>
                  <a:gd name="T14" fmla="*/ 41 w 44"/>
                  <a:gd name="T15" fmla="*/ 1 h 17"/>
                  <a:gd name="T16" fmla="*/ 44 w 44"/>
                  <a:gd name="T17"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17">
                    <a:moveTo>
                      <a:pt x="44" y="15"/>
                    </a:moveTo>
                    <a:cubicBezTo>
                      <a:pt x="44" y="16"/>
                      <a:pt x="43" y="17"/>
                      <a:pt x="42" y="17"/>
                    </a:cubicBezTo>
                    <a:cubicBezTo>
                      <a:pt x="27" y="17"/>
                      <a:pt x="20" y="17"/>
                      <a:pt x="6" y="17"/>
                    </a:cubicBezTo>
                    <a:cubicBezTo>
                      <a:pt x="5" y="17"/>
                      <a:pt x="3" y="16"/>
                      <a:pt x="3" y="15"/>
                    </a:cubicBezTo>
                    <a:cubicBezTo>
                      <a:pt x="2" y="9"/>
                      <a:pt x="1" y="7"/>
                      <a:pt x="0" y="1"/>
                    </a:cubicBezTo>
                    <a:cubicBezTo>
                      <a:pt x="0" y="0"/>
                      <a:pt x="1" y="0"/>
                      <a:pt x="2" y="0"/>
                    </a:cubicBezTo>
                    <a:cubicBezTo>
                      <a:pt x="17" y="0"/>
                      <a:pt x="24" y="0"/>
                      <a:pt x="38" y="0"/>
                    </a:cubicBezTo>
                    <a:cubicBezTo>
                      <a:pt x="39" y="0"/>
                      <a:pt x="41" y="0"/>
                      <a:pt x="41" y="1"/>
                    </a:cubicBezTo>
                    <a:cubicBezTo>
                      <a:pt x="42" y="6"/>
                      <a:pt x="43" y="9"/>
                      <a:pt x="44"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3" name="Freeform 149">
                <a:extLst>
                  <a:ext uri="{FF2B5EF4-FFF2-40B4-BE49-F238E27FC236}">
                    <a16:creationId xmlns:a16="http://schemas.microsoft.com/office/drawing/2014/main" id="{85D5D9EE-EA2E-51A3-2C84-69384C96A504}"/>
                  </a:ext>
                </a:extLst>
              </p:cNvPr>
              <p:cNvSpPr>
                <a:spLocks/>
              </p:cNvSpPr>
              <p:nvPr/>
            </p:nvSpPr>
            <p:spPr bwMode="auto">
              <a:xfrm>
                <a:off x="5584609" y="5587961"/>
                <a:ext cx="87236" cy="50001"/>
              </a:xfrm>
              <a:custGeom>
                <a:avLst/>
                <a:gdLst>
                  <a:gd name="T0" fmla="*/ 53 w 57"/>
                  <a:gd name="T1" fmla="*/ 31 h 33"/>
                  <a:gd name="T2" fmla="*/ 51 w 57"/>
                  <a:gd name="T3" fmla="*/ 32 h 33"/>
                  <a:gd name="T4" fmla="*/ 2 w 57"/>
                  <a:gd name="T5" fmla="*/ 33 h 33"/>
                  <a:gd name="T6" fmla="*/ 0 w 57"/>
                  <a:gd name="T7" fmla="*/ 31 h 33"/>
                  <a:gd name="T8" fmla="*/ 5 w 57"/>
                  <a:gd name="T9" fmla="*/ 1 h 33"/>
                  <a:gd name="T10" fmla="*/ 8 w 57"/>
                  <a:gd name="T11" fmla="*/ 0 h 33"/>
                  <a:gd name="T12" fmla="*/ 55 w 57"/>
                  <a:gd name="T13" fmla="*/ 0 h 33"/>
                  <a:gd name="T14" fmla="*/ 57 w 57"/>
                  <a:gd name="T15" fmla="*/ 1 h 33"/>
                  <a:gd name="T16" fmla="*/ 53 w 57"/>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33">
                    <a:moveTo>
                      <a:pt x="53" y="31"/>
                    </a:moveTo>
                    <a:cubicBezTo>
                      <a:pt x="53" y="32"/>
                      <a:pt x="52" y="32"/>
                      <a:pt x="51" y="32"/>
                    </a:cubicBezTo>
                    <a:cubicBezTo>
                      <a:pt x="31" y="33"/>
                      <a:pt x="22" y="33"/>
                      <a:pt x="2" y="33"/>
                    </a:cubicBezTo>
                    <a:cubicBezTo>
                      <a:pt x="1" y="33"/>
                      <a:pt x="0" y="32"/>
                      <a:pt x="0" y="31"/>
                    </a:cubicBezTo>
                    <a:cubicBezTo>
                      <a:pt x="2" y="18"/>
                      <a:pt x="3" y="12"/>
                      <a:pt x="5" y="1"/>
                    </a:cubicBezTo>
                    <a:cubicBezTo>
                      <a:pt x="5" y="0"/>
                      <a:pt x="6" y="0"/>
                      <a:pt x="8" y="0"/>
                    </a:cubicBezTo>
                    <a:cubicBezTo>
                      <a:pt x="27" y="0"/>
                      <a:pt x="36" y="0"/>
                      <a:pt x="55" y="0"/>
                    </a:cubicBezTo>
                    <a:cubicBezTo>
                      <a:pt x="56" y="0"/>
                      <a:pt x="57" y="0"/>
                      <a:pt x="57" y="1"/>
                    </a:cubicBezTo>
                    <a:cubicBezTo>
                      <a:pt x="55" y="12"/>
                      <a:pt x="55" y="18"/>
                      <a:pt x="53"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4" name="Freeform 150">
                <a:extLst>
                  <a:ext uri="{FF2B5EF4-FFF2-40B4-BE49-F238E27FC236}">
                    <a16:creationId xmlns:a16="http://schemas.microsoft.com/office/drawing/2014/main" id="{5697708D-EF21-C0C7-07ED-C5240D0A613A}"/>
                  </a:ext>
                </a:extLst>
              </p:cNvPr>
              <p:cNvSpPr>
                <a:spLocks/>
              </p:cNvSpPr>
              <p:nvPr/>
            </p:nvSpPr>
            <p:spPr bwMode="auto">
              <a:xfrm>
                <a:off x="6045258" y="5586897"/>
                <a:ext cx="85108" cy="50001"/>
              </a:xfrm>
              <a:custGeom>
                <a:avLst/>
                <a:gdLst>
                  <a:gd name="T0" fmla="*/ 56 w 56"/>
                  <a:gd name="T1" fmla="*/ 31 h 33"/>
                  <a:gd name="T2" fmla="*/ 54 w 56"/>
                  <a:gd name="T3" fmla="*/ 32 h 33"/>
                  <a:gd name="T4" fmla="*/ 5 w 56"/>
                  <a:gd name="T5" fmla="*/ 33 h 33"/>
                  <a:gd name="T6" fmla="*/ 3 w 56"/>
                  <a:gd name="T7" fmla="*/ 31 h 33"/>
                  <a:gd name="T8" fmla="*/ 0 w 56"/>
                  <a:gd name="T9" fmla="*/ 1 h 33"/>
                  <a:gd name="T10" fmla="*/ 2 w 56"/>
                  <a:gd name="T11" fmla="*/ 0 h 33"/>
                  <a:gd name="T12" fmla="*/ 49 w 56"/>
                  <a:gd name="T13" fmla="*/ 0 h 33"/>
                  <a:gd name="T14" fmla="*/ 52 w 56"/>
                  <a:gd name="T15" fmla="*/ 1 h 33"/>
                  <a:gd name="T16" fmla="*/ 56 w 56"/>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3">
                    <a:moveTo>
                      <a:pt x="56" y="31"/>
                    </a:moveTo>
                    <a:cubicBezTo>
                      <a:pt x="56" y="32"/>
                      <a:pt x="55" y="32"/>
                      <a:pt x="54" y="32"/>
                    </a:cubicBezTo>
                    <a:cubicBezTo>
                      <a:pt x="34" y="32"/>
                      <a:pt x="25" y="32"/>
                      <a:pt x="5" y="33"/>
                    </a:cubicBezTo>
                    <a:cubicBezTo>
                      <a:pt x="4" y="33"/>
                      <a:pt x="3" y="32"/>
                      <a:pt x="3" y="31"/>
                    </a:cubicBezTo>
                    <a:cubicBezTo>
                      <a:pt x="2" y="18"/>
                      <a:pt x="1" y="12"/>
                      <a:pt x="0" y="1"/>
                    </a:cubicBezTo>
                    <a:cubicBezTo>
                      <a:pt x="0" y="1"/>
                      <a:pt x="1" y="0"/>
                      <a:pt x="2" y="0"/>
                    </a:cubicBezTo>
                    <a:cubicBezTo>
                      <a:pt x="21" y="0"/>
                      <a:pt x="31" y="0"/>
                      <a:pt x="49" y="0"/>
                    </a:cubicBezTo>
                    <a:cubicBezTo>
                      <a:pt x="51" y="0"/>
                      <a:pt x="52" y="1"/>
                      <a:pt x="52" y="1"/>
                    </a:cubicBezTo>
                    <a:cubicBezTo>
                      <a:pt x="53" y="12"/>
                      <a:pt x="54" y="18"/>
                      <a:pt x="56"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5" name="Freeform 151">
                <a:extLst>
                  <a:ext uri="{FF2B5EF4-FFF2-40B4-BE49-F238E27FC236}">
                    <a16:creationId xmlns:a16="http://schemas.microsoft.com/office/drawing/2014/main" id="{C5E0720A-1101-282D-23FC-523104FCB3E0}"/>
                  </a:ext>
                </a:extLst>
              </p:cNvPr>
              <p:cNvSpPr>
                <a:spLocks/>
              </p:cNvSpPr>
              <p:nvPr/>
            </p:nvSpPr>
            <p:spPr bwMode="auto">
              <a:xfrm>
                <a:off x="5679292" y="5586897"/>
                <a:ext cx="357456" cy="50001"/>
              </a:xfrm>
              <a:custGeom>
                <a:avLst/>
                <a:gdLst>
                  <a:gd name="T0" fmla="*/ 236 w 236"/>
                  <a:gd name="T1" fmla="*/ 31 h 33"/>
                  <a:gd name="T2" fmla="*/ 234 w 236"/>
                  <a:gd name="T3" fmla="*/ 33 h 33"/>
                  <a:gd name="T4" fmla="*/ 2 w 236"/>
                  <a:gd name="T5" fmla="*/ 33 h 33"/>
                  <a:gd name="T6" fmla="*/ 0 w 236"/>
                  <a:gd name="T7" fmla="*/ 32 h 33"/>
                  <a:gd name="T8" fmla="*/ 4 w 236"/>
                  <a:gd name="T9" fmla="*/ 2 h 33"/>
                  <a:gd name="T10" fmla="*/ 6 w 236"/>
                  <a:gd name="T11" fmla="*/ 1 h 33"/>
                  <a:gd name="T12" fmla="*/ 231 w 236"/>
                  <a:gd name="T13" fmla="*/ 0 h 33"/>
                  <a:gd name="T14" fmla="*/ 234 w 236"/>
                  <a:gd name="T15" fmla="*/ 1 h 33"/>
                  <a:gd name="T16" fmla="*/ 236 w 236"/>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 h="33">
                    <a:moveTo>
                      <a:pt x="236" y="31"/>
                    </a:moveTo>
                    <a:cubicBezTo>
                      <a:pt x="236" y="32"/>
                      <a:pt x="235" y="33"/>
                      <a:pt x="234" y="33"/>
                    </a:cubicBezTo>
                    <a:cubicBezTo>
                      <a:pt x="157" y="33"/>
                      <a:pt x="79" y="33"/>
                      <a:pt x="2" y="33"/>
                    </a:cubicBezTo>
                    <a:cubicBezTo>
                      <a:pt x="1" y="33"/>
                      <a:pt x="0" y="33"/>
                      <a:pt x="0" y="32"/>
                    </a:cubicBezTo>
                    <a:cubicBezTo>
                      <a:pt x="1" y="19"/>
                      <a:pt x="2" y="13"/>
                      <a:pt x="4" y="2"/>
                    </a:cubicBezTo>
                    <a:cubicBezTo>
                      <a:pt x="4" y="1"/>
                      <a:pt x="5" y="1"/>
                      <a:pt x="6" y="1"/>
                    </a:cubicBezTo>
                    <a:cubicBezTo>
                      <a:pt x="81" y="0"/>
                      <a:pt x="156" y="0"/>
                      <a:pt x="231" y="0"/>
                    </a:cubicBezTo>
                    <a:cubicBezTo>
                      <a:pt x="232" y="0"/>
                      <a:pt x="234" y="1"/>
                      <a:pt x="234" y="1"/>
                    </a:cubicBezTo>
                    <a:cubicBezTo>
                      <a:pt x="235" y="12"/>
                      <a:pt x="235" y="18"/>
                      <a:pt x="236"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6" name="Freeform 152">
                <a:extLst>
                  <a:ext uri="{FF2B5EF4-FFF2-40B4-BE49-F238E27FC236}">
                    <a16:creationId xmlns:a16="http://schemas.microsoft.com/office/drawing/2014/main" id="{7D34DFB0-095E-1436-20CF-F21C6DF8B85D}"/>
                  </a:ext>
                </a:extLst>
              </p:cNvPr>
              <p:cNvSpPr>
                <a:spLocks/>
              </p:cNvSpPr>
              <p:nvPr/>
            </p:nvSpPr>
            <p:spPr bwMode="auto">
              <a:xfrm>
                <a:off x="5540991" y="5544343"/>
                <a:ext cx="67023" cy="35107"/>
              </a:xfrm>
              <a:custGeom>
                <a:avLst/>
                <a:gdLst>
                  <a:gd name="T0" fmla="*/ 40 w 44"/>
                  <a:gd name="T1" fmla="*/ 22 h 23"/>
                  <a:gd name="T2" fmla="*/ 37 w 44"/>
                  <a:gd name="T3" fmla="*/ 23 h 23"/>
                  <a:gd name="T4" fmla="*/ 2 w 44"/>
                  <a:gd name="T5" fmla="*/ 23 h 23"/>
                  <a:gd name="T6" fmla="*/ 0 w 44"/>
                  <a:gd name="T7" fmla="*/ 22 h 23"/>
                  <a:gd name="T8" fmla="*/ 5 w 44"/>
                  <a:gd name="T9" fmla="*/ 1 h 23"/>
                  <a:gd name="T10" fmla="*/ 8 w 44"/>
                  <a:gd name="T11" fmla="*/ 0 h 23"/>
                  <a:gd name="T12" fmla="*/ 42 w 44"/>
                  <a:gd name="T13" fmla="*/ 0 h 23"/>
                  <a:gd name="T14" fmla="*/ 44 w 44"/>
                  <a:gd name="T15" fmla="*/ 1 h 23"/>
                  <a:gd name="T16" fmla="*/ 40 w 44"/>
                  <a:gd name="T1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3">
                    <a:moveTo>
                      <a:pt x="40" y="22"/>
                    </a:moveTo>
                    <a:cubicBezTo>
                      <a:pt x="39" y="23"/>
                      <a:pt x="38" y="23"/>
                      <a:pt x="37" y="23"/>
                    </a:cubicBezTo>
                    <a:cubicBezTo>
                      <a:pt x="23" y="23"/>
                      <a:pt x="16" y="23"/>
                      <a:pt x="2" y="23"/>
                    </a:cubicBezTo>
                    <a:cubicBezTo>
                      <a:pt x="1" y="23"/>
                      <a:pt x="0" y="23"/>
                      <a:pt x="0" y="22"/>
                    </a:cubicBezTo>
                    <a:cubicBezTo>
                      <a:pt x="2" y="13"/>
                      <a:pt x="3" y="9"/>
                      <a:pt x="5" y="1"/>
                    </a:cubicBezTo>
                    <a:cubicBezTo>
                      <a:pt x="5" y="0"/>
                      <a:pt x="6" y="0"/>
                      <a:pt x="8" y="0"/>
                    </a:cubicBezTo>
                    <a:cubicBezTo>
                      <a:pt x="21" y="0"/>
                      <a:pt x="28" y="0"/>
                      <a:pt x="42" y="0"/>
                    </a:cubicBezTo>
                    <a:cubicBezTo>
                      <a:pt x="43" y="0"/>
                      <a:pt x="44" y="0"/>
                      <a:pt x="44" y="1"/>
                    </a:cubicBezTo>
                    <a:cubicBezTo>
                      <a:pt x="42" y="9"/>
                      <a:pt x="41" y="13"/>
                      <a:pt x="40"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7" name="Freeform 153">
                <a:extLst>
                  <a:ext uri="{FF2B5EF4-FFF2-40B4-BE49-F238E27FC236}">
                    <a16:creationId xmlns:a16="http://schemas.microsoft.com/office/drawing/2014/main" id="{3B82E5F4-27DD-AE52-6D87-280CA2556B6B}"/>
                  </a:ext>
                </a:extLst>
              </p:cNvPr>
              <p:cNvSpPr>
                <a:spLocks/>
              </p:cNvSpPr>
              <p:nvPr/>
            </p:nvSpPr>
            <p:spPr bwMode="auto">
              <a:xfrm>
                <a:off x="5613333" y="5542215"/>
                <a:ext cx="65959" cy="37235"/>
              </a:xfrm>
              <a:custGeom>
                <a:avLst/>
                <a:gdLst>
                  <a:gd name="T0" fmla="*/ 39 w 43"/>
                  <a:gd name="T1" fmla="*/ 23 h 24"/>
                  <a:gd name="T2" fmla="*/ 37 w 43"/>
                  <a:gd name="T3" fmla="*/ 24 h 24"/>
                  <a:gd name="T4" fmla="*/ 2 w 43"/>
                  <a:gd name="T5" fmla="*/ 24 h 24"/>
                  <a:gd name="T6" fmla="*/ 0 w 43"/>
                  <a:gd name="T7" fmla="*/ 23 h 24"/>
                  <a:gd name="T8" fmla="*/ 4 w 43"/>
                  <a:gd name="T9" fmla="*/ 2 h 24"/>
                  <a:gd name="T10" fmla="*/ 7 w 43"/>
                  <a:gd name="T11" fmla="*/ 0 h 24"/>
                  <a:gd name="T12" fmla="*/ 41 w 43"/>
                  <a:gd name="T13" fmla="*/ 0 h 24"/>
                  <a:gd name="T14" fmla="*/ 43 w 43"/>
                  <a:gd name="T15" fmla="*/ 2 h 24"/>
                  <a:gd name="T16" fmla="*/ 39 w 43"/>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4">
                    <a:moveTo>
                      <a:pt x="39" y="23"/>
                    </a:moveTo>
                    <a:cubicBezTo>
                      <a:pt x="39" y="23"/>
                      <a:pt x="38" y="24"/>
                      <a:pt x="37" y="24"/>
                    </a:cubicBezTo>
                    <a:cubicBezTo>
                      <a:pt x="23" y="24"/>
                      <a:pt x="16" y="24"/>
                      <a:pt x="2" y="24"/>
                    </a:cubicBezTo>
                    <a:cubicBezTo>
                      <a:pt x="1" y="24"/>
                      <a:pt x="0" y="24"/>
                      <a:pt x="0" y="23"/>
                    </a:cubicBezTo>
                    <a:cubicBezTo>
                      <a:pt x="2" y="14"/>
                      <a:pt x="3" y="10"/>
                      <a:pt x="4" y="2"/>
                    </a:cubicBezTo>
                    <a:cubicBezTo>
                      <a:pt x="4" y="1"/>
                      <a:pt x="6" y="0"/>
                      <a:pt x="7" y="0"/>
                    </a:cubicBezTo>
                    <a:cubicBezTo>
                      <a:pt x="20" y="0"/>
                      <a:pt x="27" y="0"/>
                      <a:pt x="41" y="0"/>
                    </a:cubicBezTo>
                    <a:cubicBezTo>
                      <a:pt x="42" y="0"/>
                      <a:pt x="43" y="1"/>
                      <a:pt x="43" y="2"/>
                    </a:cubicBezTo>
                    <a:cubicBezTo>
                      <a:pt x="41" y="10"/>
                      <a:pt x="41" y="14"/>
                      <a:pt x="39"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8" name="Freeform 154">
                <a:extLst>
                  <a:ext uri="{FF2B5EF4-FFF2-40B4-BE49-F238E27FC236}">
                    <a16:creationId xmlns:a16="http://schemas.microsoft.com/office/drawing/2014/main" id="{A74C6555-0261-AFB1-8468-B24E8A1A3E7B}"/>
                  </a:ext>
                </a:extLst>
              </p:cNvPr>
              <p:cNvSpPr>
                <a:spLocks/>
              </p:cNvSpPr>
              <p:nvPr/>
            </p:nvSpPr>
            <p:spPr bwMode="auto">
              <a:xfrm>
                <a:off x="5686739" y="5542215"/>
                <a:ext cx="61704" cy="37235"/>
              </a:xfrm>
              <a:custGeom>
                <a:avLst/>
                <a:gdLst>
                  <a:gd name="T0" fmla="*/ 39 w 41"/>
                  <a:gd name="T1" fmla="*/ 23 h 24"/>
                  <a:gd name="T2" fmla="*/ 36 w 41"/>
                  <a:gd name="T3" fmla="*/ 24 h 24"/>
                  <a:gd name="T4" fmla="*/ 2 w 41"/>
                  <a:gd name="T5" fmla="*/ 24 h 24"/>
                  <a:gd name="T6" fmla="*/ 0 w 41"/>
                  <a:gd name="T7" fmla="*/ 23 h 24"/>
                  <a:gd name="T8" fmla="*/ 3 w 41"/>
                  <a:gd name="T9" fmla="*/ 2 h 24"/>
                  <a:gd name="T10" fmla="*/ 5 w 41"/>
                  <a:gd name="T11" fmla="*/ 0 h 24"/>
                  <a:gd name="T12" fmla="*/ 39 w 41"/>
                  <a:gd name="T13" fmla="*/ 0 h 24"/>
                  <a:gd name="T14" fmla="*/ 41 w 41"/>
                  <a:gd name="T15" fmla="*/ 2 h 24"/>
                  <a:gd name="T16" fmla="*/ 39 w 41"/>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24">
                    <a:moveTo>
                      <a:pt x="39" y="23"/>
                    </a:moveTo>
                    <a:cubicBezTo>
                      <a:pt x="39" y="23"/>
                      <a:pt x="38" y="24"/>
                      <a:pt x="36" y="24"/>
                    </a:cubicBezTo>
                    <a:cubicBezTo>
                      <a:pt x="23" y="24"/>
                      <a:pt x="16" y="24"/>
                      <a:pt x="2" y="24"/>
                    </a:cubicBezTo>
                    <a:cubicBezTo>
                      <a:pt x="1" y="24"/>
                      <a:pt x="0" y="23"/>
                      <a:pt x="0" y="23"/>
                    </a:cubicBezTo>
                    <a:cubicBezTo>
                      <a:pt x="1" y="14"/>
                      <a:pt x="2" y="10"/>
                      <a:pt x="3" y="2"/>
                    </a:cubicBezTo>
                    <a:cubicBezTo>
                      <a:pt x="3" y="1"/>
                      <a:pt x="4" y="0"/>
                      <a:pt x="5" y="0"/>
                    </a:cubicBezTo>
                    <a:cubicBezTo>
                      <a:pt x="19" y="0"/>
                      <a:pt x="26" y="0"/>
                      <a:pt x="39" y="0"/>
                    </a:cubicBezTo>
                    <a:cubicBezTo>
                      <a:pt x="40" y="0"/>
                      <a:pt x="41" y="1"/>
                      <a:pt x="41" y="2"/>
                    </a:cubicBezTo>
                    <a:cubicBezTo>
                      <a:pt x="40" y="10"/>
                      <a:pt x="40" y="14"/>
                      <a:pt x="39"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99" name="Freeform 155">
                <a:extLst>
                  <a:ext uri="{FF2B5EF4-FFF2-40B4-BE49-F238E27FC236}">
                    <a16:creationId xmlns:a16="http://schemas.microsoft.com/office/drawing/2014/main" id="{9D04761D-00A1-D71D-0044-19658C520959}"/>
                  </a:ext>
                </a:extLst>
              </p:cNvPr>
              <p:cNvSpPr>
                <a:spLocks/>
              </p:cNvSpPr>
              <p:nvPr/>
            </p:nvSpPr>
            <p:spPr bwMode="auto">
              <a:xfrm>
                <a:off x="5758017" y="5542215"/>
                <a:ext cx="60640" cy="37235"/>
              </a:xfrm>
              <a:custGeom>
                <a:avLst/>
                <a:gdLst>
                  <a:gd name="T0" fmla="*/ 39 w 40"/>
                  <a:gd name="T1" fmla="*/ 22 h 24"/>
                  <a:gd name="T2" fmla="*/ 37 w 40"/>
                  <a:gd name="T3" fmla="*/ 24 h 24"/>
                  <a:gd name="T4" fmla="*/ 2 w 40"/>
                  <a:gd name="T5" fmla="*/ 24 h 24"/>
                  <a:gd name="T6" fmla="*/ 0 w 40"/>
                  <a:gd name="T7" fmla="*/ 23 h 24"/>
                  <a:gd name="T8" fmla="*/ 2 w 40"/>
                  <a:gd name="T9" fmla="*/ 2 h 24"/>
                  <a:gd name="T10" fmla="*/ 5 w 40"/>
                  <a:gd name="T11" fmla="*/ 0 h 24"/>
                  <a:gd name="T12" fmla="*/ 38 w 40"/>
                  <a:gd name="T13" fmla="*/ 0 h 24"/>
                  <a:gd name="T14" fmla="*/ 40 w 40"/>
                  <a:gd name="T15" fmla="*/ 2 h 24"/>
                  <a:gd name="T16" fmla="*/ 39 w 40"/>
                  <a:gd name="T1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4">
                    <a:moveTo>
                      <a:pt x="39" y="22"/>
                    </a:moveTo>
                    <a:cubicBezTo>
                      <a:pt x="39" y="23"/>
                      <a:pt x="38" y="24"/>
                      <a:pt x="37" y="24"/>
                    </a:cubicBezTo>
                    <a:cubicBezTo>
                      <a:pt x="23" y="24"/>
                      <a:pt x="16" y="24"/>
                      <a:pt x="2" y="24"/>
                    </a:cubicBezTo>
                    <a:cubicBezTo>
                      <a:pt x="1" y="24"/>
                      <a:pt x="0" y="23"/>
                      <a:pt x="0" y="23"/>
                    </a:cubicBezTo>
                    <a:cubicBezTo>
                      <a:pt x="1" y="14"/>
                      <a:pt x="2" y="10"/>
                      <a:pt x="2" y="2"/>
                    </a:cubicBezTo>
                    <a:cubicBezTo>
                      <a:pt x="3" y="1"/>
                      <a:pt x="4" y="0"/>
                      <a:pt x="5" y="0"/>
                    </a:cubicBezTo>
                    <a:cubicBezTo>
                      <a:pt x="18" y="0"/>
                      <a:pt x="25" y="0"/>
                      <a:pt x="38" y="0"/>
                    </a:cubicBezTo>
                    <a:cubicBezTo>
                      <a:pt x="40" y="0"/>
                      <a:pt x="40" y="1"/>
                      <a:pt x="40" y="2"/>
                    </a:cubicBezTo>
                    <a:cubicBezTo>
                      <a:pt x="40" y="10"/>
                      <a:pt x="40" y="14"/>
                      <a:pt x="39"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0" name="Freeform 156">
                <a:extLst>
                  <a:ext uri="{FF2B5EF4-FFF2-40B4-BE49-F238E27FC236}">
                    <a16:creationId xmlns:a16="http://schemas.microsoft.com/office/drawing/2014/main" id="{8ECCF3F9-1826-05FA-8BC0-B7C29DE359AE}"/>
                  </a:ext>
                </a:extLst>
              </p:cNvPr>
              <p:cNvSpPr>
                <a:spLocks/>
              </p:cNvSpPr>
              <p:nvPr/>
            </p:nvSpPr>
            <p:spPr bwMode="auto">
              <a:xfrm>
                <a:off x="5830359" y="5542215"/>
                <a:ext cx="59576" cy="37235"/>
              </a:xfrm>
              <a:custGeom>
                <a:avLst/>
                <a:gdLst>
                  <a:gd name="T0" fmla="*/ 38 w 39"/>
                  <a:gd name="T1" fmla="*/ 22 h 24"/>
                  <a:gd name="T2" fmla="*/ 36 w 39"/>
                  <a:gd name="T3" fmla="*/ 24 h 24"/>
                  <a:gd name="T4" fmla="*/ 2 w 39"/>
                  <a:gd name="T5" fmla="*/ 24 h 24"/>
                  <a:gd name="T6" fmla="*/ 0 w 39"/>
                  <a:gd name="T7" fmla="*/ 22 h 24"/>
                  <a:gd name="T8" fmla="*/ 1 w 39"/>
                  <a:gd name="T9" fmla="*/ 2 h 24"/>
                  <a:gd name="T10" fmla="*/ 3 w 39"/>
                  <a:gd name="T11" fmla="*/ 0 h 24"/>
                  <a:gd name="T12" fmla="*/ 36 w 39"/>
                  <a:gd name="T13" fmla="*/ 0 h 24"/>
                  <a:gd name="T14" fmla="*/ 39 w 39"/>
                  <a:gd name="T15" fmla="*/ 2 h 24"/>
                  <a:gd name="T16" fmla="*/ 38 w 39"/>
                  <a:gd name="T1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4">
                    <a:moveTo>
                      <a:pt x="38" y="22"/>
                    </a:moveTo>
                    <a:cubicBezTo>
                      <a:pt x="38" y="23"/>
                      <a:pt x="37" y="24"/>
                      <a:pt x="36" y="24"/>
                    </a:cubicBezTo>
                    <a:cubicBezTo>
                      <a:pt x="22" y="24"/>
                      <a:pt x="16" y="24"/>
                      <a:pt x="2" y="24"/>
                    </a:cubicBezTo>
                    <a:cubicBezTo>
                      <a:pt x="1" y="24"/>
                      <a:pt x="0" y="23"/>
                      <a:pt x="0" y="22"/>
                    </a:cubicBezTo>
                    <a:cubicBezTo>
                      <a:pt x="0" y="14"/>
                      <a:pt x="0" y="10"/>
                      <a:pt x="1" y="2"/>
                    </a:cubicBezTo>
                    <a:cubicBezTo>
                      <a:pt x="1" y="1"/>
                      <a:pt x="2" y="0"/>
                      <a:pt x="3" y="0"/>
                    </a:cubicBezTo>
                    <a:cubicBezTo>
                      <a:pt x="16" y="0"/>
                      <a:pt x="23" y="0"/>
                      <a:pt x="36" y="0"/>
                    </a:cubicBezTo>
                    <a:cubicBezTo>
                      <a:pt x="38" y="0"/>
                      <a:pt x="39" y="1"/>
                      <a:pt x="39" y="2"/>
                    </a:cubicBezTo>
                    <a:cubicBezTo>
                      <a:pt x="38" y="10"/>
                      <a:pt x="38" y="14"/>
                      <a:pt x="38"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1" name="Freeform 157">
                <a:extLst>
                  <a:ext uri="{FF2B5EF4-FFF2-40B4-BE49-F238E27FC236}">
                    <a16:creationId xmlns:a16="http://schemas.microsoft.com/office/drawing/2014/main" id="{2AB40D59-769C-4281-CD73-70C7BF90FB13}"/>
                  </a:ext>
                </a:extLst>
              </p:cNvPr>
              <p:cNvSpPr>
                <a:spLocks/>
              </p:cNvSpPr>
              <p:nvPr/>
            </p:nvSpPr>
            <p:spPr bwMode="auto">
              <a:xfrm>
                <a:off x="5901638" y="5542215"/>
                <a:ext cx="58512" cy="37235"/>
              </a:xfrm>
              <a:custGeom>
                <a:avLst/>
                <a:gdLst>
                  <a:gd name="T0" fmla="*/ 39 w 39"/>
                  <a:gd name="T1" fmla="*/ 22 h 24"/>
                  <a:gd name="T2" fmla="*/ 36 w 39"/>
                  <a:gd name="T3" fmla="*/ 24 h 24"/>
                  <a:gd name="T4" fmla="*/ 2 w 39"/>
                  <a:gd name="T5" fmla="*/ 24 h 24"/>
                  <a:gd name="T6" fmla="*/ 0 w 39"/>
                  <a:gd name="T7" fmla="*/ 22 h 24"/>
                  <a:gd name="T8" fmla="*/ 0 w 39"/>
                  <a:gd name="T9" fmla="*/ 2 h 24"/>
                  <a:gd name="T10" fmla="*/ 2 w 39"/>
                  <a:gd name="T11" fmla="*/ 0 h 24"/>
                  <a:gd name="T12" fmla="*/ 35 w 39"/>
                  <a:gd name="T13" fmla="*/ 0 h 24"/>
                  <a:gd name="T14" fmla="*/ 38 w 39"/>
                  <a:gd name="T15" fmla="*/ 2 h 24"/>
                  <a:gd name="T16" fmla="*/ 39 w 39"/>
                  <a:gd name="T1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4">
                    <a:moveTo>
                      <a:pt x="39" y="22"/>
                    </a:moveTo>
                    <a:cubicBezTo>
                      <a:pt x="39" y="23"/>
                      <a:pt x="38" y="24"/>
                      <a:pt x="36" y="24"/>
                    </a:cubicBezTo>
                    <a:cubicBezTo>
                      <a:pt x="23" y="24"/>
                      <a:pt x="16" y="24"/>
                      <a:pt x="2" y="24"/>
                    </a:cubicBezTo>
                    <a:cubicBezTo>
                      <a:pt x="1" y="24"/>
                      <a:pt x="0" y="23"/>
                      <a:pt x="0" y="22"/>
                    </a:cubicBezTo>
                    <a:cubicBezTo>
                      <a:pt x="0" y="14"/>
                      <a:pt x="0" y="10"/>
                      <a:pt x="0" y="2"/>
                    </a:cubicBezTo>
                    <a:cubicBezTo>
                      <a:pt x="0" y="1"/>
                      <a:pt x="1" y="0"/>
                      <a:pt x="2" y="0"/>
                    </a:cubicBezTo>
                    <a:cubicBezTo>
                      <a:pt x="15" y="0"/>
                      <a:pt x="22" y="0"/>
                      <a:pt x="35" y="0"/>
                    </a:cubicBezTo>
                    <a:cubicBezTo>
                      <a:pt x="37" y="0"/>
                      <a:pt x="38" y="1"/>
                      <a:pt x="38" y="2"/>
                    </a:cubicBezTo>
                    <a:cubicBezTo>
                      <a:pt x="38" y="10"/>
                      <a:pt x="38" y="14"/>
                      <a:pt x="39"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2" name="Freeform 158">
                <a:extLst>
                  <a:ext uri="{FF2B5EF4-FFF2-40B4-BE49-F238E27FC236}">
                    <a16:creationId xmlns:a16="http://schemas.microsoft.com/office/drawing/2014/main" id="{F161AF3F-4BE7-EDD7-275C-195217C9A8BF}"/>
                  </a:ext>
                </a:extLst>
              </p:cNvPr>
              <p:cNvSpPr>
                <a:spLocks/>
              </p:cNvSpPr>
              <p:nvPr/>
            </p:nvSpPr>
            <p:spPr bwMode="auto">
              <a:xfrm>
                <a:off x="5970788" y="5542215"/>
                <a:ext cx="60640" cy="37235"/>
              </a:xfrm>
              <a:custGeom>
                <a:avLst/>
                <a:gdLst>
                  <a:gd name="T0" fmla="*/ 40 w 40"/>
                  <a:gd name="T1" fmla="*/ 22 h 24"/>
                  <a:gd name="T2" fmla="*/ 38 w 40"/>
                  <a:gd name="T3" fmla="*/ 24 h 24"/>
                  <a:gd name="T4" fmla="*/ 3 w 40"/>
                  <a:gd name="T5" fmla="*/ 24 h 24"/>
                  <a:gd name="T6" fmla="*/ 1 w 40"/>
                  <a:gd name="T7" fmla="*/ 22 h 24"/>
                  <a:gd name="T8" fmla="*/ 0 w 40"/>
                  <a:gd name="T9" fmla="*/ 2 h 24"/>
                  <a:gd name="T10" fmla="*/ 2 w 40"/>
                  <a:gd name="T11" fmla="*/ 0 h 24"/>
                  <a:gd name="T12" fmla="*/ 36 w 40"/>
                  <a:gd name="T13" fmla="*/ 0 h 24"/>
                  <a:gd name="T14" fmla="*/ 38 w 40"/>
                  <a:gd name="T15" fmla="*/ 2 h 24"/>
                  <a:gd name="T16" fmla="*/ 40 w 40"/>
                  <a:gd name="T1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4">
                    <a:moveTo>
                      <a:pt x="40" y="22"/>
                    </a:moveTo>
                    <a:cubicBezTo>
                      <a:pt x="40" y="23"/>
                      <a:pt x="39" y="24"/>
                      <a:pt x="38" y="24"/>
                    </a:cubicBezTo>
                    <a:cubicBezTo>
                      <a:pt x="24" y="24"/>
                      <a:pt x="17" y="24"/>
                      <a:pt x="3" y="24"/>
                    </a:cubicBezTo>
                    <a:cubicBezTo>
                      <a:pt x="2" y="24"/>
                      <a:pt x="1" y="23"/>
                      <a:pt x="1" y="22"/>
                    </a:cubicBezTo>
                    <a:cubicBezTo>
                      <a:pt x="1" y="14"/>
                      <a:pt x="0" y="10"/>
                      <a:pt x="0" y="2"/>
                    </a:cubicBezTo>
                    <a:cubicBezTo>
                      <a:pt x="0" y="1"/>
                      <a:pt x="1" y="0"/>
                      <a:pt x="2" y="0"/>
                    </a:cubicBezTo>
                    <a:cubicBezTo>
                      <a:pt x="15" y="0"/>
                      <a:pt x="22" y="0"/>
                      <a:pt x="36" y="0"/>
                    </a:cubicBezTo>
                    <a:cubicBezTo>
                      <a:pt x="37" y="0"/>
                      <a:pt x="38" y="1"/>
                      <a:pt x="38" y="2"/>
                    </a:cubicBezTo>
                    <a:cubicBezTo>
                      <a:pt x="39" y="10"/>
                      <a:pt x="39" y="14"/>
                      <a:pt x="40"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3" name="Freeform 159">
                <a:extLst>
                  <a:ext uri="{FF2B5EF4-FFF2-40B4-BE49-F238E27FC236}">
                    <a16:creationId xmlns:a16="http://schemas.microsoft.com/office/drawing/2014/main" id="{79E187D3-E233-DBCB-E76A-AF02EB6396CD}"/>
                  </a:ext>
                </a:extLst>
              </p:cNvPr>
              <p:cNvSpPr>
                <a:spLocks/>
              </p:cNvSpPr>
              <p:nvPr/>
            </p:nvSpPr>
            <p:spPr bwMode="auto">
              <a:xfrm>
                <a:off x="6041003" y="5542215"/>
                <a:ext cx="61704" cy="37235"/>
              </a:xfrm>
              <a:custGeom>
                <a:avLst/>
                <a:gdLst>
                  <a:gd name="T0" fmla="*/ 41 w 41"/>
                  <a:gd name="T1" fmla="*/ 22 h 24"/>
                  <a:gd name="T2" fmla="*/ 39 w 41"/>
                  <a:gd name="T3" fmla="*/ 23 h 24"/>
                  <a:gd name="T4" fmla="*/ 5 w 41"/>
                  <a:gd name="T5" fmla="*/ 24 h 24"/>
                  <a:gd name="T6" fmla="*/ 2 w 41"/>
                  <a:gd name="T7" fmla="*/ 22 h 24"/>
                  <a:gd name="T8" fmla="*/ 0 w 41"/>
                  <a:gd name="T9" fmla="*/ 2 h 24"/>
                  <a:gd name="T10" fmla="*/ 2 w 41"/>
                  <a:gd name="T11" fmla="*/ 0 h 24"/>
                  <a:gd name="T12" fmla="*/ 36 w 41"/>
                  <a:gd name="T13" fmla="*/ 0 h 24"/>
                  <a:gd name="T14" fmla="*/ 38 w 41"/>
                  <a:gd name="T15" fmla="*/ 2 h 24"/>
                  <a:gd name="T16" fmla="*/ 41 w 41"/>
                  <a:gd name="T1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24">
                    <a:moveTo>
                      <a:pt x="41" y="22"/>
                    </a:moveTo>
                    <a:cubicBezTo>
                      <a:pt x="41" y="23"/>
                      <a:pt x="40" y="23"/>
                      <a:pt x="39" y="23"/>
                    </a:cubicBezTo>
                    <a:cubicBezTo>
                      <a:pt x="25" y="24"/>
                      <a:pt x="18" y="24"/>
                      <a:pt x="5" y="24"/>
                    </a:cubicBezTo>
                    <a:cubicBezTo>
                      <a:pt x="3" y="24"/>
                      <a:pt x="2" y="23"/>
                      <a:pt x="2" y="22"/>
                    </a:cubicBezTo>
                    <a:cubicBezTo>
                      <a:pt x="1" y="14"/>
                      <a:pt x="1" y="10"/>
                      <a:pt x="0" y="2"/>
                    </a:cubicBezTo>
                    <a:cubicBezTo>
                      <a:pt x="0" y="1"/>
                      <a:pt x="1" y="0"/>
                      <a:pt x="2" y="0"/>
                    </a:cubicBezTo>
                    <a:cubicBezTo>
                      <a:pt x="16" y="0"/>
                      <a:pt x="22" y="0"/>
                      <a:pt x="36" y="0"/>
                    </a:cubicBezTo>
                    <a:cubicBezTo>
                      <a:pt x="37" y="0"/>
                      <a:pt x="38" y="1"/>
                      <a:pt x="38" y="2"/>
                    </a:cubicBezTo>
                    <a:cubicBezTo>
                      <a:pt x="39" y="10"/>
                      <a:pt x="40" y="13"/>
                      <a:pt x="41"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4" name="Freeform 160">
                <a:extLst>
                  <a:ext uri="{FF2B5EF4-FFF2-40B4-BE49-F238E27FC236}">
                    <a16:creationId xmlns:a16="http://schemas.microsoft.com/office/drawing/2014/main" id="{CAAAC291-683C-8A8E-CBFF-8013BA27BD8D}"/>
                  </a:ext>
                </a:extLst>
              </p:cNvPr>
              <p:cNvSpPr>
                <a:spLocks/>
              </p:cNvSpPr>
              <p:nvPr/>
            </p:nvSpPr>
            <p:spPr bwMode="auto">
              <a:xfrm>
                <a:off x="6112281" y="5542215"/>
                <a:ext cx="63831" cy="35107"/>
              </a:xfrm>
              <a:custGeom>
                <a:avLst/>
                <a:gdLst>
                  <a:gd name="T0" fmla="*/ 42 w 42"/>
                  <a:gd name="T1" fmla="*/ 22 h 23"/>
                  <a:gd name="T2" fmla="*/ 40 w 42"/>
                  <a:gd name="T3" fmla="*/ 23 h 23"/>
                  <a:gd name="T4" fmla="*/ 5 w 42"/>
                  <a:gd name="T5" fmla="*/ 23 h 23"/>
                  <a:gd name="T6" fmla="*/ 3 w 42"/>
                  <a:gd name="T7" fmla="*/ 22 h 23"/>
                  <a:gd name="T8" fmla="*/ 0 w 42"/>
                  <a:gd name="T9" fmla="*/ 2 h 23"/>
                  <a:gd name="T10" fmla="*/ 2 w 42"/>
                  <a:gd name="T11" fmla="*/ 0 h 23"/>
                  <a:gd name="T12" fmla="*/ 36 w 42"/>
                  <a:gd name="T13" fmla="*/ 0 h 23"/>
                  <a:gd name="T14" fmla="*/ 38 w 42"/>
                  <a:gd name="T15" fmla="*/ 2 h 23"/>
                  <a:gd name="T16" fmla="*/ 42 w 42"/>
                  <a:gd name="T1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23">
                    <a:moveTo>
                      <a:pt x="42" y="22"/>
                    </a:moveTo>
                    <a:cubicBezTo>
                      <a:pt x="42" y="23"/>
                      <a:pt x="41" y="23"/>
                      <a:pt x="40" y="23"/>
                    </a:cubicBezTo>
                    <a:cubicBezTo>
                      <a:pt x="26" y="23"/>
                      <a:pt x="19" y="23"/>
                      <a:pt x="5" y="23"/>
                    </a:cubicBezTo>
                    <a:cubicBezTo>
                      <a:pt x="4" y="23"/>
                      <a:pt x="3" y="23"/>
                      <a:pt x="3" y="22"/>
                    </a:cubicBezTo>
                    <a:cubicBezTo>
                      <a:pt x="2" y="13"/>
                      <a:pt x="1" y="9"/>
                      <a:pt x="0" y="2"/>
                    </a:cubicBezTo>
                    <a:cubicBezTo>
                      <a:pt x="0" y="1"/>
                      <a:pt x="0" y="0"/>
                      <a:pt x="2" y="0"/>
                    </a:cubicBezTo>
                    <a:cubicBezTo>
                      <a:pt x="15" y="0"/>
                      <a:pt x="22" y="0"/>
                      <a:pt x="36" y="0"/>
                    </a:cubicBezTo>
                    <a:cubicBezTo>
                      <a:pt x="37" y="0"/>
                      <a:pt x="38" y="1"/>
                      <a:pt x="38" y="2"/>
                    </a:cubicBezTo>
                    <a:cubicBezTo>
                      <a:pt x="40" y="9"/>
                      <a:pt x="40" y="13"/>
                      <a:pt x="42"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5" name="Freeform 161">
                <a:extLst>
                  <a:ext uri="{FF2B5EF4-FFF2-40B4-BE49-F238E27FC236}">
                    <a16:creationId xmlns:a16="http://schemas.microsoft.com/office/drawing/2014/main" id="{6CE33511-2DB2-C802-9B34-7B6F5F6780BE}"/>
                  </a:ext>
                </a:extLst>
              </p:cNvPr>
              <p:cNvSpPr>
                <a:spLocks/>
              </p:cNvSpPr>
              <p:nvPr/>
            </p:nvSpPr>
            <p:spPr bwMode="auto">
              <a:xfrm>
                <a:off x="6181432" y="5542215"/>
                <a:ext cx="67023" cy="35107"/>
              </a:xfrm>
              <a:custGeom>
                <a:avLst/>
                <a:gdLst>
                  <a:gd name="T0" fmla="*/ 44 w 44"/>
                  <a:gd name="T1" fmla="*/ 22 h 23"/>
                  <a:gd name="T2" fmla="*/ 42 w 44"/>
                  <a:gd name="T3" fmla="*/ 23 h 23"/>
                  <a:gd name="T4" fmla="*/ 7 w 44"/>
                  <a:gd name="T5" fmla="*/ 23 h 23"/>
                  <a:gd name="T6" fmla="*/ 4 w 44"/>
                  <a:gd name="T7" fmla="*/ 22 h 23"/>
                  <a:gd name="T8" fmla="*/ 0 w 44"/>
                  <a:gd name="T9" fmla="*/ 2 h 23"/>
                  <a:gd name="T10" fmla="*/ 2 w 44"/>
                  <a:gd name="T11" fmla="*/ 0 h 23"/>
                  <a:gd name="T12" fmla="*/ 37 w 44"/>
                  <a:gd name="T13" fmla="*/ 0 h 23"/>
                  <a:gd name="T14" fmla="*/ 39 w 44"/>
                  <a:gd name="T15" fmla="*/ 2 h 23"/>
                  <a:gd name="T16" fmla="*/ 44 w 44"/>
                  <a:gd name="T1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3">
                    <a:moveTo>
                      <a:pt x="44" y="22"/>
                    </a:moveTo>
                    <a:cubicBezTo>
                      <a:pt x="44" y="23"/>
                      <a:pt x="43" y="23"/>
                      <a:pt x="42" y="23"/>
                    </a:cubicBezTo>
                    <a:cubicBezTo>
                      <a:pt x="28" y="23"/>
                      <a:pt x="21" y="23"/>
                      <a:pt x="7" y="23"/>
                    </a:cubicBezTo>
                    <a:cubicBezTo>
                      <a:pt x="6" y="23"/>
                      <a:pt x="5" y="23"/>
                      <a:pt x="4" y="22"/>
                    </a:cubicBezTo>
                    <a:cubicBezTo>
                      <a:pt x="3" y="13"/>
                      <a:pt x="2" y="9"/>
                      <a:pt x="0" y="2"/>
                    </a:cubicBezTo>
                    <a:cubicBezTo>
                      <a:pt x="0" y="1"/>
                      <a:pt x="1" y="0"/>
                      <a:pt x="2" y="0"/>
                    </a:cubicBezTo>
                    <a:cubicBezTo>
                      <a:pt x="16" y="0"/>
                      <a:pt x="23" y="0"/>
                      <a:pt x="37" y="0"/>
                    </a:cubicBezTo>
                    <a:cubicBezTo>
                      <a:pt x="38" y="0"/>
                      <a:pt x="39" y="1"/>
                      <a:pt x="39" y="2"/>
                    </a:cubicBezTo>
                    <a:cubicBezTo>
                      <a:pt x="41" y="9"/>
                      <a:pt x="42" y="13"/>
                      <a:pt x="44"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6" name="Freeform 162">
                <a:extLst>
                  <a:ext uri="{FF2B5EF4-FFF2-40B4-BE49-F238E27FC236}">
                    <a16:creationId xmlns:a16="http://schemas.microsoft.com/office/drawing/2014/main" id="{152CEF58-7D8B-8B00-B0AF-A654BDDB6126}"/>
                  </a:ext>
                </a:extLst>
              </p:cNvPr>
              <p:cNvSpPr>
                <a:spLocks/>
              </p:cNvSpPr>
              <p:nvPr/>
            </p:nvSpPr>
            <p:spPr bwMode="auto">
              <a:xfrm>
                <a:off x="6254838" y="5542215"/>
                <a:ext cx="160642" cy="35107"/>
              </a:xfrm>
              <a:custGeom>
                <a:avLst/>
                <a:gdLst>
                  <a:gd name="T0" fmla="*/ 106 w 106"/>
                  <a:gd name="T1" fmla="*/ 22 h 23"/>
                  <a:gd name="T2" fmla="*/ 104 w 106"/>
                  <a:gd name="T3" fmla="*/ 23 h 23"/>
                  <a:gd name="T4" fmla="*/ 7 w 106"/>
                  <a:gd name="T5" fmla="*/ 23 h 23"/>
                  <a:gd name="T6" fmla="*/ 5 w 106"/>
                  <a:gd name="T7" fmla="*/ 22 h 23"/>
                  <a:gd name="T8" fmla="*/ 0 w 106"/>
                  <a:gd name="T9" fmla="*/ 2 h 23"/>
                  <a:gd name="T10" fmla="*/ 2 w 106"/>
                  <a:gd name="T11" fmla="*/ 0 h 23"/>
                  <a:gd name="T12" fmla="*/ 97 w 106"/>
                  <a:gd name="T13" fmla="*/ 0 h 23"/>
                  <a:gd name="T14" fmla="*/ 100 w 106"/>
                  <a:gd name="T15" fmla="*/ 2 h 23"/>
                  <a:gd name="T16" fmla="*/ 106 w 106"/>
                  <a:gd name="T1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23">
                    <a:moveTo>
                      <a:pt x="106" y="22"/>
                    </a:moveTo>
                    <a:cubicBezTo>
                      <a:pt x="106" y="22"/>
                      <a:pt x="105" y="23"/>
                      <a:pt x="104" y="23"/>
                    </a:cubicBezTo>
                    <a:cubicBezTo>
                      <a:pt x="65" y="23"/>
                      <a:pt x="45" y="23"/>
                      <a:pt x="7" y="23"/>
                    </a:cubicBezTo>
                    <a:cubicBezTo>
                      <a:pt x="6" y="23"/>
                      <a:pt x="5" y="23"/>
                      <a:pt x="5" y="22"/>
                    </a:cubicBezTo>
                    <a:cubicBezTo>
                      <a:pt x="3" y="13"/>
                      <a:pt x="2" y="9"/>
                      <a:pt x="0" y="2"/>
                    </a:cubicBezTo>
                    <a:cubicBezTo>
                      <a:pt x="0" y="1"/>
                      <a:pt x="1" y="0"/>
                      <a:pt x="2" y="0"/>
                    </a:cubicBezTo>
                    <a:cubicBezTo>
                      <a:pt x="39" y="0"/>
                      <a:pt x="59" y="0"/>
                      <a:pt x="97" y="0"/>
                    </a:cubicBezTo>
                    <a:cubicBezTo>
                      <a:pt x="99" y="0"/>
                      <a:pt x="100" y="1"/>
                      <a:pt x="100" y="2"/>
                    </a:cubicBezTo>
                    <a:cubicBezTo>
                      <a:pt x="102" y="9"/>
                      <a:pt x="103" y="13"/>
                      <a:pt x="106"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7" name="Freeform 163">
                <a:extLst>
                  <a:ext uri="{FF2B5EF4-FFF2-40B4-BE49-F238E27FC236}">
                    <a16:creationId xmlns:a16="http://schemas.microsoft.com/office/drawing/2014/main" id="{5C181F02-2830-78A8-0453-0F10869FD817}"/>
                  </a:ext>
                </a:extLst>
              </p:cNvPr>
              <p:cNvSpPr>
                <a:spLocks/>
              </p:cNvSpPr>
              <p:nvPr/>
            </p:nvSpPr>
            <p:spPr bwMode="auto">
              <a:xfrm>
                <a:off x="5586736" y="5501789"/>
                <a:ext cx="63831" cy="35107"/>
              </a:xfrm>
              <a:custGeom>
                <a:avLst/>
                <a:gdLst>
                  <a:gd name="T0" fmla="*/ 38 w 42"/>
                  <a:gd name="T1" fmla="*/ 21 h 23"/>
                  <a:gd name="T2" fmla="*/ 36 w 42"/>
                  <a:gd name="T3" fmla="*/ 23 h 23"/>
                  <a:gd name="T4" fmla="*/ 2 w 42"/>
                  <a:gd name="T5" fmla="*/ 23 h 23"/>
                  <a:gd name="T6" fmla="*/ 0 w 42"/>
                  <a:gd name="T7" fmla="*/ 21 h 23"/>
                  <a:gd name="T8" fmla="*/ 4 w 42"/>
                  <a:gd name="T9" fmla="*/ 1 h 23"/>
                  <a:gd name="T10" fmla="*/ 7 w 42"/>
                  <a:gd name="T11" fmla="*/ 0 h 23"/>
                  <a:gd name="T12" fmla="*/ 40 w 42"/>
                  <a:gd name="T13" fmla="*/ 0 h 23"/>
                  <a:gd name="T14" fmla="*/ 42 w 42"/>
                  <a:gd name="T15" fmla="*/ 1 h 23"/>
                  <a:gd name="T16" fmla="*/ 38 w 42"/>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23">
                    <a:moveTo>
                      <a:pt x="38" y="21"/>
                    </a:moveTo>
                    <a:cubicBezTo>
                      <a:pt x="38" y="22"/>
                      <a:pt x="37" y="23"/>
                      <a:pt x="36" y="23"/>
                    </a:cubicBezTo>
                    <a:cubicBezTo>
                      <a:pt x="22" y="23"/>
                      <a:pt x="15" y="23"/>
                      <a:pt x="2" y="23"/>
                    </a:cubicBezTo>
                    <a:cubicBezTo>
                      <a:pt x="1" y="23"/>
                      <a:pt x="0" y="22"/>
                      <a:pt x="0" y="21"/>
                    </a:cubicBezTo>
                    <a:cubicBezTo>
                      <a:pt x="2" y="13"/>
                      <a:pt x="3" y="9"/>
                      <a:pt x="4" y="1"/>
                    </a:cubicBezTo>
                    <a:cubicBezTo>
                      <a:pt x="4" y="1"/>
                      <a:pt x="6" y="0"/>
                      <a:pt x="7" y="0"/>
                    </a:cubicBezTo>
                    <a:cubicBezTo>
                      <a:pt x="20" y="0"/>
                      <a:pt x="27" y="0"/>
                      <a:pt x="40" y="0"/>
                    </a:cubicBezTo>
                    <a:cubicBezTo>
                      <a:pt x="41" y="0"/>
                      <a:pt x="42" y="1"/>
                      <a:pt x="42" y="1"/>
                    </a:cubicBezTo>
                    <a:cubicBezTo>
                      <a:pt x="41" y="9"/>
                      <a:pt x="40" y="13"/>
                      <a:pt x="38"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8" name="Freeform 164">
                <a:extLst>
                  <a:ext uri="{FF2B5EF4-FFF2-40B4-BE49-F238E27FC236}">
                    <a16:creationId xmlns:a16="http://schemas.microsoft.com/office/drawing/2014/main" id="{A2A0A244-4964-A66E-2DFF-277ADD17ADB3}"/>
                  </a:ext>
                </a:extLst>
              </p:cNvPr>
              <p:cNvSpPr>
                <a:spLocks/>
              </p:cNvSpPr>
              <p:nvPr/>
            </p:nvSpPr>
            <p:spPr bwMode="auto">
              <a:xfrm>
                <a:off x="5655887" y="5501789"/>
                <a:ext cx="62768" cy="35107"/>
              </a:xfrm>
              <a:custGeom>
                <a:avLst/>
                <a:gdLst>
                  <a:gd name="T0" fmla="*/ 39 w 41"/>
                  <a:gd name="T1" fmla="*/ 21 h 23"/>
                  <a:gd name="T2" fmla="*/ 36 w 41"/>
                  <a:gd name="T3" fmla="*/ 23 h 23"/>
                  <a:gd name="T4" fmla="*/ 3 w 41"/>
                  <a:gd name="T5" fmla="*/ 23 h 23"/>
                  <a:gd name="T6" fmla="*/ 1 w 41"/>
                  <a:gd name="T7" fmla="*/ 21 h 23"/>
                  <a:gd name="T8" fmla="*/ 4 w 41"/>
                  <a:gd name="T9" fmla="*/ 1 h 23"/>
                  <a:gd name="T10" fmla="*/ 7 w 41"/>
                  <a:gd name="T11" fmla="*/ 0 h 23"/>
                  <a:gd name="T12" fmla="*/ 39 w 41"/>
                  <a:gd name="T13" fmla="*/ 0 h 23"/>
                  <a:gd name="T14" fmla="*/ 41 w 41"/>
                  <a:gd name="T15" fmla="*/ 1 h 23"/>
                  <a:gd name="T16" fmla="*/ 39 w 41"/>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23">
                    <a:moveTo>
                      <a:pt x="39" y="21"/>
                    </a:moveTo>
                    <a:cubicBezTo>
                      <a:pt x="38" y="22"/>
                      <a:pt x="37" y="23"/>
                      <a:pt x="36" y="23"/>
                    </a:cubicBezTo>
                    <a:cubicBezTo>
                      <a:pt x="23" y="23"/>
                      <a:pt x="16" y="23"/>
                      <a:pt x="3" y="23"/>
                    </a:cubicBezTo>
                    <a:cubicBezTo>
                      <a:pt x="1" y="23"/>
                      <a:pt x="0" y="22"/>
                      <a:pt x="1" y="21"/>
                    </a:cubicBezTo>
                    <a:cubicBezTo>
                      <a:pt x="2" y="13"/>
                      <a:pt x="3" y="9"/>
                      <a:pt x="4" y="1"/>
                    </a:cubicBezTo>
                    <a:cubicBezTo>
                      <a:pt x="4" y="1"/>
                      <a:pt x="5" y="0"/>
                      <a:pt x="7" y="0"/>
                    </a:cubicBezTo>
                    <a:cubicBezTo>
                      <a:pt x="20" y="0"/>
                      <a:pt x="26" y="0"/>
                      <a:pt x="39" y="0"/>
                    </a:cubicBezTo>
                    <a:cubicBezTo>
                      <a:pt x="41" y="0"/>
                      <a:pt x="41" y="1"/>
                      <a:pt x="41" y="1"/>
                    </a:cubicBezTo>
                    <a:cubicBezTo>
                      <a:pt x="40" y="9"/>
                      <a:pt x="40" y="13"/>
                      <a:pt x="39"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9" name="Freeform 165">
                <a:extLst>
                  <a:ext uri="{FF2B5EF4-FFF2-40B4-BE49-F238E27FC236}">
                    <a16:creationId xmlns:a16="http://schemas.microsoft.com/office/drawing/2014/main" id="{2F3D222F-F79B-C8E4-2ADB-568B56D7FD13}"/>
                  </a:ext>
                </a:extLst>
              </p:cNvPr>
              <p:cNvSpPr>
                <a:spLocks/>
              </p:cNvSpPr>
              <p:nvPr/>
            </p:nvSpPr>
            <p:spPr bwMode="auto">
              <a:xfrm>
                <a:off x="5727165" y="5501789"/>
                <a:ext cx="59576" cy="35107"/>
              </a:xfrm>
              <a:custGeom>
                <a:avLst/>
                <a:gdLst>
                  <a:gd name="T0" fmla="*/ 38 w 39"/>
                  <a:gd name="T1" fmla="*/ 21 h 23"/>
                  <a:gd name="T2" fmla="*/ 35 w 39"/>
                  <a:gd name="T3" fmla="*/ 23 h 23"/>
                  <a:gd name="T4" fmla="*/ 2 w 39"/>
                  <a:gd name="T5" fmla="*/ 23 h 23"/>
                  <a:gd name="T6" fmla="*/ 0 w 39"/>
                  <a:gd name="T7" fmla="*/ 21 h 23"/>
                  <a:gd name="T8" fmla="*/ 2 w 39"/>
                  <a:gd name="T9" fmla="*/ 1 h 23"/>
                  <a:gd name="T10" fmla="*/ 5 w 39"/>
                  <a:gd name="T11" fmla="*/ 0 h 23"/>
                  <a:gd name="T12" fmla="*/ 37 w 39"/>
                  <a:gd name="T13" fmla="*/ 0 h 23"/>
                  <a:gd name="T14" fmla="*/ 39 w 39"/>
                  <a:gd name="T15" fmla="*/ 2 h 23"/>
                  <a:gd name="T16" fmla="*/ 38 w 39"/>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3">
                    <a:moveTo>
                      <a:pt x="38" y="21"/>
                    </a:moveTo>
                    <a:cubicBezTo>
                      <a:pt x="37" y="22"/>
                      <a:pt x="36" y="23"/>
                      <a:pt x="35" y="23"/>
                    </a:cubicBezTo>
                    <a:cubicBezTo>
                      <a:pt x="22" y="23"/>
                      <a:pt x="15" y="23"/>
                      <a:pt x="2" y="23"/>
                    </a:cubicBezTo>
                    <a:cubicBezTo>
                      <a:pt x="1" y="23"/>
                      <a:pt x="0" y="22"/>
                      <a:pt x="0" y="21"/>
                    </a:cubicBezTo>
                    <a:cubicBezTo>
                      <a:pt x="1" y="13"/>
                      <a:pt x="1" y="9"/>
                      <a:pt x="2" y="1"/>
                    </a:cubicBezTo>
                    <a:cubicBezTo>
                      <a:pt x="3" y="1"/>
                      <a:pt x="4" y="0"/>
                      <a:pt x="5" y="0"/>
                    </a:cubicBezTo>
                    <a:cubicBezTo>
                      <a:pt x="18" y="0"/>
                      <a:pt x="24" y="0"/>
                      <a:pt x="37" y="0"/>
                    </a:cubicBezTo>
                    <a:cubicBezTo>
                      <a:pt x="38" y="0"/>
                      <a:pt x="39" y="1"/>
                      <a:pt x="39" y="2"/>
                    </a:cubicBezTo>
                    <a:cubicBezTo>
                      <a:pt x="39" y="10"/>
                      <a:pt x="38" y="13"/>
                      <a:pt x="38"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0" name="Freeform 166">
                <a:extLst>
                  <a:ext uri="{FF2B5EF4-FFF2-40B4-BE49-F238E27FC236}">
                    <a16:creationId xmlns:a16="http://schemas.microsoft.com/office/drawing/2014/main" id="{30C592AF-43B5-1223-7171-D1D2D1B0CA88}"/>
                  </a:ext>
                </a:extLst>
              </p:cNvPr>
              <p:cNvSpPr>
                <a:spLocks/>
              </p:cNvSpPr>
              <p:nvPr/>
            </p:nvSpPr>
            <p:spPr bwMode="auto">
              <a:xfrm>
                <a:off x="5797380" y="5501789"/>
                <a:ext cx="57448" cy="35107"/>
              </a:xfrm>
              <a:custGeom>
                <a:avLst/>
                <a:gdLst>
                  <a:gd name="T0" fmla="*/ 37 w 38"/>
                  <a:gd name="T1" fmla="*/ 21 h 23"/>
                  <a:gd name="T2" fmla="*/ 35 w 38"/>
                  <a:gd name="T3" fmla="*/ 23 h 23"/>
                  <a:gd name="T4" fmla="*/ 2 w 38"/>
                  <a:gd name="T5" fmla="*/ 23 h 23"/>
                  <a:gd name="T6" fmla="*/ 0 w 38"/>
                  <a:gd name="T7" fmla="*/ 21 h 23"/>
                  <a:gd name="T8" fmla="*/ 1 w 38"/>
                  <a:gd name="T9" fmla="*/ 2 h 23"/>
                  <a:gd name="T10" fmla="*/ 3 w 38"/>
                  <a:gd name="T11" fmla="*/ 0 h 23"/>
                  <a:gd name="T12" fmla="*/ 36 w 38"/>
                  <a:gd name="T13" fmla="*/ 0 h 23"/>
                  <a:gd name="T14" fmla="*/ 38 w 38"/>
                  <a:gd name="T15" fmla="*/ 2 h 23"/>
                  <a:gd name="T16" fmla="*/ 37 w 38"/>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23">
                    <a:moveTo>
                      <a:pt x="37" y="21"/>
                    </a:moveTo>
                    <a:cubicBezTo>
                      <a:pt x="37" y="22"/>
                      <a:pt x="36" y="23"/>
                      <a:pt x="35" y="23"/>
                    </a:cubicBezTo>
                    <a:cubicBezTo>
                      <a:pt x="22" y="23"/>
                      <a:pt x="15" y="23"/>
                      <a:pt x="2" y="23"/>
                    </a:cubicBezTo>
                    <a:cubicBezTo>
                      <a:pt x="1" y="23"/>
                      <a:pt x="0" y="22"/>
                      <a:pt x="0" y="21"/>
                    </a:cubicBezTo>
                    <a:cubicBezTo>
                      <a:pt x="0" y="13"/>
                      <a:pt x="1" y="10"/>
                      <a:pt x="1" y="2"/>
                    </a:cubicBezTo>
                    <a:cubicBezTo>
                      <a:pt x="1" y="1"/>
                      <a:pt x="2" y="0"/>
                      <a:pt x="3" y="0"/>
                    </a:cubicBezTo>
                    <a:cubicBezTo>
                      <a:pt x="16" y="0"/>
                      <a:pt x="23" y="0"/>
                      <a:pt x="36" y="0"/>
                    </a:cubicBezTo>
                    <a:cubicBezTo>
                      <a:pt x="37" y="0"/>
                      <a:pt x="38" y="1"/>
                      <a:pt x="38" y="2"/>
                    </a:cubicBezTo>
                    <a:cubicBezTo>
                      <a:pt x="38" y="10"/>
                      <a:pt x="38" y="13"/>
                      <a:pt x="37"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1" name="Freeform 167">
                <a:extLst>
                  <a:ext uri="{FF2B5EF4-FFF2-40B4-BE49-F238E27FC236}">
                    <a16:creationId xmlns:a16="http://schemas.microsoft.com/office/drawing/2014/main" id="{656C18D5-CE00-EDF0-825A-D8C85A8D1D9D}"/>
                  </a:ext>
                </a:extLst>
              </p:cNvPr>
              <p:cNvSpPr>
                <a:spLocks/>
              </p:cNvSpPr>
              <p:nvPr/>
            </p:nvSpPr>
            <p:spPr bwMode="auto">
              <a:xfrm>
                <a:off x="5865467" y="5501789"/>
                <a:ext cx="57448" cy="35107"/>
              </a:xfrm>
              <a:custGeom>
                <a:avLst/>
                <a:gdLst>
                  <a:gd name="T0" fmla="*/ 38 w 38"/>
                  <a:gd name="T1" fmla="*/ 21 h 23"/>
                  <a:gd name="T2" fmla="*/ 36 w 38"/>
                  <a:gd name="T3" fmla="*/ 23 h 23"/>
                  <a:gd name="T4" fmla="*/ 3 w 38"/>
                  <a:gd name="T5" fmla="*/ 23 h 23"/>
                  <a:gd name="T6" fmla="*/ 0 w 38"/>
                  <a:gd name="T7" fmla="*/ 21 h 23"/>
                  <a:gd name="T8" fmla="*/ 1 w 38"/>
                  <a:gd name="T9" fmla="*/ 2 h 23"/>
                  <a:gd name="T10" fmla="*/ 3 w 38"/>
                  <a:gd name="T11" fmla="*/ 0 h 23"/>
                  <a:gd name="T12" fmla="*/ 35 w 38"/>
                  <a:gd name="T13" fmla="*/ 0 h 23"/>
                  <a:gd name="T14" fmla="*/ 38 w 38"/>
                  <a:gd name="T15" fmla="*/ 2 h 23"/>
                  <a:gd name="T16" fmla="*/ 38 w 38"/>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23">
                    <a:moveTo>
                      <a:pt x="38" y="21"/>
                    </a:moveTo>
                    <a:cubicBezTo>
                      <a:pt x="38" y="22"/>
                      <a:pt x="37" y="23"/>
                      <a:pt x="36" y="23"/>
                    </a:cubicBezTo>
                    <a:cubicBezTo>
                      <a:pt x="23" y="23"/>
                      <a:pt x="16" y="23"/>
                      <a:pt x="3" y="23"/>
                    </a:cubicBezTo>
                    <a:cubicBezTo>
                      <a:pt x="1" y="23"/>
                      <a:pt x="0" y="22"/>
                      <a:pt x="0" y="21"/>
                    </a:cubicBezTo>
                    <a:cubicBezTo>
                      <a:pt x="1" y="13"/>
                      <a:pt x="1" y="10"/>
                      <a:pt x="1" y="2"/>
                    </a:cubicBezTo>
                    <a:cubicBezTo>
                      <a:pt x="1" y="1"/>
                      <a:pt x="2" y="0"/>
                      <a:pt x="3" y="0"/>
                    </a:cubicBezTo>
                    <a:cubicBezTo>
                      <a:pt x="16" y="0"/>
                      <a:pt x="22" y="0"/>
                      <a:pt x="35" y="0"/>
                    </a:cubicBezTo>
                    <a:cubicBezTo>
                      <a:pt x="37" y="0"/>
                      <a:pt x="37" y="1"/>
                      <a:pt x="38" y="2"/>
                    </a:cubicBezTo>
                    <a:cubicBezTo>
                      <a:pt x="38" y="10"/>
                      <a:pt x="38" y="13"/>
                      <a:pt x="38"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2" name="Freeform 168">
                <a:extLst>
                  <a:ext uri="{FF2B5EF4-FFF2-40B4-BE49-F238E27FC236}">
                    <a16:creationId xmlns:a16="http://schemas.microsoft.com/office/drawing/2014/main" id="{27B67C93-4A00-F38A-CE44-849488AEA7F7}"/>
                  </a:ext>
                </a:extLst>
              </p:cNvPr>
              <p:cNvSpPr>
                <a:spLocks/>
              </p:cNvSpPr>
              <p:nvPr/>
            </p:nvSpPr>
            <p:spPr bwMode="auto">
              <a:xfrm>
                <a:off x="5933553" y="5501789"/>
                <a:ext cx="58512" cy="35107"/>
              </a:xfrm>
              <a:custGeom>
                <a:avLst/>
                <a:gdLst>
                  <a:gd name="T0" fmla="*/ 39 w 39"/>
                  <a:gd name="T1" fmla="*/ 21 h 23"/>
                  <a:gd name="T2" fmla="*/ 37 w 39"/>
                  <a:gd name="T3" fmla="*/ 23 h 23"/>
                  <a:gd name="T4" fmla="*/ 3 w 39"/>
                  <a:gd name="T5" fmla="*/ 23 h 23"/>
                  <a:gd name="T6" fmla="*/ 1 w 39"/>
                  <a:gd name="T7" fmla="*/ 21 h 23"/>
                  <a:gd name="T8" fmla="*/ 0 w 39"/>
                  <a:gd name="T9" fmla="*/ 2 h 23"/>
                  <a:gd name="T10" fmla="*/ 3 w 39"/>
                  <a:gd name="T11" fmla="*/ 0 h 23"/>
                  <a:gd name="T12" fmla="*/ 35 w 39"/>
                  <a:gd name="T13" fmla="*/ 0 h 23"/>
                  <a:gd name="T14" fmla="*/ 37 w 39"/>
                  <a:gd name="T15" fmla="*/ 2 h 23"/>
                  <a:gd name="T16" fmla="*/ 39 w 39"/>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3">
                    <a:moveTo>
                      <a:pt x="39" y="21"/>
                    </a:moveTo>
                    <a:cubicBezTo>
                      <a:pt x="39" y="22"/>
                      <a:pt x="38" y="23"/>
                      <a:pt x="37" y="23"/>
                    </a:cubicBezTo>
                    <a:cubicBezTo>
                      <a:pt x="23" y="23"/>
                      <a:pt x="17" y="23"/>
                      <a:pt x="3" y="23"/>
                    </a:cubicBezTo>
                    <a:cubicBezTo>
                      <a:pt x="2" y="23"/>
                      <a:pt x="1" y="22"/>
                      <a:pt x="1" y="21"/>
                    </a:cubicBezTo>
                    <a:cubicBezTo>
                      <a:pt x="1" y="13"/>
                      <a:pt x="1" y="10"/>
                      <a:pt x="0" y="2"/>
                    </a:cubicBezTo>
                    <a:cubicBezTo>
                      <a:pt x="0" y="1"/>
                      <a:pt x="1" y="0"/>
                      <a:pt x="3" y="0"/>
                    </a:cubicBezTo>
                    <a:cubicBezTo>
                      <a:pt x="15" y="0"/>
                      <a:pt x="22" y="0"/>
                      <a:pt x="35" y="0"/>
                    </a:cubicBezTo>
                    <a:cubicBezTo>
                      <a:pt x="36" y="0"/>
                      <a:pt x="37" y="1"/>
                      <a:pt x="37" y="2"/>
                    </a:cubicBezTo>
                    <a:cubicBezTo>
                      <a:pt x="38" y="10"/>
                      <a:pt x="38" y="13"/>
                      <a:pt x="39"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3" name="Freeform 169">
                <a:extLst>
                  <a:ext uri="{FF2B5EF4-FFF2-40B4-BE49-F238E27FC236}">
                    <a16:creationId xmlns:a16="http://schemas.microsoft.com/office/drawing/2014/main" id="{E085C347-A068-DAB0-6C4B-38B6A215B2B9}"/>
                  </a:ext>
                </a:extLst>
              </p:cNvPr>
              <p:cNvSpPr>
                <a:spLocks/>
              </p:cNvSpPr>
              <p:nvPr/>
            </p:nvSpPr>
            <p:spPr bwMode="auto">
              <a:xfrm>
                <a:off x="6001640" y="5501789"/>
                <a:ext cx="60640" cy="35107"/>
              </a:xfrm>
              <a:custGeom>
                <a:avLst/>
                <a:gdLst>
                  <a:gd name="T0" fmla="*/ 40 w 40"/>
                  <a:gd name="T1" fmla="*/ 21 h 23"/>
                  <a:gd name="T2" fmla="*/ 38 w 40"/>
                  <a:gd name="T3" fmla="*/ 23 h 23"/>
                  <a:gd name="T4" fmla="*/ 4 w 40"/>
                  <a:gd name="T5" fmla="*/ 23 h 23"/>
                  <a:gd name="T6" fmla="*/ 2 w 40"/>
                  <a:gd name="T7" fmla="*/ 21 h 23"/>
                  <a:gd name="T8" fmla="*/ 0 w 40"/>
                  <a:gd name="T9" fmla="*/ 2 h 23"/>
                  <a:gd name="T10" fmla="*/ 2 w 40"/>
                  <a:gd name="T11" fmla="*/ 0 h 23"/>
                  <a:gd name="T12" fmla="*/ 35 w 40"/>
                  <a:gd name="T13" fmla="*/ 0 h 23"/>
                  <a:gd name="T14" fmla="*/ 37 w 40"/>
                  <a:gd name="T15" fmla="*/ 2 h 23"/>
                  <a:gd name="T16" fmla="*/ 40 w 40"/>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3">
                    <a:moveTo>
                      <a:pt x="40" y="21"/>
                    </a:moveTo>
                    <a:cubicBezTo>
                      <a:pt x="40" y="22"/>
                      <a:pt x="39" y="23"/>
                      <a:pt x="38" y="23"/>
                    </a:cubicBezTo>
                    <a:cubicBezTo>
                      <a:pt x="24" y="23"/>
                      <a:pt x="18" y="23"/>
                      <a:pt x="4" y="23"/>
                    </a:cubicBezTo>
                    <a:cubicBezTo>
                      <a:pt x="3" y="23"/>
                      <a:pt x="2" y="22"/>
                      <a:pt x="2" y="21"/>
                    </a:cubicBezTo>
                    <a:cubicBezTo>
                      <a:pt x="1" y="13"/>
                      <a:pt x="1" y="10"/>
                      <a:pt x="0" y="2"/>
                    </a:cubicBezTo>
                    <a:cubicBezTo>
                      <a:pt x="0" y="1"/>
                      <a:pt x="1" y="0"/>
                      <a:pt x="2" y="0"/>
                    </a:cubicBezTo>
                    <a:cubicBezTo>
                      <a:pt x="15" y="0"/>
                      <a:pt x="22" y="0"/>
                      <a:pt x="35" y="0"/>
                    </a:cubicBezTo>
                    <a:cubicBezTo>
                      <a:pt x="36" y="0"/>
                      <a:pt x="37" y="1"/>
                      <a:pt x="37" y="2"/>
                    </a:cubicBezTo>
                    <a:cubicBezTo>
                      <a:pt x="38" y="10"/>
                      <a:pt x="39" y="14"/>
                      <a:pt x="40"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4" name="Freeform 170">
                <a:extLst>
                  <a:ext uri="{FF2B5EF4-FFF2-40B4-BE49-F238E27FC236}">
                    <a16:creationId xmlns:a16="http://schemas.microsoft.com/office/drawing/2014/main" id="{857ECF85-16B5-FD07-852E-A7421D238966}"/>
                  </a:ext>
                </a:extLst>
              </p:cNvPr>
              <p:cNvSpPr>
                <a:spLocks/>
              </p:cNvSpPr>
              <p:nvPr/>
            </p:nvSpPr>
            <p:spPr bwMode="auto">
              <a:xfrm>
                <a:off x="6069727" y="5501789"/>
                <a:ext cx="61704" cy="35107"/>
              </a:xfrm>
              <a:custGeom>
                <a:avLst/>
                <a:gdLst>
                  <a:gd name="T0" fmla="*/ 41 w 41"/>
                  <a:gd name="T1" fmla="*/ 21 h 23"/>
                  <a:gd name="T2" fmla="*/ 39 w 41"/>
                  <a:gd name="T3" fmla="*/ 23 h 23"/>
                  <a:gd name="T4" fmla="*/ 5 w 41"/>
                  <a:gd name="T5" fmla="*/ 23 h 23"/>
                  <a:gd name="T6" fmla="*/ 3 w 41"/>
                  <a:gd name="T7" fmla="*/ 21 h 23"/>
                  <a:gd name="T8" fmla="*/ 0 w 41"/>
                  <a:gd name="T9" fmla="*/ 2 h 23"/>
                  <a:gd name="T10" fmla="*/ 2 w 41"/>
                  <a:gd name="T11" fmla="*/ 1 h 23"/>
                  <a:gd name="T12" fmla="*/ 35 w 41"/>
                  <a:gd name="T13" fmla="*/ 1 h 23"/>
                  <a:gd name="T14" fmla="*/ 37 w 41"/>
                  <a:gd name="T15" fmla="*/ 2 h 23"/>
                  <a:gd name="T16" fmla="*/ 41 w 41"/>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23">
                    <a:moveTo>
                      <a:pt x="41" y="21"/>
                    </a:moveTo>
                    <a:cubicBezTo>
                      <a:pt x="41" y="22"/>
                      <a:pt x="40" y="23"/>
                      <a:pt x="39" y="23"/>
                    </a:cubicBezTo>
                    <a:cubicBezTo>
                      <a:pt x="25" y="23"/>
                      <a:pt x="19" y="23"/>
                      <a:pt x="5" y="23"/>
                    </a:cubicBezTo>
                    <a:cubicBezTo>
                      <a:pt x="4" y="23"/>
                      <a:pt x="3" y="22"/>
                      <a:pt x="3" y="21"/>
                    </a:cubicBezTo>
                    <a:cubicBezTo>
                      <a:pt x="2" y="14"/>
                      <a:pt x="1" y="10"/>
                      <a:pt x="0" y="2"/>
                    </a:cubicBezTo>
                    <a:cubicBezTo>
                      <a:pt x="0" y="1"/>
                      <a:pt x="1" y="0"/>
                      <a:pt x="2" y="1"/>
                    </a:cubicBezTo>
                    <a:cubicBezTo>
                      <a:pt x="15" y="1"/>
                      <a:pt x="22" y="1"/>
                      <a:pt x="35" y="1"/>
                    </a:cubicBezTo>
                    <a:cubicBezTo>
                      <a:pt x="36" y="1"/>
                      <a:pt x="37" y="1"/>
                      <a:pt x="37" y="2"/>
                    </a:cubicBezTo>
                    <a:cubicBezTo>
                      <a:pt x="39" y="10"/>
                      <a:pt x="39" y="14"/>
                      <a:pt x="41"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5" name="Freeform 171">
                <a:extLst>
                  <a:ext uri="{FF2B5EF4-FFF2-40B4-BE49-F238E27FC236}">
                    <a16:creationId xmlns:a16="http://schemas.microsoft.com/office/drawing/2014/main" id="{8F8702C5-80C3-1EC8-B739-2F33F3B4728B}"/>
                  </a:ext>
                </a:extLst>
              </p:cNvPr>
              <p:cNvSpPr>
                <a:spLocks/>
              </p:cNvSpPr>
              <p:nvPr/>
            </p:nvSpPr>
            <p:spPr bwMode="auto">
              <a:xfrm>
                <a:off x="6137814" y="5502852"/>
                <a:ext cx="64895" cy="34043"/>
              </a:xfrm>
              <a:custGeom>
                <a:avLst/>
                <a:gdLst>
                  <a:gd name="T0" fmla="*/ 43 w 43"/>
                  <a:gd name="T1" fmla="*/ 20 h 22"/>
                  <a:gd name="T2" fmla="*/ 41 w 43"/>
                  <a:gd name="T3" fmla="*/ 22 h 22"/>
                  <a:gd name="T4" fmla="*/ 7 w 43"/>
                  <a:gd name="T5" fmla="*/ 22 h 22"/>
                  <a:gd name="T6" fmla="*/ 4 w 43"/>
                  <a:gd name="T7" fmla="*/ 20 h 22"/>
                  <a:gd name="T8" fmla="*/ 1 w 43"/>
                  <a:gd name="T9" fmla="*/ 1 h 22"/>
                  <a:gd name="T10" fmla="*/ 2 w 43"/>
                  <a:gd name="T11" fmla="*/ 0 h 22"/>
                  <a:gd name="T12" fmla="*/ 36 w 43"/>
                  <a:gd name="T13" fmla="*/ 0 h 22"/>
                  <a:gd name="T14" fmla="*/ 38 w 43"/>
                  <a:gd name="T15" fmla="*/ 1 h 22"/>
                  <a:gd name="T16" fmla="*/ 43 w 43"/>
                  <a:gd name="T17"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2">
                    <a:moveTo>
                      <a:pt x="43" y="20"/>
                    </a:moveTo>
                    <a:cubicBezTo>
                      <a:pt x="43" y="21"/>
                      <a:pt x="42" y="22"/>
                      <a:pt x="41" y="22"/>
                    </a:cubicBezTo>
                    <a:cubicBezTo>
                      <a:pt x="27" y="22"/>
                      <a:pt x="20" y="22"/>
                      <a:pt x="7" y="22"/>
                    </a:cubicBezTo>
                    <a:cubicBezTo>
                      <a:pt x="5" y="22"/>
                      <a:pt x="4" y="21"/>
                      <a:pt x="4" y="20"/>
                    </a:cubicBezTo>
                    <a:cubicBezTo>
                      <a:pt x="3" y="13"/>
                      <a:pt x="2" y="9"/>
                      <a:pt x="1" y="1"/>
                    </a:cubicBezTo>
                    <a:cubicBezTo>
                      <a:pt x="0" y="0"/>
                      <a:pt x="1" y="0"/>
                      <a:pt x="2" y="0"/>
                    </a:cubicBezTo>
                    <a:cubicBezTo>
                      <a:pt x="16" y="0"/>
                      <a:pt x="22" y="0"/>
                      <a:pt x="36" y="0"/>
                    </a:cubicBezTo>
                    <a:cubicBezTo>
                      <a:pt x="37" y="0"/>
                      <a:pt x="38" y="0"/>
                      <a:pt x="38" y="1"/>
                    </a:cubicBezTo>
                    <a:cubicBezTo>
                      <a:pt x="40" y="9"/>
                      <a:pt x="41" y="13"/>
                      <a:pt x="43"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6" name="Freeform 172">
                <a:extLst>
                  <a:ext uri="{FF2B5EF4-FFF2-40B4-BE49-F238E27FC236}">
                    <a16:creationId xmlns:a16="http://schemas.microsoft.com/office/drawing/2014/main" id="{37D057BB-0A89-707C-BFFA-3ABE35F4EDED}"/>
                  </a:ext>
                </a:extLst>
              </p:cNvPr>
              <p:cNvSpPr>
                <a:spLocks/>
              </p:cNvSpPr>
              <p:nvPr/>
            </p:nvSpPr>
            <p:spPr bwMode="auto">
              <a:xfrm>
                <a:off x="6208028" y="5502852"/>
                <a:ext cx="65959" cy="34043"/>
              </a:xfrm>
              <a:custGeom>
                <a:avLst/>
                <a:gdLst>
                  <a:gd name="T0" fmla="*/ 44 w 44"/>
                  <a:gd name="T1" fmla="*/ 20 h 22"/>
                  <a:gd name="T2" fmla="*/ 42 w 44"/>
                  <a:gd name="T3" fmla="*/ 22 h 22"/>
                  <a:gd name="T4" fmla="*/ 7 w 44"/>
                  <a:gd name="T5" fmla="*/ 22 h 22"/>
                  <a:gd name="T6" fmla="*/ 5 w 44"/>
                  <a:gd name="T7" fmla="*/ 20 h 22"/>
                  <a:gd name="T8" fmla="*/ 1 w 44"/>
                  <a:gd name="T9" fmla="*/ 1 h 22"/>
                  <a:gd name="T10" fmla="*/ 2 w 44"/>
                  <a:gd name="T11" fmla="*/ 0 h 22"/>
                  <a:gd name="T12" fmla="*/ 36 w 44"/>
                  <a:gd name="T13" fmla="*/ 0 h 22"/>
                  <a:gd name="T14" fmla="*/ 39 w 44"/>
                  <a:gd name="T15" fmla="*/ 1 h 22"/>
                  <a:gd name="T16" fmla="*/ 44 w 44"/>
                  <a:gd name="T17"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2">
                    <a:moveTo>
                      <a:pt x="44" y="20"/>
                    </a:moveTo>
                    <a:cubicBezTo>
                      <a:pt x="44" y="21"/>
                      <a:pt x="43" y="22"/>
                      <a:pt x="42" y="22"/>
                    </a:cubicBezTo>
                    <a:cubicBezTo>
                      <a:pt x="28" y="22"/>
                      <a:pt x="21" y="22"/>
                      <a:pt x="7" y="22"/>
                    </a:cubicBezTo>
                    <a:cubicBezTo>
                      <a:pt x="6" y="22"/>
                      <a:pt x="5" y="21"/>
                      <a:pt x="5" y="20"/>
                    </a:cubicBezTo>
                    <a:cubicBezTo>
                      <a:pt x="3" y="13"/>
                      <a:pt x="2" y="9"/>
                      <a:pt x="1" y="1"/>
                    </a:cubicBezTo>
                    <a:cubicBezTo>
                      <a:pt x="0" y="0"/>
                      <a:pt x="1" y="0"/>
                      <a:pt x="2" y="0"/>
                    </a:cubicBezTo>
                    <a:cubicBezTo>
                      <a:pt x="16" y="0"/>
                      <a:pt x="23" y="0"/>
                      <a:pt x="36" y="0"/>
                    </a:cubicBezTo>
                    <a:cubicBezTo>
                      <a:pt x="38" y="0"/>
                      <a:pt x="39" y="0"/>
                      <a:pt x="39" y="1"/>
                    </a:cubicBezTo>
                    <a:cubicBezTo>
                      <a:pt x="41" y="9"/>
                      <a:pt x="42" y="13"/>
                      <a:pt x="44"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7" name="Freeform 173">
                <a:extLst>
                  <a:ext uri="{FF2B5EF4-FFF2-40B4-BE49-F238E27FC236}">
                    <a16:creationId xmlns:a16="http://schemas.microsoft.com/office/drawing/2014/main" id="{142E960C-844E-D670-6491-C7FEE68BE676}"/>
                  </a:ext>
                </a:extLst>
              </p:cNvPr>
              <p:cNvSpPr>
                <a:spLocks/>
              </p:cNvSpPr>
              <p:nvPr/>
            </p:nvSpPr>
            <p:spPr bwMode="auto">
              <a:xfrm>
                <a:off x="6278243" y="5502852"/>
                <a:ext cx="69151" cy="34043"/>
              </a:xfrm>
              <a:custGeom>
                <a:avLst/>
                <a:gdLst>
                  <a:gd name="T0" fmla="*/ 45 w 45"/>
                  <a:gd name="T1" fmla="*/ 20 h 22"/>
                  <a:gd name="T2" fmla="*/ 43 w 45"/>
                  <a:gd name="T3" fmla="*/ 22 h 22"/>
                  <a:gd name="T4" fmla="*/ 8 w 45"/>
                  <a:gd name="T5" fmla="*/ 22 h 22"/>
                  <a:gd name="T6" fmla="*/ 5 w 45"/>
                  <a:gd name="T7" fmla="*/ 20 h 22"/>
                  <a:gd name="T8" fmla="*/ 0 w 45"/>
                  <a:gd name="T9" fmla="*/ 1 h 22"/>
                  <a:gd name="T10" fmla="*/ 2 w 45"/>
                  <a:gd name="T11" fmla="*/ 0 h 22"/>
                  <a:gd name="T12" fmla="*/ 37 w 45"/>
                  <a:gd name="T13" fmla="*/ 0 h 22"/>
                  <a:gd name="T14" fmla="*/ 39 w 45"/>
                  <a:gd name="T15" fmla="*/ 1 h 22"/>
                  <a:gd name="T16" fmla="*/ 45 w 45"/>
                  <a:gd name="T17"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22">
                    <a:moveTo>
                      <a:pt x="45" y="20"/>
                    </a:moveTo>
                    <a:cubicBezTo>
                      <a:pt x="45" y="21"/>
                      <a:pt x="44" y="22"/>
                      <a:pt x="43" y="22"/>
                    </a:cubicBezTo>
                    <a:cubicBezTo>
                      <a:pt x="29" y="22"/>
                      <a:pt x="22" y="22"/>
                      <a:pt x="8" y="22"/>
                    </a:cubicBezTo>
                    <a:cubicBezTo>
                      <a:pt x="7" y="22"/>
                      <a:pt x="6" y="21"/>
                      <a:pt x="5" y="20"/>
                    </a:cubicBezTo>
                    <a:cubicBezTo>
                      <a:pt x="3" y="13"/>
                      <a:pt x="2" y="9"/>
                      <a:pt x="0" y="1"/>
                    </a:cubicBezTo>
                    <a:cubicBezTo>
                      <a:pt x="0" y="0"/>
                      <a:pt x="1" y="0"/>
                      <a:pt x="2" y="0"/>
                    </a:cubicBezTo>
                    <a:cubicBezTo>
                      <a:pt x="16" y="0"/>
                      <a:pt x="23" y="0"/>
                      <a:pt x="37" y="0"/>
                    </a:cubicBezTo>
                    <a:cubicBezTo>
                      <a:pt x="38" y="0"/>
                      <a:pt x="39" y="0"/>
                      <a:pt x="39" y="1"/>
                    </a:cubicBezTo>
                    <a:cubicBezTo>
                      <a:pt x="42" y="9"/>
                      <a:pt x="43" y="13"/>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8" name="Freeform 174">
                <a:extLst>
                  <a:ext uri="{FF2B5EF4-FFF2-40B4-BE49-F238E27FC236}">
                    <a16:creationId xmlns:a16="http://schemas.microsoft.com/office/drawing/2014/main" id="{54A0EA16-D30E-F069-08F6-16B4E3059454}"/>
                  </a:ext>
                </a:extLst>
              </p:cNvPr>
              <p:cNvSpPr>
                <a:spLocks/>
              </p:cNvSpPr>
              <p:nvPr/>
            </p:nvSpPr>
            <p:spPr bwMode="auto">
              <a:xfrm>
                <a:off x="5579289" y="5458170"/>
                <a:ext cx="61704" cy="36171"/>
              </a:xfrm>
              <a:custGeom>
                <a:avLst/>
                <a:gdLst>
                  <a:gd name="T0" fmla="*/ 38 w 41"/>
                  <a:gd name="T1" fmla="*/ 23 h 24"/>
                  <a:gd name="T2" fmla="*/ 35 w 41"/>
                  <a:gd name="T3" fmla="*/ 24 h 24"/>
                  <a:gd name="T4" fmla="*/ 2 w 41"/>
                  <a:gd name="T5" fmla="*/ 24 h 24"/>
                  <a:gd name="T6" fmla="*/ 0 w 41"/>
                  <a:gd name="T7" fmla="*/ 23 h 24"/>
                  <a:gd name="T8" fmla="*/ 4 w 41"/>
                  <a:gd name="T9" fmla="*/ 1 h 24"/>
                  <a:gd name="T10" fmla="*/ 7 w 41"/>
                  <a:gd name="T11" fmla="*/ 0 h 24"/>
                  <a:gd name="T12" fmla="*/ 39 w 41"/>
                  <a:gd name="T13" fmla="*/ 0 h 24"/>
                  <a:gd name="T14" fmla="*/ 41 w 41"/>
                  <a:gd name="T15" fmla="*/ 1 h 24"/>
                  <a:gd name="T16" fmla="*/ 38 w 41"/>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24">
                    <a:moveTo>
                      <a:pt x="38" y="23"/>
                    </a:moveTo>
                    <a:cubicBezTo>
                      <a:pt x="37" y="23"/>
                      <a:pt x="36" y="24"/>
                      <a:pt x="35" y="24"/>
                    </a:cubicBezTo>
                    <a:cubicBezTo>
                      <a:pt x="22" y="24"/>
                      <a:pt x="15" y="24"/>
                      <a:pt x="2" y="24"/>
                    </a:cubicBezTo>
                    <a:cubicBezTo>
                      <a:pt x="1" y="24"/>
                      <a:pt x="0" y="23"/>
                      <a:pt x="0" y="23"/>
                    </a:cubicBezTo>
                    <a:cubicBezTo>
                      <a:pt x="2" y="14"/>
                      <a:pt x="3" y="10"/>
                      <a:pt x="4" y="1"/>
                    </a:cubicBezTo>
                    <a:cubicBezTo>
                      <a:pt x="4" y="0"/>
                      <a:pt x="5" y="0"/>
                      <a:pt x="7" y="0"/>
                    </a:cubicBezTo>
                    <a:cubicBezTo>
                      <a:pt x="20" y="0"/>
                      <a:pt x="26" y="0"/>
                      <a:pt x="39" y="0"/>
                    </a:cubicBezTo>
                    <a:cubicBezTo>
                      <a:pt x="40" y="0"/>
                      <a:pt x="41" y="0"/>
                      <a:pt x="41" y="1"/>
                    </a:cubicBezTo>
                    <a:cubicBezTo>
                      <a:pt x="40" y="10"/>
                      <a:pt x="39" y="14"/>
                      <a:pt x="38"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9" name="Freeform 175">
                <a:extLst>
                  <a:ext uri="{FF2B5EF4-FFF2-40B4-BE49-F238E27FC236}">
                    <a16:creationId xmlns:a16="http://schemas.microsoft.com/office/drawing/2014/main" id="{E52BACB6-80C2-AA41-8C4C-797259C49FF6}"/>
                  </a:ext>
                </a:extLst>
              </p:cNvPr>
              <p:cNvSpPr>
                <a:spLocks/>
              </p:cNvSpPr>
              <p:nvPr/>
            </p:nvSpPr>
            <p:spPr bwMode="auto">
              <a:xfrm>
                <a:off x="5648440" y="5458170"/>
                <a:ext cx="60640" cy="36171"/>
              </a:xfrm>
              <a:custGeom>
                <a:avLst/>
                <a:gdLst>
                  <a:gd name="T0" fmla="*/ 37 w 40"/>
                  <a:gd name="T1" fmla="*/ 23 h 24"/>
                  <a:gd name="T2" fmla="*/ 34 w 40"/>
                  <a:gd name="T3" fmla="*/ 24 h 24"/>
                  <a:gd name="T4" fmla="*/ 2 w 40"/>
                  <a:gd name="T5" fmla="*/ 24 h 24"/>
                  <a:gd name="T6" fmla="*/ 0 w 40"/>
                  <a:gd name="T7" fmla="*/ 23 h 24"/>
                  <a:gd name="T8" fmla="*/ 3 w 40"/>
                  <a:gd name="T9" fmla="*/ 1 h 24"/>
                  <a:gd name="T10" fmla="*/ 5 w 40"/>
                  <a:gd name="T11" fmla="*/ 0 h 24"/>
                  <a:gd name="T12" fmla="*/ 38 w 40"/>
                  <a:gd name="T13" fmla="*/ 0 h 24"/>
                  <a:gd name="T14" fmla="*/ 39 w 40"/>
                  <a:gd name="T15" fmla="*/ 1 h 24"/>
                  <a:gd name="T16" fmla="*/ 37 w 40"/>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4">
                    <a:moveTo>
                      <a:pt x="37" y="23"/>
                    </a:moveTo>
                    <a:cubicBezTo>
                      <a:pt x="37" y="24"/>
                      <a:pt x="36" y="24"/>
                      <a:pt x="34" y="24"/>
                    </a:cubicBezTo>
                    <a:cubicBezTo>
                      <a:pt x="21" y="24"/>
                      <a:pt x="15" y="24"/>
                      <a:pt x="2" y="24"/>
                    </a:cubicBezTo>
                    <a:cubicBezTo>
                      <a:pt x="0" y="24"/>
                      <a:pt x="0" y="23"/>
                      <a:pt x="0" y="23"/>
                    </a:cubicBezTo>
                    <a:cubicBezTo>
                      <a:pt x="1" y="14"/>
                      <a:pt x="2" y="10"/>
                      <a:pt x="3" y="1"/>
                    </a:cubicBezTo>
                    <a:cubicBezTo>
                      <a:pt x="3" y="0"/>
                      <a:pt x="4" y="0"/>
                      <a:pt x="5" y="0"/>
                    </a:cubicBezTo>
                    <a:cubicBezTo>
                      <a:pt x="18" y="0"/>
                      <a:pt x="25" y="0"/>
                      <a:pt x="38" y="0"/>
                    </a:cubicBezTo>
                    <a:cubicBezTo>
                      <a:pt x="39" y="0"/>
                      <a:pt x="40" y="0"/>
                      <a:pt x="39" y="1"/>
                    </a:cubicBezTo>
                    <a:cubicBezTo>
                      <a:pt x="38" y="10"/>
                      <a:pt x="38" y="15"/>
                      <a:pt x="37"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0" name="Freeform 176">
                <a:extLst>
                  <a:ext uri="{FF2B5EF4-FFF2-40B4-BE49-F238E27FC236}">
                    <a16:creationId xmlns:a16="http://schemas.microsoft.com/office/drawing/2014/main" id="{54B66B2F-B950-94A4-E919-758B77ADE2B6}"/>
                  </a:ext>
                </a:extLst>
              </p:cNvPr>
              <p:cNvSpPr>
                <a:spLocks/>
              </p:cNvSpPr>
              <p:nvPr/>
            </p:nvSpPr>
            <p:spPr bwMode="auto">
              <a:xfrm>
                <a:off x="5716527" y="5458170"/>
                <a:ext cx="57448" cy="36171"/>
              </a:xfrm>
              <a:custGeom>
                <a:avLst/>
                <a:gdLst>
                  <a:gd name="T0" fmla="*/ 36 w 38"/>
                  <a:gd name="T1" fmla="*/ 23 h 24"/>
                  <a:gd name="T2" fmla="*/ 34 w 38"/>
                  <a:gd name="T3" fmla="*/ 24 h 24"/>
                  <a:gd name="T4" fmla="*/ 2 w 38"/>
                  <a:gd name="T5" fmla="*/ 24 h 24"/>
                  <a:gd name="T6" fmla="*/ 0 w 38"/>
                  <a:gd name="T7" fmla="*/ 23 h 24"/>
                  <a:gd name="T8" fmla="*/ 2 w 38"/>
                  <a:gd name="T9" fmla="*/ 1 h 24"/>
                  <a:gd name="T10" fmla="*/ 5 w 38"/>
                  <a:gd name="T11" fmla="*/ 0 h 24"/>
                  <a:gd name="T12" fmla="*/ 36 w 38"/>
                  <a:gd name="T13" fmla="*/ 0 h 24"/>
                  <a:gd name="T14" fmla="*/ 38 w 38"/>
                  <a:gd name="T15" fmla="*/ 1 h 24"/>
                  <a:gd name="T16" fmla="*/ 36 w 38"/>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24">
                    <a:moveTo>
                      <a:pt x="36" y="23"/>
                    </a:moveTo>
                    <a:cubicBezTo>
                      <a:pt x="36" y="24"/>
                      <a:pt x="35" y="24"/>
                      <a:pt x="34" y="24"/>
                    </a:cubicBezTo>
                    <a:cubicBezTo>
                      <a:pt x="21" y="24"/>
                      <a:pt x="15" y="24"/>
                      <a:pt x="2" y="24"/>
                    </a:cubicBezTo>
                    <a:cubicBezTo>
                      <a:pt x="1" y="24"/>
                      <a:pt x="0" y="24"/>
                      <a:pt x="0" y="23"/>
                    </a:cubicBezTo>
                    <a:cubicBezTo>
                      <a:pt x="1" y="15"/>
                      <a:pt x="1" y="10"/>
                      <a:pt x="2" y="1"/>
                    </a:cubicBezTo>
                    <a:cubicBezTo>
                      <a:pt x="2" y="0"/>
                      <a:pt x="3" y="0"/>
                      <a:pt x="5" y="0"/>
                    </a:cubicBezTo>
                    <a:cubicBezTo>
                      <a:pt x="17" y="0"/>
                      <a:pt x="24" y="0"/>
                      <a:pt x="36" y="0"/>
                    </a:cubicBezTo>
                    <a:cubicBezTo>
                      <a:pt x="37" y="0"/>
                      <a:pt x="38" y="0"/>
                      <a:pt x="38" y="1"/>
                    </a:cubicBezTo>
                    <a:cubicBezTo>
                      <a:pt x="37" y="10"/>
                      <a:pt x="37" y="15"/>
                      <a:pt x="36"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1" name="Freeform 177">
                <a:extLst>
                  <a:ext uri="{FF2B5EF4-FFF2-40B4-BE49-F238E27FC236}">
                    <a16:creationId xmlns:a16="http://schemas.microsoft.com/office/drawing/2014/main" id="{667D99E2-CA17-7A8F-26A9-58D212EF97EF}"/>
                  </a:ext>
                </a:extLst>
              </p:cNvPr>
              <p:cNvSpPr>
                <a:spLocks/>
              </p:cNvSpPr>
              <p:nvPr/>
            </p:nvSpPr>
            <p:spPr bwMode="auto">
              <a:xfrm>
                <a:off x="5783550" y="5458170"/>
                <a:ext cx="56384" cy="36171"/>
              </a:xfrm>
              <a:custGeom>
                <a:avLst/>
                <a:gdLst>
                  <a:gd name="T0" fmla="*/ 37 w 37"/>
                  <a:gd name="T1" fmla="*/ 23 h 24"/>
                  <a:gd name="T2" fmla="*/ 35 w 37"/>
                  <a:gd name="T3" fmla="*/ 24 h 24"/>
                  <a:gd name="T4" fmla="*/ 2 w 37"/>
                  <a:gd name="T5" fmla="*/ 24 h 24"/>
                  <a:gd name="T6" fmla="*/ 0 w 37"/>
                  <a:gd name="T7" fmla="*/ 23 h 24"/>
                  <a:gd name="T8" fmla="*/ 2 w 37"/>
                  <a:gd name="T9" fmla="*/ 1 h 24"/>
                  <a:gd name="T10" fmla="*/ 4 w 37"/>
                  <a:gd name="T11" fmla="*/ 0 h 24"/>
                  <a:gd name="T12" fmla="*/ 35 w 37"/>
                  <a:gd name="T13" fmla="*/ 0 h 24"/>
                  <a:gd name="T14" fmla="*/ 37 w 37"/>
                  <a:gd name="T15" fmla="*/ 1 h 24"/>
                  <a:gd name="T16" fmla="*/ 37 w 37"/>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4">
                    <a:moveTo>
                      <a:pt x="37" y="23"/>
                    </a:moveTo>
                    <a:cubicBezTo>
                      <a:pt x="37" y="24"/>
                      <a:pt x="36" y="24"/>
                      <a:pt x="35" y="24"/>
                    </a:cubicBezTo>
                    <a:cubicBezTo>
                      <a:pt x="22" y="24"/>
                      <a:pt x="15" y="24"/>
                      <a:pt x="2" y="24"/>
                    </a:cubicBezTo>
                    <a:cubicBezTo>
                      <a:pt x="1" y="24"/>
                      <a:pt x="0" y="24"/>
                      <a:pt x="0" y="23"/>
                    </a:cubicBezTo>
                    <a:cubicBezTo>
                      <a:pt x="1" y="15"/>
                      <a:pt x="1" y="10"/>
                      <a:pt x="2" y="1"/>
                    </a:cubicBezTo>
                    <a:cubicBezTo>
                      <a:pt x="2" y="0"/>
                      <a:pt x="3" y="0"/>
                      <a:pt x="4" y="0"/>
                    </a:cubicBezTo>
                    <a:cubicBezTo>
                      <a:pt x="17" y="0"/>
                      <a:pt x="23" y="0"/>
                      <a:pt x="35" y="0"/>
                    </a:cubicBezTo>
                    <a:cubicBezTo>
                      <a:pt x="36" y="0"/>
                      <a:pt x="37" y="1"/>
                      <a:pt x="37" y="1"/>
                    </a:cubicBezTo>
                    <a:cubicBezTo>
                      <a:pt x="37" y="11"/>
                      <a:pt x="37" y="15"/>
                      <a:pt x="37"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2" name="Freeform 178">
                <a:extLst>
                  <a:ext uri="{FF2B5EF4-FFF2-40B4-BE49-F238E27FC236}">
                    <a16:creationId xmlns:a16="http://schemas.microsoft.com/office/drawing/2014/main" id="{0449B51B-5D68-6A5A-34E4-12652ED6A208}"/>
                  </a:ext>
                </a:extLst>
              </p:cNvPr>
              <p:cNvSpPr>
                <a:spLocks/>
              </p:cNvSpPr>
              <p:nvPr/>
            </p:nvSpPr>
            <p:spPr bwMode="auto">
              <a:xfrm>
                <a:off x="5851637" y="5458170"/>
                <a:ext cx="54257" cy="36171"/>
              </a:xfrm>
              <a:custGeom>
                <a:avLst/>
                <a:gdLst>
                  <a:gd name="T0" fmla="*/ 36 w 36"/>
                  <a:gd name="T1" fmla="*/ 23 h 24"/>
                  <a:gd name="T2" fmla="*/ 34 w 36"/>
                  <a:gd name="T3" fmla="*/ 24 h 24"/>
                  <a:gd name="T4" fmla="*/ 2 w 36"/>
                  <a:gd name="T5" fmla="*/ 24 h 24"/>
                  <a:gd name="T6" fmla="*/ 0 w 36"/>
                  <a:gd name="T7" fmla="*/ 23 h 24"/>
                  <a:gd name="T8" fmla="*/ 0 w 36"/>
                  <a:gd name="T9" fmla="*/ 1 h 24"/>
                  <a:gd name="T10" fmla="*/ 2 w 36"/>
                  <a:gd name="T11" fmla="*/ 0 h 24"/>
                  <a:gd name="T12" fmla="*/ 33 w 36"/>
                  <a:gd name="T13" fmla="*/ 0 h 24"/>
                  <a:gd name="T14" fmla="*/ 35 w 36"/>
                  <a:gd name="T15" fmla="*/ 1 h 24"/>
                  <a:gd name="T16" fmla="*/ 36 w 36"/>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4">
                    <a:moveTo>
                      <a:pt x="36" y="23"/>
                    </a:moveTo>
                    <a:cubicBezTo>
                      <a:pt x="36" y="24"/>
                      <a:pt x="35" y="24"/>
                      <a:pt x="34" y="24"/>
                    </a:cubicBezTo>
                    <a:cubicBezTo>
                      <a:pt x="21" y="24"/>
                      <a:pt x="14" y="24"/>
                      <a:pt x="2" y="24"/>
                    </a:cubicBezTo>
                    <a:cubicBezTo>
                      <a:pt x="0" y="24"/>
                      <a:pt x="0" y="24"/>
                      <a:pt x="0" y="23"/>
                    </a:cubicBezTo>
                    <a:cubicBezTo>
                      <a:pt x="0" y="15"/>
                      <a:pt x="0" y="11"/>
                      <a:pt x="0" y="1"/>
                    </a:cubicBezTo>
                    <a:cubicBezTo>
                      <a:pt x="0" y="1"/>
                      <a:pt x="1" y="0"/>
                      <a:pt x="2" y="0"/>
                    </a:cubicBezTo>
                    <a:cubicBezTo>
                      <a:pt x="15" y="0"/>
                      <a:pt x="21" y="0"/>
                      <a:pt x="33" y="0"/>
                    </a:cubicBezTo>
                    <a:cubicBezTo>
                      <a:pt x="34" y="0"/>
                      <a:pt x="35" y="1"/>
                      <a:pt x="35" y="1"/>
                    </a:cubicBezTo>
                    <a:cubicBezTo>
                      <a:pt x="36" y="11"/>
                      <a:pt x="36" y="15"/>
                      <a:pt x="36"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3" name="Freeform 179">
                <a:extLst>
                  <a:ext uri="{FF2B5EF4-FFF2-40B4-BE49-F238E27FC236}">
                    <a16:creationId xmlns:a16="http://schemas.microsoft.com/office/drawing/2014/main" id="{D40184BD-3925-1D13-F2A2-0DB1DA9D1A2A}"/>
                  </a:ext>
                </a:extLst>
              </p:cNvPr>
              <p:cNvSpPr>
                <a:spLocks/>
              </p:cNvSpPr>
              <p:nvPr/>
            </p:nvSpPr>
            <p:spPr bwMode="auto">
              <a:xfrm>
                <a:off x="5916532" y="5458170"/>
                <a:ext cx="56384" cy="36171"/>
              </a:xfrm>
              <a:custGeom>
                <a:avLst/>
                <a:gdLst>
                  <a:gd name="T0" fmla="*/ 37 w 37"/>
                  <a:gd name="T1" fmla="*/ 23 h 24"/>
                  <a:gd name="T2" fmla="*/ 35 w 37"/>
                  <a:gd name="T3" fmla="*/ 24 h 24"/>
                  <a:gd name="T4" fmla="*/ 3 w 37"/>
                  <a:gd name="T5" fmla="*/ 24 h 24"/>
                  <a:gd name="T6" fmla="*/ 1 w 37"/>
                  <a:gd name="T7" fmla="*/ 23 h 24"/>
                  <a:gd name="T8" fmla="*/ 0 w 37"/>
                  <a:gd name="T9" fmla="*/ 1 h 24"/>
                  <a:gd name="T10" fmla="*/ 2 w 37"/>
                  <a:gd name="T11" fmla="*/ 0 h 24"/>
                  <a:gd name="T12" fmla="*/ 33 w 37"/>
                  <a:gd name="T13" fmla="*/ 0 h 24"/>
                  <a:gd name="T14" fmla="*/ 35 w 37"/>
                  <a:gd name="T15" fmla="*/ 1 h 24"/>
                  <a:gd name="T16" fmla="*/ 37 w 37"/>
                  <a:gd name="T1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4">
                    <a:moveTo>
                      <a:pt x="37" y="23"/>
                    </a:moveTo>
                    <a:cubicBezTo>
                      <a:pt x="37" y="24"/>
                      <a:pt x="36" y="24"/>
                      <a:pt x="35" y="24"/>
                    </a:cubicBezTo>
                    <a:cubicBezTo>
                      <a:pt x="22" y="24"/>
                      <a:pt x="16" y="24"/>
                      <a:pt x="3" y="24"/>
                    </a:cubicBezTo>
                    <a:cubicBezTo>
                      <a:pt x="2" y="24"/>
                      <a:pt x="1" y="24"/>
                      <a:pt x="1" y="23"/>
                    </a:cubicBezTo>
                    <a:cubicBezTo>
                      <a:pt x="1" y="15"/>
                      <a:pt x="0" y="11"/>
                      <a:pt x="0" y="1"/>
                    </a:cubicBezTo>
                    <a:cubicBezTo>
                      <a:pt x="0" y="1"/>
                      <a:pt x="1" y="0"/>
                      <a:pt x="2" y="0"/>
                    </a:cubicBezTo>
                    <a:cubicBezTo>
                      <a:pt x="15" y="0"/>
                      <a:pt x="21" y="0"/>
                      <a:pt x="33" y="0"/>
                    </a:cubicBezTo>
                    <a:cubicBezTo>
                      <a:pt x="34" y="0"/>
                      <a:pt x="35" y="1"/>
                      <a:pt x="35" y="1"/>
                    </a:cubicBezTo>
                    <a:cubicBezTo>
                      <a:pt x="36" y="11"/>
                      <a:pt x="36" y="15"/>
                      <a:pt x="37"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4" name="Freeform 180">
                <a:extLst>
                  <a:ext uri="{FF2B5EF4-FFF2-40B4-BE49-F238E27FC236}">
                    <a16:creationId xmlns:a16="http://schemas.microsoft.com/office/drawing/2014/main" id="{045F9DE4-ED91-5EFE-A6DB-86A391E6CA05}"/>
                  </a:ext>
                </a:extLst>
              </p:cNvPr>
              <p:cNvSpPr>
                <a:spLocks/>
              </p:cNvSpPr>
              <p:nvPr/>
            </p:nvSpPr>
            <p:spPr bwMode="auto">
              <a:xfrm>
                <a:off x="5981427" y="5458170"/>
                <a:ext cx="59576" cy="37235"/>
              </a:xfrm>
              <a:custGeom>
                <a:avLst/>
                <a:gdLst>
                  <a:gd name="T0" fmla="*/ 38 w 39"/>
                  <a:gd name="T1" fmla="*/ 23 h 25"/>
                  <a:gd name="T2" fmla="*/ 36 w 39"/>
                  <a:gd name="T3" fmla="*/ 25 h 25"/>
                  <a:gd name="T4" fmla="*/ 4 w 39"/>
                  <a:gd name="T5" fmla="*/ 24 h 25"/>
                  <a:gd name="T6" fmla="*/ 2 w 39"/>
                  <a:gd name="T7" fmla="*/ 23 h 25"/>
                  <a:gd name="T8" fmla="*/ 0 w 39"/>
                  <a:gd name="T9" fmla="*/ 1 h 25"/>
                  <a:gd name="T10" fmla="*/ 2 w 39"/>
                  <a:gd name="T11" fmla="*/ 0 h 25"/>
                  <a:gd name="T12" fmla="*/ 34 w 39"/>
                  <a:gd name="T13" fmla="*/ 0 h 25"/>
                  <a:gd name="T14" fmla="*/ 36 w 39"/>
                  <a:gd name="T15" fmla="*/ 2 h 25"/>
                  <a:gd name="T16" fmla="*/ 38 w 39"/>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5">
                    <a:moveTo>
                      <a:pt x="38" y="23"/>
                    </a:moveTo>
                    <a:cubicBezTo>
                      <a:pt x="39" y="24"/>
                      <a:pt x="38" y="25"/>
                      <a:pt x="36" y="25"/>
                    </a:cubicBezTo>
                    <a:cubicBezTo>
                      <a:pt x="24" y="24"/>
                      <a:pt x="17" y="24"/>
                      <a:pt x="4" y="24"/>
                    </a:cubicBezTo>
                    <a:cubicBezTo>
                      <a:pt x="3" y="24"/>
                      <a:pt x="2" y="24"/>
                      <a:pt x="2" y="23"/>
                    </a:cubicBezTo>
                    <a:cubicBezTo>
                      <a:pt x="1" y="15"/>
                      <a:pt x="1" y="11"/>
                      <a:pt x="0" y="1"/>
                    </a:cubicBezTo>
                    <a:cubicBezTo>
                      <a:pt x="0" y="1"/>
                      <a:pt x="1" y="0"/>
                      <a:pt x="2" y="0"/>
                    </a:cubicBezTo>
                    <a:cubicBezTo>
                      <a:pt x="15" y="0"/>
                      <a:pt x="21" y="0"/>
                      <a:pt x="34" y="0"/>
                    </a:cubicBezTo>
                    <a:cubicBezTo>
                      <a:pt x="35" y="0"/>
                      <a:pt x="36" y="1"/>
                      <a:pt x="36" y="2"/>
                    </a:cubicBezTo>
                    <a:cubicBezTo>
                      <a:pt x="37" y="11"/>
                      <a:pt x="37" y="15"/>
                      <a:pt x="38"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5" name="Freeform 181">
                <a:extLst>
                  <a:ext uri="{FF2B5EF4-FFF2-40B4-BE49-F238E27FC236}">
                    <a16:creationId xmlns:a16="http://schemas.microsoft.com/office/drawing/2014/main" id="{C1AD0653-05ED-4C7E-AF30-1E4380350129}"/>
                  </a:ext>
                </a:extLst>
              </p:cNvPr>
              <p:cNvSpPr>
                <a:spLocks/>
              </p:cNvSpPr>
              <p:nvPr/>
            </p:nvSpPr>
            <p:spPr bwMode="auto">
              <a:xfrm>
                <a:off x="6047386" y="5458170"/>
                <a:ext cx="60640" cy="37235"/>
              </a:xfrm>
              <a:custGeom>
                <a:avLst/>
                <a:gdLst>
                  <a:gd name="T0" fmla="*/ 40 w 40"/>
                  <a:gd name="T1" fmla="*/ 23 h 25"/>
                  <a:gd name="T2" fmla="*/ 38 w 40"/>
                  <a:gd name="T3" fmla="*/ 25 h 25"/>
                  <a:gd name="T4" fmla="*/ 6 w 40"/>
                  <a:gd name="T5" fmla="*/ 25 h 25"/>
                  <a:gd name="T6" fmla="*/ 3 w 40"/>
                  <a:gd name="T7" fmla="*/ 23 h 25"/>
                  <a:gd name="T8" fmla="*/ 1 w 40"/>
                  <a:gd name="T9" fmla="*/ 2 h 25"/>
                  <a:gd name="T10" fmla="*/ 2 w 40"/>
                  <a:gd name="T11" fmla="*/ 0 h 25"/>
                  <a:gd name="T12" fmla="*/ 34 w 40"/>
                  <a:gd name="T13" fmla="*/ 0 h 25"/>
                  <a:gd name="T14" fmla="*/ 37 w 40"/>
                  <a:gd name="T15" fmla="*/ 2 h 25"/>
                  <a:gd name="T16" fmla="*/ 40 w 40"/>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5">
                    <a:moveTo>
                      <a:pt x="40" y="23"/>
                    </a:moveTo>
                    <a:cubicBezTo>
                      <a:pt x="40" y="24"/>
                      <a:pt x="40" y="25"/>
                      <a:pt x="38" y="25"/>
                    </a:cubicBezTo>
                    <a:cubicBezTo>
                      <a:pt x="25" y="25"/>
                      <a:pt x="19" y="25"/>
                      <a:pt x="6" y="25"/>
                    </a:cubicBezTo>
                    <a:cubicBezTo>
                      <a:pt x="5" y="25"/>
                      <a:pt x="4" y="24"/>
                      <a:pt x="3" y="23"/>
                    </a:cubicBezTo>
                    <a:cubicBezTo>
                      <a:pt x="2" y="15"/>
                      <a:pt x="2" y="11"/>
                      <a:pt x="1" y="2"/>
                    </a:cubicBezTo>
                    <a:cubicBezTo>
                      <a:pt x="0" y="1"/>
                      <a:pt x="1" y="0"/>
                      <a:pt x="2" y="0"/>
                    </a:cubicBezTo>
                    <a:cubicBezTo>
                      <a:pt x="15" y="0"/>
                      <a:pt x="22" y="0"/>
                      <a:pt x="34" y="0"/>
                    </a:cubicBezTo>
                    <a:cubicBezTo>
                      <a:pt x="35" y="0"/>
                      <a:pt x="37" y="1"/>
                      <a:pt x="37" y="2"/>
                    </a:cubicBezTo>
                    <a:cubicBezTo>
                      <a:pt x="38" y="11"/>
                      <a:pt x="39" y="15"/>
                      <a:pt x="40"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6" name="Freeform 182">
                <a:extLst>
                  <a:ext uri="{FF2B5EF4-FFF2-40B4-BE49-F238E27FC236}">
                    <a16:creationId xmlns:a16="http://schemas.microsoft.com/office/drawing/2014/main" id="{1977B3B0-C052-B159-2529-489EA3BD46D7}"/>
                  </a:ext>
                </a:extLst>
              </p:cNvPr>
              <p:cNvSpPr>
                <a:spLocks/>
              </p:cNvSpPr>
              <p:nvPr/>
            </p:nvSpPr>
            <p:spPr bwMode="auto">
              <a:xfrm>
                <a:off x="6113345" y="5458170"/>
                <a:ext cx="63831" cy="37235"/>
              </a:xfrm>
              <a:custGeom>
                <a:avLst/>
                <a:gdLst>
                  <a:gd name="T0" fmla="*/ 42 w 42"/>
                  <a:gd name="T1" fmla="*/ 23 h 25"/>
                  <a:gd name="T2" fmla="*/ 40 w 42"/>
                  <a:gd name="T3" fmla="*/ 25 h 25"/>
                  <a:gd name="T4" fmla="*/ 7 w 42"/>
                  <a:gd name="T5" fmla="*/ 25 h 25"/>
                  <a:gd name="T6" fmla="*/ 4 w 42"/>
                  <a:gd name="T7" fmla="*/ 23 h 25"/>
                  <a:gd name="T8" fmla="*/ 1 w 42"/>
                  <a:gd name="T9" fmla="*/ 2 h 25"/>
                  <a:gd name="T10" fmla="*/ 2 w 42"/>
                  <a:gd name="T11" fmla="*/ 0 h 25"/>
                  <a:gd name="T12" fmla="*/ 35 w 42"/>
                  <a:gd name="T13" fmla="*/ 0 h 25"/>
                  <a:gd name="T14" fmla="*/ 37 w 42"/>
                  <a:gd name="T15" fmla="*/ 2 h 25"/>
                  <a:gd name="T16" fmla="*/ 42 w 42"/>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25">
                    <a:moveTo>
                      <a:pt x="42" y="23"/>
                    </a:moveTo>
                    <a:cubicBezTo>
                      <a:pt x="42" y="24"/>
                      <a:pt x="41" y="25"/>
                      <a:pt x="40" y="25"/>
                    </a:cubicBezTo>
                    <a:cubicBezTo>
                      <a:pt x="26" y="25"/>
                      <a:pt x="20" y="25"/>
                      <a:pt x="7" y="25"/>
                    </a:cubicBezTo>
                    <a:cubicBezTo>
                      <a:pt x="6" y="25"/>
                      <a:pt x="4" y="24"/>
                      <a:pt x="4" y="23"/>
                    </a:cubicBezTo>
                    <a:cubicBezTo>
                      <a:pt x="3" y="15"/>
                      <a:pt x="2" y="11"/>
                      <a:pt x="1" y="2"/>
                    </a:cubicBezTo>
                    <a:cubicBezTo>
                      <a:pt x="0" y="1"/>
                      <a:pt x="1" y="0"/>
                      <a:pt x="2" y="0"/>
                    </a:cubicBezTo>
                    <a:cubicBezTo>
                      <a:pt x="15" y="0"/>
                      <a:pt x="22" y="0"/>
                      <a:pt x="35" y="0"/>
                    </a:cubicBezTo>
                    <a:cubicBezTo>
                      <a:pt x="36" y="0"/>
                      <a:pt x="37" y="1"/>
                      <a:pt x="37" y="2"/>
                    </a:cubicBezTo>
                    <a:cubicBezTo>
                      <a:pt x="39" y="11"/>
                      <a:pt x="40" y="15"/>
                      <a:pt x="4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7" name="Freeform 183">
                <a:extLst>
                  <a:ext uri="{FF2B5EF4-FFF2-40B4-BE49-F238E27FC236}">
                    <a16:creationId xmlns:a16="http://schemas.microsoft.com/office/drawing/2014/main" id="{EFE1A677-4441-9FA4-AFE0-94FC0ABF1BFD}"/>
                  </a:ext>
                </a:extLst>
              </p:cNvPr>
              <p:cNvSpPr>
                <a:spLocks/>
              </p:cNvSpPr>
              <p:nvPr/>
            </p:nvSpPr>
            <p:spPr bwMode="auto">
              <a:xfrm>
                <a:off x="6181432" y="5458170"/>
                <a:ext cx="65959" cy="37235"/>
              </a:xfrm>
              <a:custGeom>
                <a:avLst/>
                <a:gdLst>
                  <a:gd name="T0" fmla="*/ 43 w 43"/>
                  <a:gd name="T1" fmla="*/ 23 h 25"/>
                  <a:gd name="T2" fmla="*/ 41 w 43"/>
                  <a:gd name="T3" fmla="*/ 25 h 25"/>
                  <a:gd name="T4" fmla="*/ 7 w 43"/>
                  <a:gd name="T5" fmla="*/ 25 h 25"/>
                  <a:gd name="T6" fmla="*/ 5 w 43"/>
                  <a:gd name="T7" fmla="*/ 23 h 25"/>
                  <a:gd name="T8" fmla="*/ 0 w 43"/>
                  <a:gd name="T9" fmla="*/ 2 h 25"/>
                  <a:gd name="T10" fmla="*/ 2 w 43"/>
                  <a:gd name="T11" fmla="*/ 0 h 25"/>
                  <a:gd name="T12" fmla="*/ 35 w 43"/>
                  <a:gd name="T13" fmla="*/ 0 h 25"/>
                  <a:gd name="T14" fmla="*/ 38 w 43"/>
                  <a:gd name="T15" fmla="*/ 2 h 25"/>
                  <a:gd name="T16" fmla="*/ 43 w 43"/>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5">
                    <a:moveTo>
                      <a:pt x="43" y="23"/>
                    </a:moveTo>
                    <a:cubicBezTo>
                      <a:pt x="43" y="24"/>
                      <a:pt x="42" y="25"/>
                      <a:pt x="41" y="25"/>
                    </a:cubicBezTo>
                    <a:cubicBezTo>
                      <a:pt x="27" y="25"/>
                      <a:pt x="21" y="25"/>
                      <a:pt x="7" y="25"/>
                    </a:cubicBezTo>
                    <a:cubicBezTo>
                      <a:pt x="6" y="25"/>
                      <a:pt x="5" y="24"/>
                      <a:pt x="5" y="23"/>
                    </a:cubicBezTo>
                    <a:cubicBezTo>
                      <a:pt x="3" y="15"/>
                      <a:pt x="2" y="11"/>
                      <a:pt x="0" y="2"/>
                    </a:cubicBezTo>
                    <a:cubicBezTo>
                      <a:pt x="0" y="1"/>
                      <a:pt x="1" y="0"/>
                      <a:pt x="2" y="0"/>
                    </a:cubicBezTo>
                    <a:cubicBezTo>
                      <a:pt x="15" y="0"/>
                      <a:pt x="22" y="0"/>
                      <a:pt x="35" y="0"/>
                    </a:cubicBezTo>
                    <a:cubicBezTo>
                      <a:pt x="36" y="0"/>
                      <a:pt x="38" y="1"/>
                      <a:pt x="38" y="2"/>
                    </a:cubicBezTo>
                    <a:cubicBezTo>
                      <a:pt x="40" y="11"/>
                      <a:pt x="41" y="15"/>
                      <a:pt x="43"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8" name="Freeform 184">
                <a:extLst>
                  <a:ext uri="{FF2B5EF4-FFF2-40B4-BE49-F238E27FC236}">
                    <a16:creationId xmlns:a16="http://schemas.microsoft.com/office/drawing/2014/main" id="{DFF73836-F5A9-5FE7-76E8-00CB7765C85A}"/>
                  </a:ext>
                </a:extLst>
              </p:cNvPr>
              <p:cNvSpPr>
                <a:spLocks/>
              </p:cNvSpPr>
              <p:nvPr/>
            </p:nvSpPr>
            <p:spPr bwMode="auto">
              <a:xfrm>
                <a:off x="6251646" y="5458170"/>
                <a:ext cx="65959" cy="37235"/>
              </a:xfrm>
              <a:custGeom>
                <a:avLst/>
                <a:gdLst>
                  <a:gd name="T0" fmla="*/ 44 w 44"/>
                  <a:gd name="T1" fmla="*/ 23 h 25"/>
                  <a:gd name="T2" fmla="*/ 42 w 44"/>
                  <a:gd name="T3" fmla="*/ 25 h 25"/>
                  <a:gd name="T4" fmla="*/ 8 w 44"/>
                  <a:gd name="T5" fmla="*/ 25 h 25"/>
                  <a:gd name="T6" fmla="*/ 5 w 44"/>
                  <a:gd name="T7" fmla="*/ 23 h 25"/>
                  <a:gd name="T8" fmla="*/ 0 w 44"/>
                  <a:gd name="T9" fmla="*/ 2 h 25"/>
                  <a:gd name="T10" fmla="*/ 2 w 44"/>
                  <a:gd name="T11" fmla="*/ 0 h 25"/>
                  <a:gd name="T12" fmla="*/ 36 w 44"/>
                  <a:gd name="T13" fmla="*/ 0 h 25"/>
                  <a:gd name="T14" fmla="*/ 38 w 44"/>
                  <a:gd name="T15" fmla="*/ 2 h 25"/>
                  <a:gd name="T16" fmla="*/ 44 w 44"/>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5">
                    <a:moveTo>
                      <a:pt x="44" y="23"/>
                    </a:moveTo>
                    <a:cubicBezTo>
                      <a:pt x="44" y="24"/>
                      <a:pt x="43" y="25"/>
                      <a:pt x="42" y="25"/>
                    </a:cubicBezTo>
                    <a:cubicBezTo>
                      <a:pt x="28" y="25"/>
                      <a:pt x="21" y="25"/>
                      <a:pt x="8" y="25"/>
                    </a:cubicBezTo>
                    <a:cubicBezTo>
                      <a:pt x="7" y="25"/>
                      <a:pt x="5" y="24"/>
                      <a:pt x="5" y="23"/>
                    </a:cubicBezTo>
                    <a:cubicBezTo>
                      <a:pt x="3" y="15"/>
                      <a:pt x="2" y="11"/>
                      <a:pt x="0" y="2"/>
                    </a:cubicBezTo>
                    <a:cubicBezTo>
                      <a:pt x="0" y="1"/>
                      <a:pt x="1" y="0"/>
                      <a:pt x="2" y="0"/>
                    </a:cubicBezTo>
                    <a:cubicBezTo>
                      <a:pt x="15" y="0"/>
                      <a:pt x="22" y="0"/>
                      <a:pt x="36" y="0"/>
                    </a:cubicBezTo>
                    <a:cubicBezTo>
                      <a:pt x="37" y="0"/>
                      <a:pt x="38" y="1"/>
                      <a:pt x="38" y="2"/>
                    </a:cubicBezTo>
                    <a:cubicBezTo>
                      <a:pt x="41" y="11"/>
                      <a:pt x="42" y="15"/>
                      <a:pt x="44"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9" name="Freeform 185">
                <a:extLst>
                  <a:ext uri="{FF2B5EF4-FFF2-40B4-BE49-F238E27FC236}">
                    <a16:creationId xmlns:a16="http://schemas.microsoft.com/office/drawing/2014/main" id="{57353985-FDF7-11CF-4EA5-2BCFAC24B089}"/>
                  </a:ext>
                </a:extLst>
              </p:cNvPr>
              <p:cNvSpPr>
                <a:spLocks/>
              </p:cNvSpPr>
              <p:nvPr/>
            </p:nvSpPr>
            <p:spPr bwMode="auto">
              <a:xfrm>
                <a:off x="5398434" y="5456043"/>
                <a:ext cx="105322" cy="38299"/>
              </a:xfrm>
              <a:custGeom>
                <a:avLst/>
                <a:gdLst>
                  <a:gd name="T0" fmla="*/ 64 w 69"/>
                  <a:gd name="T1" fmla="*/ 23 h 25"/>
                  <a:gd name="T2" fmla="*/ 62 w 69"/>
                  <a:gd name="T3" fmla="*/ 25 h 25"/>
                  <a:gd name="T4" fmla="*/ 2 w 69"/>
                  <a:gd name="T5" fmla="*/ 25 h 25"/>
                  <a:gd name="T6" fmla="*/ 0 w 69"/>
                  <a:gd name="T7" fmla="*/ 24 h 25"/>
                  <a:gd name="T8" fmla="*/ 5 w 69"/>
                  <a:gd name="T9" fmla="*/ 2 h 25"/>
                  <a:gd name="T10" fmla="*/ 8 w 69"/>
                  <a:gd name="T11" fmla="*/ 0 h 25"/>
                  <a:gd name="T12" fmla="*/ 67 w 69"/>
                  <a:gd name="T13" fmla="*/ 0 h 25"/>
                  <a:gd name="T14" fmla="*/ 69 w 69"/>
                  <a:gd name="T15" fmla="*/ 2 h 25"/>
                  <a:gd name="T16" fmla="*/ 64 w 69"/>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25">
                    <a:moveTo>
                      <a:pt x="64" y="23"/>
                    </a:moveTo>
                    <a:cubicBezTo>
                      <a:pt x="64" y="24"/>
                      <a:pt x="63" y="25"/>
                      <a:pt x="62" y="25"/>
                    </a:cubicBezTo>
                    <a:cubicBezTo>
                      <a:pt x="38" y="25"/>
                      <a:pt x="26" y="25"/>
                      <a:pt x="2" y="25"/>
                    </a:cubicBezTo>
                    <a:cubicBezTo>
                      <a:pt x="1" y="25"/>
                      <a:pt x="0" y="24"/>
                      <a:pt x="0" y="24"/>
                    </a:cubicBezTo>
                    <a:cubicBezTo>
                      <a:pt x="2" y="15"/>
                      <a:pt x="3" y="11"/>
                      <a:pt x="5" y="2"/>
                    </a:cubicBezTo>
                    <a:cubicBezTo>
                      <a:pt x="5" y="1"/>
                      <a:pt x="7" y="1"/>
                      <a:pt x="8" y="0"/>
                    </a:cubicBezTo>
                    <a:cubicBezTo>
                      <a:pt x="32" y="0"/>
                      <a:pt x="44" y="0"/>
                      <a:pt x="67" y="0"/>
                    </a:cubicBezTo>
                    <a:cubicBezTo>
                      <a:pt x="68" y="0"/>
                      <a:pt x="69" y="1"/>
                      <a:pt x="69" y="2"/>
                    </a:cubicBezTo>
                    <a:cubicBezTo>
                      <a:pt x="67" y="11"/>
                      <a:pt x="66" y="15"/>
                      <a:pt x="64"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0" name="Freeform 186">
                <a:extLst>
                  <a:ext uri="{FF2B5EF4-FFF2-40B4-BE49-F238E27FC236}">
                    <a16:creationId xmlns:a16="http://schemas.microsoft.com/office/drawing/2014/main" id="{ED7457A2-A826-3359-1053-D3E579E76168}"/>
                  </a:ext>
                </a:extLst>
              </p:cNvPr>
              <p:cNvSpPr>
                <a:spLocks/>
              </p:cNvSpPr>
              <p:nvPr/>
            </p:nvSpPr>
            <p:spPr bwMode="auto">
              <a:xfrm>
                <a:off x="6273987" y="5401786"/>
                <a:ext cx="106386" cy="46810"/>
              </a:xfrm>
              <a:custGeom>
                <a:avLst/>
                <a:gdLst>
                  <a:gd name="T0" fmla="*/ 69 w 70"/>
                  <a:gd name="T1" fmla="*/ 30 h 31"/>
                  <a:gd name="T2" fmla="*/ 67 w 70"/>
                  <a:gd name="T3" fmla="*/ 31 h 31"/>
                  <a:gd name="T4" fmla="*/ 9 w 70"/>
                  <a:gd name="T5" fmla="*/ 31 h 31"/>
                  <a:gd name="T6" fmla="*/ 6 w 70"/>
                  <a:gd name="T7" fmla="*/ 30 h 31"/>
                  <a:gd name="T8" fmla="*/ 0 w 70"/>
                  <a:gd name="T9" fmla="*/ 2 h 31"/>
                  <a:gd name="T10" fmla="*/ 2 w 70"/>
                  <a:gd name="T11" fmla="*/ 0 h 31"/>
                  <a:gd name="T12" fmla="*/ 60 w 70"/>
                  <a:gd name="T13" fmla="*/ 0 h 31"/>
                  <a:gd name="T14" fmla="*/ 63 w 70"/>
                  <a:gd name="T15" fmla="*/ 2 h 31"/>
                  <a:gd name="T16" fmla="*/ 69 w 70"/>
                  <a:gd name="T17"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1">
                    <a:moveTo>
                      <a:pt x="69" y="30"/>
                    </a:moveTo>
                    <a:cubicBezTo>
                      <a:pt x="70" y="31"/>
                      <a:pt x="69" y="31"/>
                      <a:pt x="67" y="31"/>
                    </a:cubicBezTo>
                    <a:cubicBezTo>
                      <a:pt x="43" y="31"/>
                      <a:pt x="32" y="31"/>
                      <a:pt x="9" y="31"/>
                    </a:cubicBezTo>
                    <a:cubicBezTo>
                      <a:pt x="7" y="31"/>
                      <a:pt x="6" y="31"/>
                      <a:pt x="6" y="30"/>
                    </a:cubicBezTo>
                    <a:cubicBezTo>
                      <a:pt x="4" y="20"/>
                      <a:pt x="2" y="14"/>
                      <a:pt x="0" y="2"/>
                    </a:cubicBezTo>
                    <a:cubicBezTo>
                      <a:pt x="0" y="1"/>
                      <a:pt x="0" y="0"/>
                      <a:pt x="2" y="0"/>
                    </a:cubicBezTo>
                    <a:cubicBezTo>
                      <a:pt x="25" y="0"/>
                      <a:pt x="36" y="0"/>
                      <a:pt x="60" y="0"/>
                    </a:cubicBezTo>
                    <a:cubicBezTo>
                      <a:pt x="61" y="0"/>
                      <a:pt x="63" y="1"/>
                      <a:pt x="63" y="2"/>
                    </a:cubicBezTo>
                    <a:cubicBezTo>
                      <a:pt x="66" y="14"/>
                      <a:pt x="67" y="20"/>
                      <a:pt x="69" y="3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1" name="Freeform 187">
                <a:extLst>
                  <a:ext uri="{FF2B5EF4-FFF2-40B4-BE49-F238E27FC236}">
                    <a16:creationId xmlns:a16="http://schemas.microsoft.com/office/drawing/2014/main" id="{D76490F4-2B9F-65CA-FA6D-371450C650AB}"/>
                  </a:ext>
                </a:extLst>
              </p:cNvPr>
              <p:cNvSpPr>
                <a:spLocks/>
              </p:cNvSpPr>
              <p:nvPr/>
            </p:nvSpPr>
            <p:spPr bwMode="auto">
              <a:xfrm>
                <a:off x="5386731" y="5501789"/>
                <a:ext cx="122343" cy="35107"/>
              </a:xfrm>
              <a:custGeom>
                <a:avLst/>
                <a:gdLst>
                  <a:gd name="T0" fmla="*/ 76 w 81"/>
                  <a:gd name="T1" fmla="*/ 21 h 23"/>
                  <a:gd name="T2" fmla="*/ 74 w 81"/>
                  <a:gd name="T3" fmla="*/ 23 h 23"/>
                  <a:gd name="T4" fmla="*/ 3 w 81"/>
                  <a:gd name="T5" fmla="*/ 23 h 23"/>
                  <a:gd name="T6" fmla="*/ 1 w 81"/>
                  <a:gd name="T7" fmla="*/ 21 h 23"/>
                  <a:gd name="T8" fmla="*/ 6 w 81"/>
                  <a:gd name="T9" fmla="*/ 1 h 23"/>
                  <a:gd name="T10" fmla="*/ 9 w 81"/>
                  <a:gd name="T11" fmla="*/ 0 h 23"/>
                  <a:gd name="T12" fmla="*/ 79 w 81"/>
                  <a:gd name="T13" fmla="*/ 0 h 23"/>
                  <a:gd name="T14" fmla="*/ 81 w 81"/>
                  <a:gd name="T15" fmla="*/ 1 h 23"/>
                  <a:gd name="T16" fmla="*/ 76 w 81"/>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23">
                    <a:moveTo>
                      <a:pt x="76" y="21"/>
                    </a:moveTo>
                    <a:cubicBezTo>
                      <a:pt x="76" y="22"/>
                      <a:pt x="75" y="23"/>
                      <a:pt x="74" y="23"/>
                    </a:cubicBezTo>
                    <a:cubicBezTo>
                      <a:pt x="45" y="23"/>
                      <a:pt x="31" y="23"/>
                      <a:pt x="3" y="23"/>
                    </a:cubicBezTo>
                    <a:cubicBezTo>
                      <a:pt x="1" y="23"/>
                      <a:pt x="0" y="22"/>
                      <a:pt x="1" y="21"/>
                    </a:cubicBezTo>
                    <a:cubicBezTo>
                      <a:pt x="3" y="13"/>
                      <a:pt x="4" y="9"/>
                      <a:pt x="6" y="1"/>
                    </a:cubicBezTo>
                    <a:cubicBezTo>
                      <a:pt x="6" y="0"/>
                      <a:pt x="8" y="0"/>
                      <a:pt x="9" y="0"/>
                    </a:cubicBezTo>
                    <a:cubicBezTo>
                      <a:pt x="38" y="0"/>
                      <a:pt x="52" y="0"/>
                      <a:pt x="79" y="0"/>
                    </a:cubicBezTo>
                    <a:cubicBezTo>
                      <a:pt x="81" y="0"/>
                      <a:pt x="81" y="1"/>
                      <a:pt x="81" y="1"/>
                    </a:cubicBezTo>
                    <a:cubicBezTo>
                      <a:pt x="79" y="9"/>
                      <a:pt x="78" y="13"/>
                      <a:pt x="76"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2" name="Freeform 188">
                <a:extLst>
                  <a:ext uri="{FF2B5EF4-FFF2-40B4-BE49-F238E27FC236}">
                    <a16:creationId xmlns:a16="http://schemas.microsoft.com/office/drawing/2014/main" id="{5ADE8697-1E71-7A4A-08DF-78B1B88B0F62}"/>
                  </a:ext>
                </a:extLst>
              </p:cNvPr>
              <p:cNvSpPr>
                <a:spLocks/>
              </p:cNvSpPr>
              <p:nvPr/>
            </p:nvSpPr>
            <p:spPr bwMode="auto">
              <a:xfrm>
                <a:off x="5373965" y="5544343"/>
                <a:ext cx="89364" cy="36171"/>
              </a:xfrm>
              <a:custGeom>
                <a:avLst/>
                <a:gdLst>
                  <a:gd name="T0" fmla="*/ 53 w 59"/>
                  <a:gd name="T1" fmla="*/ 22 h 24"/>
                  <a:gd name="T2" fmla="*/ 50 w 59"/>
                  <a:gd name="T3" fmla="*/ 23 h 24"/>
                  <a:gd name="T4" fmla="*/ 3 w 59"/>
                  <a:gd name="T5" fmla="*/ 24 h 24"/>
                  <a:gd name="T6" fmla="*/ 1 w 59"/>
                  <a:gd name="T7" fmla="*/ 22 h 24"/>
                  <a:gd name="T8" fmla="*/ 6 w 59"/>
                  <a:gd name="T9" fmla="*/ 1 h 24"/>
                  <a:gd name="T10" fmla="*/ 9 w 59"/>
                  <a:gd name="T11" fmla="*/ 0 h 24"/>
                  <a:gd name="T12" fmla="*/ 57 w 59"/>
                  <a:gd name="T13" fmla="*/ 0 h 24"/>
                  <a:gd name="T14" fmla="*/ 59 w 59"/>
                  <a:gd name="T15" fmla="*/ 1 h 24"/>
                  <a:gd name="T16" fmla="*/ 53 w 59"/>
                  <a:gd name="T1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24">
                    <a:moveTo>
                      <a:pt x="53" y="22"/>
                    </a:moveTo>
                    <a:cubicBezTo>
                      <a:pt x="53" y="23"/>
                      <a:pt x="52" y="23"/>
                      <a:pt x="50" y="23"/>
                    </a:cubicBezTo>
                    <a:cubicBezTo>
                      <a:pt x="31" y="23"/>
                      <a:pt x="22" y="24"/>
                      <a:pt x="3" y="24"/>
                    </a:cubicBezTo>
                    <a:cubicBezTo>
                      <a:pt x="1" y="24"/>
                      <a:pt x="0" y="23"/>
                      <a:pt x="1" y="22"/>
                    </a:cubicBezTo>
                    <a:cubicBezTo>
                      <a:pt x="3" y="13"/>
                      <a:pt x="4" y="9"/>
                      <a:pt x="6" y="1"/>
                    </a:cubicBezTo>
                    <a:cubicBezTo>
                      <a:pt x="7" y="0"/>
                      <a:pt x="8" y="0"/>
                      <a:pt x="9" y="0"/>
                    </a:cubicBezTo>
                    <a:cubicBezTo>
                      <a:pt x="28" y="0"/>
                      <a:pt x="38" y="0"/>
                      <a:pt x="57" y="0"/>
                    </a:cubicBezTo>
                    <a:cubicBezTo>
                      <a:pt x="58" y="0"/>
                      <a:pt x="59" y="0"/>
                      <a:pt x="59" y="1"/>
                    </a:cubicBezTo>
                    <a:cubicBezTo>
                      <a:pt x="56" y="9"/>
                      <a:pt x="55" y="13"/>
                      <a:pt x="53"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3" name="Freeform 189">
                <a:extLst>
                  <a:ext uri="{FF2B5EF4-FFF2-40B4-BE49-F238E27FC236}">
                    <a16:creationId xmlns:a16="http://schemas.microsoft.com/office/drawing/2014/main" id="{BED5E44D-6057-3354-99B1-E73227DF2AB8}"/>
                  </a:ext>
                </a:extLst>
              </p:cNvPr>
              <p:cNvSpPr>
                <a:spLocks/>
              </p:cNvSpPr>
              <p:nvPr/>
            </p:nvSpPr>
            <p:spPr bwMode="auto">
              <a:xfrm>
                <a:off x="5482478" y="5402850"/>
                <a:ext cx="64895" cy="45746"/>
              </a:xfrm>
              <a:custGeom>
                <a:avLst/>
                <a:gdLst>
                  <a:gd name="T0" fmla="*/ 39 w 43"/>
                  <a:gd name="T1" fmla="*/ 28 h 30"/>
                  <a:gd name="T2" fmla="*/ 36 w 43"/>
                  <a:gd name="T3" fmla="*/ 30 h 30"/>
                  <a:gd name="T4" fmla="*/ 2 w 43"/>
                  <a:gd name="T5" fmla="*/ 30 h 30"/>
                  <a:gd name="T6" fmla="*/ 0 w 43"/>
                  <a:gd name="T7" fmla="*/ 28 h 30"/>
                  <a:gd name="T8" fmla="*/ 5 w 43"/>
                  <a:gd name="T9" fmla="*/ 2 h 30"/>
                  <a:gd name="T10" fmla="*/ 8 w 43"/>
                  <a:gd name="T11" fmla="*/ 1 h 30"/>
                  <a:gd name="T12" fmla="*/ 41 w 43"/>
                  <a:gd name="T13" fmla="*/ 0 h 30"/>
                  <a:gd name="T14" fmla="*/ 43 w 43"/>
                  <a:gd name="T15" fmla="*/ 2 h 30"/>
                  <a:gd name="T16" fmla="*/ 39 w 43"/>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0">
                    <a:moveTo>
                      <a:pt x="39" y="28"/>
                    </a:moveTo>
                    <a:cubicBezTo>
                      <a:pt x="38" y="29"/>
                      <a:pt x="37" y="30"/>
                      <a:pt x="36" y="30"/>
                    </a:cubicBezTo>
                    <a:cubicBezTo>
                      <a:pt x="23" y="30"/>
                      <a:pt x="16" y="30"/>
                      <a:pt x="2" y="30"/>
                    </a:cubicBezTo>
                    <a:cubicBezTo>
                      <a:pt x="1" y="30"/>
                      <a:pt x="0" y="29"/>
                      <a:pt x="0" y="28"/>
                    </a:cubicBezTo>
                    <a:cubicBezTo>
                      <a:pt x="2" y="19"/>
                      <a:pt x="3" y="14"/>
                      <a:pt x="5" y="2"/>
                    </a:cubicBezTo>
                    <a:cubicBezTo>
                      <a:pt x="5" y="1"/>
                      <a:pt x="6" y="1"/>
                      <a:pt x="8" y="1"/>
                    </a:cubicBezTo>
                    <a:cubicBezTo>
                      <a:pt x="21" y="1"/>
                      <a:pt x="28" y="1"/>
                      <a:pt x="41" y="0"/>
                    </a:cubicBezTo>
                    <a:cubicBezTo>
                      <a:pt x="42" y="0"/>
                      <a:pt x="43" y="1"/>
                      <a:pt x="43" y="2"/>
                    </a:cubicBezTo>
                    <a:cubicBezTo>
                      <a:pt x="41" y="14"/>
                      <a:pt x="40" y="19"/>
                      <a:pt x="39"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4" name="Freeform 190">
                <a:extLst>
                  <a:ext uri="{FF2B5EF4-FFF2-40B4-BE49-F238E27FC236}">
                    <a16:creationId xmlns:a16="http://schemas.microsoft.com/office/drawing/2014/main" id="{F5AD21BE-574B-D0AC-CAF4-C2DDCCB09C92}"/>
                  </a:ext>
                </a:extLst>
              </p:cNvPr>
              <p:cNvSpPr>
                <a:spLocks/>
              </p:cNvSpPr>
              <p:nvPr/>
            </p:nvSpPr>
            <p:spPr bwMode="auto">
              <a:xfrm>
                <a:off x="5552693" y="5402850"/>
                <a:ext cx="62768" cy="45746"/>
              </a:xfrm>
              <a:custGeom>
                <a:avLst/>
                <a:gdLst>
                  <a:gd name="T0" fmla="*/ 37 w 41"/>
                  <a:gd name="T1" fmla="*/ 28 h 30"/>
                  <a:gd name="T2" fmla="*/ 35 w 41"/>
                  <a:gd name="T3" fmla="*/ 30 h 30"/>
                  <a:gd name="T4" fmla="*/ 2 w 41"/>
                  <a:gd name="T5" fmla="*/ 30 h 30"/>
                  <a:gd name="T6" fmla="*/ 0 w 41"/>
                  <a:gd name="T7" fmla="*/ 28 h 30"/>
                  <a:gd name="T8" fmla="*/ 4 w 41"/>
                  <a:gd name="T9" fmla="*/ 2 h 30"/>
                  <a:gd name="T10" fmla="*/ 6 w 41"/>
                  <a:gd name="T11" fmla="*/ 0 h 30"/>
                  <a:gd name="T12" fmla="*/ 39 w 41"/>
                  <a:gd name="T13" fmla="*/ 0 h 30"/>
                  <a:gd name="T14" fmla="*/ 41 w 41"/>
                  <a:gd name="T15" fmla="*/ 2 h 30"/>
                  <a:gd name="T16" fmla="*/ 37 w 41"/>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0">
                    <a:moveTo>
                      <a:pt x="37" y="28"/>
                    </a:moveTo>
                    <a:cubicBezTo>
                      <a:pt x="37" y="29"/>
                      <a:pt x="36" y="30"/>
                      <a:pt x="35" y="30"/>
                    </a:cubicBezTo>
                    <a:cubicBezTo>
                      <a:pt x="22" y="30"/>
                      <a:pt x="15" y="30"/>
                      <a:pt x="2" y="30"/>
                    </a:cubicBezTo>
                    <a:cubicBezTo>
                      <a:pt x="1" y="30"/>
                      <a:pt x="0" y="29"/>
                      <a:pt x="0" y="28"/>
                    </a:cubicBezTo>
                    <a:cubicBezTo>
                      <a:pt x="2" y="19"/>
                      <a:pt x="2" y="14"/>
                      <a:pt x="4" y="2"/>
                    </a:cubicBezTo>
                    <a:cubicBezTo>
                      <a:pt x="4" y="1"/>
                      <a:pt x="5" y="0"/>
                      <a:pt x="6" y="0"/>
                    </a:cubicBezTo>
                    <a:cubicBezTo>
                      <a:pt x="19" y="0"/>
                      <a:pt x="26" y="0"/>
                      <a:pt x="39" y="0"/>
                    </a:cubicBezTo>
                    <a:cubicBezTo>
                      <a:pt x="40" y="0"/>
                      <a:pt x="41" y="1"/>
                      <a:pt x="41" y="2"/>
                    </a:cubicBezTo>
                    <a:cubicBezTo>
                      <a:pt x="39" y="14"/>
                      <a:pt x="38" y="19"/>
                      <a:pt x="37"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5" name="Freeform 191">
                <a:extLst>
                  <a:ext uri="{FF2B5EF4-FFF2-40B4-BE49-F238E27FC236}">
                    <a16:creationId xmlns:a16="http://schemas.microsoft.com/office/drawing/2014/main" id="{6EEC86A7-A08D-D165-A03A-40A40280EE78}"/>
                  </a:ext>
                </a:extLst>
              </p:cNvPr>
              <p:cNvSpPr>
                <a:spLocks/>
              </p:cNvSpPr>
              <p:nvPr/>
            </p:nvSpPr>
            <p:spPr bwMode="auto">
              <a:xfrm>
                <a:off x="5621844" y="5402850"/>
                <a:ext cx="58512" cy="45746"/>
              </a:xfrm>
              <a:custGeom>
                <a:avLst/>
                <a:gdLst>
                  <a:gd name="T0" fmla="*/ 36 w 39"/>
                  <a:gd name="T1" fmla="*/ 28 h 30"/>
                  <a:gd name="T2" fmla="*/ 34 w 39"/>
                  <a:gd name="T3" fmla="*/ 30 h 30"/>
                  <a:gd name="T4" fmla="*/ 2 w 39"/>
                  <a:gd name="T5" fmla="*/ 30 h 30"/>
                  <a:gd name="T6" fmla="*/ 0 w 39"/>
                  <a:gd name="T7" fmla="*/ 28 h 30"/>
                  <a:gd name="T8" fmla="*/ 3 w 39"/>
                  <a:gd name="T9" fmla="*/ 2 h 30"/>
                  <a:gd name="T10" fmla="*/ 6 w 39"/>
                  <a:gd name="T11" fmla="*/ 0 h 30"/>
                  <a:gd name="T12" fmla="*/ 37 w 39"/>
                  <a:gd name="T13" fmla="*/ 0 h 30"/>
                  <a:gd name="T14" fmla="*/ 39 w 39"/>
                  <a:gd name="T15" fmla="*/ 2 h 30"/>
                  <a:gd name="T16" fmla="*/ 36 w 39"/>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36" y="28"/>
                    </a:moveTo>
                    <a:cubicBezTo>
                      <a:pt x="36" y="29"/>
                      <a:pt x="35" y="30"/>
                      <a:pt x="34" y="30"/>
                    </a:cubicBezTo>
                    <a:cubicBezTo>
                      <a:pt x="21" y="30"/>
                      <a:pt x="15" y="30"/>
                      <a:pt x="2" y="30"/>
                    </a:cubicBezTo>
                    <a:cubicBezTo>
                      <a:pt x="1" y="30"/>
                      <a:pt x="0" y="29"/>
                      <a:pt x="0" y="28"/>
                    </a:cubicBezTo>
                    <a:cubicBezTo>
                      <a:pt x="1" y="19"/>
                      <a:pt x="2" y="14"/>
                      <a:pt x="3" y="2"/>
                    </a:cubicBezTo>
                    <a:cubicBezTo>
                      <a:pt x="4" y="1"/>
                      <a:pt x="5" y="0"/>
                      <a:pt x="6" y="0"/>
                    </a:cubicBezTo>
                    <a:cubicBezTo>
                      <a:pt x="18" y="0"/>
                      <a:pt x="25" y="0"/>
                      <a:pt x="37" y="0"/>
                    </a:cubicBezTo>
                    <a:cubicBezTo>
                      <a:pt x="38" y="0"/>
                      <a:pt x="39" y="1"/>
                      <a:pt x="39" y="2"/>
                    </a:cubicBezTo>
                    <a:cubicBezTo>
                      <a:pt x="38" y="14"/>
                      <a:pt x="37" y="19"/>
                      <a:pt x="36"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6" name="Freeform 192">
                <a:extLst>
                  <a:ext uri="{FF2B5EF4-FFF2-40B4-BE49-F238E27FC236}">
                    <a16:creationId xmlns:a16="http://schemas.microsoft.com/office/drawing/2014/main" id="{2C01818E-DE82-A5EF-FFA5-50F130431616}"/>
                  </a:ext>
                </a:extLst>
              </p:cNvPr>
              <p:cNvSpPr>
                <a:spLocks/>
              </p:cNvSpPr>
              <p:nvPr/>
            </p:nvSpPr>
            <p:spPr bwMode="auto">
              <a:xfrm>
                <a:off x="5687803" y="5402850"/>
                <a:ext cx="57448" cy="45746"/>
              </a:xfrm>
              <a:custGeom>
                <a:avLst/>
                <a:gdLst>
                  <a:gd name="T0" fmla="*/ 36 w 38"/>
                  <a:gd name="T1" fmla="*/ 28 h 30"/>
                  <a:gd name="T2" fmla="*/ 34 w 38"/>
                  <a:gd name="T3" fmla="*/ 30 h 30"/>
                  <a:gd name="T4" fmla="*/ 2 w 38"/>
                  <a:gd name="T5" fmla="*/ 30 h 30"/>
                  <a:gd name="T6" fmla="*/ 0 w 38"/>
                  <a:gd name="T7" fmla="*/ 28 h 30"/>
                  <a:gd name="T8" fmla="*/ 3 w 38"/>
                  <a:gd name="T9" fmla="*/ 2 h 30"/>
                  <a:gd name="T10" fmla="*/ 5 w 38"/>
                  <a:gd name="T11" fmla="*/ 0 h 30"/>
                  <a:gd name="T12" fmla="*/ 36 w 38"/>
                  <a:gd name="T13" fmla="*/ 0 h 30"/>
                  <a:gd name="T14" fmla="*/ 38 w 38"/>
                  <a:gd name="T15" fmla="*/ 2 h 30"/>
                  <a:gd name="T16" fmla="*/ 36 w 38"/>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0">
                    <a:moveTo>
                      <a:pt x="36" y="28"/>
                    </a:moveTo>
                    <a:cubicBezTo>
                      <a:pt x="36" y="29"/>
                      <a:pt x="35" y="30"/>
                      <a:pt x="34" y="30"/>
                    </a:cubicBezTo>
                    <a:cubicBezTo>
                      <a:pt x="21" y="30"/>
                      <a:pt x="15" y="30"/>
                      <a:pt x="2" y="30"/>
                    </a:cubicBezTo>
                    <a:cubicBezTo>
                      <a:pt x="1" y="30"/>
                      <a:pt x="0" y="29"/>
                      <a:pt x="0" y="28"/>
                    </a:cubicBezTo>
                    <a:cubicBezTo>
                      <a:pt x="1" y="19"/>
                      <a:pt x="2" y="14"/>
                      <a:pt x="3" y="2"/>
                    </a:cubicBezTo>
                    <a:cubicBezTo>
                      <a:pt x="3" y="1"/>
                      <a:pt x="4" y="0"/>
                      <a:pt x="5" y="0"/>
                    </a:cubicBezTo>
                    <a:cubicBezTo>
                      <a:pt x="17" y="0"/>
                      <a:pt x="23" y="0"/>
                      <a:pt x="36" y="0"/>
                    </a:cubicBezTo>
                    <a:cubicBezTo>
                      <a:pt x="37" y="0"/>
                      <a:pt x="38" y="1"/>
                      <a:pt x="38" y="2"/>
                    </a:cubicBezTo>
                    <a:cubicBezTo>
                      <a:pt x="37" y="14"/>
                      <a:pt x="37" y="19"/>
                      <a:pt x="36"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7" name="Freeform 193">
                <a:extLst>
                  <a:ext uri="{FF2B5EF4-FFF2-40B4-BE49-F238E27FC236}">
                    <a16:creationId xmlns:a16="http://schemas.microsoft.com/office/drawing/2014/main" id="{18B6BE20-6323-03AA-FEEE-53F6BB21A950}"/>
                  </a:ext>
                </a:extLst>
              </p:cNvPr>
              <p:cNvSpPr>
                <a:spLocks/>
              </p:cNvSpPr>
              <p:nvPr/>
            </p:nvSpPr>
            <p:spPr bwMode="auto">
              <a:xfrm>
                <a:off x="5754826" y="5402850"/>
                <a:ext cx="54257" cy="45746"/>
              </a:xfrm>
              <a:custGeom>
                <a:avLst/>
                <a:gdLst>
                  <a:gd name="T0" fmla="*/ 35 w 36"/>
                  <a:gd name="T1" fmla="*/ 28 h 30"/>
                  <a:gd name="T2" fmla="*/ 33 w 36"/>
                  <a:gd name="T3" fmla="*/ 30 h 30"/>
                  <a:gd name="T4" fmla="*/ 2 w 36"/>
                  <a:gd name="T5" fmla="*/ 30 h 30"/>
                  <a:gd name="T6" fmla="*/ 0 w 36"/>
                  <a:gd name="T7" fmla="*/ 28 h 30"/>
                  <a:gd name="T8" fmla="*/ 1 w 36"/>
                  <a:gd name="T9" fmla="*/ 2 h 30"/>
                  <a:gd name="T10" fmla="*/ 3 w 36"/>
                  <a:gd name="T11" fmla="*/ 0 h 30"/>
                  <a:gd name="T12" fmla="*/ 34 w 36"/>
                  <a:gd name="T13" fmla="*/ 0 h 30"/>
                  <a:gd name="T14" fmla="*/ 36 w 36"/>
                  <a:gd name="T15" fmla="*/ 2 h 30"/>
                  <a:gd name="T16" fmla="*/ 35 w 36"/>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30">
                    <a:moveTo>
                      <a:pt x="35" y="28"/>
                    </a:moveTo>
                    <a:cubicBezTo>
                      <a:pt x="35" y="29"/>
                      <a:pt x="34" y="30"/>
                      <a:pt x="33" y="30"/>
                    </a:cubicBezTo>
                    <a:cubicBezTo>
                      <a:pt x="20" y="30"/>
                      <a:pt x="14" y="30"/>
                      <a:pt x="2" y="30"/>
                    </a:cubicBezTo>
                    <a:cubicBezTo>
                      <a:pt x="0" y="30"/>
                      <a:pt x="0" y="29"/>
                      <a:pt x="0" y="28"/>
                    </a:cubicBezTo>
                    <a:cubicBezTo>
                      <a:pt x="0" y="19"/>
                      <a:pt x="1" y="14"/>
                      <a:pt x="1" y="2"/>
                    </a:cubicBezTo>
                    <a:cubicBezTo>
                      <a:pt x="1" y="1"/>
                      <a:pt x="2" y="0"/>
                      <a:pt x="3" y="0"/>
                    </a:cubicBezTo>
                    <a:cubicBezTo>
                      <a:pt x="15" y="0"/>
                      <a:pt x="21" y="0"/>
                      <a:pt x="34" y="0"/>
                    </a:cubicBezTo>
                    <a:cubicBezTo>
                      <a:pt x="35" y="0"/>
                      <a:pt x="36" y="1"/>
                      <a:pt x="36" y="2"/>
                    </a:cubicBezTo>
                    <a:cubicBezTo>
                      <a:pt x="35" y="14"/>
                      <a:pt x="35" y="19"/>
                      <a:pt x="3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8" name="Freeform 194">
                <a:extLst>
                  <a:ext uri="{FF2B5EF4-FFF2-40B4-BE49-F238E27FC236}">
                    <a16:creationId xmlns:a16="http://schemas.microsoft.com/office/drawing/2014/main" id="{17D9645B-1EA0-92D8-31F8-7479CF90B26F}"/>
                  </a:ext>
                </a:extLst>
              </p:cNvPr>
              <p:cNvSpPr>
                <a:spLocks/>
              </p:cNvSpPr>
              <p:nvPr/>
            </p:nvSpPr>
            <p:spPr bwMode="auto">
              <a:xfrm>
                <a:off x="5818657" y="5402850"/>
                <a:ext cx="54257" cy="45746"/>
              </a:xfrm>
              <a:custGeom>
                <a:avLst/>
                <a:gdLst>
                  <a:gd name="T0" fmla="*/ 36 w 36"/>
                  <a:gd name="T1" fmla="*/ 28 h 30"/>
                  <a:gd name="T2" fmla="*/ 34 w 36"/>
                  <a:gd name="T3" fmla="*/ 30 h 30"/>
                  <a:gd name="T4" fmla="*/ 3 w 36"/>
                  <a:gd name="T5" fmla="*/ 30 h 30"/>
                  <a:gd name="T6" fmla="*/ 1 w 36"/>
                  <a:gd name="T7" fmla="*/ 28 h 30"/>
                  <a:gd name="T8" fmla="*/ 1 w 36"/>
                  <a:gd name="T9" fmla="*/ 2 h 30"/>
                  <a:gd name="T10" fmla="*/ 3 w 36"/>
                  <a:gd name="T11" fmla="*/ 0 h 30"/>
                  <a:gd name="T12" fmla="*/ 33 w 36"/>
                  <a:gd name="T13" fmla="*/ 0 h 30"/>
                  <a:gd name="T14" fmla="*/ 35 w 36"/>
                  <a:gd name="T15" fmla="*/ 2 h 30"/>
                  <a:gd name="T16" fmla="*/ 36 w 36"/>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30">
                    <a:moveTo>
                      <a:pt x="36" y="28"/>
                    </a:moveTo>
                    <a:cubicBezTo>
                      <a:pt x="36" y="29"/>
                      <a:pt x="35" y="30"/>
                      <a:pt x="34" y="30"/>
                    </a:cubicBezTo>
                    <a:cubicBezTo>
                      <a:pt x="21" y="30"/>
                      <a:pt x="15" y="30"/>
                      <a:pt x="3" y="30"/>
                    </a:cubicBezTo>
                    <a:cubicBezTo>
                      <a:pt x="1" y="30"/>
                      <a:pt x="0" y="29"/>
                      <a:pt x="1" y="28"/>
                    </a:cubicBezTo>
                    <a:cubicBezTo>
                      <a:pt x="1" y="19"/>
                      <a:pt x="1" y="14"/>
                      <a:pt x="1" y="2"/>
                    </a:cubicBezTo>
                    <a:cubicBezTo>
                      <a:pt x="1" y="1"/>
                      <a:pt x="2" y="0"/>
                      <a:pt x="3" y="0"/>
                    </a:cubicBezTo>
                    <a:cubicBezTo>
                      <a:pt x="15" y="0"/>
                      <a:pt x="21" y="0"/>
                      <a:pt x="33" y="0"/>
                    </a:cubicBezTo>
                    <a:cubicBezTo>
                      <a:pt x="34" y="0"/>
                      <a:pt x="35" y="1"/>
                      <a:pt x="35" y="2"/>
                    </a:cubicBezTo>
                    <a:cubicBezTo>
                      <a:pt x="35" y="14"/>
                      <a:pt x="35" y="19"/>
                      <a:pt x="36"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9" name="Freeform 195">
                <a:extLst>
                  <a:ext uri="{FF2B5EF4-FFF2-40B4-BE49-F238E27FC236}">
                    <a16:creationId xmlns:a16="http://schemas.microsoft.com/office/drawing/2014/main" id="{BF4E4028-E5D8-74F8-DE5A-938D70C888D4}"/>
                  </a:ext>
                </a:extLst>
              </p:cNvPr>
              <p:cNvSpPr>
                <a:spLocks/>
              </p:cNvSpPr>
              <p:nvPr/>
            </p:nvSpPr>
            <p:spPr bwMode="auto">
              <a:xfrm>
                <a:off x="5883552" y="5402850"/>
                <a:ext cx="53193" cy="45746"/>
              </a:xfrm>
              <a:custGeom>
                <a:avLst/>
                <a:gdLst>
                  <a:gd name="T0" fmla="*/ 35 w 35"/>
                  <a:gd name="T1" fmla="*/ 28 h 30"/>
                  <a:gd name="T2" fmla="*/ 33 w 35"/>
                  <a:gd name="T3" fmla="*/ 30 h 30"/>
                  <a:gd name="T4" fmla="*/ 2 w 35"/>
                  <a:gd name="T5" fmla="*/ 30 h 30"/>
                  <a:gd name="T6" fmla="*/ 0 w 35"/>
                  <a:gd name="T7" fmla="*/ 28 h 30"/>
                  <a:gd name="T8" fmla="*/ 0 w 35"/>
                  <a:gd name="T9" fmla="*/ 2 h 30"/>
                  <a:gd name="T10" fmla="*/ 1 w 35"/>
                  <a:gd name="T11" fmla="*/ 0 h 30"/>
                  <a:gd name="T12" fmla="*/ 32 w 35"/>
                  <a:gd name="T13" fmla="*/ 0 h 30"/>
                  <a:gd name="T14" fmla="*/ 34 w 35"/>
                  <a:gd name="T15" fmla="*/ 2 h 30"/>
                  <a:gd name="T16" fmla="*/ 35 w 35"/>
                  <a:gd name="T17"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0">
                    <a:moveTo>
                      <a:pt x="35" y="28"/>
                    </a:moveTo>
                    <a:cubicBezTo>
                      <a:pt x="35" y="29"/>
                      <a:pt x="34" y="30"/>
                      <a:pt x="33" y="30"/>
                    </a:cubicBezTo>
                    <a:cubicBezTo>
                      <a:pt x="21" y="30"/>
                      <a:pt x="15" y="30"/>
                      <a:pt x="2" y="30"/>
                    </a:cubicBezTo>
                    <a:cubicBezTo>
                      <a:pt x="1" y="30"/>
                      <a:pt x="0" y="29"/>
                      <a:pt x="0" y="28"/>
                    </a:cubicBezTo>
                    <a:cubicBezTo>
                      <a:pt x="0" y="19"/>
                      <a:pt x="0" y="14"/>
                      <a:pt x="0" y="2"/>
                    </a:cubicBezTo>
                    <a:cubicBezTo>
                      <a:pt x="0" y="1"/>
                      <a:pt x="0" y="0"/>
                      <a:pt x="1" y="0"/>
                    </a:cubicBezTo>
                    <a:cubicBezTo>
                      <a:pt x="13" y="0"/>
                      <a:pt x="19" y="0"/>
                      <a:pt x="32" y="0"/>
                    </a:cubicBezTo>
                    <a:cubicBezTo>
                      <a:pt x="33" y="0"/>
                      <a:pt x="34" y="1"/>
                      <a:pt x="34" y="2"/>
                    </a:cubicBezTo>
                    <a:cubicBezTo>
                      <a:pt x="34" y="14"/>
                      <a:pt x="35" y="19"/>
                      <a:pt x="35"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0" name="Freeform 196">
                <a:extLst>
                  <a:ext uri="{FF2B5EF4-FFF2-40B4-BE49-F238E27FC236}">
                    <a16:creationId xmlns:a16="http://schemas.microsoft.com/office/drawing/2014/main" id="{6AFC7897-4926-6BC7-B8A7-99B2E2AF1725}"/>
                  </a:ext>
                </a:extLst>
              </p:cNvPr>
              <p:cNvSpPr>
                <a:spLocks/>
              </p:cNvSpPr>
              <p:nvPr/>
            </p:nvSpPr>
            <p:spPr bwMode="auto">
              <a:xfrm>
                <a:off x="5945256" y="5402850"/>
                <a:ext cx="56384" cy="45746"/>
              </a:xfrm>
              <a:custGeom>
                <a:avLst/>
                <a:gdLst>
                  <a:gd name="T0" fmla="*/ 37 w 37"/>
                  <a:gd name="T1" fmla="*/ 29 h 30"/>
                  <a:gd name="T2" fmla="*/ 35 w 37"/>
                  <a:gd name="T3" fmla="*/ 30 h 30"/>
                  <a:gd name="T4" fmla="*/ 4 w 37"/>
                  <a:gd name="T5" fmla="*/ 30 h 30"/>
                  <a:gd name="T6" fmla="*/ 2 w 37"/>
                  <a:gd name="T7" fmla="*/ 29 h 30"/>
                  <a:gd name="T8" fmla="*/ 0 w 37"/>
                  <a:gd name="T9" fmla="*/ 2 h 30"/>
                  <a:gd name="T10" fmla="*/ 2 w 37"/>
                  <a:gd name="T11" fmla="*/ 0 h 30"/>
                  <a:gd name="T12" fmla="*/ 32 w 37"/>
                  <a:gd name="T13" fmla="*/ 0 h 30"/>
                  <a:gd name="T14" fmla="*/ 34 w 37"/>
                  <a:gd name="T15" fmla="*/ 2 h 30"/>
                  <a:gd name="T16" fmla="*/ 37 w 37"/>
                  <a:gd name="T17"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0">
                    <a:moveTo>
                      <a:pt x="37" y="29"/>
                    </a:moveTo>
                    <a:cubicBezTo>
                      <a:pt x="37" y="29"/>
                      <a:pt x="36" y="30"/>
                      <a:pt x="35" y="30"/>
                    </a:cubicBezTo>
                    <a:cubicBezTo>
                      <a:pt x="23" y="30"/>
                      <a:pt x="16" y="30"/>
                      <a:pt x="4" y="30"/>
                    </a:cubicBezTo>
                    <a:cubicBezTo>
                      <a:pt x="3" y="30"/>
                      <a:pt x="2" y="29"/>
                      <a:pt x="2" y="29"/>
                    </a:cubicBezTo>
                    <a:cubicBezTo>
                      <a:pt x="1" y="19"/>
                      <a:pt x="1" y="14"/>
                      <a:pt x="0" y="2"/>
                    </a:cubicBezTo>
                    <a:cubicBezTo>
                      <a:pt x="0" y="1"/>
                      <a:pt x="1" y="0"/>
                      <a:pt x="2" y="0"/>
                    </a:cubicBezTo>
                    <a:cubicBezTo>
                      <a:pt x="14" y="0"/>
                      <a:pt x="20" y="0"/>
                      <a:pt x="32" y="0"/>
                    </a:cubicBezTo>
                    <a:cubicBezTo>
                      <a:pt x="33" y="0"/>
                      <a:pt x="34" y="1"/>
                      <a:pt x="34" y="2"/>
                    </a:cubicBezTo>
                    <a:cubicBezTo>
                      <a:pt x="35" y="14"/>
                      <a:pt x="36" y="19"/>
                      <a:pt x="37"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1" name="Freeform 197">
                <a:extLst>
                  <a:ext uri="{FF2B5EF4-FFF2-40B4-BE49-F238E27FC236}">
                    <a16:creationId xmlns:a16="http://schemas.microsoft.com/office/drawing/2014/main" id="{955859D7-B7A7-F494-9557-C095BEE20BD3}"/>
                  </a:ext>
                </a:extLst>
              </p:cNvPr>
              <p:cNvSpPr>
                <a:spLocks/>
              </p:cNvSpPr>
              <p:nvPr/>
            </p:nvSpPr>
            <p:spPr bwMode="auto">
              <a:xfrm>
                <a:off x="6009087" y="5402850"/>
                <a:ext cx="57448" cy="45746"/>
              </a:xfrm>
              <a:custGeom>
                <a:avLst/>
                <a:gdLst>
                  <a:gd name="T0" fmla="*/ 38 w 38"/>
                  <a:gd name="T1" fmla="*/ 29 h 30"/>
                  <a:gd name="T2" fmla="*/ 36 w 38"/>
                  <a:gd name="T3" fmla="*/ 30 h 30"/>
                  <a:gd name="T4" fmla="*/ 5 w 38"/>
                  <a:gd name="T5" fmla="*/ 30 h 30"/>
                  <a:gd name="T6" fmla="*/ 3 w 38"/>
                  <a:gd name="T7" fmla="*/ 29 h 30"/>
                  <a:gd name="T8" fmla="*/ 0 w 38"/>
                  <a:gd name="T9" fmla="*/ 2 h 30"/>
                  <a:gd name="T10" fmla="*/ 2 w 38"/>
                  <a:gd name="T11" fmla="*/ 0 h 30"/>
                  <a:gd name="T12" fmla="*/ 32 w 38"/>
                  <a:gd name="T13" fmla="*/ 0 h 30"/>
                  <a:gd name="T14" fmla="*/ 34 w 38"/>
                  <a:gd name="T15" fmla="*/ 2 h 30"/>
                  <a:gd name="T16" fmla="*/ 38 w 38"/>
                  <a:gd name="T17"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0">
                    <a:moveTo>
                      <a:pt x="38" y="29"/>
                    </a:moveTo>
                    <a:cubicBezTo>
                      <a:pt x="38" y="29"/>
                      <a:pt x="37" y="30"/>
                      <a:pt x="36" y="30"/>
                    </a:cubicBezTo>
                    <a:cubicBezTo>
                      <a:pt x="24" y="30"/>
                      <a:pt x="17" y="30"/>
                      <a:pt x="5" y="30"/>
                    </a:cubicBezTo>
                    <a:cubicBezTo>
                      <a:pt x="4" y="30"/>
                      <a:pt x="3" y="29"/>
                      <a:pt x="3" y="29"/>
                    </a:cubicBezTo>
                    <a:cubicBezTo>
                      <a:pt x="2" y="19"/>
                      <a:pt x="1" y="14"/>
                      <a:pt x="0" y="2"/>
                    </a:cubicBezTo>
                    <a:cubicBezTo>
                      <a:pt x="0" y="1"/>
                      <a:pt x="1" y="0"/>
                      <a:pt x="2" y="0"/>
                    </a:cubicBezTo>
                    <a:cubicBezTo>
                      <a:pt x="14" y="0"/>
                      <a:pt x="20" y="0"/>
                      <a:pt x="32" y="0"/>
                    </a:cubicBezTo>
                    <a:cubicBezTo>
                      <a:pt x="33" y="0"/>
                      <a:pt x="34" y="1"/>
                      <a:pt x="34" y="2"/>
                    </a:cubicBezTo>
                    <a:cubicBezTo>
                      <a:pt x="36" y="14"/>
                      <a:pt x="37" y="19"/>
                      <a:pt x="38"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2" name="Freeform 198">
                <a:extLst>
                  <a:ext uri="{FF2B5EF4-FFF2-40B4-BE49-F238E27FC236}">
                    <a16:creationId xmlns:a16="http://schemas.microsoft.com/office/drawing/2014/main" id="{653991C7-4C9C-B5B0-E82F-7B9B1D9E7549}"/>
                  </a:ext>
                </a:extLst>
              </p:cNvPr>
              <p:cNvSpPr>
                <a:spLocks/>
              </p:cNvSpPr>
              <p:nvPr/>
            </p:nvSpPr>
            <p:spPr bwMode="auto">
              <a:xfrm>
                <a:off x="6072919" y="5402850"/>
                <a:ext cx="60640" cy="45746"/>
              </a:xfrm>
              <a:custGeom>
                <a:avLst/>
                <a:gdLst>
                  <a:gd name="T0" fmla="*/ 40 w 40"/>
                  <a:gd name="T1" fmla="*/ 29 h 30"/>
                  <a:gd name="T2" fmla="*/ 38 w 40"/>
                  <a:gd name="T3" fmla="*/ 30 h 30"/>
                  <a:gd name="T4" fmla="*/ 6 w 40"/>
                  <a:gd name="T5" fmla="*/ 30 h 30"/>
                  <a:gd name="T6" fmla="*/ 4 w 40"/>
                  <a:gd name="T7" fmla="*/ 29 h 30"/>
                  <a:gd name="T8" fmla="*/ 0 w 40"/>
                  <a:gd name="T9" fmla="*/ 2 h 30"/>
                  <a:gd name="T10" fmla="*/ 2 w 40"/>
                  <a:gd name="T11" fmla="*/ 0 h 30"/>
                  <a:gd name="T12" fmla="*/ 33 w 40"/>
                  <a:gd name="T13" fmla="*/ 0 h 30"/>
                  <a:gd name="T14" fmla="*/ 35 w 40"/>
                  <a:gd name="T15" fmla="*/ 2 h 30"/>
                  <a:gd name="T16" fmla="*/ 40 w 40"/>
                  <a:gd name="T17"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0">
                    <a:moveTo>
                      <a:pt x="40" y="29"/>
                    </a:moveTo>
                    <a:cubicBezTo>
                      <a:pt x="40" y="30"/>
                      <a:pt x="39" y="30"/>
                      <a:pt x="38" y="30"/>
                    </a:cubicBezTo>
                    <a:cubicBezTo>
                      <a:pt x="25" y="30"/>
                      <a:pt x="19" y="30"/>
                      <a:pt x="6" y="30"/>
                    </a:cubicBezTo>
                    <a:cubicBezTo>
                      <a:pt x="5" y="30"/>
                      <a:pt x="4" y="29"/>
                      <a:pt x="4" y="29"/>
                    </a:cubicBezTo>
                    <a:cubicBezTo>
                      <a:pt x="3" y="19"/>
                      <a:pt x="2" y="14"/>
                      <a:pt x="0" y="2"/>
                    </a:cubicBezTo>
                    <a:cubicBezTo>
                      <a:pt x="0" y="1"/>
                      <a:pt x="1" y="0"/>
                      <a:pt x="2" y="0"/>
                    </a:cubicBezTo>
                    <a:cubicBezTo>
                      <a:pt x="14" y="0"/>
                      <a:pt x="20" y="0"/>
                      <a:pt x="33" y="0"/>
                    </a:cubicBezTo>
                    <a:cubicBezTo>
                      <a:pt x="34" y="0"/>
                      <a:pt x="35" y="1"/>
                      <a:pt x="35" y="2"/>
                    </a:cubicBezTo>
                    <a:cubicBezTo>
                      <a:pt x="37" y="13"/>
                      <a:pt x="38" y="19"/>
                      <a:pt x="40"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3" name="Freeform 199">
                <a:extLst>
                  <a:ext uri="{FF2B5EF4-FFF2-40B4-BE49-F238E27FC236}">
                    <a16:creationId xmlns:a16="http://schemas.microsoft.com/office/drawing/2014/main" id="{AE441934-DE95-58AF-FFB2-5F71A71E0BF0}"/>
                  </a:ext>
                </a:extLst>
              </p:cNvPr>
              <p:cNvSpPr>
                <a:spLocks/>
              </p:cNvSpPr>
              <p:nvPr/>
            </p:nvSpPr>
            <p:spPr bwMode="auto">
              <a:xfrm>
                <a:off x="6137814" y="5402850"/>
                <a:ext cx="63831" cy="45746"/>
              </a:xfrm>
              <a:custGeom>
                <a:avLst/>
                <a:gdLst>
                  <a:gd name="T0" fmla="*/ 42 w 42"/>
                  <a:gd name="T1" fmla="*/ 29 h 30"/>
                  <a:gd name="T2" fmla="*/ 40 w 42"/>
                  <a:gd name="T3" fmla="*/ 30 h 30"/>
                  <a:gd name="T4" fmla="*/ 7 w 42"/>
                  <a:gd name="T5" fmla="*/ 30 h 30"/>
                  <a:gd name="T6" fmla="*/ 5 w 42"/>
                  <a:gd name="T7" fmla="*/ 29 h 30"/>
                  <a:gd name="T8" fmla="*/ 0 w 42"/>
                  <a:gd name="T9" fmla="*/ 2 h 30"/>
                  <a:gd name="T10" fmla="*/ 2 w 42"/>
                  <a:gd name="T11" fmla="*/ 0 h 30"/>
                  <a:gd name="T12" fmla="*/ 34 w 42"/>
                  <a:gd name="T13" fmla="*/ 0 h 30"/>
                  <a:gd name="T14" fmla="*/ 36 w 42"/>
                  <a:gd name="T15" fmla="*/ 2 h 30"/>
                  <a:gd name="T16" fmla="*/ 42 w 42"/>
                  <a:gd name="T17"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0">
                    <a:moveTo>
                      <a:pt x="42" y="29"/>
                    </a:moveTo>
                    <a:cubicBezTo>
                      <a:pt x="42" y="30"/>
                      <a:pt x="41" y="30"/>
                      <a:pt x="40" y="30"/>
                    </a:cubicBezTo>
                    <a:cubicBezTo>
                      <a:pt x="27" y="30"/>
                      <a:pt x="20" y="30"/>
                      <a:pt x="7" y="30"/>
                    </a:cubicBezTo>
                    <a:cubicBezTo>
                      <a:pt x="6" y="30"/>
                      <a:pt x="5" y="30"/>
                      <a:pt x="5" y="29"/>
                    </a:cubicBezTo>
                    <a:cubicBezTo>
                      <a:pt x="3" y="19"/>
                      <a:pt x="2" y="13"/>
                      <a:pt x="0" y="2"/>
                    </a:cubicBezTo>
                    <a:cubicBezTo>
                      <a:pt x="0" y="1"/>
                      <a:pt x="1" y="0"/>
                      <a:pt x="2" y="0"/>
                    </a:cubicBezTo>
                    <a:cubicBezTo>
                      <a:pt x="15" y="0"/>
                      <a:pt x="21" y="0"/>
                      <a:pt x="34" y="0"/>
                    </a:cubicBezTo>
                    <a:cubicBezTo>
                      <a:pt x="35" y="0"/>
                      <a:pt x="36" y="0"/>
                      <a:pt x="36" y="2"/>
                    </a:cubicBezTo>
                    <a:cubicBezTo>
                      <a:pt x="39" y="13"/>
                      <a:pt x="40" y="19"/>
                      <a:pt x="42"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4" name="Freeform 200">
                <a:extLst>
                  <a:ext uri="{FF2B5EF4-FFF2-40B4-BE49-F238E27FC236}">
                    <a16:creationId xmlns:a16="http://schemas.microsoft.com/office/drawing/2014/main" id="{5573DF6B-30F6-79D7-568E-08A9542C9FDC}"/>
                  </a:ext>
                </a:extLst>
              </p:cNvPr>
              <p:cNvSpPr>
                <a:spLocks/>
              </p:cNvSpPr>
              <p:nvPr/>
            </p:nvSpPr>
            <p:spPr bwMode="auto">
              <a:xfrm>
                <a:off x="6204837" y="5401786"/>
                <a:ext cx="65959" cy="46810"/>
              </a:xfrm>
              <a:custGeom>
                <a:avLst/>
                <a:gdLst>
                  <a:gd name="T0" fmla="*/ 44 w 44"/>
                  <a:gd name="T1" fmla="*/ 30 h 31"/>
                  <a:gd name="T2" fmla="*/ 42 w 44"/>
                  <a:gd name="T3" fmla="*/ 31 h 31"/>
                  <a:gd name="T4" fmla="*/ 8 w 44"/>
                  <a:gd name="T5" fmla="*/ 31 h 31"/>
                  <a:gd name="T6" fmla="*/ 6 w 44"/>
                  <a:gd name="T7" fmla="*/ 30 h 31"/>
                  <a:gd name="T8" fmla="*/ 0 w 44"/>
                  <a:gd name="T9" fmla="*/ 3 h 31"/>
                  <a:gd name="T10" fmla="*/ 2 w 44"/>
                  <a:gd name="T11" fmla="*/ 1 h 31"/>
                  <a:gd name="T12" fmla="*/ 35 w 44"/>
                  <a:gd name="T13" fmla="*/ 0 h 31"/>
                  <a:gd name="T14" fmla="*/ 38 w 44"/>
                  <a:gd name="T15" fmla="*/ 2 h 31"/>
                  <a:gd name="T16" fmla="*/ 44 w 44"/>
                  <a:gd name="T17"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1">
                    <a:moveTo>
                      <a:pt x="44" y="30"/>
                    </a:moveTo>
                    <a:cubicBezTo>
                      <a:pt x="44" y="31"/>
                      <a:pt x="43" y="31"/>
                      <a:pt x="42" y="31"/>
                    </a:cubicBezTo>
                    <a:cubicBezTo>
                      <a:pt x="28" y="31"/>
                      <a:pt x="22" y="31"/>
                      <a:pt x="8" y="31"/>
                    </a:cubicBezTo>
                    <a:cubicBezTo>
                      <a:pt x="7" y="31"/>
                      <a:pt x="6" y="31"/>
                      <a:pt x="6" y="30"/>
                    </a:cubicBezTo>
                    <a:cubicBezTo>
                      <a:pt x="4" y="20"/>
                      <a:pt x="3" y="14"/>
                      <a:pt x="0" y="3"/>
                    </a:cubicBezTo>
                    <a:cubicBezTo>
                      <a:pt x="0" y="1"/>
                      <a:pt x="1" y="1"/>
                      <a:pt x="2" y="1"/>
                    </a:cubicBezTo>
                    <a:cubicBezTo>
                      <a:pt x="15" y="1"/>
                      <a:pt x="22" y="1"/>
                      <a:pt x="35" y="0"/>
                    </a:cubicBezTo>
                    <a:cubicBezTo>
                      <a:pt x="36" y="0"/>
                      <a:pt x="37" y="1"/>
                      <a:pt x="38" y="2"/>
                    </a:cubicBezTo>
                    <a:cubicBezTo>
                      <a:pt x="40" y="14"/>
                      <a:pt x="41" y="20"/>
                      <a:pt x="44" y="3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5" name="Freeform 201">
                <a:extLst>
                  <a:ext uri="{FF2B5EF4-FFF2-40B4-BE49-F238E27FC236}">
                    <a16:creationId xmlns:a16="http://schemas.microsoft.com/office/drawing/2014/main" id="{11E7C07E-6CB6-C92E-11D6-95396363BA3C}"/>
                  </a:ext>
                </a:extLst>
              </p:cNvPr>
              <p:cNvSpPr>
                <a:spLocks/>
              </p:cNvSpPr>
              <p:nvPr/>
            </p:nvSpPr>
            <p:spPr bwMode="auto">
              <a:xfrm>
                <a:off x="6287817" y="5610302"/>
                <a:ext cx="64895" cy="24469"/>
              </a:xfrm>
              <a:custGeom>
                <a:avLst/>
                <a:gdLst>
                  <a:gd name="T0" fmla="*/ 0 w 43"/>
                  <a:gd name="T1" fmla="*/ 0 h 16"/>
                  <a:gd name="T2" fmla="*/ 3 w 43"/>
                  <a:gd name="T3" fmla="*/ 14 h 16"/>
                  <a:gd name="T4" fmla="*/ 4 w 43"/>
                  <a:gd name="T5" fmla="*/ 15 h 16"/>
                  <a:gd name="T6" fmla="*/ 6 w 43"/>
                  <a:gd name="T7" fmla="*/ 16 h 16"/>
                  <a:gd name="T8" fmla="*/ 41 w 43"/>
                  <a:gd name="T9" fmla="*/ 16 h 16"/>
                  <a:gd name="T10" fmla="*/ 43 w 43"/>
                  <a:gd name="T11" fmla="*/ 15 h 16"/>
                  <a:gd name="T12" fmla="*/ 43 w 43"/>
                  <a:gd name="T13" fmla="*/ 14 h 16"/>
                  <a:gd name="T14" fmla="*/ 40 w 43"/>
                  <a:gd name="T15" fmla="*/ 0 h 16"/>
                  <a:gd name="T16" fmla="*/ 0 w 43"/>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6">
                    <a:moveTo>
                      <a:pt x="0" y="0"/>
                    </a:moveTo>
                    <a:cubicBezTo>
                      <a:pt x="1" y="5"/>
                      <a:pt x="2" y="8"/>
                      <a:pt x="3" y="14"/>
                    </a:cubicBezTo>
                    <a:cubicBezTo>
                      <a:pt x="3" y="15"/>
                      <a:pt x="3" y="15"/>
                      <a:pt x="4" y="15"/>
                    </a:cubicBezTo>
                    <a:cubicBezTo>
                      <a:pt x="4" y="16"/>
                      <a:pt x="5" y="16"/>
                      <a:pt x="6" y="16"/>
                    </a:cubicBezTo>
                    <a:cubicBezTo>
                      <a:pt x="20" y="16"/>
                      <a:pt x="27" y="16"/>
                      <a:pt x="41" y="16"/>
                    </a:cubicBezTo>
                    <a:cubicBezTo>
                      <a:pt x="42" y="16"/>
                      <a:pt x="43" y="16"/>
                      <a:pt x="43" y="15"/>
                    </a:cubicBezTo>
                    <a:cubicBezTo>
                      <a:pt x="43" y="15"/>
                      <a:pt x="43" y="14"/>
                      <a:pt x="43" y="14"/>
                    </a:cubicBezTo>
                    <a:cubicBezTo>
                      <a:pt x="42" y="8"/>
                      <a:pt x="42" y="5"/>
                      <a:pt x="40" y="0"/>
                    </a:cubicBezTo>
                    <a:cubicBezTo>
                      <a:pt x="24" y="0"/>
                      <a:pt x="16"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6" name="Freeform 202">
                <a:extLst>
                  <a:ext uri="{FF2B5EF4-FFF2-40B4-BE49-F238E27FC236}">
                    <a16:creationId xmlns:a16="http://schemas.microsoft.com/office/drawing/2014/main" id="{5BFE47F8-86B0-8D52-4A3D-0D190078AB2E}"/>
                  </a:ext>
                </a:extLst>
              </p:cNvPr>
              <p:cNvSpPr>
                <a:spLocks/>
              </p:cNvSpPr>
              <p:nvPr/>
            </p:nvSpPr>
            <p:spPr bwMode="auto">
              <a:xfrm>
                <a:off x="6283562" y="5586897"/>
                <a:ext cx="64895" cy="21277"/>
              </a:xfrm>
              <a:custGeom>
                <a:avLst/>
                <a:gdLst>
                  <a:gd name="T0" fmla="*/ 43 w 43"/>
                  <a:gd name="T1" fmla="*/ 14 h 14"/>
                  <a:gd name="T2" fmla="*/ 40 w 43"/>
                  <a:gd name="T3" fmla="*/ 1 h 14"/>
                  <a:gd name="T4" fmla="*/ 39 w 43"/>
                  <a:gd name="T5" fmla="*/ 0 h 14"/>
                  <a:gd name="T6" fmla="*/ 37 w 43"/>
                  <a:gd name="T7" fmla="*/ 0 h 14"/>
                  <a:gd name="T8" fmla="*/ 2 w 43"/>
                  <a:gd name="T9" fmla="*/ 0 h 14"/>
                  <a:gd name="T10" fmla="*/ 0 w 43"/>
                  <a:gd name="T11" fmla="*/ 0 h 14"/>
                  <a:gd name="T12" fmla="*/ 0 w 43"/>
                  <a:gd name="T13" fmla="*/ 1 h 14"/>
                  <a:gd name="T14" fmla="*/ 3 w 43"/>
                  <a:gd name="T15" fmla="*/ 14 h 14"/>
                  <a:gd name="T16" fmla="*/ 43 w 4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4">
                    <a:moveTo>
                      <a:pt x="43" y="14"/>
                    </a:moveTo>
                    <a:cubicBezTo>
                      <a:pt x="42" y="8"/>
                      <a:pt x="41" y="6"/>
                      <a:pt x="40" y="1"/>
                    </a:cubicBezTo>
                    <a:cubicBezTo>
                      <a:pt x="40" y="1"/>
                      <a:pt x="40" y="0"/>
                      <a:pt x="39" y="0"/>
                    </a:cubicBezTo>
                    <a:cubicBezTo>
                      <a:pt x="39" y="0"/>
                      <a:pt x="38" y="0"/>
                      <a:pt x="37" y="0"/>
                    </a:cubicBezTo>
                    <a:cubicBezTo>
                      <a:pt x="23" y="0"/>
                      <a:pt x="16" y="0"/>
                      <a:pt x="2" y="0"/>
                    </a:cubicBezTo>
                    <a:cubicBezTo>
                      <a:pt x="1" y="0"/>
                      <a:pt x="1" y="0"/>
                      <a:pt x="0" y="0"/>
                    </a:cubicBezTo>
                    <a:cubicBezTo>
                      <a:pt x="0" y="0"/>
                      <a:pt x="0" y="1"/>
                      <a:pt x="0" y="1"/>
                    </a:cubicBezTo>
                    <a:cubicBezTo>
                      <a:pt x="1" y="6"/>
                      <a:pt x="2" y="9"/>
                      <a:pt x="3" y="14"/>
                    </a:cubicBezTo>
                    <a:cubicBezTo>
                      <a:pt x="19" y="14"/>
                      <a:pt x="27" y="14"/>
                      <a:pt x="43"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7" name="Freeform 203">
                <a:extLst>
                  <a:ext uri="{FF2B5EF4-FFF2-40B4-BE49-F238E27FC236}">
                    <a16:creationId xmlns:a16="http://schemas.microsoft.com/office/drawing/2014/main" id="{75CE1048-CF61-D957-EF26-A1EA096A5512}"/>
                  </a:ext>
                </a:extLst>
              </p:cNvPr>
              <p:cNvSpPr>
                <a:spLocks/>
              </p:cNvSpPr>
              <p:nvPr/>
            </p:nvSpPr>
            <p:spPr bwMode="auto">
              <a:xfrm>
                <a:off x="6322925" y="5458170"/>
                <a:ext cx="79789" cy="78725"/>
              </a:xfrm>
              <a:custGeom>
                <a:avLst/>
                <a:gdLst>
                  <a:gd name="T0" fmla="*/ 2 w 53"/>
                  <a:gd name="T1" fmla="*/ 0 h 52"/>
                  <a:gd name="T2" fmla="*/ 0 w 53"/>
                  <a:gd name="T3" fmla="*/ 1 h 52"/>
                  <a:gd name="T4" fmla="*/ 0 w 53"/>
                  <a:gd name="T5" fmla="*/ 2 h 52"/>
                  <a:gd name="T6" fmla="*/ 6 w 53"/>
                  <a:gd name="T7" fmla="*/ 23 h 52"/>
                  <a:gd name="T8" fmla="*/ 7 w 53"/>
                  <a:gd name="T9" fmla="*/ 24 h 52"/>
                  <a:gd name="T10" fmla="*/ 8 w 53"/>
                  <a:gd name="T11" fmla="*/ 25 h 52"/>
                  <a:gd name="T12" fmla="*/ 17 w 53"/>
                  <a:gd name="T13" fmla="*/ 25 h 52"/>
                  <a:gd name="T14" fmla="*/ 25 w 53"/>
                  <a:gd name="T15" fmla="*/ 50 h 52"/>
                  <a:gd name="T16" fmla="*/ 25 w 53"/>
                  <a:gd name="T17" fmla="*/ 51 h 52"/>
                  <a:gd name="T18" fmla="*/ 27 w 53"/>
                  <a:gd name="T19" fmla="*/ 52 h 52"/>
                  <a:gd name="T20" fmla="*/ 51 w 53"/>
                  <a:gd name="T21" fmla="*/ 52 h 52"/>
                  <a:gd name="T22" fmla="*/ 53 w 53"/>
                  <a:gd name="T23" fmla="*/ 51 h 52"/>
                  <a:gd name="T24" fmla="*/ 53 w 53"/>
                  <a:gd name="T25" fmla="*/ 50 h 52"/>
                  <a:gd name="T26" fmla="*/ 40 w 53"/>
                  <a:gd name="T27" fmla="*/ 2 h 52"/>
                  <a:gd name="T28" fmla="*/ 39 w 53"/>
                  <a:gd name="T29" fmla="*/ 1 h 52"/>
                  <a:gd name="T30" fmla="*/ 37 w 53"/>
                  <a:gd name="T31" fmla="*/ 0 h 52"/>
                  <a:gd name="T32" fmla="*/ 2 w 53"/>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52">
                    <a:moveTo>
                      <a:pt x="2" y="0"/>
                    </a:moveTo>
                    <a:cubicBezTo>
                      <a:pt x="1" y="0"/>
                      <a:pt x="1" y="0"/>
                      <a:pt x="0" y="1"/>
                    </a:cubicBezTo>
                    <a:cubicBezTo>
                      <a:pt x="0" y="1"/>
                      <a:pt x="0" y="1"/>
                      <a:pt x="0" y="2"/>
                    </a:cubicBezTo>
                    <a:cubicBezTo>
                      <a:pt x="2" y="11"/>
                      <a:pt x="3" y="15"/>
                      <a:pt x="6" y="23"/>
                    </a:cubicBezTo>
                    <a:cubicBezTo>
                      <a:pt x="6" y="24"/>
                      <a:pt x="6" y="24"/>
                      <a:pt x="7" y="24"/>
                    </a:cubicBezTo>
                    <a:cubicBezTo>
                      <a:pt x="7" y="25"/>
                      <a:pt x="8" y="25"/>
                      <a:pt x="8" y="25"/>
                    </a:cubicBezTo>
                    <a:cubicBezTo>
                      <a:pt x="12" y="25"/>
                      <a:pt x="14" y="25"/>
                      <a:pt x="17" y="25"/>
                    </a:cubicBezTo>
                    <a:cubicBezTo>
                      <a:pt x="20" y="35"/>
                      <a:pt x="22" y="40"/>
                      <a:pt x="25" y="50"/>
                    </a:cubicBezTo>
                    <a:cubicBezTo>
                      <a:pt x="25" y="51"/>
                      <a:pt x="25" y="51"/>
                      <a:pt x="25" y="51"/>
                    </a:cubicBezTo>
                    <a:cubicBezTo>
                      <a:pt x="26" y="51"/>
                      <a:pt x="27" y="52"/>
                      <a:pt x="27" y="52"/>
                    </a:cubicBezTo>
                    <a:cubicBezTo>
                      <a:pt x="37" y="52"/>
                      <a:pt x="41" y="52"/>
                      <a:pt x="51" y="52"/>
                    </a:cubicBezTo>
                    <a:cubicBezTo>
                      <a:pt x="52" y="52"/>
                      <a:pt x="52" y="51"/>
                      <a:pt x="53" y="51"/>
                    </a:cubicBezTo>
                    <a:cubicBezTo>
                      <a:pt x="53" y="51"/>
                      <a:pt x="53" y="51"/>
                      <a:pt x="53" y="50"/>
                    </a:cubicBezTo>
                    <a:cubicBezTo>
                      <a:pt x="48" y="32"/>
                      <a:pt x="45" y="24"/>
                      <a:pt x="40" y="2"/>
                    </a:cubicBezTo>
                    <a:cubicBezTo>
                      <a:pt x="40" y="1"/>
                      <a:pt x="39" y="1"/>
                      <a:pt x="39" y="1"/>
                    </a:cubicBezTo>
                    <a:cubicBezTo>
                      <a:pt x="38" y="0"/>
                      <a:pt x="38" y="0"/>
                      <a:pt x="37" y="0"/>
                    </a:cubicBezTo>
                    <a:cubicBezTo>
                      <a:pt x="23" y="0"/>
                      <a:pt x="16"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58" name="Freeform 204">
              <a:extLst>
                <a:ext uri="{FF2B5EF4-FFF2-40B4-BE49-F238E27FC236}">
                  <a16:creationId xmlns:a16="http://schemas.microsoft.com/office/drawing/2014/main" id="{DE2C5826-9C4C-D78C-0030-AF228E75A8A5}"/>
                </a:ext>
              </a:extLst>
            </p:cNvPr>
            <p:cNvSpPr>
              <a:spLocks/>
            </p:cNvSpPr>
            <p:nvPr/>
          </p:nvSpPr>
          <p:spPr bwMode="auto">
            <a:xfrm>
              <a:off x="5314389" y="5656048"/>
              <a:ext cx="1147901" cy="18086"/>
            </a:xfrm>
            <a:custGeom>
              <a:avLst/>
              <a:gdLst>
                <a:gd name="T0" fmla="*/ 1079 w 1079"/>
                <a:gd name="T1" fmla="*/ 17 h 17"/>
                <a:gd name="T2" fmla="*/ 0 w 1079"/>
                <a:gd name="T3" fmla="*/ 17 h 17"/>
                <a:gd name="T4" fmla="*/ 1 w 1079"/>
                <a:gd name="T5" fmla="*/ 0 h 17"/>
                <a:gd name="T6" fmla="*/ 1079 w 1079"/>
                <a:gd name="T7" fmla="*/ 0 h 17"/>
                <a:gd name="T8" fmla="*/ 1079 w 1079"/>
                <a:gd name="T9" fmla="*/ 17 h 17"/>
              </a:gdLst>
              <a:ahLst/>
              <a:cxnLst>
                <a:cxn ang="0">
                  <a:pos x="T0" y="T1"/>
                </a:cxn>
                <a:cxn ang="0">
                  <a:pos x="T2" y="T3"/>
                </a:cxn>
                <a:cxn ang="0">
                  <a:pos x="T4" y="T5"/>
                </a:cxn>
                <a:cxn ang="0">
                  <a:pos x="T6" y="T7"/>
                </a:cxn>
                <a:cxn ang="0">
                  <a:pos x="T8" y="T9"/>
                </a:cxn>
              </a:cxnLst>
              <a:rect l="0" t="0" r="r" b="b"/>
              <a:pathLst>
                <a:path w="1079" h="17">
                  <a:moveTo>
                    <a:pt x="1079" y="17"/>
                  </a:moveTo>
                  <a:lnTo>
                    <a:pt x="0" y="17"/>
                  </a:lnTo>
                  <a:lnTo>
                    <a:pt x="1" y="0"/>
                  </a:lnTo>
                  <a:lnTo>
                    <a:pt x="1079" y="0"/>
                  </a:lnTo>
                  <a:lnTo>
                    <a:pt x="1079" y="17"/>
                  </a:lnTo>
                  <a:close/>
                </a:path>
              </a:pathLst>
            </a:custGeom>
            <a:solidFill>
              <a:srgbClr val="D0D0C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9" name="Oval 206">
              <a:extLst>
                <a:ext uri="{FF2B5EF4-FFF2-40B4-BE49-F238E27FC236}">
                  <a16:creationId xmlns:a16="http://schemas.microsoft.com/office/drawing/2014/main" id="{56ADE5A5-963B-3A18-924C-C76348F46D54}"/>
                </a:ext>
              </a:extLst>
            </p:cNvPr>
            <p:cNvSpPr>
              <a:spLocks noChangeArrowheads="1"/>
            </p:cNvSpPr>
            <p:nvPr/>
          </p:nvSpPr>
          <p:spPr bwMode="auto">
            <a:xfrm>
              <a:off x="6988899" y="5529449"/>
              <a:ext cx="30852" cy="297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nvGrpSpPr>
            <p:cNvPr id="160" name="Group 29">
              <a:extLst>
                <a:ext uri="{FF2B5EF4-FFF2-40B4-BE49-F238E27FC236}">
                  <a16:creationId xmlns:a16="http://schemas.microsoft.com/office/drawing/2014/main" id="{F58D71CF-3078-684D-6096-63C73FA36BAD}"/>
                </a:ext>
              </a:extLst>
            </p:cNvPr>
            <p:cNvGrpSpPr>
              <a:grpSpLocks noChangeAspect="1"/>
            </p:cNvGrpSpPr>
            <p:nvPr/>
          </p:nvGrpSpPr>
          <p:grpSpPr bwMode="auto">
            <a:xfrm>
              <a:off x="4907763" y="2837599"/>
              <a:ext cx="367631" cy="367631"/>
              <a:chOff x="2899" y="653"/>
              <a:chExt cx="340" cy="340"/>
            </a:xfrm>
            <a:solidFill>
              <a:schemeClr val="bg1"/>
            </a:solidFill>
          </p:grpSpPr>
          <p:sp>
            <p:nvSpPr>
              <p:cNvPr id="180" name="Freeform 30">
                <a:extLst>
                  <a:ext uri="{FF2B5EF4-FFF2-40B4-BE49-F238E27FC236}">
                    <a16:creationId xmlns:a16="http://schemas.microsoft.com/office/drawing/2014/main" id="{C42DD352-AFF0-7B6D-1CFF-EDD5423EE0E4}"/>
                  </a:ext>
                </a:extLst>
              </p:cNvPr>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81" name="Freeform 31">
                <a:extLst>
                  <a:ext uri="{FF2B5EF4-FFF2-40B4-BE49-F238E27FC236}">
                    <a16:creationId xmlns:a16="http://schemas.microsoft.com/office/drawing/2014/main" id="{25759818-6FDB-4E4E-4865-FF8440E3AC6D}"/>
                  </a:ext>
                </a:extLst>
              </p:cNvPr>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82" name="Freeform 32">
                <a:extLst>
                  <a:ext uri="{FF2B5EF4-FFF2-40B4-BE49-F238E27FC236}">
                    <a16:creationId xmlns:a16="http://schemas.microsoft.com/office/drawing/2014/main" id="{E6A05E0F-BB39-E0DE-3127-BA9AFAB9D1FD}"/>
                  </a:ext>
                </a:extLst>
              </p:cNvPr>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nvGrpSpPr>
            <p:cNvPr id="161" name="Group 153">
              <a:extLst>
                <a:ext uri="{FF2B5EF4-FFF2-40B4-BE49-F238E27FC236}">
                  <a16:creationId xmlns:a16="http://schemas.microsoft.com/office/drawing/2014/main" id="{DF97BBE9-6ABA-049A-7643-D7C06E3DBBD6}"/>
                </a:ext>
              </a:extLst>
            </p:cNvPr>
            <p:cNvGrpSpPr>
              <a:grpSpLocks noChangeAspect="1"/>
            </p:cNvGrpSpPr>
            <p:nvPr/>
          </p:nvGrpSpPr>
          <p:grpSpPr bwMode="auto">
            <a:xfrm>
              <a:off x="6778975" y="2983484"/>
              <a:ext cx="368712" cy="367631"/>
              <a:chOff x="3641" y="1708"/>
              <a:chExt cx="341" cy="340"/>
            </a:xfrm>
            <a:solidFill>
              <a:schemeClr val="bg1"/>
            </a:solidFill>
          </p:grpSpPr>
          <p:sp>
            <p:nvSpPr>
              <p:cNvPr id="178" name="Freeform 154">
                <a:extLst>
                  <a:ext uri="{FF2B5EF4-FFF2-40B4-BE49-F238E27FC236}">
                    <a16:creationId xmlns:a16="http://schemas.microsoft.com/office/drawing/2014/main" id="{A5D4B347-95A3-9E68-B999-816085907D27}"/>
                  </a:ext>
                </a:extLst>
              </p:cNvPr>
              <p:cNvSpPr>
                <a:spLocks noEditPoints="1"/>
              </p:cNvSpPr>
              <p:nvPr/>
            </p:nvSpPr>
            <p:spPr bwMode="auto">
              <a:xfrm>
                <a:off x="3641" y="170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79" name="Freeform 155">
                <a:extLst>
                  <a:ext uri="{FF2B5EF4-FFF2-40B4-BE49-F238E27FC236}">
                    <a16:creationId xmlns:a16="http://schemas.microsoft.com/office/drawing/2014/main" id="{57AD6296-A34F-96A6-9862-508118438FDC}"/>
                  </a:ext>
                </a:extLst>
              </p:cNvPr>
              <p:cNvSpPr>
                <a:spLocks noEditPoints="1"/>
              </p:cNvSpPr>
              <p:nvPr/>
            </p:nvSpPr>
            <p:spPr bwMode="auto">
              <a:xfrm>
                <a:off x="3762" y="1774"/>
                <a:ext cx="145" cy="210"/>
              </a:xfrm>
              <a:custGeom>
                <a:avLst/>
                <a:gdLst>
                  <a:gd name="T0" fmla="*/ 110 w 219"/>
                  <a:gd name="T1" fmla="*/ 316 h 316"/>
                  <a:gd name="T2" fmla="*/ 100 w 219"/>
                  <a:gd name="T3" fmla="*/ 309 h 316"/>
                  <a:gd name="T4" fmla="*/ 73 w 219"/>
                  <a:gd name="T5" fmla="*/ 245 h 316"/>
                  <a:gd name="T6" fmla="*/ 18 w 219"/>
                  <a:gd name="T7" fmla="*/ 296 h 316"/>
                  <a:gd name="T8" fmla="*/ 6 w 219"/>
                  <a:gd name="T9" fmla="*/ 298 h 316"/>
                  <a:gd name="T10" fmla="*/ 0 w 219"/>
                  <a:gd name="T11" fmla="*/ 288 h 316"/>
                  <a:gd name="T12" fmla="*/ 0 w 219"/>
                  <a:gd name="T13" fmla="*/ 11 h 316"/>
                  <a:gd name="T14" fmla="*/ 7 w 219"/>
                  <a:gd name="T15" fmla="*/ 1 h 316"/>
                  <a:gd name="T16" fmla="*/ 18 w 219"/>
                  <a:gd name="T17" fmla="*/ 4 h 316"/>
                  <a:gd name="T18" fmla="*/ 215 w 219"/>
                  <a:gd name="T19" fmla="*/ 199 h 316"/>
                  <a:gd name="T20" fmla="*/ 218 w 219"/>
                  <a:gd name="T21" fmla="*/ 211 h 316"/>
                  <a:gd name="T22" fmla="*/ 208 w 219"/>
                  <a:gd name="T23" fmla="*/ 217 h 316"/>
                  <a:gd name="T24" fmla="*/ 132 w 219"/>
                  <a:gd name="T25" fmla="*/ 220 h 316"/>
                  <a:gd name="T26" fmla="*/ 159 w 219"/>
                  <a:gd name="T27" fmla="*/ 285 h 316"/>
                  <a:gd name="T28" fmla="*/ 159 w 219"/>
                  <a:gd name="T29" fmla="*/ 293 h 316"/>
                  <a:gd name="T30" fmla="*/ 153 w 219"/>
                  <a:gd name="T31" fmla="*/ 298 h 316"/>
                  <a:gd name="T32" fmla="*/ 114 w 219"/>
                  <a:gd name="T33" fmla="*/ 315 h 316"/>
                  <a:gd name="T34" fmla="*/ 110 w 219"/>
                  <a:gd name="T35" fmla="*/ 316 h 316"/>
                  <a:gd name="T36" fmla="*/ 77 w 219"/>
                  <a:gd name="T37" fmla="*/ 216 h 316"/>
                  <a:gd name="T38" fmla="*/ 79 w 219"/>
                  <a:gd name="T39" fmla="*/ 216 h 316"/>
                  <a:gd name="T40" fmla="*/ 87 w 219"/>
                  <a:gd name="T41" fmla="*/ 222 h 316"/>
                  <a:gd name="T42" fmla="*/ 116 w 219"/>
                  <a:gd name="T43" fmla="*/ 291 h 316"/>
                  <a:gd name="T44" fmla="*/ 135 w 219"/>
                  <a:gd name="T45" fmla="*/ 283 h 316"/>
                  <a:gd name="T46" fmla="*/ 107 w 219"/>
                  <a:gd name="T47" fmla="*/ 214 h 316"/>
                  <a:gd name="T48" fmla="*/ 108 w 219"/>
                  <a:gd name="T49" fmla="*/ 204 h 316"/>
                  <a:gd name="T50" fmla="*/ 116 w 219"/>
                  <a:gd name="T51" fmla="*/ 199 h 316"/>
                  <a:gd name="T52" fmla="*/ 183 w 219"/>
                  <a:gd name="T53" fmla="*/ 197 h 316"/>
                  <a:gd name="T54" fmla="*/ 22 w 219"/>
                  <a:gd name="T55" fmla="*/ 37 h 316"/>
                  <a:gd name="T56" fmla="*/ 21 w 219"/>
                  <a:gd name="T57" fmla="*/ 264 h 316"/>
                  <a:gd name="T58" fmla="*/ 70 w 219"/>
                  <a:gd name="T59" fmla="*/ 218 h 316"/>
                  <a:gd name="T60" fmla="*/ 77 w 219"/>
                  <a:gd name="T61" fmla="*/ 21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9" h="316">
                    <a:moveTo>
                      <a:pt x="110" y="316"/>
                    </a:moveTo>
                    <a:cubicBezTo>
                      <a:pt x="106" y="316"/>
                      <a:pt x="102" y="313"/>
                      <a:pt x="100" y="309"/>
                    </a:cubicBezTo>
                    <a:cubicBezTo>
                      <a:pt x="73" y="245"/>
                      <a:pt x="73" y="245"/>
                      <a:pt x="73" y="245"/>
                    </a:cubicBezTo>
                    <a:cubicBezTo>
                      <a:pt x="18" y="296"/>
                      <a:pt x="18" y="296"/>
                      <a:pt x="18" y="296"/>
                    </a:cubicBezTo>
                    <a:cubicBezTo>
                      <a:pt x="15" y="299"/>
                      <a:pt x="10" y="300"/>
                      <a:pt x="6" y="298"/>
                    </a:cubicBezTo>
                    <a:cubicBezTo>
                      <a:pt x="3" y="297"/>
                      <a:pt x="0" y="293"/>
                      <a:pt x="0" y="288"/>
                    </a:cubicBezTo>
                    <a:cubicBezTo>
                      <a:pt x="0" y="11"/>
                      <a:pt x="0" y="11"/>
                      <a:pt x="0" y="11"/>
                    </a:cubicBezTo>
                    <a:cubicBezTo>
                      <a:pt x="0" y="7"/>
                      <a:pt x="3" y="3"/>
                      <a:pt x="7" y="1"/>
                    </a:cubicBezTo>
                    <a:cubicBezTo>
                      <a:pt x="11" y="0"/>
                      <a:pt x="15" y="1"/>
                      <a:pt x="18" y="4"/>
                    </a:cubicBezTo>
                    <a:cubicBezTo>
                      <a:pt x="215" y="199"/>
                      <a:pt x="215" y="199"/>
                      <a:pt x="215" y="199"/>
                    </a:cubicBezTo>
                    <a:cubicBezTo>
                      <a:pt x="218" y="202"/>
                      <a:pt x="219" y="207"/>
                      <a:pt x="218" y="211"/>
                    </a:cubicBezTo>
                    <a:cubicBezTo>
                      <a:pt x="216" y="215"/>
                      <a:pt x="212" y="217"/>
                      <a:pt x="208" y="217"/>
                    </a:cubicBezTo>
                    <a:cubicBezTo>
                      <a:pt x="132" y="220"/>
                      <a:pt x="132" y="220"/>
                      <a:pt x="132" y="220"/>
                    </a:cubicBezTo>
                    <a:cubicBezTo>
                      <a:pt x="159" y="285"/>
                      <a:pt x="159" y="285"/>
                      <a:pt x="159" y="285"/>
                    </a:cubicBezTo>
                    <a:cubicBezTo>
                      <a:pt x="160" y="287"/>
                      <a:pt x="160" y="290"/>
                      <a:pt x="159" y="293"/>
                    </a:cubicBezTo>
                    <a:cubicBezTo>
                      <a:pt x="158" y="295"/>
                      <a:pt x="156" y="297"/>
                      <a:pt x="153" y="298"/>
                    </a:cubicBezTo>
                    <a:cubicBezTo>
                      <a:pt x="114" y="315"/>
                      <a:pt x="114" y="315"/>
                      <a:pt x="114" y="315"/>
                    </a:cubicBezTo>
                    <a:cubicBezTo>
                      <a:pt x="113" y="315"/>
                      <a:pt x="111" y="316"/>
                      <a:pt x="110" y="316"/>
                    </a:cubicBezTo>
                    <a:close/>
                    <a:moveTo>
                      <a:pt x="77" y="216"/>
                    </a:moveTo>
                    <a:cubicBezTo>
                      <a:pt x="78" y="216"/>
                      <a:pt x="79" y="216"/>
                      <a:pt x="79" y="216"/>
                    </a:cubicBezTo>
                    <a:cubicBezTo>
                      <a:pt x="83" y="217"/>
                      <a:pt x="86" y="219"/>
                      <a:pt x="87" y="222"/>
                    </a:cubicBezTo>
                    <a:cubicBezTo>
                      <a:pt x="116" y="291"/>
                      <a:pt x="116" y="291"/>
                      <a:pt x="116" y="291"/>
                    </a:cubicBezTo>
                    <a:cubicBezTo>
                      <a:pt x="135" y="283"/>
                      <a:pt x="135" y="283"/>
                      <a:pt x="135" y="283"/>
                    </a:cubicBezTo>
                    <a:cubicBezTo>
                      <a:pt x="107" y="214"/>
                      <a:pt x="107" y="214"/>
                      <a:pt x="107" y="214"/>
                    </a:cubicBezTo>
                    <a:cubicBezTo>
                      <a:pt x="105" y="211"/>
                      <a:pt x="106" y="207"/>
                      <a:pt x="108" y="204"/>
                    </a:cubicBezTo>
                    <a:cubicBezTo>
                      <a:pt x="110" y="201"/>
                      <a:pt x="113" y="199"/>
                      <a:pt x="116" y="199"/>
                    </a:cubicBezTo>
                    <a:cubicBezTo>
                      <a:pt x="183" y="197"/>
                      <a:pt x="183" y="197"/>
                      <a:pt x="183" y="197"/>
                    </a:cubicBezTo>
                    <a:cubicBezTo>
                      <a:pt x="22" y="37"/>
                      <a:pt x="22" y="37"/>
                      <a:pt x="22" y="37"/>
                    </a:cubicBezTo>
                    <a:cubicBezTo>
                      <a:pt x="21" y="264"/>
                      <a:pt x="21" y="264"/>
                      <a:pt x="21" y="264"/>
                    </a:cubicBezTo>
                    <a:cubicBezTo>
                      <a:pt x="70" y="218"/>
                      <a:pt x="70" y="218"/>
                      <a:pt x="70" y="218"/>
                    </a:cubicBezTo>
                    <a:cubicBezTo>
                      <a:pt x="72" y="217"/>
                      <a:pt x="75" y="216"/>
                      <a:pt x="77" y="21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nvGrpSpPr>
            <p:cNvPr id="162" name="Group 48">
              <a:extLst>
                <a:ext uri="{FF2B5EF4-FFF2-40B4-BE49-F238E27FC236}">
                  <a16:creationId xmlns:a16="http://schemas.microsoft.com/office/drawing/2014/main" id="{E6AC84A6-0E16-57C1-BE08-CBC6C595EA7D}"/>
                </a:ext>
              </a:extLst>
            </p:cNvPr>
            <p:cNvGrpSpPr>
              <a:grpSpLocks noChangeAspect="1"/>
            </p:cNvGrpSpPr>
            <p:nvPr/>
          </p:nvGrpSpPr>
          <p:grpSpPr bwMode="auto">
            <a:xfrm>
              <a:off x="4368399" y="3106041"/>
              <a:ext cx="369064" cy="367982"/>
              <a:chOff x="3100" y="2384"/>
              <a:chExt cx="341" cy="340"/>
            </a:xfrm>
            <a:solidFill>
              <a:schemeClr val="bg1"/>
            </a:solidFill>
          </p:grpSpPr>
          <p:sp>
            <p:nvSpPr>
              <p:cNvPr id="176" name="Freeform 342">
                <a:extLst>
                  <a:ext uri="{FF2B5EF4-FFF2-40B4-BE49-F238E27FC236}">
                    <a16:creationId xmlns:a16="http://schemas.microsoft.com/office/drawing/2014/main" id="{7DB07DA8-0EFA-3A62-235D-F6CCC17A29D5}"/>
                  </a:ext>
                </a:extLst>
              </p:cNvPr>
              <p:cNvSpPr>
                <a:spLocks noEditPoints="1"/>
              </p:cNvSpPr>
              <p:nvPr/>
            </p:nvSpPr>
            <p:spPr bwMode="auto">
              <a:xfrm>
                <a:off x="3100" y="2384"/>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77" name="Freeform 343">
                <a:extLst>
                  <a:ext uri="{FF2B5EF4-FFF2-40B4-BE49-F238E27FC236}">
                    <a16:creationId xmlns:a16="http://schemas.microsoft.com/office/drawing/2014/main" id="{0A533012-A31D-6F0A-90F2-394B9B5BA35C}"/>
                  </a:ext>
                </a:extLst>
              </p:cNvPr>
              <p:cNvSpPr>
                <a:spLocks noEditPoints="1"/>
              </p:cNvSpPr>
              <p:nvPr/>
            </p:nvSpPr>
            <p:spPr bwMode="auto">
              <a:xfrm>
                <a:off x="3185" y="2462"/>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nvGrpSpPr>
            <p:cNvPr id="163" name="Group 417">
              <a:extLst>
                <a:ext uri="{FF2B5EF4-FFF2-40B4-BE49-F238E27FC236}">
                  <a16:creationId xmlns:a16="http://schemas.microsoft.com/office/drawing/2014/main" id="{F3207489-4C27-4372-A76F-4B6303309FA9}"/>
                </a:ext>
              </a:extLst>
            </p:cNvPr>
            <p:cNvGrpSpPr>
              <a:grpSpLocks noChangeAspect="1"/>
            </p:cNvGrpSpPr>
            <p:nvPr/>
          </p:nvGrpSpPr>
          <p:grpSpPr bwMode="auto">
            <a:xfrm>
              <a:off x="5350327" y="3098099"/>
              <a:ext cx="367631" cy="368712"/>
              <a:chOff x="2725" y="1609"/>
              <a:chExt cx="340" cy="341"/>
            </a:xfrm>
            <a:solidFill>
              <a:schemeClr val="bg1"/>
            </a:solidFill>
          </p:grpSpPr>
          <p:sp>
            <p:nvSpPr>
              <p:cNvPr id="174" name="Freeform 418">
                <a:extLst>
                  <a:ext uri="{FF2B5EF4-FFF2-40B4-BE49-F238E27FC236}">
                    <a16:creationId xmlns:a16="http://schemas.microsoft.com/office/drawing/2014/main" id="{44FD603A-7C6D-B565-EA91-73F7E5A50C06}"/>
                  </a:ext>
                </a:extLst>
              </p:cNvPr>
              <p:cNvSpPr>
                <a:spLocks noEditPoints="1"/>
              </p:cNvSpPr>
              <p:nvPr/>
            </p:nvSpPr>
            <p:spPr bwMode="auto">
              <a:xfrm>
                <a:off x="2725" y="1609"/>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75" name="Freeform 419">
                <a:extLst>
                  <a:ext uri="{FF2B5EF4-FFF2-40B4-BE49-F238E27FC236}">
                    <a16:creationId xmlns:a16="http://schemas.microsoft.com/office/drawing/2014/main" id="{65936E94-B731-B07E-5712-0C699D1B5FE4}"/>
                  </a:ext>
                </a:extLst>
              </p:cNvPr>
              <p:cNvSpPr>
                <a:spLocks noEditPoints="1"/>
              </p:cNvSpPr>
              <p:nvPr/>
            </p:nvSpPr>
            <p:spPr bwMode="auto">
              <a:xfrm>
                <a:off x="2817" y="1673"/>
                <a:ext cx="156" cy="213"/>
              </a:xfrm>
              <a:custGeom>
                <a:avLst/>
                <a:gdLst>
                  <a:gd name="T0" fmla="*/ 25 w 235"/>
                  <a:gd name="T1" fmla="*/ 189 h 320"/>
                  <a:gd name="T2" fmla="*/ 25 w 235"/>
                  <a:gd name="T3" fmla="*/ 173 h 320"/>
                  <a:gd name="T4" fmla="*/ 40 w 235"/>
                  <a:gd name="T5" fmla="*/ 173 h 320"/>
                  <a:gd name="T6" fmla="*/ 107 w 235"/>
                  <a:gd name="T7" fmla="*/ 241 h 320"/>
                  <a:gd name="T8" fmla="*/ 107 w 235"/>
                  <a:gd name="T9" fmla="*/ 10 h 320"/>
                  <a:gd name="T10" fmla="*/ 118 w 235"/>
                  <a:gd name="T11" fmla="*/ 0 h 320"/>
                  <a:gd name="T12" fmla="*/ 128 w 235"/>
                  <a:gd name="T13" fmla="*/ 10 h 320"/>
                  <a:gd name="T14" fmla="*/ 128 w 235"/>
                  <a:gd name="T15" fmla="*/ 241 h 320"/>
                  <a:gd name="T16" fmla="*/ 195 w 235"/>
                  <a:gd name="T17" fmla="*/ 173 h 320"/>
                  <a:gd name="T18" fmla="*/ 211 w 235"/>
                  <a:gd name="T19" fmla="*/ 173 h 320"/>
                  <a:gd name="T20" fmla="*/ 211 w 235"/>
                  <a:gd name="T21" fmla="*/ 189 h 320"/>
                  <a:gd name="T22" fmla="*/ 125 w 235"/>
                  <a:gd name="T23" fmla="*/ 274 h 320"/>
                  <a:gd name="T24" fmla="*/ 122 w 235"/>
                  <a:gd name="T25" fmla="*/ 276 h 320"/>
                  <a:gd name="T26" fmla="*/ 118 w 235"/>
                  <a:gd name="T27" fmla="*/ 277 h 320"/>
                  <a:gd name="T28" fmla="*/ 114 w 235"/>
                  <a:gd name="T29" fmla="*/ 276 h 320"/>
                  <a:gd name="T30" fmla="*/ 110 w 235"/>
                  <a:gd name="T31" fmla="*/ 274 h 320"/>
                  <a:gd name="T32" fmla="*/ 25 w 235"/>
                  <a:gd name="T33" fmla="*/ 189 h 320"/>
                  <a:gd name="T34" fmla="*/ 224 w 235"/>
                  <a:gd name="T35" fmla="*/ 256 h 320"/>
                  <a:gd name="T36" fmla="*/ 214 w 235"/>
                  <a:gd name="T37" fmla="*/ 266 h 320"/>
                  <a:gd name="T38" fmla="*/ 214 w 235"/>
                  <a:gd name="T39" fmla="*/ 298 h 320"/>
                  <a:gd name="T40" fmla="*/ 22 w 235"/>
                  <a:gd name="T41" fmla="*/ 298 h 320"/>
                  <a:gd name="T42" fmla="*/ 22 w 235"/>
                  <a:gd name="T43" fmla="*/ 266 h 320"/>
                  <a:gd name="T44" fmla="*/ 11 w 235"/>
                  <a:gd name="T45" fmla="*/ 256 h 320"/>
                  <a:gd name="T46" fmla="*/ 0 w 235"/>
                  <a:gd name="T47" fmla="*/ 266 h 320"/>
                  <a:gd name="T48" fmla="*/ 0 w 235"/>
                  <a:gd name="T49" fmla="*/ 309 h 320"/>
                  <a:gd name="T50" fmla="*/ 11 w 235"/>
                  <a:gd name="T51" fmla="*/ 320 h 320"/>
                  <a:gd name="T52" fmla="*/ 224 w 235"/>
                  <a:gd name="T53" fmla="*/ 320 h 320"/>
                  <a:gd name="T54" fmla="*/ 235 w 235"/>
                  <a:gd name="T55" fmla="*/ 309 h 320"/>
                  <a:gd name="T56" fmla="*/ 235 w 235"/>
                  <a:gd name="T57" fmla="*/ 266 h 320"/>
                  <a:gd name="T58" fmla="*/ 224 w 235"/>
                  <a:gd name="T59"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5" h="320">
                    <a:moveTo>
                      <a:pt x="25" y="189"/>
                    </a:moveTo>
                    <a:cubicBezTo>
                      <a:pt x="21" y="184"/>
                      <a:pt x="21" y="178"/>
                      <a:pt x="25" y="173"/>
                    </a:cubicBezTo>
                    <a:cubicBezTo>
                      <a:pt x="29" y="169"/>
                      <a:pt x="36" y="169"/>
                      <a:pt x="40" y="173"/>
                    </a:cubicBezTo>
                    <a:cubicBezTo>
                      <a:pt x="107" y="241"/>
                      <a:pt x="107" y="241"/>
                      <a:pt x="107" y="241"/>
                    </a:cubicBezTo>
                    <a:cubicBezTo>
                      <a:pt x="107" y="10"/>
                      <a:pt x="107" y="10"/>
                      <a:pt x="107" y="10"/>
                    </a:cubicBezTo>
                    <a:cubicBezTo>
                      <a:pt x="107" y="4"/>
                      <a:pt x="112" y="0"/>
                      <a:pt x="118" y="0"/>
                    </a:cubicBezTo>
                    <a:cubicBezTo>
                      <a:pt x="124" y="0"/>
                      <a:pt x="128" y="4"/>
                      <a:pt x="128" y="10"/>
                    </a:cubicBezTo>
                    <a:cubicBezTo>
                      <a:pt x="128" y="241"/>
                      <a:pt x="128" y="241"/>
                      <a:pt x="128" y="241"/>
                    </a:cubicBezTo>
                    <a:cubicBezTo>
                      <a:pt x="195" y="173"/>
                      <a:pt x="195" y="173"/>
                      <a:pt x="195" y="173"/>
                    </a:cubicBezTo>
                    <a:cubicBezTo>
                      <a:pt x="200" y="169"/>
                      <a:pt x="206" y="169"/>
                      <a:pt x="211" y="173"/>
                    </a:cubicBezTo>
                    <a:cubicBezTo>
                      <a:pt x="215" y="178"/>
                      <a:pt x="215" y="184"/>
                      <a:pt x="211" y="189"/>
                    </a:cubicBezTo>
                    <a:cubicBezTo>
                      <a:pt x="125" y="274"/>
                      <a:pt x="125" y="274"/>
                      <a:pt x="125" y="274"/>
                    </a:cubicBezTo>
                    <a:cubicBezTo>
                      <a:pt x="124" y="275"/>
                      <a:pt x="123" y="276"/>
                      <a:pt x="122" y="276"/>
                    </a:cubicBezTo>
                    <a:cubicBezTo>
                      <a:pt x="120" y="277"/>
                      <a:pt x="119" y="277"/>
                      <a:pt x="118" y="277"/>
                    </a:cubicBezTo>
                    <a:cubicBezTo>
                      <a:pt x="116" y="277"/>
                      <a:pt x="115" y="277"/>
                      <a:pt x="114" y="276"/>
                    </a:cubicBezTo>
                    <a:cubicBezTo>
                      <a:pt x="112" y="276"/>
                      <a:pt x="111" y="275"/>
                      <a:pt x="110" y="274"/>
                    </a:cubicBezTo>
                    <a:lnTo>
                      <a:pt x="25" y="189"/>
                    </a:lnTo>
                    <a:close/>
                    <a:moveTo>
                      <a:pt x="224" y="256"/>
                    </a:moveTo>
                    <a:cubicBezTo>
                      <a:pt x="218" y="256"/>
                      <a:pt x="214" y="260"/>
                      <a:pt x="214" y="266"/>
                    </a:cubicBezTo>
                    <a:cubicBezTo>
                      <a:pt x="214" y="298"/>
                      <a:pt x="214" y="298"/>
                      <a:pt x="214" y="298"/>
                    </a:cubicBezTo>
                    <a:cubicBezTo>
                      <a:pt x="22" y="298"/>
                      <a:pt x="22" y="298"/>
                      <a:pt x="22" y="298"/>
                    </a:cubicBezTo>
                    <a:cubicBezTo>
                      <a:pt x="22" y="266"/>
                      <a:pt x="22" y="266"/>
                      <a:pt x="22" y="266"/>
                    </a:cubicBezTo>
                    <a:cubicBezTo>
                      <a:pt x="22" y="260"/>
                      <a:pt x="17" y="256"/>
                      <a:pt x="11" y="256"/>
                    </a:cubicBezTo>
                    <a:cubicBezTo>
                      <a:pt x="5" y="256"/>
                      <a:pt x="0" y="260"/>
                      <a:pt x="0" y="266"/>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266"/>
                      <a:pt x="235" y="266"/>
                      <a:pt x="235" y="266"/>
                    </a:cubicBezTo>
                    <a:cubicBezTo>
                      <a:pt x="235" y="260"/>
                      <a:pt x="230" y="256"/>
                      <a:pt x="224" y="25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nvGrpSpPr>
            <p:cNvPr id="164" name="Group 577">
              <a:extLst>
                <a:ext uri="{FF2B5EF4-FFF2-40B4-BE49-F238E27FC236}">
                  <a16:creationId xmlns:a16="http://schemas.microsoft.com/office/drawing/2014/main" id="{990188FB-4472-6535-A6EB-D4B2BF25642E}"/>
                </a:ext>
              </a:extLst>
            </p:cNvPr>
            <p:cNvGrpSpPr>
              <a:grpSpLocks noChangeAspect="1"/>
            </p:cNvGrpSpPr>
            <p:nvPr/>
          </p:nvGrpSpPr>
          <p:grpSpPr bwMode="auto">
            <a:xfrm>
              <a:off x="5456482" y="2587421"/>
              <a:ext cx="369021" cy="369021"/>
              <a:chOff x="7356" y="2314"/>
              <a:chExt cx="340" cy="340"/>
            </a:xfrm>
            <a:solidFill>
              <a:schemeClr val="bg1"/>
            </a:solidFill>
          </p:grpSpPr>
          <p:sp>
            <p:nvSpPr>
              <p:cNvPr id="172" name="Freeform 578">
                <a:extLst>
                  <a:ext uri="{FF2B5EF4-FFF2-40B4-BE49-F238E27FC236}">
                    <a16:creationId xmlns:a16="http://schemas.microsoft.com/office/drawing/2014/main" id="{6FF959D3-6AC0-AF87-5F5E-04135BB12C4B}"/>
                  </a:ext>
                </a:extLst>
              </p:cNvPr>
              <p:cNvSpPr>
                <a:spLocks/>
              </p:cNvSpPr>
              <p:nvPr/>
            </p:nvSpPr>
            <p:spPr bwMode="auto">
              <a:xfrm>
                <a:off x="7441" y="2399"/>
                <a:ext cx="177" cy="170"/>
              </a:xfrm>
              <a:custGeom>
                <a:avLst/>
                <a:gdLst>
                  <a:gd name="T0" fmla="*/ 266 w 266"/>
                  <a:gd name="T1" fmla="*/ 213 h 256"/>
                  <a:gd name="T2" fmla="*/ 256 w 266"/>
                  <a:gd name="T3" fmla="*/ 224 h 256"/>
                  <a:gd name="T4" fmla="*/ 202 w 266"/>
                  <a:gd name="T5" fmla="*/ 224 h 256"/>
                  <a:gd name="T6" fmla="*/ 192 w 266"/>
                  <a:gd name="T7" fmla="*/ 213 h 256"/>
                  <a:gd name="T8" fmla="*/ 192 w 266"/>
                  <a:gd name="T9" fmla="*/ 160 h 256"/>
                  <a:gd name="T10" fmla="*/ 202 w 266"/>
                  <a:gd name="T11" fmla="*/ 149 h 256"/>
                  <a:gd name="T12" fmla="*/ 213 w 266"/>
                  <a:gd name="T13" fmla="*/ 160 h 256"/>
                  <a:gd name="T14" fmla="*/ 213 w 266"/>
                  <a:gd name="T15" fmla="*/ 192 h 256"/>
                  <a:gd name="T16" fmla="*/ 234 w 266"/>
                  <a:gd name="T17" fmla="*/ 128 h 256"/>
                  <a:gd name="T18" fmla="*/ 128 w 266"/>
                  <a:gd name="T19" fmla="*/ 21 h 256"/>
                  <a:gd name="T20" fmla="*/ 21 w 266"/>
                  <a:gd name="T21" fmla="*/ 128 h 256"/>
                  <a:gd name="T22" fmla="*/ 128 w 266"/>
                  <a:gd name="T23" fmla="*/ 234 h 256"/>
                  <a:gd name="T24" fmla="*/ 138 w 266"/>
                  <a:gd name="T25" fmla="*/ 245 h 256"/>
                  <a:gd name="T26" fmla="*/ 128 w 266"/>
                  <a:gd name="T27" fmla="*/ 256 h 256"/>
                  <a:gd name="T28" fmla="*/ 0 w 266"/>
                  <a:gd name="T29" fmla="*/ 128 h 256"/>
                  <a:gd name="T30" fmla="*/ 128 w 266"/>
                  <a:gd name="T31" fmla="*/ 0 h 256"/>
                  <a:gd name="T32" fmla="*/ 256 w 266"/>
                  <a:gd name="T33" fmla="*/ 128 h 256"/>
                  <a:gd name="T34" fmla="*/ 231 w 266"/>
                  <a:gd name="T35" fmla="*/ 202 h 256"/>
                  <a:gd name="T36" fmla="*/ 256 w 266"/>
                  <a:gd name="T37" fmla="*/ 202 h 256"/>
                  <a:gd name="T38" fmla="*/ 266 w 266"/>
                  <a:gd name="T39" fmla="*/ 21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6" h="256">
                    <a:moveTo>
                      <a:pt x="266" y="213"/>
                    </a:moveTo>
                    <a:cubicBezTo>
                      <a:pt x="266" y="219"/>
                      <a:pt x="262" y="224"/>
                      <a:pt x="256" y="224"/>
                    </a:cubicBezTo>
                    <a:cubicBezTo>
                      <a:pt x="202" y="224"/>
                      <a:pt x="202" y="224"/>
                      <a:pt x="202" y="224"/>
                    </a:cubicBezTo>
                    <a:cubicBezTo>
                      <a:pt x="196" y="224"/>
                      <a:pt x="192" y="219"/>
                      <a:pt x="192" y="213"/>
                    </a:cubicBezTo>
                    <a:cubicBezTo>
                      <a:pt x="192" y="160"/>
                      <a:pt x="192" y="160"/>
                      <a:pt x="192" y="160"/>
                    </a:cubicBezTo>
                    <a:cubicBezTo>
                      <a:pt x="192" y="154"/>
                      <a:pt x="196" y="149"/>
                      <a:pt x="202" y="149"/>
                    </a:cubicBezTo>
                    <a:cubicBezTo>
                      <a:pt x="208" y="149"/>
                      <a:pt x="213" y="154"/>
                      <a:pt x="213" y="160"/>
                    </a:cubicBezTo>
                    <a:cubicBezTo>
                      <a:pt x="213" y="192"/>
                      <a:pt x="213" y="192"/>
                      <a:pt x="213" y="192"/>
                    </a:cubicBezTo>
                    <a:cubicBezTo>
                      <a:pt x="227" y="173"/>
                      <a:pt x="234" y="151"/>
                      <a:pt x="234" y="128"/>
                    </a:cubicBezTo>
                    <a:cubicBezTo>
                      <a:pt x="234" y="69"/>
                      <a:pt x="186" y="21"/>
                      <a:pt x="128" y="21"/>
                    </a:cubicBezTo>
                    <a:cubicBezTo>
                      <a:pt x="69" y="21"/>
                      <a:pt x="21" y="69"/>
                      <a:pt x="21" y="128"/>
                    </a:cubicBezTo>
                    <a:cubicBezTo>
                      <a:pt x="21" y="186"/>
                      <a:pt x="69" y="234"/>
                      <a:pt x="128" y="234"/>
                    </a:cubicBezTo>
                    <a:cubicBezTo>
                      <a:pt x="134" y="234"/>
                      <a:pt x="138" y="239"/>
                      <a:pt x="138" y="245"/>
                    </a:cubicBezTo>
                    <a:cubicBezTo>
                      <a:pt x="138" y="251"/>
                      <a:pt x="134" y="256"/>
                      <a:pt x="128" y="256"/>
                    </a:cubicBezTo>
                    <a:cubicBezTo>
                      <a:pt x="57" y="256"/>
                      <a:pt x="0" y="198"/>
                      <a:pt x="0" y="128"/>
                    </a:cubicBezTo>
                    <a:cubicBezTo>
                      <a:pt x="0" y="57"/>
                      <a:pt x="57" y="0"/>
                      <a:pt x="128" y="0"/>
                    </a:cubicBezTo>
                    <a:cubicBezTo>
                      <a:pt x="198" y="0"/>
                      <a:pt x="256" y="57"/>
                      <a:pt x="256" y="128"/>
                    </a:cubicBezTo>
                    <a:cubicBezTo>
                      <a:pt x="256" y="155"/>
                      <a:pt x="247" y="181"/>
                      <a:pt x="231" y="202"/>
                    </a:cubicBezTo>
                    <a:cubicBezTo>
                      <a:pt x="256" y="202"/>
                      <a:pt x="256" y="202"/>
                      <a:pt x="256" y="202"/>
                    </a:cubicBezTo>
                    <a:cubicBezTo>
                      <a:pt x="262" y="202"/>
                      <a:pt x="266" y="207"/>
                      <a:pt x="266" y="21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73" name="Freeform 579">
                <a:extLst>
                  <a:ext uri="{FF2B5EF4-FFF2-40B4-BE49-F238E27FC236}">
                    <a16:creationId xmlns:a16="http://schemas.microsoft.com/office/drawing/2014/main" id="{EF645B1B-00D5-FBEB-43DA-C297516830B2}"/>
                  </a:ext>
                </a:extLst>
              </p:cNvPr>
              <p:cNvSpPr>
                <a:spLocks noEditPoints="1"/>
              </p:cNvSpPr>
              <p:nvPr/>
            </p:nvSpPr>
            <p:spPr bwMode="auto">
              <a:xfrm>
                <a:off x="7356" y="231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nvGrpSpPr>
            <p:cNvPr id="165" name="Group 977">
              <a:extLst>
                <a:ext uri="{FF2B5EF4-FFF2-40B4-BE49-F238E27FC236}">
                  <a16:creationId xmlns:a16="http://schemas.microsoft.com/office/drawing/2014/main" id="{948E8B77-B9C5-D53C-CEF3-C99C7A9E605E}"/>
                </a:ext>
              </a:extLst>
            </p:cNvPr>
            <p:cNvGrpSpPr>
              <a:grpSpLocks noChangeAspect="1"/>
            </p:cNvGrpSpPr>
            <p:nvPr/>
          </p:nvGrpSpPr>
          <p:grpSpPr bwMode="auto">
            <a:xfrm>
              <a:off x="7291170" y="3274190"/>
              <a:ext cx="369021" cy="370106"/>
              <a:chOff x="5095" y="4001"/>
              <a:chExt cx="340" cy="341"/>
            </a:xfrm>
            <a:solidFill>
              <a:schemeClr val="bg1"/>
            </a:solidFill>
          </p:grpSpPr>
          <p:sp>
            <p:nvSpPr>
              <p:cNvPr id="170" name="Freeform 978">
                <a:extLst>
                  <a:ext uri="{FF2B5EF4-FFF2-40B4-BE49-F238E27FC236}">
                    <a16:creationId xmlns:a16="http://schemas.microsoft.com/office/drawing/2014/main" id="{693D2453-1647-2133-5AAB-E8E83881B741}"/>
                  </a:ext>
                </a:extLst>
              </p:cNvPr>
              <p:cNvSpPr>
                <a:spLocks/>
              </p:cNvSpPr>
              <p:nvPr/>
            </p:nvSpPr>
            <p:spPr bwMode="auto">
              <a:xfrm>
                <a:off x="5159" y="4086"/>
                <a:ext cx="212" cy="171"/>
              </a:xfrm>
              <a:custGeom>
                <a:avLst/>
                <a:gdLst>
                  <a:gd name="T0" fmla="*/ 259 w 320"/>
                  <a:gd name="T1" fmla="*/ 90 h 257"/>
                  <a:gd name="T2" fmla="*/ 284 w 320"/>
                  <a:gd name="T3" fmla="*/ 65 h 257"/>
                  <a:gd name="T4" fmla="*/ 256 w 320"/>
                  <a:gd name="T5" fmla="*/ 65 h 257"/>
                  <a:gd name="T6" fmla="*/ 191 w 320"/>
                  <a:gd name="T7" fmla="*/ 110 h 257"/>
                  <a:gd name="T8" fmla="*/ 179 w 320"/>
                  <a:gd name="T9" fmla="*/ 124 h 257"/>
                  <a:gd name="T10" fmla="*/ 174 w 320"/>
                  <a:gd name="T11" fmla="*/ 129 h 257"/>
                  <a:gd name="T12" fmla="*/ 179 w 320"/>
                  <a:gd name="T13" fmla="*/ 135 h 257"/>
                  <a:gd name="T14" fmla="*/ 191 w 320"/>
                  <a:gd name="T15" fmla="*/ 149 h 257"/>
                  <a:gd name="T16" fmla="*/ 256 w 320"/>
                  <a:gd name="T17" fmla="*/ 193 h 257"/>
                  <a:gd name="T18" fmla="*/ 284 w 320"/>
                  <a:gd name="T19" fmla="*/ 193 h 257"/>
                  <a:gd name="T20" fmla="*/ 259 w 320"/>
                  <a:gd name="T21" fmla="*/ 169 h 257"/>
                  <a:gd name="T22" fmla="*/ 259 w 320"/>
                  <a:gd name="T23" fmla="*/ 154 h 257"/>
                  <a:gd name="T24" fmla="*/ 274 w 320"/>
                  <a:gd name="T25" fmla="*/ 154 h 257"/>
                  <a:gd name="T26" fmla="*/ 317 w 320"/>
                  <a:gd name="T27" fmla="*/ 196 h 257"/>
                  <a:gd name="T28" fmla="*/ 319 w 320"/>
                  <a:gd name="T29" fmla="*/ 200 h 257"/>
                  <a:gd name="T30" fmla="*/ 319 w 320"/>
                  <a:gd name="T31" fmla="*/ 208 h 257"/>
                  <a:gd name="T32" fmla="*/ 317 w 320"/>
                  <a:gd name="T33" fmla="*/ 212 h 257"/>
                  <a:gd name="T34" fmla="*/ 274 w 320"/>
                  <a:gd name="T35" fmla="*/ 254 h 257"/>
                  <a:gd name="T36" fmla="*/ 267 w 320"/>
                  <a:gd name="T37" fmla="*/ 257 h 257"/>
                  <a:gd name="T38" fmla="*/ 259 w 320"/>
                  <a:gd name="T39" fmla="*/ 254 h 257"/>
                  <a:gd name="T40" fmla="*/ 259 w 320"/>
                  <a:gd name="T41" fmla="*/ 239 h 257"/>
                  <a:gd name="T42" fmla="*/ 284 w 320"/>
                  <a:gd name="T43" fmla="*/ 215 h 257"/>
                  <a:gd name="T44" fmla="*/ 256 w 320"/>
                  <a:gd name="T45" fmla="*/ 215 h 257"/>
                  <a:gd name="T46" fmla="*/ 174 w 320"/>
                  <a:gd name="T47" fmla="*/ 162 h 257"/>
                  <a:gd name="T48" fmla="*/ 163 w 320"/>
                  <a:gd name="T49" fmla="*/ 149 h 257"/>
                  <a:gd name="T50" fmla="*/ 160 w 320"/>
                  <a:gd name="T51" fmla="*/ 146 h 257"/>
                  <a:gd name="T52" fmla="*/ 157 w 320"/>
                  <a:gd name="T53" fmla="*/ 149 h 257"/>
                  <a:gd name="T54" fmla="*/ 146 w 320"/>
                  <a:gd name="T55" fmla="*/ 162 h 257"/>
                  <a:gd name="T56" fmla="*/ 64 w 320"/>
                  <a:gd name="T57" fmla="*/ 215 h 257"/>
                  <a:gd name="T58" fmla="*/ 11 w 320"/>
                  <a:gd name="T59" fmla="*/ 215 h 257"/>
                  <a:gd name="T60" fmla="*/ 0 w 320"/>
                  <a:gd name="T61" fmla="*/ 204 h 257"/>
                  <a:gd name="T62" fmla="*/ 11 w 320"/>
                  <a:gd name="T63" fmla="*/ 193 h 257"/>
                  <a:gd name="T64" fmla="*/ 64 w 320"/>
                  <a:gd name="T65" fmla="*/ 193 h 257"/>
                  <a:gd name="T66" fmla="*/ 129 w 320"/>
                  <a:gd name="T67" fmla="*/ 149 h 257"/>
                  <a:gd name="T68" fmla="*/ 141 w 320"/>
                  <a:gd name="T69" fmla="*/ 134 h 257"/>
                  <a:gd name="T70" fmla="*/ 146 w 320"/>
                  <a:gd name="T71" fmla="*/ 129 h 257"/>
                  <a:gd name="T72" fmla="*/ 141 w 320"/>
                  <a:gd name="T73" fmla="*/ 124 h 257"/>
                  <a:gd name="T74" fmla="*/ 129 w 320"/>
                  <a:gd name="T75" fmla="*/ 110 h 257"/>
                  <a:gd name="T76" fmla="*/ 64 w 320"/>
                  <a:gd name="T77" fmla="*/ 65 h 257"/>
                  <a:gd name="T78" fmla="*/ 11 w 320"/>
                  <a:gd name="T79" fmla="*/ 65 h 257"/>
                  <a:gd name="T80" fmla="*/ 0 w 320"/>
                  <a:gd name="T81" fmla="*/ 55 h 257"/>
                  <a:gd name="T82" fmla="*/ 11 w 320"/>
                  <a:gd name="T83" fmla="*/ 44 h 257"/>
                  <a:gd name="T84" fmla="*/ 64 w 320"/>
                  <a:gd name="T85" fmla="*/ 44 h 257"/>
                  <a:gd name="T86" fmla="*/ 146 w 320"/>
                  <a:gd name="T87" fmla="*/ 96 h 257"/>
                  <a:gd name="T88" fmla="*/ 157 w 320"/>
                  <a:gd name="T89" fmla="*/ 110 h 257"/>
                  <a:gd name="T90" fmla="*/ 160 w 320"/>
                  <a:gd name="T91" fmla="*/ 113 h 257"/>
                  <a:gd name="T92" fmla="*/ 163 w 320"/>
                  <a:gd name="T93" fmla="*/ 110 h 257"/>
                  <a:gd name="T94" fmla="*/ 174 w 320"/>
                  <a:gd name="T95" fmla="*/ 96 h 257"/>
                  <a:gd name="T96" fmla="*/ 256 w 320"/>
                  <a:gd name="T97" fmla="*/ 44 h 257"/>
                  <a:gd name="T98" fmla="*/ 284 w 320"/>
                  <a:gd name="T99" fmla="*/ 44 h 257"/>
                  <a:gd name="T100" fmla="*/ 259 w 320"/>
                  <a:gd name="T101" fmla="*/ 20 h 257"/>
                  <a:gd name="T102" fmla="*/ 259 w 320"/>
                  <a:gd name="T103" fmla="*/ 4 h 257"/>
                  <a:gd name="T104" fmla="*/ 274 w 320"/>
                  <a:gd name="T105" fmla="*/ 4 h 257"/>
                  <a:gd name="T106" fmla="*/ 317 w 320"/>
                  <a:gd name="T107" fmla="*/ 47 h 257"/>
                  <a:gd name="T108" fmla="*/ 319 w 320"/>
                  <a:gd name="T109" fmla="*/ 51 h 257"/>
                  <a:gd name="T110" fmla="*/ 319 w 320"/>
                  <a:gd name="T111" fmla="*/ 59 h 257"/>
                  <a:gd name="T112" fmla="*/ 317 w 320"/>
                  <a:gd name="T113" fmla="*/ 62 h 257"/>
                  <a:gd name="T114" fmla="*/ 274 w 320"/>
                  <a:gd name="T115" fmla="*/ 105 h 257"/>
                  <a:gd name="T116" fmla="*/ 267 w 320"/>
                  <a:gd name="T117" fmla="*/ 108 h 257"/>
                  <a:gd name="T118" fmla="*/ 259 w 320"/>
                  <a:gd name="T119" fmla="*/ 105 h 257"/>
                  <a:gd name="T120" fmla="*/ 259 w 320"/>
                  <a:gd name="T121" fmla="*/ 9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0" h="257">
                    <a:moveTo>
                      <a:pt x="259" y="90"/>
                    </a:moveTo>
                    <a:cubicBezTo>
                      <a:pt x="284" y="65"/>
                      <a:pt x="284" y="65"/>
                      <a:pt x="284" y="65"/>
                    </a:cubicBezTo>
                    <a:cubicBezTo>
                      <a:pt x="256" y="65"/>
                      <a:pt x="256" y="65"/>
                      <a:pt x="256" y="65"/>
                    </a:cubicBezTo>
                    <a:cubicBezTo>
                      <a:pt x="225" y="65"/>
                      <a:pt x="207" y="89"/>
                      <a:pt x="191" y="110"/>
                    </a:cubicBezTo>
                    <a:cubicBezTo>
                      <a:pt x="186" y="115"/>
                      <a:pt x="182" y="120"/>
                      <a:pt x="179" y="124"/>
                    </a:cubicBezTo>
                    <a:cubicBezTo>
                      <a:pt x="174" y="129"/>
                      <a:pt x="174" y="129"/>
                      <a:pt x="174" y="129"/>
                    </a:cubicBezTo>
                    <a:cubicBezTo>
                      <a:pt x="179" y="135"/>
                      <a:pt x="179" y="135"/>
                      <a:pt x="179" y="135"/>
                    </a:cubicBezTo>
                    <a:cubicBezTo>
                      <a:pt x="182" y="139"/>
                      <a:pt x="186" y="144"/>
                      <a:pt x="191" y="149"/>
                    </a:cubicBezTo>
                    <a:cubicBezTo>
                      <a:pt x="207" y="170"/>
                      <a:pt x="225" y="193"/>
                      <a:pt x="256" y="193"/>
                    </a:cubicBezTo>
                    <a:cubicBezTo>
                      <a:pt x="284" y="193"/>
                      <a:pt x="284" y="193"/>
                      <a:pt x="284" y="193"/>
                    </a:cubicBezTo>
                    <a:cubicBezTo>
                      <a:pt x="259" y="169"/>
                      <a:pt x="259" y="169"/>
                      <a:pt x="259" y="169"/>
                    </a:cubicBezTo>
                    <a:cubicBezTo>
                      <a:pt x="255" y="165"/>
                      <a:pt x="255" y="158"/>
                      <a:pt x="259" y="154"/>
                    </a:cubicBezTo>
                    <a:cubicBezTo>
                      <a:pt x="263" y="150"/>
                      <a:pt x="270" y="150"/>
                      <a:pt x="274" y="154"/>
                    </a:cubicBezTo>
                    <a:cubicBezTo>
                      <a:pt x="317" y="196"/>
                      <a:pt x="317" y="196"/>
                      <a:pt x="317" y="196"/>
                    </a:cubicBezTo>
                    <a:cubicBezTo>
                      <a:pt x="318" y="197"/>
                      <a:pt x="319" y="199"/>
                      <a:pt x="319" y="200"/>
                    </a:cubicBezTo>
                    <a:cubicBezTo>
                      <a:pt x="320" y="203"/>
                      <a:pt x="320" y="205"/>
                      <a:pt x="319" y="208"/>
                    </a:cubicBezTo>
                    <a:cubicBezTo>
                      <a:pt x="319" y="209"/>
                      <a:pt x="318" y="211"/>
                      <a:pt x="317" y="212"/>
                    </a:cubicBezTo>
                    <a:cubicBezTo>
                      <a:pt x="274" y="254"/>
                      <a:pt x="274" y="254"/>
                      <a:pt x="274" y="254"/>
                    </a:cubicBezTo>
                    <a:cubicBezTo>
                      <a:pt x="272" y="256"/>
                      <a:pt x="269" y="257"/>
                      <a:pt x="267" y="257"/>
                    </a:cubicBezTo>
                    <a:cubicBezTo>
                      <a:pt x="264" y="257"/>
                      <a:pt x="261" y="256"/>
                      <a:pt x="259" y="254"/>
                    </a:cubicBezTo>
                    <a:cubicBezTo>
                      <a:pt x="255" y="250"/>
                      <a:pt x="255" y="243"/>
                      <a:pt x="259" y="239"/>
                    </a:cubicBezTo>
                    <a:cubicBezTo>
                      <a:pt x="284" y="215"/>
                      <a:pt x="284" y="215"/>
                      <a:pt x="284" y="215"/>
                    </a:cubicBezTo>
                    <a:cubicBezTo>
                      <a:pt x="256" y="215"/>
                      <a:pt x="256" y="215"/>
                      <a:pt x="256" y="215"/>
                    </a:cubicBezTo>
                    <a:cubicBezTo>
                      <a:pt x="215" y="215"/>
                      <a:pt x="191" y="184"/>
                      <a:pt x="174" y="162"/>
                    </a:cubicBezTo>
                    <a:cubicBezTo>
                      <a:pt x="170" y="157"/>
                      <a:pt x="166" y="153"/>
                      <a:pt x="163" y="149"/>
                    </a:cubicBezTo>
                    <a:cubicBezTo>
                      <a:pt x="160" y="146"/>
                      <a:pt x="160" y="146"/>
                      <a:pt x="160" y="146"/>
                    </a:cubicBezTo>
                    <a:cubicBezTo>
                      <a:pt x="157" y="149"/>
                      <a:pt x="157" y="149"/>
                      <a:pt x="157" y="149"/>
                    </a:cubicBezTo>
                    <a:cubicBezTo>
                      <a:pt x="154" y="153"/>
                      <a:pt x="150" y="157"/>
                      <a:pt x="146" y="162"/>
                    </a:cubicBezTo>
                    <a:cubicBezTo>
                      <a:pt x="129" y="184"/>
                      <a:pt x="105" y="215"/>
                      <a:pt x="64" y="215"/>
                    </a:cubicBezTo>
                    <a:cubicBezTo>
                      <a:pt x="11" y="215"/>
                      <a:pt x="11" y="215"/>
                      <a:pt x="11" y="215"/>
                    </a:cubicBezTo>
                    <a:cubicBezTo>
                      <a:pt x="5" y="215"/>
                      <a:pt x="0" y="210"/>
                      <a:pt x="0" y="204"/>
                    </a:cubicBezTo>
                    <a:cubicBezTo>
                      <a:pt x="0" y="198"/>
                      <a:pt x="5" y="193"/>
                      <a:pt x="11" y="193"/>
                    </a:cubicBezTo>
                    <a:cubicBezTo>
                      <a:pt x="64" y="193"/>
                      <a:pt x="64" y="193"/>
                      <a:pt x="64" y="193"/>
                    </a:cubicBezTo>
                    <a:cubicBezTo>
                      <a:pt x="95" y="193"/>
                      <a:pt x="113" y="170"/>
                      <a:pt x="129" y="149"/>
                    </a:cubicBezTo>
                    <a:cubicBezTo>
                      <a:pt x="134" y="144"/>
                      <a:pt x="138" y="139"/>
                      <a:pt x="141" y="134"/>
                    </a:cubicBezTo>
                    <a:cubicBezTo>
                      <a:pt x="146" y="129"/>
                      <a:pt x="146" y="129"/>
                      <a:pt x="146" y="129"/>
                    </a:cubicBezTo>
                    <a:cubicBezTo>
                      <a:pt x="141" y="124"/>
                      <a:pt x="141" y="124"/>
                      <a:pt x="141" y="124"/>
                    </a:cubicBezTo>
                    <a:cubicBezTo>
                      <a:pt x="138" y="120"/>
                      <a:pt x="134" y="115"/>
                      <a:pt x="129" y="110"/>
                    </a:cubicBezTo>
                    <a:cubicBezTo>
                      <a:pt x="113" y="89"/>
                      <a:pt x="95" y="65"/>
                      <a:pt x="64" y="65"/>
                    </a:cubicBezTo>
                    <a:cubicBezTo>
                      <a:pt x="11" y="65"/>
                      <a:pt x="11" y="65"/>
                      <a:pt x="11" y="65"/>
                    </a:cubicBezTo>
                    <a:cubicBezTo>
                      <a:pt x="5" y="65"/>
                      <a:pt x="0" y="61"/>
                      <a:pt x="0" y="55"/>
                    </a:cubicBezTo>
                    <a:cubicBezTo>
                      <a:pt x="0" y="49"/>
                      <a:pt x="5" y="44"/>
                      <a:pt x="11" y="44"/>
                    </a:cubicBezTo>
                    <a:cubicBezTo>
                      <a:pt x="64" y="44"/>
                      <a:pt x="64" y="44"/>
                      <a:pt x="64" y="44"/>
                    </a:cubicBezTo>
                    <a:cubicBezTo>
                      <a:pt x="105" y="44"/>
                      <a:pt x="129" y="74"/>
                      <a:pt x="146" y="96"/>
                    </a:cubicBezTo>
                    <a:cubicBezTo>
                      <a:pt x="150" y="101"/>
                      <a:pt x="154" y="106"/>
                      <a:pt x="157" y="110"/>
                    </a:cubicBezTo>
                    <a:cubicBezTo>
                      <a:pt x="160" y="113"/>
                      <a:pt x="160" y="113"/>
                      <a:pt x="160" y="113"/>
                    </a:cubicBezTo>
                    <a:cubicBezTo>
                      <a:pt x="163" y="110"/>
                      <a:pt x="163" y="110"/>
                      <a:pt x="163" y="110"/>
                    </a:cubicBezTo>
                    <a:cubicBezTo>
                      <a:pt x="166" y="106"/>
                      <a:pt x="170" y="101"/>
                      <a:pt x="174" y="96"/>
                    </a:cubicBezTo>
                    <a:cubicBezTo>
                      <a:pt x="191" y="74"/>
                      <a:pt x="215" y="44"/>
                      <a:pt x="256" y="44"/>
                    </a:cubicBezTo>
                    <a:cubicBezTo>
                      <a:pt x="284" y="44"/>
                      <a:pt x="284" y="44"/>
                      <a:pt x="284" y="44"/>
                    </a:cubicBezTo>
                    <a:cubicBezTo>
                      <a:pt x="259" y="20"/>
                      <a:pt x="259" y="20"/>
                      <a:pt x="259" y="20"/>
                    </a:cubicBezTo>
                    <a:cubicBezTo>
                      <a:pt x="255" y="15"/>
                      <a:pt x="255" y="9"/>
                      <a:pt x="259" y="4"/>
                    </a:cubicBezTo>
                    <a:cubicBezTo>
                      <a:pt x="263" y="0"/>
                      <a:pt x="270" y="0"/>
                      <a:pt x="274" y="4"/>
                    </a:cubicBezTo>
                    <a:cubicBezTo>
                      <a:pt x="317" y="47"/>
                      <a:pt x="317" y="47"/>
                      <a:pt x="317" y="47"/>
                    </a:cubicBezTo>
                    <a:cubicBezTo>
                      <a:pt x="318" y="48"/>
                      <a:pt x="319" y="49"/>
                      <a:pt x="319" y="51"/>
                    </a:cubicBezTo>
                    <a:cubicBezTo>
                      <a:pt x="320" y="53"/>
                      <a:pt x="320" y="56"/>
                      <a:pt x="319" y="59"/>
                    </a:cubicBezTo>
                    <a:cubicBezTo>
                      <a:pt x="319" y="60"/>
                      <a:pt x="318" y="61"/>
                      <a:pt x="317" y="62"/>
                    </a:cubicBezTo>
                    <a:cubicBezTo>
                      <a:pt x="274" y="105"/>
                      <a:pt x="274" y="105"/>
                      <a:pt x="274" y="105"/>
                    </a:cubicBezTo>
                    <a:cubicBezTo>
                      <a:pt x="272" y="107"/>
                      <a:pt x="269" y="108"/>
                      <a:pt x="267" y="108"/>
                    </a:cubicBezTo>
                    <a:cubicBezTo>
                      <a:pt x="264" y="108"/>
                      <a:pt x="261" y="107"/>
                      <a:pt x="259" y="105"/>
                    </a:cubicBezTo>
                    <a:cubicBezTo>
                      <a:pt x="255" y="101"/>
                      <a:pt x="255" y="94"/>
                      <a:pt x="259" y="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71" name="Freeform 979">
                <a:extLst>
                  <a:ext uri="{FF2B5EF4-FFF2-40B4-BE49-F238E27FC236}">
                    <a16:creationId xmlns:a16="http://schemas.microsoft.com/office/drawing/2014/main" id="{B54D3051-3CF1-EB45-98A5-7D7E7013FD61}"/>
                  </a:ext>
                </a:extLst>
              </p:cNvPr>
              <p:cNvSpPr>
                <a:spLocks noEditPoints="1"/>
              </p:cNvSpPr>
              <p:nvPr/>
            </p:nvSpPr>
            <p:spPr bwMode="auto">
              <a:xfrm>
                <a:off x="5095" y="4001"/>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1 h 512"/>
                  <a:gd name="T12" fmla="*/ 21 w 512"/>
                  <a:gd name="T13" fmla="*/ 256 h 512"/>
                  <a:gd name="T14" fmla="*/ 256 w 512"/>
                  <a:gd name="T15" fmla="*/ 22 h 512"/>
                  <a:gd name="T16" fmla="*/ 491 w 512"/>
                  <a:gd name="T17" fmla="*/ 256 h 512"/>
                  <a:gd name="T18" fmla="*/ 256 w 512"/>
                  <a:gd name="T19" fmla="*/ 4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256" y="491"/>
                    </a:moveTo>
                    <a:cubicBezTo>
                      <a:pt x="127" y="491"/>
                      <a:pt x="21" y="386"/>
                      <a:pt x="21" y="256"/>
                    </a:cubicBezTo>
                    <a:cubicBezTo>
                      <a:pt x="21" y="127"/>
                      <a:pt x="127" y="22"/>
                      <a:pt x="256" y="22"/>
                    </a:cubicBezTo>
                    <a:cubicBezTo>
                      <a:pt x="385" y="22"/>
                      <a:pt x="491" y="127"/>
                      <a:pt x="491" y="256"/>
                    </a:cubicBezTo>
                    <a:cubicBezTo>
                      <a:pt x="491" y="386"/>
                      <a:pt x="385" y="491"/>
                      <a:pt x="256" y="49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nvGrpSpPr>
            <p:cNvPr id="166" name="Group 555">
              <a:extLst>
                <a:ext uri="{FF2B5EF4-FFF2-40B4-BE49-F238E27FC236}">
                  <a16:creationId xmlns:a16="http://schemas.microsoft.com/office/drawing/2014/main" id="{081B0B5B-559D-0A08-A64D-CE0DBDACF154}"/>
                </a:ext>
              </a:extLst>
            </p:cNvPr>
            <p:cNvGrpSpPr>
              <a:grpSpLocks noChangeAspect="1"/>
            </p:cNvGrpSpPr>
            <p:nvPr/>
          </p:nvGrpSpPr>
          <p:grpSpPr bwMode="auto">
            <a:xfrm>
              <a:off x="6173132" y="3219818"/>
              <a:ext cx="367982" cy="367982"/>
              <a:chOff x="4144" y="3013"/>
              <a:chExt cx="340" cy="340"/>
            </a:xfrm>
            <a:solidFill>
              <a:schemeClr val="bg1"/>
            </a:solidFill>
          </p:grpSpPr>
          <p:sp>
            <p:nvSpPr>
              <p:cNvPr id="168" name="Freeform 556">
                <a:extLst>
                  <a:ext uri="{FF2B5EF4-FFF2-40B4-BE49-F238E27FC236}">
                    <a16:creationId xmlns:a16="http://schemas.microsoft.com/office/drawing/2014/main" id="{C981D5DD-320B-C8DB-71A3-40ACA32F796D}"/>
                  </a:ext>
                </a:extLst>
              </p:cNvPr>
              <p:cNvSpPr>
                <a:spLocks noEditPoints="1"/>
              </p:cNvSpPr>
              <p:nvPr/>
            </p:nvSpPr>
            <p:spPr bwMode="auto">
              <a:xfrm>
                <a:off x="4144" y="30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169" name="Freeform 557">
                <a:extLst>
                  <a:ext uri="{FF2B5EF4-FFF2-40B4-BE49-F238E27FC236}">
                    <a16:creationId xmlns:a16="http://schemas.microsoft.com/office/drawing/2014/main" id="{54DA1C3A-892D-F708-8FDF-09B6BD4DBB08}"/>
                  </a:ext>
                </a:extLst>
              </p:cNvPr>
              <p:cNvSpPr>
                <a:spLocks noEditPoints="1"/>
              </p:cNvSpPr>
              <p:nvPr/>
            </p:nvSpPr>
            <p:spPr bwMode="auto">
              <a:xfrm>
                <a:off x="4236" y="3098"/>
                <a:ext cx="163" cy="163"/>
              </a:xfrm>
              <a:custGeom>
                <a:avLst/>
                <a:gdLst>
                  <a:gd name="T0" fmla="*/ 54 w 246"/>
                  <a:gd name="T1" fmla="*/ 245 h 245"/>
                  <a:gd name="T2" fmla="*/ 0 w 246"/>
                  <a:gd name="T3" fmla="*/ 192 h 245"/>
                  <a:gd name="T4" fmla="*/ 0 w 246"/>
                  <a:gd name="T5" fmla="*/ 85 h 245"/>
                  <a:gd name="T6" fmla="*/ 11 w 246"/>
                  <a:gd name="T7" fmla="*/ 74 h 245"/>
                  <a:gd name="T8" fmla="*/ 22 w 246"/>
                  <a:gd name="T9" fmla="*/ 85 h 245"/>
                  <a:gd name="T10" fmla="*/ 22 w 246"/>
                  <a:gd name="T11" fmla="*/ 192 h 245"/>
                  <a:gd name="T12" fmla="*/ 54 w 246"/>
                  <a:gd name="T13" fmla="*/ 224 h 245"/>
                  <a:gd name="T14" fmla="*/ 86 w 246"/>
                  <a:gd name="T15" fmla="*/ 192 h 245"/>
                  <a:gd name="T16" fmla="*/ 54 w 246"/>
                  <a:gd name="T17" fmla="*/ 160 h 245"/>
                  <a:gd name="T18" fmla="*/ 43 w 246"/>
                  <a:gd name="T19" fmla="*/ 149 h 245"/>
                  <a:gd name="T20" fmla="*/ 54 w 246"/>
                  <a:gd name="T21" fmla="*/ 138 h 245"/>
                  <a:gd name="T22" fmla="*/ 107 w 246"/>
                  <a:gd name="T23" fmla="*/ 192 h 245"/>
                  <a:gd name="T24" fmla="*/ 54 w 246"/>
                  <a:gd name="T25" fmla="*/ 245 h 245"/>
                  <a:gd name="T26" fmla="*/ 171 w 246"/>
                  <a:gd name="T27" fmla="*/ 192 h 245"/>
                  <a:gd name="T28" fmla="*/ 54 w 246"/>
                  <a:gd name="T29" fmla="*/ 74 h 245"/>
                  <a:gd name="T30" fmla="*/ 43 w 246"/>
                  <a:gd name="T31" fmla="*/ 85 h 245"/>
                  <a:gd name="T32" fmla="*/ 54 w 246"/>
                  <a:gd name="T33" fmla="*/ 96 h 245"/>
                  <a:gd name="T34" fmla="*/ 150 w 246"/>
                  <a:gd name="T35" fmla="*/ 192 h 245"/>
                  <a:gd name="T36" fmla="*/ 160 w 246"/>
                  <a:gd name="T37" fmla="*/ 202 h 245"/>
                  <a:gd name="T38" fmla="*/ 171 w 246"/>
                  <a:gd name="T39" fmla="*/ 192 h 245"/>
                  <a:gd name="T40" fmla="*/ 246 w 246"/>
                  <a:gd name="T41" fmla="*/ 192 h 245"/>
                  <a:gd name="T42" fmla="*/ 54 w 246"/>
                  <a:gd name="T43" fmla="*/ 0 h 245"/>
                  <a:gd name="T44" fmla="*/ 43 w 246"/>
                  <a:gd name="T45" fmla="*/ 10 h 245"/>
                  <a:gd name="T46" fmla="*/ 54 w 246"/>
                  <a:gd name="T47" fmla="*/ 21 h 245"/>
                  <a:gd name="T48" fmla="*/ 224 w 246"/>
                  <a:gd name="T49" fmla="*/ 192 h 245"/>
                  <a:gd name="T50" fmla="*/ 235 w 246"/>
                  <a:gd name="T51" fmla="*/ 202 h 245"/>
                  <a:gd name="T52" fmla="*/ 246 w 246"/>
                  <a:gd name="T53" fmla="*/ 19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6" h="245">
                    <a:moveTo>
                      <a:pt x="54" y="245"/>
                    </a:moveTo>
                    <a:cubicBezTo>
                      <a:pt x="24" y="245"/>
                      <a:pt x="0" y="221"/>
                      <a:pt x="0" y="192"/>
                    </a:cubicBezTo>
                    <a:cubicBezTo>
                      <a:pt x="0" y="85"/>
                      <a:pt x="0" y="85"/>
                      <a:pt x="0" y="85"/>
                    </a:cubicBezTo>
                    <a:cubicBezTo>
                      <a:pt x="0" y="79"/>
                      <a:pt x="5" y="74"/>
                      <a:pt x="11" y="74"/>
                    </a:cubicBezTo>
                    <a:cubicBezTo>
                      <a:pt x="17" y="74"/>
                      <a:pt x="22" y="79"/>
                      <a:pt x="22" y="85"/>
                    </a:cubicBezTo>
                    <a:cubicBezTo>
                      <a:pt x="22" y="192"/>
                      <a:pt x="22" y="192"/>
                      <a:pt x="22" y="192"/>
                    </a:cubicBezTo>
                    <a:cubicBezTo>
                      <a:pt x="22" y="209"/>
                      <a:pt x="36" y="224"/>
                      <a:pt x="54" y="224"/>
                    </a:cubicBezTo>
                    <a:cubicBezTo>
                      <a:pt x="71" y="224"/>
                      <a:pt x="86" y="209"/>
                      <a:pt x="86" y="192"/>
                    </a:cubicBezTo>
                    <a:cubicBezTo>
                      <a:pt x="86" y="174"/>
                      <a:pt x="71" y="160"/>
                      <a:pt x="54" y="160"/>
                    </a:cubicBezTo>
                    <a:cubicBezTo>
                      <a:pt x="48" y="160"/>
                      <a:pt x="43" y="155"/>
                      <a:pt x="43" y="149"/>
                    </a:cubicBezTo>
                    <a:cubicBezTo>
                      <a:pt x="43" y="143"/>
                      <a:pt x="48" y="138"/>
                      <a:pt x="54" y="138"/>
                    </a:cubicBezTo>
                    <a:cubicBezTo>
                      <a:pt x="83" y="138"/>
                      <a:pt x="107" y="162"/>
                      <a:pt x="107" y="192"/>
                    </a:cubicBezTo>
                    <a:cubicBezTo>
                      <a:pt x="107" y="221"/>
                      <a:pt x="83" y="245"/>
                      <a:pt x="54" y="245"/>
                    </a:cubicBezTo>
                    <a:close/>
                    <a:moveTo>
                      <a:pt x="171" y="192"/>
                    </a:moveTo>
                    <a:cubicBezTo>
                      <a:pt x="171" y="127"/>
                      <a:pt x="118" y="74"/>
                      <a:pt x="54" y="74"/>
                    </a:cubicBezTo>
                    <a:cubicBezTo>
                      <a:pt x="48" y="74"/>
                      <a:pt x="43" y="79"/>
                      <a:pt x="43" y="85"/>
                    </a:cubicBezTo>
                    <a:cubicBezTo>
                      <a:pt x="43" y="91"/>
                      <a:pt x="48" y="96"/>
                      <a:pt x="54" y="96"/>
                    </a:cubicBezTo>
                    <a:cubicBezTo>
                      <a:pt x="107" y="96"/>
                      <a:pt x="150" y="139"/>
                      <a:pt x="150" y="192"/>
                    </a:cubicBezTo>
                    <a:cubicBezTo>
                      <a:pt x="150" y="198"/>
                      <a:pt x="154" y="202"/>
                      <a:pt x="160" y="202"/>
                    </a:cubicBezTo>
                    <a:cubicBezTo>
                      <a:pt x="166" y="202"/>
                      <a:pt x="171" y="198"/>
                      <a:pt x="171" y="192"/>
                    </a:cubicBezTo>
                    <a:close/>
                    <a:moveTo>
                      <a:pt x="246" y="192"/>
                    </a:moveTo>
                    <a:cubicBezTo>
                      <a:pt x="246" y="86"/>
                      <a:pt x="160" y="0"/>
                      <a:pt x="54" y="0"/>
                    </a:cubicBezTo>
                    <a:cubicBezTo>
                      <a:pt x="48" y="0"/>
                      <a:pt x="43" y="4"/>
                      <a:pt x="43" y="10"/>
                    </a:cubicBezTo>
                    <a:cubicBezTo>
                      <a:pt x="43" y="16"/>
                      <a:pt x="48" y="21"/>
                      <a:pt x="54" y="21"/>
                    </a:cubicBezTo>
                    <a:cubicBezTo>
                      <a:pt x="148" y="21"/>
                      <a:pt x="224" y="98"/>
                      <a:pt x="224" y="192"/>
                    </a:cubicBezTo>
                    <a:cubicBezTo>
                      <a:pt x="224" y="198"/>
                      <a:pt x="229" y="202"/>
                      <a:pt x="235" y="202"/>
                    </a:cubicBezTo>
                    <a:cubicBezTo>
                      <a:pt x="241" y="202"/>
                      <a:pt x="246" y="198"/>
                      <a:pt x="24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sp>
        <p:nvSpPr>
          <p:cNvPr id="304" name="Rectangle 303">
            <a:extLst>
              <a:ext uri="{FF2B5EF4-FFF2-40B4-BE49-F238E27FC236}">
                <a16:creationId xmlns:a16="http://schemas.microsoft.com/office/drawing/2014/main" id="{7329F49F-3A24-CED5-9A0E-B1807EE59B35}"/>
              </a:ext>
            </a:extLst>
          </p:cNvPr>
          <p:cNvSpPr/>
          <p:nvPr/>
        </p:nvSpPr>
        <p:spPr>
          <a:xfrm>
            <a:off x="483460" y="3526805"/>
            <a:ext cx="1994070" cy="2992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7CB0"/>
                </a:solidFill>
              </a:rPr>
              <a:t>Data Sources</a:t>
            </a:r>
            <a:endParaRPr lang="en-IN" b="1" dirty="0">
              <a:solidFill>
                <a:srgbClr val="007CB0"/>
              </a:solidFill>
            </a:endParaRPr>
          </a:p>
        </p:txBody>
      </p:sp>
      <p:sp>
        <p:nvSpPr>
          <p:cNvPr id="305" name="Freeform 5">
            <a:extLst>
              <a:ext uri="{FF2B5EF4-FFF2-40B4-BE49-F238E27FC236}">
                <a16:creationId xmlns:a16="http://schemas.microsoft.com/office/drawing/2014/main" id="{3AF1823E-4B92-DC4B-F41B-DF8590A47610}"/>
              </a:ext>
            </a:extLst>
          </p:cNvPr>
          <p:cNvSpPr>
            <a:spLocks/>
          </p:cNvSpPr>
          <p:nvPr/>
        </p:nvSpPr>
        <p:spPr bwMode="auto">
          <a:xfrm>
            <a:off x="10519580" y="3400765"/>
            <a:ext cx="1281395" cy="566885"/>
          </a:xfrm>
          <a:custGeom>
            <a:avLst/>
            <a:gdLst>
              <a:gd name="T0" fmla="*/ 465 w 641"/>
              <a:gd name="T1" fmla="*/ 0 h 284"/>
              <a:gd name="T2" fmla="*/ 641 w 641"/>
              <a:gd name="T3" fmla="*/ 284 h 284"/>
              <a:gd name="T4" fmla="*/ 4 w 641"/>
              <a:gd name="T5" fmla="*/ 284 h 284"/>
              <a:gd name="T6" fmla="*/ 37 w 641"/>
              <a:gd name="T7" fmla="*/ 70 h 284"/>
              <a:gd name="T8" fmla="*/ 0 w 641"/>
              <a:gd name="T9" fmla="*/ 0 h 284"/>
              <a:gd name="T10" fmla="*/ 465 w 641"/>
              <a:gd name="T11" fmla="*/ 0 h 284"/>
            </a:gdLst>
            <a:ahLst/>
            <a:cxnLst>
              <a:cxn ang="0">
                <a:pos x="T0" y="T1"/>
              </a:cxn>
              <a:cxn ang="0">
                <a:pos x="T2" y="T3"/>
              </a:cxn>
              <a:cxn ang="0">
                <a:pos x="T4" y="T5"/>
              </a:cxn>
              <a:cxn ang="0">
                <a:pos x="T6" y="T7"/>
              </a:cxn>
              <a:cxn ang="0">
                <a:pos x="T8" y="T9"/>
              </a:cxn>
              <a:cxn ang="0">
                <a:pos x="T10" y="T11"/>
              </a:cxn>
            </a:cxnLst>
            <a:rect l="0" t="0" r="r" b="b"/>
            <a:pathLst>
              <a:path w="641" h="284">
                <a:moveTo>
                  <a:pt x="465" y="0"/>
                </a:moveTo>
                <a:cubicBezTo>
                  <a:pt x="511" y="135"/>
                  <a:pt x="613" y="217"/>
                  <a:pt x="641" y="284"/>
                </a:cubicBezTo>
                <a:cubicBezTo>
                  <a:pt x="4" y="284"/>
                  <a:pt x="4" y="284"/>
                  <a:pt x="4" y="284"/>
                </a:cubicBezTo>
                <a:cubicBezTo>
                  <a:pt x="23" y="214"/>
                  <a:pt x="63" y="151"/>
                  <a:pt x="37" y="70"/>
                </a:cubicBezTo>
                <a:cubicBezTo>
                  <a:pt x="28" y="40"/>
                  <a:pt x="15" y="17"/>
                  <a:pt x="0" y="0"/>
                </a:cubicBezTo>
                <a:lnTo>
                  <a:pt x="465" y="0"/>
                </a:lnTo>
                <a:close/>
              </a:path>
            </a:pathLst>
          </a:custGeom>
          <a:solidFill>
            <a:srgbClr val="009A44"/>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06" name="Freeform 6">
            <a:extLst>
              <a:ext uri="{FF2B5EF4-FFF2-40B4-BE49-F238E27FC236}">
                <a16:creationId xmlns:a16="http://schemas.microsoft.com/office/drawing/2014/main" id="{71BE4A77-7D45-C3B1-1F35-0EF16F19CC94}"/>
              </a:ext>
            </a:extLst>
          </p:cNvPr>
          <p:cNvSpPr>
            <a:spLocks/>
          </p:cNvSpPr>
          <p:nvPr/>
        </p:nvSpPr>
        <p:spPr bwMode="auto">
          <a:xfrm>
            <a:off x="10147562" y="1554173"/>
            <a:ext cx="1501569" cy="705231"/>
          </a:xfrm>
          <a:custGeom>
            <a:avLst/>
            <a:gdLst>
              <a:gd name="T0" fmla="*/ 0 w 751"/>
              <a:gd name="T1" fmla="*/ 353 h 353"/>
              <a:gd name="T2" fmla="*/ 57 w 751"/>
              <a:gd name="T3" fmla="*/ 201 h 353"/>
              <a:gd name="T4" fmla="*/ 680 w 751"/>
              <a:gd name="T5" fmla="*/ 150 h 353"/>
              <a:gd name="T6" fmla="*/ 751 w 751"/>
              <a:gd name="T7" fmla="*/ 353 h 353"/>
              <a:gd name="T8" fmla="*/ 0 w 751"/>
              <a:gd name="T9" fmla="*/ 353 h 353"/>
            </a:gdLst>
            <a:ahLst/>
            <a:cxnLst>
              <a:cxn ang="0">
                <a:pos x="T0" y="T1"/>
              </a:cxn>
              <a:cxn ang="0">
                <a:pos x="T2" y="T3"/>
              </a:cxn>
              <a:cxn ang="0">
                <a:pos x="T4" y="T5"/>
              </a:cxn>
              <a:cxn ang="0">
                <a:pos x="T6" y="T7"/>
              </a:cxn>
              <a:cxn ang="0">
                <a:pos x="T8" y="T9"/>
              </a:cxn>
            </a:cxnLst>
            <a:rect l="0" t="0" r="r" b="b"/>
            <a:pathLst>
              <a:path w="751" h="353">
                <a:moveTo>
                  <a:pt x="0" y="353"/>
                </a:moveTo>
                <a:cubicBezTo>
                  <a:pt x="14" y="313"/>
                  <a:pt x="20" y="305"/>
                  <a:pt x="57" y="201"/>
                </a:cubicBezTo>
                <a:cubicBezTo>
                  <a:pt x="126" y="10"/>
                  <a:pt x="558" y="0"/>
                  <a:pt x="680" y="150"/>
                </a:cubicBezTo>
                <a:cubicBezTo>
                  <a:pt x="730" y="213"/>
                  <a:pt x="751" y="284"/>
                  <a:pt x="751" y="353"/>
                </a:cubicBezTo>
                <a:lnTo>
                  <a:pt x="0" y="353"/>
                </a:lnTo>
                <a:close/>
              </a:path>
            </a:pathLst>
          </a:custGeom>
          <a:solidFill>
            <a:srgbClr val="FFFFFF"/>
          </a:solidFill>
          <a:ln>
            <a:solidFill>
              <a:srgbClr val="007CB0"/>
            </a:solidFill>
          </a:ln>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07" name="Freeform 7">
            <a:extLst>
              <a:ext uri="{FF2B5EF4-FFF2-40B4-BE49-F238E27FC236}">
                <a16:creationId xmlns:a16="http://schemas.microsoft.com/office/drawing/2014/main" id="{389CB5B1-4449-4C76-BDB4-25EE3A2286B5}"/>
              </a:ext>
            </a:extLst>
          </p:cNvPr>
          <p:cNvSpPr>
            <a:spLocks/>
          </p:cNvSpPr>
          <p:nvPr/>
        </p:nvSpPr>
        <p:spPr bwMode="auto">
          <a:xfrm>
            <a:off x="9973785" y="2257717"/>
            <a:ext cx="1677877" cy="573633"/>
          </a:xfrm>
          <a:custGeom>
            <a:avLst/>
            <a:gdLst>
              <a:gd name="T0" fmla="*/ 77 w 839"/>
              <a:gd name="T1" fmla="*/ 287 h 287"/>
              <a:gd name="T2" fmla="*/ 71 w 839"/>
              <a:gd name="T3" fmla="*/ 275 h 287"/>
              <a:gd name="T4" fmla="*/ 42 w 839"/>
              <a:gd name="T5" fmla="*/ 261 h 287"/>
              <a:gd name="T6" fmla="*/ 13 w 839"/>
              <a:gd name="T7" fmla="*/ 219 h 287"/>
              <a:gd name="T8" fmla="*/ 51 w 839"/>
              <a:gd name="T9" fmla="*/ 165 h 287"/>
              <a:gd name="T10" fmla="*/ 102 w 839"/>
              <a:gd name="T11" fmla="*/ 86 h 287"/>
              <a:gd name="T12" fmla="*/ 78 w 839"/>
              <a:gd name="T13" fmla="*/ 31 h 287"/>
              <a:gd name="T14" fmla="*/ 88 w 839"/>
              <a:gd name="T15" fmla="*/ 0 h 287"/>
              <a:gd name="T16" fmla="*/ 839 w 839"/>
              <a:gd name="T17" fmla="*/ 0 h 287"/>
              <a:gd name="T18" fmla="*/ 779 w 839"/>
              <a:gd name="T19" fmla="*/ 199 h 287"/>
              <a:gd name="T20" fmla="*/ 737 w 839"/>
              <a:gd name="T21" fmla="*/ 287 h 287"/>
              <a:gd name="T22" fmla="*/ 77 w 839"/>
              <a:gd name="T23" fmla="*/ 287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9" h="287">
                <a:moveTo>
                  <a:pt x="77" y="287"/>
                </a:moveTo>
                <a:cubicBezTo>
                  <a:pt x="76" y="283"/>
                  <a:pt x="74" y="279"/>
                  <a:pt x="71" y="275"/>
                </a:cubicBezTo>
                <a:cubicBezTo>
                  <a:pt x="63" y="266"/>
                  <a:pt x="55" y="265"/>
                  <a:pt x="42" y="261"/>
                </a:cubicBezTo>
                <a:cubicBezTo>
                  <a:pt x="18" y="253"/>
                  <a:pt x="0" y="244"/>
                  <a:pt x="13" y="219"/>
                </a:cubicBezTo>
                <a:cubicBezTo>
                  <a:pt x="24" y="197"/>
                  <a:pt x="26" y="198"/>
                  <a:pt x="51" y="165"/>
                </a:cubicBezTo>
                <a:cubicBezTo>
                  <a:pt x="77" y="129"/>
                  <a:pt x="102" y="96"/>
                  <a:pt x="102" y="86"/>
                </a:cubicBezTo>
                <a:cubicBezTo>
                  <a:pt x="102" y="60"/>
                  <a:pt x="69" y="60"/>
                  <a:pt x="78" y="31"/>
                </a:cubicBezTo>
                <a:cubicBezTo>
                  <a:pt x="82" y="18"/>
                  <a:pt x="85" y="9"/>
                  <a:pt x="88" y="0"/>
                </a:cubicBezTo>
                <a:cubicBezTo>
                  <a:pt x="839" y="0"/>
                  <a:pt x="839" y="0"/>
                  <a:pt x="839" y="0"/>
                </a:cubicBezTo>
                <a:cubicBezTo>
                  <a:pt x="839" y="74"/>
                  <a:pt x="815" y="145"/>
                  <a:pt x="779" y="199"/>
                </a:cubicBezTo>
                <a:cubicBezTo>
                  <a:pt x="764" y="222"/>
                  <a:pt x="749" y="248"/>
                  <a:pt x="737" y="287"/>
                </a:cubicBezTo>
                <a:lnTo>
                  <a:pt x="77" y="287"/>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08" name="Freeform 8">
            <a:extLst>
              <a:ext uri="{FF2B5EF4-FFF2-40B4-BE49-F238E27FC236}">
                <a16:creationId xmlns:a16="http://schemas.microsoft.com/office/drawing/2014/main" id="{5F612BDD-2C82-E4F0-B868-2ED0D2C7DCA4}"/>
              </a:ext>
            </a:extLst>
          </p:cNvPr>
          <p:cNvSpPr>
            <a:spLocks/>
          </p:cNvSpPr>
          <p:nvPr/>
        </p:nvSpPr>
        <p:spPr bwMode="auto">
          <a:xfrm>
            <a:off x="10080076" y="2828819"/>
            <a:ext cx="1371658" cy="573633"/>
          </a:xfrm>
          <a:custGeom>
            <a:avLst/>
            <a:gdLst>
              <a:gd name="T0" fmla="*/ 666 w 686"/>
              <a:gd name="T1" fmla="*/ 99 h 287"/>
              <a:gd name="T2" fmla="*/ 686 w 686"/>
              <a:gd name="T3" fmla="*/ 287 h 287"/>
              <a:gd name="T4" fmla="*/ 221 w 686"/>
              <a:gd name="T5" fmla="*/ 287 h 287"/>
              <a:gd name="T6" fmla="*/ 53 w 686"/>
              <a:gd name="T7" fmla="*/ 222 h 287"/>
              <a:gd name="T8" fmla="*/ 15 w 686"/>
              <a:gd name="T9" fmla="*/ 184 h 287"/>
              <a:gd name="T10" fmla="*/ 25 w 686"/>
              <a:gd name="T11" fmla="*/ 130 h 287"/>
              <a:gd name="T12" fmla="*/ 15 w 686"/>
              <a:gd name="T13" fmla="*/ 94 h 287"/>
              <a:gd name="T14" fmla="*/ 20 w 686"/>
              <a:gd name="T15" fmla="*/ 75 h 287"/>
              <a:gd name="T16" fmla="*/ 8 w 686"/>
              <a:gd name="T17" fmla="*/ 64 h 287"/>
              <a:gd name="T18" fmla="*/ 14 w 686"/>
              <a:gd name="T19" fmla="*/ 35 h 287"/>
              <a:gd name="T20" fmla="*/ 25 w 686"/>
              <a:gd name="T21" fmla="*/ 0 h 287"/>
              <a:gd name="T22" fmla="*/ 685 w 686"/>
              <a:gd name="T23" fmla="*/ 0 h 287"/>
              <a:gd name="T24" fmla="*/ 666 w 686"/>
              <a:gd name="T25" fmla="*/ 99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6" h="287">
                <a:moveTo>
                  <a:pt x="666" y="99"/>
                </a:moveTo>
                <a:cubicBezTo>
                  <a:pt x="658" y="172"/>
                  <a:pt x="668" y="233"/>
                  <a:pt x="686" y="287"/>
                </a:cubicBezTo>
                <a:cubicBezTo>
                  <a:pt x="221" y="287"/>
                  <a:pt x="221" y="287"/>
                  <a:pt x="221" y="287"/>
                </a:cubicBezTo>
                <a:cubicBezTo>
                  <a:pt x="167" y="221"/>
                  <a:pt x="86" y="228"/>
                  <a:pt x="53" y="222"/>
                </a:cubicBezTo>
                <a:cubicBezTo>
                  <a:pt x="26" y="217"/>
                  <a:pt x="16" y="192"/>
                  <a:pt x="15" y="184"/>
                </a:cubicBezTo>
                <a:cubicBezTo>
                  <a:pt x="12" y="171"/>
                  <a:pt x="12" y="151"/>
                  <a:pt x="25" y="130"/>
                </a:cubicBezTo>
                <a:cubicBezTo>
                  <a:pt x="37" y="108"/>
                  <a:pt x="22" y="109"/>
                  <a:pt x="15" y="94"/>
                </a:cubicBezTo>
                <a:cubicBezTo>
                  <a:pt x="11" y="87"/>
                  <a:pt x="18" y="76"/>
                  <a:pt x="20" y="75"/>
                </a:cubicBezTo>
                <a:cubicBezTo>
                  <a:pt x="24" y="73"/>
                  <a:pt x="16" y="73"/>
                  <a:pt x="8" y="64"/>
                </a:cubicBezTo>
                <a:cubicBezTo>
                  <a:pt x="0" y="54"/>
                  <a:pt x="8" y="45"/>
                  <a:pt x="14" y="35"/>
                </a:cubicBezTo>
                <a:cubicBezTo>
                  <a:pt x="19" y="27"/>
                  <a:pt x="28" y="14"/>
                  <a:pt x="25" y="0"/>
                </a:cubicBezTo>
                <a:cubicBezTo>
                  <a:pt x="685" y="0"/>
                  <a:pt x="685" y="0"/>
                  <a:pt x="685" y="0"/>
                </a:cubicBezTo>
                <a:cubicBezTo>
                  <a:pt x="677" y="27"/>
                  <a:pt x="670" y="59"/>
                  <a:pt x="666" y="99"/>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19" name="Rectangle 318">
            <a:extLst>
              <a:ext uri="{FF2B5EF4-FFF2-40B4-BE49-F238E27FC236}">
                <a16:creationId xmlns:a16="http://schemas.microsoft.com/office/drawing/2014/main" id="{CDB08204-E85D-6F74-E623-C223E126AE17}"/>
              </a:ext>
            </a:extLst>
          </p:cNvPr>
          <p:cNvSpPr/>
          <p:nvPr/>
        </p:nvSpPr>
        <p:spPr>
          <a:xfrm>
            <a:off x="10443378" y="1847484"/>
            <a:ext cx="932154" cy="344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End User</a:t>
            </a:r>
            <a:endParaRPr lang="en-IN" sz="1400" b="1" dirty="0">
              <a:solidFill>
                <a:schemeClr val="tx1"/>
              </a:solidFill>
            </a:endParaRPr>
          </a:p>
        </p:txBody>
      </p:sp>
      <p:sp>
        <p:nvSpPr>
          <p:cNvPr id="320" name="Rectangle 319">
            <a:extLst>
              <a:ext uri="{FF2B5EF4-FFF2-40B4-BE49-F238E27FC236}">
                <a16:creationId xmlns:a16="http://schemas.microsoft.com/office/drawing/2014/main" id="{DEAB6187-1006-2C83-5152-508FAE673104}"/>
              </a:ext>
            </a:extLst>
          </p:cNvPr>
          <p:cNvSpPr/>
          <p:nvPr/>
        </p:nvSpPr>
        <p:spPr>
          <a:xfrm>
            <a:off x="315815" y="3816433"/>
            <a:ext cx="2329360" cy="588995"/>
          </a:xfrm>
          <a:prstGeom prst="rect">
            <a:avLst/>
          </a:prstGeom>
          <a:solidFill>
            <a:srgbClr val="0097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Pdfs, scanned pdfs, handwritten documents, word doc, jpg., MS Excel and PPT  file formats</a:t>
            </a:r>
            <a:endParaRPr lang="en-IN" sz="1100" b="1" dirty="0"/>
          </a:p>
        </p:txBody>
      </p:sp>
      <p:sp>
        <p:nvSpPr>
          <p:cNvPr id="321" name="Rectangle 320">
            <a:extLst>
              <a:ext uri="{FF2B5EF4-FFF2-40B4-BE49-F238E27FC236}">
                <a16:creationId xmlns:a16="http://schemas.microsoft.com/office/drawing/2014/main" id="{9B6AF765-7407-72AF-39FD-8F698CD754A5}"/>
              </a:ext>
            </a:extLst>
          </p:cNvPr>
          <p:cNvSpPr/>
          <p:nvPr/>
        </p:nvSpPr>
        <p:spPr>
          <a:xfrm>
            <a:off x="315815" y="997101"/>
            <a:ext cx="2329360" cy="588995"/>
          </a:xfrm>
          <a:prstGeom prst="rect">
            <a:avLst/>
          </a:prstGeom>
          <a:solidFill>
            <a:srgbClr val="0097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Docs such as SOPs, Process docs, BRDs, PDDs, MoM documents, KT docs, etc..</a:t>
            </a:r>
            <a:endParaRPr lang="en-IN" sz="1100" b="1" dirty="0"/>
          </a:p>
        </p:txBody>
      </p:sp>
      <p:sp>
        <p:nvSpPr>
          <p:cNvPr id="322" name="TextBox 321">
            <a:extLst>
              <a:ext uri="{FF2B5EF4-FFF2-40B4-BE49-F238E27FC236}">
                <a16:creationId xmlns:a16="http://schemas.microsoft.com/office/drawing/2014/main" id="{453306E4-AD35-E439-7A1A-6D1C37665075}"/>
              </a:ext>
            </a:extLst>
          </p:cNvPr>
          <p:cNvSpPr txBox="1"/>
          <p:nvPr/>
        </p:nvSpPr>
        <p:spPr>
          <a:xfrm>
            <a:off x="268227" y="4517649"/>
            <a:ext cx="7563307" cy="338554"/>
          </a:xfrm>
          <a:prstGeom prst="rect">
            <a:avLst/>
          </a:prstGeom>
          <a:noFill/>
        </p:spPr>
        <p:txBody>
          <a:bodyPr wrap="square">
            <a:spAutoFit/>
          </a:bodyPr>
          <a:lstStyle/>
          <a:p>
            <a:pPr defTabSz="914486">
              <a:defRPr/>
            </a:pPr>
            <a:r>
              <a:rPr lang="en-US" sz="1600" b="1" dirty="0">
                <a:solidFill>
                  <a:srgbClr val="005587"/>
                </a:solidFill>
              </a:rPr>
              <a:t>KEY BENEFITS</a:t>
            </a:r>
          </a:p>
        </p:txBody>
      </p:sp>
      <p:grpSp>
        <p:nvGrpSpPr>
          <p:cNvPr id="323" name="Group 322">
            <a:extLst>
              <a:ext uri="{FF2B5EF4-FFF2-40B4-BE49-F238E27FC236}">
                <a16:creationId xmlns:a16="http://schemas.microsoft.com/office/drawing/2014/main" id="{BACFB843-3647-9796-9459-7512837114C2}"/>
              </a:ext>
            </a:extLst>
          </p:cNvPr>
          <p:cNvGrpSpPr/>
          <p:nvPr/>
        </p:nvGrpSpPr>
        <p:grpSpPr>
          <a:xfrm>
            <a:off x="268227" y="4946697"/>
            <a:ext cx="1940571" cy="1461939"/>
            <a:chOff x="921502" y="4652784"/>
            <a:chExt cx="1940571" cy="1461939"/>
          </a:xfrm>
        </p:grpSpPr>
        <p:sp>
          <p:nvSpPr>
            <p:cNvPr id="324" name="TextBox 323">
              <a:extLst>
                <a:ext uri="{FF2B5EF4-FFF2-40B4-BE49-F238E27FC236}">
                  <a16:creationId xmlns:a16="http://schemas.microsoft.com/office/drawing/2014/main" id="{FA7024A1-FA44-FBE0-6D6F-B9DAADBF1B32}"/>
                </a:ext>
              </a:extLst>
            </p:cNvPr>
            <p:cNvSpPr txBox="1"/>
            <p:nvPr/>
          </p:nvSpPr>
          <p:spPr>
            <a:xfrm>
              <a:off x="921502" y="4652784"/>
              <a:ext cx="1472184" cy="523220"/>
            </a:xfrm>
            <a:prstGeom prst="rect">
              <a:avLst/>
            </a:prstGeom>
            <a:noFill/>
          </p:spPr>
          <p:txBody>
            <a:bodyPr wrap="square">
              <a:spAutoFit/>
            </a:bodyPr>
            <a:lstStyle/>
            <a:p>
              <a:pPr defTabSz="914486">
                <a:defRPr/>
              </a:pPr>
              <a:r>
                <a:rPr lang="en-US" sz="1400" b="1" dirty="0">
                  <a:solidFill>
                    <a:srgbClr val="005587"/>
                  </a:solidFill>
                </a:rPr>
                <a:t>Enhanced Experience</a:t>
              </a:r>
            </a:p>
          </p:txBody>
        </p:sp>
        <p:sp>
          <p:nvSpPr>
            <p:cNvPr id="325" name="TextBox 324">
              <a:extLst>
                <a:ext uri="{FF2B5EF4-FFF2-40B4-BE49-F238E27FC236}">
                  <a16:creationId xmlns:a16="http://schemas.microsoft.com/office/drawing/2014/main" id="{A8ABB08C-2BC8-3528-32B7-BA815B2651F3}"/>
                </a:ext>
              </a:extLst>
            </p:cNvPr>
            <p:cNvSpPr txBox="1"/>
            <p:nvPr/>
          </p:nvSpPr>
          <p:spPr>
            <a:xfrm>
              <a:off x="921503" y="5176004"/>
              <a:ext cx="1940570" cy="938719"/>
            </a:xfrm>
            <a:prstGeom prst="rect">
              <a:avLst/>
            </a:prstGeom>
            <a:noFill/>
          </p:spPr>
          <p:txBody>
            <a:bodyPr wrap="square" rtlCol="0">
              <a:spAutoFit/>
            </a:bodyPr>
            <a:lstStyle/>
            <a:p>
              <a:r>
                <a:rPr lang="en-US" sz="1100" dirty="0"/>
                <a:t>End user is provided  with a unique experience and ease of usage as the chatbot provides conversational experience</a:t>
              </a:r>
            </a:p>
          </p:txBody>
        </p:sp>
      </p:grpSp>
      <p:grpSp>
        <p:nvGrpSpPr>
          <p:cNvPr id="326" name="Group 325">
            <a:extLst>
              <a:ext uri="{FF2B5EF4-FFF2-40B4-BE49-F238E27FC236}">
                <a16:creationId xmlns:a16="http://schemas.microsoft.com/office/drawing/2014/main" id="{7EB29FD4-5818-A9B6-DBD1-F3FFC9DB8D43}"/>
              </a:ext>
            </a:extLst>
          </p:cNvPr>
          <p:cNvGrpSpPr/>
          <p:nvPr/>
        </p:nvGrpSpPr>
        <p:grpSpPr>
          <a:xfrm>
            <a:off x="2598066" y="4946697"/>
            <a:ext cx="1940571" cy="1461939"/>
            <a:chOff x="3302920" y="4652784"/>
            <a:chExt cx="1940571" cy="1461939"/>
          </a:xfrm>
        </p:grpSpPr>
        <p:sp>
          <p:nvSpPr>
            <p:cNvPr id="327" name="TextBox 326">
              <a:extLst>
                <a:ext uri="{FF2B5EF4-FFF2-40B4-BE49-F238E27FC236}">
                  <a16:creationId xmlns:a16="http://schemas.microsoft.com/office/drawing/2014/main" id="{3D7EDC77-675F-B5CB-5638-FDCE28EABE87}"/>
                </a:ext>
              </a:extLst>
            </p:cNvPr>
            <p:cNvSpPr txBox="1"/>
            <p:nvPr/>
          </p:nvSpPr>
          <p:spPr>
            <a:xfrm>
              <a:off x="3302920" y="4652784"/>
              <a:ext cx="1472184" cy="523220"/>
            </a:xfrm>
            <a:prstGeom prst="rect">
              <a:avLst/>
            </a:prstGeom>
            <a:noFill/>
          </p:spPr>
          <p:txBody>
            <a:bodyPr wrap="square">
              <a:spAutoFit/>
            </a:bodyPr>
            <a:lstStyle/>
            <a:p>
              <a:pPr defTabSz="914486">
                <a:defRPr/>
              </a:pPr>
              <a:r>
                <a:rPr lang="en-US" sz="1400" b="1" dirty="0">
                  <a:solidFill>
                    <a:srgbClr val="005587"/>
                  </a:solidFill>
                </a:rPr>
                <a:t>Scalable &amp; efficient</a:t>
              </a:r>
            </a:p>
          </p:txBody>
        </p:sp>
        <p:sp>
          <p:nvSpPr>
            <p:cNvPr id="328" name="TextBox 327">
              <a:extLst>
                <a:ext uri="{FF2B5EF4-FFF2-40B4-BE49-F238E27FC236}">
                  <a16:creationId xmlns:a16="http://schemas.microsoft.com/office/drawing/2014/main" id="{54F87B1F-3868-AA9A-5720-1ACACFEB3194}"/>
                </a:ext>
              </a:extLst>
            </p:cNvPr>
            <p:cNvSpPr txBox="1"/>
            <p:nvPr/>
          </p:nvSpPr>
          <p:spPr>
            <a:xfrm>
              <a:off x="3302921" y="5176004"/>
              <a:ext cx="1940570" cy="938719"/>
            </a:xfrm>
            <a:prstGeom prst="rect">
              <a:avLst/>
            </a:prstGeom>
            <a:noFill/>
          </p:spPr>
          <p:txBody>
            <a:bodyPr wrap="square" rtlCol="0">
              <a:spAutoFit/>
            </a:bodyPr>
            <a:lstStyle/>
            <a:p>
              <a:r>
                <a:rPr lang="en-US" sz="1100" dirty="0"/>
                <a:t>The chatbot is  scalable to other use cases such as tender doc / content retrieval, Summarization of large documents, etc..</a:t>
              </a:r>
            </a:p>
          </p:txBody>
        </p:sp>
      </p:grpSp>
      <p:grpSp>
        <p:nvGrpSpPr>
          <p:cNvPr id="329" name="Group 328">
            <a:extLst>
              <a:ext uri="{FF2B5EF4-FFF2-40B4-BE49-F238E27FC236}">
                <a16:creationId xmlns:a16="http://schemas.microsoft.com/office/drawing/2014/main" id="{88B47596-AFBE-BE2B-DFD7-597472E043F1}"/>
              </a:ext>
            </a:extLst>
          </p:cNvPr>
          <p:cNvGrpSpPr/>
          <p:nvPr/>
        </p:nvGrpSpPr>
        <p:grpSpPr>
          <a:xfrm>
            <a:off x="4927905" y="4946697"/>
            <a:ext cx="1940571" cy="1461939"/>
            <a:chOff x="5476327" y="4654615"/>
            <a:chExt cx="1940571" cy="1461939"/>
          </a:xfrm>
        </p:grpSpPr>
        <p:sp>
          <p:nvSpPr>
            <p:cNvPr id="330" name="TextBox 329">
              <a:extLst>
                <a:ext uri="{FF2B5EF4-FFF2-40B4-BE49-F238E27FC236}">
                  <a16:creationId xmlns:a16="http://schemas.microsoft.com/office/drawing/2014/main" id="{A9AE182D-48BE-E793-96CF-D6AF40341AC3}"/>
                </a:ext>
              </a:extLst>
            </p:cNvPr>
            <p:cNvSpPr txBox="1"/>
            <p:nvPr/>
          </p:nvSpPr>
          <p:spPr>
            <a:xfrm>
              <a:off x="5476327" y="4654615"/>
              <a:ext cx="1472184" cy="523220"/>
            </a:xfrm>
            <a:prstGeom prst="rect">
              <a:avLst/>
            </a:prstGeom>
            <a:noFill/>
          </p:spPr>
          <p:txBody>
            <a:bodyPr wrap="square">
              <a:spAutoFit/>
            </a:bodyPr>
            <a:lstStyle/>
            <a:p>
              <a:pPr defTabSz="914486">
                <a:defRPr/>
              </a:pPr>
              <a:r>
                <a:rPr lang="en-US" sz="1400" b="1" dirty="0">
                  <a:solidFill>
                    <a:srgbClr val="005587"/>
                  </a:solidFill>
                </a:rPr>
                <a:t>Ease of Integration</a:t>
              </a:r>
            </a:p>
          </p:txBody>
        </p:sp>
        <p:sp>
          <p:nvSpPr>
            <p:cNvPr id="331" name="TextBox 330">
              <a:extLst>
                <a:ext uri="{FF2B5EF4-FFF2-40B4-BE49-F238E27FC236}">
                  <a16:creationId xmlns:a16="http://schemas.microsoft.com/office/drawing/2014/main" id="{00A0114D-9677-6266-4D27-18FD29099FF9}"/>
                </a:ext>
              </a:extLst>
            </p:cNvPr>
            <p:cNvSpPr txBox="1"/>
            <p:nvPr/>
          </p:nvSpPr>
          <p:spPr>
            <a:xfrm>
              <a:off x="5476328" y="5177835"/>
              <a:ext cx="1940570" cy="938719"/>
            </a:xfrm>
            <a:prstGeom prst="rect">
              <a:avLst/>
            </a:prstGeom>
            <a:noFill/>
          </p:spPr>
          <p:txBody>
            <a:bodyPr wrap="square" rtlCol="0">
              <a:spAutoFit/>
            </a:bodyPr>
            <a:lstStyle/>
            <a:p>
              <a:r>
                <a:rPr lang="en-US" sz="1100" dirty="0"/>
                <a:t>In addition to analyzing and generating knowledge, agent systems can use tools and communicate across a broader digital ecosystem</a:t>
              </a:r>
            </a:p>
          </p:txBody>
        </p:sp>
      </p:grpSp>
      <p:grpSp>
        <p:nvGrpSpPr>
          <p:cNvPr id="332" name="Group 331">
            <a:extLst>
              <a:ext uri="{FF2B5EF4-FFF2-40B4-BE49-F238E27FC236}">
                <a16:creationId xmlns:a16="http://schemas.microsoft.com/office/drawing/2014/main" id="{D9A01E5A-136A-D912-46AC-B854CF2EF3E0}"/>
              </a:ext>
            </a:extLst>
          </p:cNvPr>
          <p:cNvGrpSpPr/>
          <p:nvPr/>
        </p:nvGrpSpPr>
        <p:grpSpPr>
          <a:xfrm>
            <a:off x="7257744" y="4946697"/>
            <a:ext cx="1940571" cy="1631216"/>
            <a:chOff x="7748717" y="4652784"/>
            <a:chExt cx="1940571" cy="1631216"/>
          </a:xfrm>
        </p:grpSpPr>
        <p:sp>
          <p:nvSpPr>
            <p:cNvPr id="333" name="TextBox 332">
              <a:extLst>
                <a:ext uri="{FF2B5EF4-FFF2-40B4-BE49-F238E27FC236}">
                  <a16:creationId xmlns:a16="http://schemas.microsoft.com/office/drawing/2014/main" id="{AB29EF80-D24B-B694-C063-E1137514E3BA}"/>
                </a:ext>
              </a:extLst>
            </p:cNvPr>
            <p:cNvSpPr txBox="1"/>
            <p:nvPr/>
          </p:nvSpPr>
          <p:spPr>
            <a:xfrm>
              <a:off x="7748717" y="4652784"/>
              <a:ext cx="1472184" cy="523220"/>
            </a:xfrm>
            <a:prstGeom prst="rect">
              <a:avLst/>
            </a:prstGeom>
            <a:noFill/>
          </p:spPr>
          <p:txBody>
            <a:bodyPr wrap="square">
              <a:spAutoFit/>
            </a:bodyPr>
            <a:lstStyle/>
            <a:p>
              <a:pPr defTabSz="914486">
                <a:defRPr/>
              </a:pPr>
              <a:r>
                <a:rPr lang="en-US" sz="1400" b="1" dirty="0">
                  <a:solidFill>
                    <a:srgbClr val="005587"/>
                  </a:solidFill>
                </a:rPr>
                <a:t>Reduced manual effort</a:t>
              </a:r>
            </a:p>
          </p:txBody>
        </p:sp>
        <p:sp>
          <p:nvSpPr>
            <p:cNvPr id="334" name="TextBox 333">
              <a:extLst>
                <a:ext uri="{FF2B5EF4-FFF2-40B4-BE49-F238E27FC236}">
                  <a16:creationId xmlns:a16="http://schemas.microsoft.com/office/drawing/2014/main" id="{FD0708E3-A2E2-8B3A-37E0-3D014B29EC06}"/>
                </a:ext>
              </a:extLst>
            </p:cNvPr>
            <p:cNvSpPr txBox="1"/>
            <p:nvPr/>
          </p:nvSpPr>
          <p:spPr>
            <a:xfrm>
              <a:off x="7748718" y="5176004"/>
              <a:ext cx="1940570" cy="1107996"/>
            </a:xfrm>
            <a:prstGeom prst="rect">
              <a:avLst/>
            </a:prstGeom>
            <a:noFill/>
          </p:spPr>
          <p:txBody>
            <a:bodyPr wrap="square" rtlCol="0">
              <a:spAutoFit/>
            </a:bodyPr>
            <a:lstStyle/>
            <a:p>
              <a:r>
                <a:rPr lang="en-US" sz="1100" dirty="0"/>
                <a:t>By delivering actionable insights quickly, Agentic AI chatbot  enables adaption to changes in preferences and human dynamics, ultimately leading to cost reductions</a:t>
              </a:r>
            </a:p>
          </p:txBody>
        </p:sp>
      </p:grpSp>
      <p:grpSp>
        <p:nvGrpSpPr>
          <p:cNvPr id="335" name="Group 334">
            <a:extLst>
              <a:ext uri="{FF2B5EF4-FFF2-40B4-BE49-F238E27FC236}">
                <a16:creationId xmlns:a16="http://schemas.microsoft.com/office/drawing/2014/main" id="{16E70351-AB1E-05DC-30DF-0256BF462DB6}"/>
              </a:ext>
            </a:extLst>
          </p:cNvPr>
          <p:cNvGrpSpPr/>
          <p:nvPr/>
        </p:nvGrpSpPr>
        <p:grpSpPr>
          <a:xfrm>
            <a:off x="9587579" y="4946697"/>
            <a:ext cx="2408477" cy="1778721"/>
            <a:chOff x="9798313" y="4652784"/>
            <a:chExt cx="1940571" cy="1778721"/>
          </a:xfrm>
        </p:grpSpPr>
        <p:sp>
          <p:nvSpPr>
            <p:cNvPr id="336" name="TextBox 335">
              <a:extLst>
                <a:ext uri="{FF2B5EF4-FFF2-40B4-BE49-F238E27FC236}">
                  <a16:creationId xmlns:a16="http://schemas.microsoft.com/office/drawing/2014/main" id="{6009B9A3-F1AE-3F67-3368-13D0D4916623}"/>
                </a:ext>
              </a:extLst>
            </p:cNvPr>
            <p:cNvSpPr txBox="1"/>
            <p:nvPr/>
          </p:nvSpPr>
          <p:spPr>
            <a:xfrm>
              <a:off x="9798313" y="4652784"/>
              <a:ext cx="1472184" cy="307777"/>
            </a:xfrm>
            <a:prstGeom prst="rect">
              <a:avLst/>
            </a:prstGeom>
            <a:noFill/>
          </p:spPr>
          <p:txBody>
            <a:bodyPr wrap="square">
              <a:spAutoFit/>
            </a:bodyPr>
            <a:lstStyle/>
            <a:p>
              <a:pPr defTabSz="914486">
                <a:defRPr/>
              </a:pPr>
              <a:r>
                <a:rPr lang="en-US" sz="1400" b="1" dirty="0">
                  <a:solidFill>
                    <a:srgbClr val="005587"/>
                  </a:solidFill>
                </a:rPr>
                <a:t>Self-learning</a:t>
              </a:r>
            </a:p>
          </p:txBody>
        </p:sp>
        <p:sp>
          <p:nvSpPr>
            <p:cNvPr id="337" name="TextBox 336">
              <a:extLst>
                <a:ext uri="{FF2B5EF4-FFF2-40B4-BE49-F238E27FC236}">
                  <a16:creationId xmlns:a16="http://schemas.microsoft.com/office/drawing/2014/main" id="{BF9DDE90-33FC-EF85-D195-C9664CF366FA}"/>
                </a:ext>
              </a:extLst>
            </p:cNvPr>
            <p:cNvSpPr txBox="1"/>
            <p:nvPr/>
          </p:nvSpPr>
          <p:spPr>
            <a:xfrm>
              <a:off x="9798314" y="5154232"/>
              <a:ext cx="1940570" cy="1277273"/>
            </a:xfrm>
            <a:prstGeom prst="rect">
              <a:avLst/>
            </a:prstGeom>
            <a:noFill/>
          </p:spPr>
          <p:txBody>
            <a:bodyPr wrap="square" rtlCol="0">
              <a:spAutoFit/>
            </a:bodyPr>
            <a:lstStyle/>
            <a:p>
              <a:r>
                <a:rPr lang="en-US" sz="1100" dirty="0"/>
                <a:t>By tapping short- and long-term contextual memory resources that are often unavailable in a pre-trained language model, AI agents can rapidly improve their output quality over time.</a:t>
              </a:r>
            </a:p>
          </p:txBody>
        </p:sp>
      </p:grpSp>
      <p:cxnSp>
        <p:nvCxnSpPr>
          <p:cNvPr id="338" name="Straight Connector 337">
            <a:extLst>
              <a:ext uri="{FF2B5EF4-FFF2-40B4-BE49-F238E27FC236}">
                <a16:creationId xmlns:a16="http://schemas.microsoft.com/office/drawing/2014/main" id="{37E08100-9F49-512B-2883-D64EDEF7A72E}"/>
              </a:ext>
            </a:extLst>
          </p:cNvPr>
          <p:cNvCxnSpPr>
            <a:cxnSpLocks/>
          </p:cNvCxnSpPr>
          <p:nvPr/>
        </p:nvCxnSpPr>
        <p:spPr>
          <a:xfrm>
            <a:off x="2403432" y="4946697"/>
            <a:ext cx="0" cy="1387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39" name="Straight Connector 338">
            <a:extLst>
              <a:ext uri="{FF2B5EF4-FFF2-40B4-BE49-F238E27FC236}">
                <a16:creationId xmlns:a16="http://schemas.microsoft.com/office/drawing/2014/main" id="{27A4BD53-688D-CDFE-3255-E6890DC1BF20}"/>
              </a:ext>
            </a:extLst>
          </p:cNvPr>
          <p:cNvCxnSpPr>
            <a:cxnSpLocks/>
          </p:cNvCxnSpPr>
          <p:nvPr/>
        </p:nvCxnSpPr>
        <p:spPr>
          <a:xfrm>
            <a:off x="4733271" y="4946697"/>
            <a:ext cx="0" cy="1387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40" name="Straight Connector 339">
            <a:extLst>
              <a:ext uri="{FF2B5EF4-FFF2-40B4-BE49-F238E27FC236}">
                <a16:creationId xmlns:a16="http://schemas.microsoft.com/office/drawing/2014/main" id="{50BFA030-0012-4F33-A64F-0AB281878DF4}"/>
              </a:ext>
            </a:extLst>
          </p:cNvPr>
          <p:cNvCxnSpPr>
            <a:cxnSpLocks/>
          </p:cNvCxnSpPr>
          <p:nvPr/>
        </p:nvCxnSpPr>
        <p:spPr>
          <a:xfrm>
            <a:off x="7063110" y="4946696"/>
            <a:ext cx="0" cy="1387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41" name="Straight Connector 340">
            <a:extLst>
              <a:ext uri="{FF2B5EF4-FFF2-40B4-BE49-F238E27FC236}">
                <a16:creationId xmlns:a16="http://schemas.microsoft.com/office/drawing/2014/main" id="{5D8E1941-5B7D-F959-A21F-BBB6ED1E7528}"/>
              </a:ext>
            </a:extLst>
          </p:cNvPr>
          <p:cNvCxnSpPr>
            <a:cxnSpLocks/>
          </p:cNvCxnSpPr>
          <p:nvPr/>
        </p:nvCxnSpPr>
        <p:spPr>
          <a:xfrm>
            <a:off x="9392949" y="4946695"/>
            <a:ext cx="0" cy="138727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671366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2A5BD-9820-02B1-F1A9-ABD7F7541B07}"/>
              </a:ext>
            </a:extLst>
          </p:cNvPr>
          <p:cNvSpPr>
            <a:spLocks noGrp="1"/>
          </p:cNvSpPr>
          <p:nvPr>
            <p:ph type="title"/>
          </p:nvPr>
        </p:nvSpPr>
        <p:spPr>
          <a:xfrm>
            <a:off x="200105" y="236965"/>
            <a:ext cx="11559504" cy="400987"/>
          </a:xfrm>
        </p:spPr>
        <p:txBody>
          <a:bodyPr>
            <a:normAutofit fontScale="90000"/>
          </a:bodyPr>
          <a:lstStyle/>
          <a:p>
            <a:r>
              <a:rPr lang="en-US" sz="2800" b="1" dirty="0">
                <a:latin typeface="Calibri" panose="020F0502020204030204" pitchFamily="34" charset="0"/>
                <a:ea typeface="Calibri" panose="020F0502020204030204" pitchFamily="34" charset="0"/>
                <a:cs typeface="Calibri" panose="020F0502020204030204" pitchFamily="34" charset="0"/>
              </a:rPr>
              <a:t>Data Quality Initiative – </a:t>
            </a:r>
            <a:r>
              <a:rPr lang="en-US" sz="2200" b="1" dirty="0">
                <a:latin typeface="Calibri" panose="020F0502020204030204" pitchFamily="34" charset="0"/>
                <a:ea typeface="Calibri" panose="020F0502020204030204" pitchFamily="34" charset="0"/>
                <a:cs typeface="Calibri" panose="020F0502020204030204" pitchFamily="34" charset="0"/>
              </a:rPr>
              <a:t>Customized Hybrid Solution (1/2)</a:t>
            </a:r>
            <a:endParaRPr lang="en-IN" sz="2200" b="1" dirty="0">
              <a:latin typeface="Calibri" panose="020F0502020204030204" pitchFamily="34" charset="0"/>
              <a:ea typeface="Calibri" panose="020F0502020204030204" pitchFamily="34" charset="0"/>
              <a:cs typeface="Calibri" panose="020F0502020204030204" pitchFamily="34" charset="0"/>
            </a:endParaRPr>
          </a:p>
        </p:txBody>
      </p:sp>
      <p:sp>
        <p:nvSpPr>
          <p:cNvPr id="2" name="Rectangle: Rounded Corners 1">
            <a:extLst>
              <a:ext uri="{FF2B5EF4-FFF2-40B4-BE49-F238E27FC236}">
                <a16:creationId xmlns:a16="http://schemas.microsoft.com/office/drawing/2014/main" id="{B5DC0857-62D4-C069-6697-5E0B38C42ED7}"/>
              </a:ext>
            </a:extLst>
          </p:cNvPr>
          <p:cNvSpPr/>
          <p:nvPr/>
        </p:nvSpPr>
        <p:spPr>
          <a:xfrm>
            <a:off x="4440772" y="1571586"/>
            <a:ext cx="2980073" cy="1797762"/>
          </a:xfrm>
          <a:prstGeom prst="roundRect">
            <a:avLst/>
          </a:prstGeom>
          <a:solidFill>
            <a:srgbClr val="0D8390">
              <a:alpha val="2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AA4EE278-1B4C-037F-4AA4-28B318B0DFA8}"/>
              </a:ext>
            </a:extLst>
          </p:cNvPr>
          <p:cNvSpPr/>
          <p:nvPr/>
        </p:nvSpPr>
        <p:spPr>
          <a:xfrm>
            <a:off x="562141" y="1572768"/>
            <a:ext cx="2980073" cy="1797762"/>
          </a:xfrm>
          <a:prstGeom prst="roundRect">
            <a:avLst/>
          </a:prstGeom>
          <a:solidFill>
            <a:srgbClr val="0D8390">
              <a:alpha val="2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EF61AC3E-2786-7DE0-D54A-F1D1E14280D3}"/>
              </a:ext>
            </a:extLst>
          </p:cNvPr>
          <p:cNvGrpSpPr/>
          <p:nvPr/>
        </p:nvGrpSpPr>
        <p:grpSpPr>
          <a:xfrm>
            <a:off x="853409" y="1777465"/>
            <a:ext cx="2542069" cy="1331800"/>
            <a:chOff x="1097242" y="1669665"/>
            <a:chExt cx="2542069" cy="1331800"/>
          </a:xfrm>
        </p:grpSpPr>
        <p:sp>
          <p:nvSpPr>
            <p:cNvPr id="6" name="TextBox 5">
              <a:extLst>
                <a:ext uri="{FF2B5EF4-FFF2-40B4-BE49-F238E27FC236}">
                  <a16:creationId xmlns:a16="http://schemas.microsoft.com/office/drawing/2014/main" id="{8F3AEE31-DA75-FE44-2A90-5B0591D7D600}"/>
                </a:ext>
              </a:extLst>
            </p:cNvPr>
            <p:cNvSpPr txBox="1"/>
            <p:nvPr/>
          </p:nvSpPr>
          <p:spPr>
            <a:xfrm>
              <a:off x="1097242" y="2232024"/>
              <a:ext cx="2542069" cy="769441"/>
            </a:xfrm>
            <a:prstGeom prst="rect">
              <a:avLst/>
            </a:prstGeom>
            <a:noFill/>
          </p:spPr>
          <p:txBody>
            <a:bodyPr wrap="square" rtlCol="0">
              <a:spAutoFit/>
            </a:bodyPr>
            <a:lstStyle/>
            <a:p>
              <a:r>
                <a:rPr lang="en-US" sz="1100"/>
                <a:t>Leverage </a:t>
              </a:r>
              <a:r>
                <a:rPr lang="en-US" sz="1100" b="1"/>
                <a:t>Gen AI</a:t>
              </a:r>
              <a:r>
                <a:rPr lang="en-US" sz="1100"/>
                <a:t>–based solutions for automated IT data quality checks, enabling efficient anomaly detection and rule discovery.</a:t>
              </a:r>
            </a:p>
          </p:txBody>
        </p:sp>
        <p:sp>
          <p:nvSpPr>
            <p:cNvPr id="7" name="TextBox 6">
              <a:extLst>
                <a:ext uri="{FF2B5EF4-FFF2-40B4-BE49-F238E27FC236}">
                  <a16:creationId xmlns:a16="http://schemas.microsoft.com/office/drawing/2014/main" id="{146FFCF6-2070-4440-25BE-62268F451937}"/>
                </a:ext>
              </a:extLst>
            </p:cNvPr>
            <p:cNvSpPr txBox="1"/>
            <p:nvPr/>
          </p:nvSpPr>
          <p:spPr>
            <a:xfrm>
              <a:off x="1097242" y="1669665"/>
              <a:ext cx="1459139" cy="523220"/>
            </a:xfrm>
            <a:prstGeom prst="rect">
              <a:avLst/>
            </a:prstGeom>
            <a:noFill/>
          </p:spPr>
          <p:txBody>
            <a:bodyPr wrap="square">
              <a:spAutoFit/>
            </a:bodyPr>
            <a:lstStyle/>
            <a:p>
              <a:pPr defTabSz="914486">
                <a:defRPr/>
              </a:pPr>
              <a:r>
                <a:rPr lang="en-US" sz="2800" b="1">
                  <a:solidFill>
                    <a:srgbClr val="005587"/>
                  </a:solidFill>
                </a:rPr>
                <a:t>Gen AI</a:t>
              </a:r>
            </a:p>
          </p:txBody>
        </p:sp>
      </p:grpSp>
      <p:grpSp>
        <p:nvGrpSpPr>
          <p:cNvPr id="8" name="Group 7">
            <a:extLst>
              <a:ext uri="{FF2B5EF4-FFF2-40B4-BE49-F238E27FC236}">
                <a16:creationId xmlns:a16="http://schemas.microsoft.com/office/drawing/2014/main" id="{6CFD38F9-304D-7E2C-FEEF-4C338782E1F9}"/>
              </a:ext>
            </a:extLst>
          </p:cNvPr>
          <p:cNvGrpSpPr/>
          <p:nvPr/>
        </p:nvGrpSpPr>
        <p:grpSpPr>
          <a:xfrm>
            <a:off x="4545293" y="1737750"/>
            <a:ext cx="2703363" cy="1501077"/>
            <a:chOff x="4605490" y="1669665"/>
            <a:chExt cx="2703363" cy="1501077"/>
          </a:xfrm>
        </p:grpSpPr>
        <p:sp>
          <p:nvSpPr>
            <p:cNvPr id="9" name="TextBox 8">
              <a:extLst>
                <a:ext uri="{FF2B5EF4-FFF2-40B4-BE49-F238E27FC236}">
                  <a16:creationId xmlns:a16="http://schemas.microsoft.com/office/drawing/2014/main" id="{231AD272-479A-BF49-D239-22070B43CF91}"/>
                </a:ext>
              </a:extLst>
            </p:cNvPr>
            <p:cNvSpPr txBox="1"/>
            <p:nvPr/>
          </p:nvSpPr>
          <p:spPr>
            <a:xfrm>
              <a:off x="4605490" y="2232023"/>
              <a:ext cx="2703363" cy="938719"/>
            </a:xfrm>
            <a:prstGeom prst="rect">
              <a:avLst/>
            </a:prstGeom>
            <a:noFill/>
          </p:spPr>
          <p:txBody>
            <a:bodyPr wrap="square" rtlCol="0">
              <a:spAutoFit/>
            </a:bodyPr>
            <a:lstStyle/>
            <a:p>
              <a:r>
                <a:rPr lang="en-US" sz="1100"/>
                <a:t>Utilize </a:t>
              </a:r>
              <a:r>
                <a:rPr lang="en-US" sz="1100" b="1"/>
                <a:t>Databricks DQX </a:t>
              </a:r>
              <a:r>
                <a:rPr lang="en-US" sz="1100"/>
                <a:t>for Business and Contextual Data Quality, ensuring that domain-specific rules, validations, and contextual relevance are addressed effectively.</a:t>
              </a:r>
            </a:p>
          </p:txBody>
        </p:sp>
        <p:sp>
          <p:nvSpPr>
            <p:cNvPr id="10" name="TextBox 9">
              <a:extLst>
                <a:ext uri="{FF2B5EF4-FFF2-40B4-BE49-F238E27FC236}">
                  <a16:creationId xmlns:a16="http://schemas.microsoft.com/office/drawing/2014/main" id="{890C2B73-6B2E-91D6-9A77-137CDFCB4C48}"/>
                </a:ext>
              </a:extLst>
            </p:cNvPr>
            <p:cNvSpPr txBox="1"/>
            <p:nvPr/>
          </p:nvSpPr>
          <p:spPr>
            <a:xfrm>
              <a:off x="4605490" y="1669665"/>
              <a:ext cx="1161327" cy="523220"/>
            </a:xfrm>
            <a:prstGeom prst="rect">
              <a:avLst/>
            </a:prstGeom>
            <a:noFill/>
          </p:spPr>
          <p:txBody>
            <a:bodyPr wrap="square">
              <a:spAutoFit/>
            </a:bodyPr>
            <a:lstStyle/>
            <a:p>
              <a:pPr defTabSz="914486">
                <a:defRPr/>
              </a:pPr>
              <a:r>
                <a:rPr lang="en-US" sz="2800" b="1">
                  <a:solidFill>
                    <a:srgbClr val="005587"/>
                  </a:solidFill>
                </a:rPr>
                <a:t>DQX</a:t>
              </a:r>
            </a:p>
          </p:txBody>
        </p:sp>
      </p:grpSp>
      <p:grpSp>
        <p:nvGrpSpPr>
          <p:cNvPr id="11" name="Group 10">
            <a:extLst>
              <a:ext uri="{FF2B5EF4-FFF2-40B4-BE49-F238E27FC236}">
                <a16:creationId xmlns:a16="http://schemas.microsoft.com/office/drawing/2014/main" id="{8BD9FF3E-08DD-3772-901E-7E28F6D05240}"/>
              </a:ext>
            </a:extLst>
          </p:cNvPr>
          <p:cNvGrpSpPr/>
          <p:nvPr/>
        </p:nvGrpSpPr>
        <p:grpSpPr>
          <a:xfrm>
            <a:off x="8423924" y="1766121"/>
            <a:ext cx="3485046" cy="1294382"/>
            <a:chOff x="8037595" y="1669665"/>
            <a:chExt cx="3485046" cy="1294382"/>
          </a:xfrm>
        </p:grpSpPr>
        <p:sp>
          <p:nvSpPr>
            <p:cNvPr id="12" name="TextBox 11">
              <a:extLst>
                <a:ext uri="{FF2B5EF4-FFF2-40B4-BE49-F238E27FC236}">
                  <a16:creationId xmlns:a16="http://schemas.microsoft.com/office/drawing/2014/main" id="{FE9A23A3-679D-C71D-0C7B-FE9382E5A063}"/>
                </a:ext>
              </a:extLst>
            </p:cNvPr>
            <p:cNvSpPr txBox="1"/>
            <p:nvPr/>
          </p:nvSpPr>
          <p:spPr>
            <a:xfrm>
              <a:off x="8085568" y="2194606"/>
              <a:ext cx="2788901" cy="769441"/>
            </a:xfrm>
            <a:prstGeom prst="rect">
              <a:avLst/>
            </a:prstGeom>
            <a:noFill/>
          </p:spPr>
          <p:txBody>
            <a:bodyPr wrap="square" rtlCol="0">
              <a:spAutoFit/>
            </a:bodyPr>
            <a:lstStyle/>
            <a:p>
              <a:r>
                <a:rPr lang="en-US" sz="1100" b="1"/>
                <a:t>Combine</a:t>
              </a:r>
              <a:r>
                <a:rPr lang="en-US" sz="1100"/>
                <a:t> both approaches into </a:t>
              </a:r>
              <a:r>
                <a:rPr lang="en-US" sz="1100" b="1"/>
                <a:t>a hybrid framework</a:t>
              </a:r>
              <a:r>
                <a:rPr lang="en-US" sz="1100"/>
                <a:t>, bringing together automation, scalability, and business-aligned validation in a single ecosystem.</a:t>
              </a:r>
            </a:p>
          </p:txBody>
        </p:sp>
        <p:sp>
          <p:nvSpPr>
            <p:cNvPr id="13" name="TextBox 12">
              <a:extLst>
                <a:ext uri="{FF2B5EF4-FFF2-40B4-BE49-F238E27FC236}">
                  <a16:creationId xmlns:a16="http://schemas.microsoft.com/office/drawing/2014/main" id="{CEC04F75-F38F-9B77-0808-9E76A3C92FD3}"/>
                </a:ext>
              </a:extLst>
            </p:cNvPr>
            <p:cNvSpPr txBox="1"/>
            <p:nvPr/>
          </p:nvSpPr>
          <p:spPr>
            <a:xfrm>
              <a:off x="8037595" y="1669665"/>
              <a:ext cx="3485046" cy="523220"/>
            </a:xfrm>
            <a:prstGeom prst="rect">
              <a:avLst/>
            </a:prstGeom>
            <a:noFill/>
          </p:spPr>
          <p:txBody>
            <a:bodyPr wrap="square">
              <a:spAutoFit/>
            </a:bodyPr>
            <a:lstStyle/>
            <a:p>
              <a:pPr defTabSz="914486">
                <a:defRPr/>
              </a:pPr>
              <a:r>
                <a:rPr lang="en-US" sz="2800" b="1" dirty="0">
                  <a:solidFill>
                    <a:srgbClr val="005587"/>
                  </a:solidFill>
                </a:rPr>
                <a:t>ABC Corp Hybrid DQ</a:t>
              </a:r>
            </a:p>
          </p:txBody>
        </p:sp>
      </p:grpSp>
      <p:sp>
        <p:nvSpPr>
          <p:cNvPr id="14" name="TextBox 13">
            <a:extLst>
              <a:ext uri="{FF2B5EF4-FFF2-40B4-BE49-F238E27FC236}">
                <a16:creationId xmlns:a16="http://schemas.microsoft.com/office/drawing/2014/main" id="{10204D3E-936C-7C8F-EE9D-B2C31A291B34}"/>
              </a:ext>
            </a:extLst>
          </p:cNvPr>
          <p:cNvSpPr txBox="1"/>
          <p:nvPr/>
        </p:nvSpPr>
        <p:spPr>
          <a:xfrm>
            <a:off x="562141" y="4103990"/>
            <a:ext cx="7563307" cy="338554"/>
          </a:xfrm>
          <a:prstGeom prst="rect">
            <a:avLst/>
          </a:prstGeom>
          <a:noFill/>
        </p:spPr>
        <p:txBody>
          <a:bodyPr wrap="square">
            <a:spAutoFit/>
          </a:bodyPr>
          <a:lstStyle/>
          <a:p>
            <a:pPr defTabSz="914486">
              <a:defRPr/>
            </a:pPr>
            <a:r>
              <a:rPr lang="en-US" sz="1600" b="1" dirty="0">
                <a:solidFill>
                  <a:srgbClr val="005587"/>
                </a:solidFill>
              </a:rPr>
              <a:t>KEY BENEFITS</a:t>
            </a:r>
          </a:p>
        </p:txBody>
      </p:sp>
      <p:grpSp>
        <p:nvGrpSpPr>
          <p:cNvPr id="15" name="Group 14">
            <a:extLst>
              <a:ext uri="{FF2B5EF4-FFF2-40B4-BE49-F238E27FC236}">
                <a16:creationId xmlns:a16="http://schemas.microsoft.com/office/drawing/2014/main" id="{EC0460C9-4844-EB64-EDB9-73431431FCF0}"/>
              </a:ext>
            </a:extLst>
          </p:cNvPr>
          <p:cNvGrpSpPr/>
          <p:nvPr/>
        </p:nvGrpSpPr>
        <p:grpSpPr>
          <a:xfrm>
            <a:off x="562141" y="4652784"/>
            <a:ext cx="1940571" cy="1123384"/>
            <a:chOff x="921502" y="4652784"/>
            <a:chExt cx="1940571" cy="1123384"/>
          </a:xfrm>
        </p:grpSpPr>
        <p:sp>
          <p:nvSpPr>
            <p:cNvPr id="16" name="TextBox 15">
              <a:extLst>
                <a:ext uri="{FF2B5EF4-FFF2-40B4-BE49-F238E27FC236}">
                  <a16:creationId xmlns:a16="http://schemas.microsoft.com/office/drawing/2014/main" id="{B0DB962F-D151-1F56-5C7D-62DD6007FE60}"/>
                </a:ext>
              </a:extLst>
            </p:cNvPr>
            <p:cNvSpPr txBox="1"/>
            <p:nvPr/>
          </p:nvSpPr>
          <p:spPr>
            <a:xfrm>
              <a:off x="921502" y="4652784"/>
              <a:ext cx="1472184" cy="523220"/>
            </a:xfrm>
            <a:prstGeom prst="rect">
              <a:avLst/>
            </a:prstGeom>
            <a:noFill/>
          </p:spPr>
          <p:txBody>
            <a:bodyPr wrap="square">
              <a:spAutoFit/>
            </a:bodyPr>
            <a:lstStyle/>
            <a:p>
              <a:pPr defTabSz="914486">
                <a:defRPr/>
              </a:pPr>
              <a:r>
                <a:rPr lang="en-US" sz="1400" b="1" dirty="0">
                  <a:solidFill>
                    <a:srgbClr val="005587"/>
                  </a:solidFill>
                </a:rPr>
                <a:t>Comprehensive coverage</a:t>
              </a:r>
            </a:p>
          </p:txBody>
        </p:sp>
        <p:sp>
          <p:nvSpPr>
            <p:cNvPr id="17" name="TextBox 16">
              <a:extLst>
                <a:ext uri="{FF2B5EF4-FFF2-40B4-BE49-F238E27FC236}">
                  <a16:creationId xmlns:a16="http://schemas.microsoft.com/office/drawing/2014/main" id="{52A32975-7AA5-1204-3B45-B0BA1C5C3625}"/>
                </a:ext>
              </a:extLst>
            </p:cNvPr>
            <p:cNvSpPr txBox="1"/>
            <p:nvPr/>
          </p:nvSpPr>
          <p:spPr>
            <a:xfrm>
              <a:off x="921503" y="5176004"/>
              <a:ext cx="1940570" cy="600164"/>
            </a:xfrm>
            <a:prstGeom prst="rect">
              <a:avLst/>
            </a:prstGeom>
            <a:noFill/>
          </p:spPr>
          <p:txBody>
            <a:bodyPr wrap="square" rtlCol="0">
              <a:spAutoFit/>
            </a:bodyPr>
            <a:lstStyle/>
            <a:p>
              <a:r>
                <a:rPr lang="en-US" sz="1100" dirty="0"/>
                <a:t>IT, Business, and Contextual Data Quality addressed through specialized tools.</a:t>
              </a:r>
            </a:p>
          </p:txBody>
        </p:sp>
      </p:grpSp>
      <p:grpSp>
        <p:nvGrpSpPr>
          <p:cNvPr id="18" name="Group 17">
            <a:extLst>
              <a:ext uri="{FF2B5EF4-FFF2-40B4-BE49-F238E27FC236}">
                <a16:creationId xmlns:a16="http://schemas.microsoft.com/office/drawing/2014/main" id="{E338FF81-7B5F-1146-245D-CA132EA02BF7}"/>
              </a:ext>
            </a:extLst>
          </p:cNvPr>
          <p:cNvGrpSpPr/>
          <p:nvPr/>
        </p:nvGrpSpPr>
        <p:grpSpPr>
          <a:xfrm>
            <a:off x="2891980" y="4652784"/>
            <a:ext cx="1940571" cy="1292661"/>
            <a:chOff x="3302920" y="4652784"/>
            <a:chExt cx="1940571" cy="1292661"/>
          </a:xfrm>
        </p:grpSpPr>
        <p:sp>
          <p:nvSpPr>
            <p:cNvPr id="19" name="TextBox 18">
              <a:extLst>
                <a:ext uri="{FF2B5EF4-FFF2-40B4-BE49-F238E27FC236}">
                  <a16:creationId xmlns:a16="http://schemas.microsoft.com/office/drawing/2014/main" id="{34555BE0-146F-F33C-032A-239906F4105B}"/>
                </a:ext>
              </a:extLst>
            </p:cNvPr>
            <p:cNvSpPr txBox="1"/>
            <p:nvPr/>
          </p:nvSpPr>
          <p:spPr>
            <a:xfrm>
              <a:off x="3302920" y="4652784"/>
              <a:ext cx="1472184" cy="523220"/>
            </a:xfrm>
            <a:prstGeom prst="rect">
              <a:avLst/>
            </a:prstGeom>
            <a:noFill/>
          </p:spPr>
          <p:txBody>
            <a:bodyPr wrap="square">
              <a:spAutoFit/>
            </a:bodyPr>
            <a:lstStyle/>
            <a:p>
              <a:pPr defTabSz="914486">
                <a:defRPr/>
              </a:pPr>
              <a:r>
                <a:rPr lang="en-US" sz="1400" b="1" dirty="0">
                  <a:solidFill>
                    <a:srgbClr val="005587"/>
                  </a:solidFill>
                </a:rPr>
                <a:t>Scalable &amp; efficient</a:t>
              </a:r>
            </a:p>
          </p:txBody>
        </p:sp>
        <p:sp>
          <p:nvSpPr>
            <p:cNvPr id="20" name="TextBox 19">
              <a:extLst>
                <a:ext uri="{FF2B5EF4-FFF2-40B4-BE49-F238E27FC236}">
                  <a16:creationId xmlns:a16="http://schemas.microsoft.com/office/drawing/2014/main" id="{2302AF3C-9042-6AA1-D965-D89C4A188517}"/>
                </a:ext>
              </a:extLst>
            </p:cNvPr>
            <p:cNvSpPr txBox="1"/>
            <p:nvPr/>
          </p:nvSpPr>
          <p:spPr>
            <a:xfrm>
              <a:off x="3302921" y="5176004"/>
              <a:ext cx="1940570" cy="769441"/>
            </a:xfrm>
            <a:prstGeom prst="rect">
              <a:avLst/>
            </a:prstGeom>
            <a:noFill/>
          </p:spPr>
          <p:txBody>
            <a:bodyPr wrap="square" rtlCol="0">
              <a:spAutoFit/>
            </a:bodyPr>
            <a:lstStyle/>
            <a:p>
              <a:r>
                <a:rPr lang="en-US" sz="1100" dirty="0"/>
                <a:t>Gen AI accelerates detection of anomalies, while DQX enforces business and context rules systematically</a:t>
              </a:r>
            </a:p>
          </p:txBody>
        </p:sp>
      </p:grpSp>
      <p:grpSp>
        <p:nvGrpSpPr>
          <p:cNvPr id="21" name="Group 20">
            <a:extLst>
              <a:ext uri="{FF2B5EF4-FFF2-40B4-BE49-F238E27FC236}">
                <a16:creationId xmlns:a16="http://schemas.microsoft.com/office/drawing/2014/main" id="{AE896D8C-C35B-F736-ED6E-51CFC6B467F2}"/>
              </a:ext>
            </a:extLst>
          </p:cNvPr>
          <p:cNvGrpSpPr/>
          <p:nvPr/>
        </p:nvGrpSpPr>
        <p:grpSpPr>
          <a:xfrm>
            <a:off x="5221819" y="4652784"/>
            <a:ext cx="1940571" cy="1123384"/>
            <a:chOff x="5476327" y="4654615"/>
            <a:chExt cx="1940571" cy="1123384"/>
          </a:xfrm>
        </p:grpSpPr>
        <p:sp>
          <p:nvSpPr>
            <p:cNvPr id="22" name="TextBox 21">
              <a:extLst>
                <a:ext uri="{FF2B5EF4-FFF2-40B4-BE49-F238E27FC236}">
                  <a16:creationId xmlns:a16="http://schemas.microsoft.com/office/drawing/2014/main" id="{A5597A55-35B3-B88D-A3B3-A50FAB69E546}"/>
                </a:ext>
              </a:extLst>
            </p:cNvPr>
            <p:cNvSpPr txBox="1"/>
            <p:nvPr/>
          </p:nvSpPr>
          <p:spPr>
            <a:xfrm>
              <a:off x="5476327" y="4654615"/>
              <a:ext cx="1472184" cy="523220"/>
            </a:xfrm>
            <a:prstGeom prst="rect">
              <a:avLst/>
            </a:prstGeom>
            <a:noFill/>
          </p:spPr>
          <p:txBody>
            <a:bodyPr wrap="square">
              <a:spAutoFit/>
            </a:bodyPr>
            <a:lstStyle/>
            <a:p>
              <a:pPr defTabSz="914486">
                <a:defRPr/>
              </a:pPr>
              <a:r>
                <a:rPr lang="en-US" sz="1400" b="1" dirty="0">
                  <a:solidFill>
                    <a:srgbClr val="005587"/>
                  </a:solidFill>
                </a:rPr>
                <a:t>Continuous improvement</a:t>
              </a:r>
            </a:p>
          </p:txBody>
        </p:sp>
        <p:sp>
          <p:nvSpPr>
            <p:cNvPr id="23" name="TextBox 22">
              <a:extLst>
                <a:ext uri="{FF2B5EF4-FFF2-40B4-BE49-F238E27FC236}">
                  <a16:creationId xmlns:a16="http://schemas.microsoft.com/office/drawing/2014/main" id="{F814A4BA-2B11-2F69-8E7B-B06CA7A2F4F9}"/>
                </a:ext>
              </a:extLst>
            </p:cNvPr>
            <p:cNvSpPr txBox="1"/>
            <p:nvPr/>
          </p:nvSpPr>
          <p:spPr>
            <a:xfrm>
              <a:off x="5476328" y="5177835"/>
              <a:ext cx="1940570" cy="600164"/>
            </a:xfrm>
            <a:prstGeom prst="rect">
              <a:avLst/>
            </a:prstGeom>
            <a:noFill/>
          </p:spPr>
          <p:txBody>
            <a:bodyPr wrap="square" rtlCol="0">
              <a:spAutoFit/>
            </a:bodyPr>
            <a:lstStyle/>
            <a:p>
              <a:r>
                <a:rPr lang="en-US" sz="1100" dirty="0"/>
                <a:t>Hybrid approach allows iterative enhancements and adaptive quality controls.</a:t>
              </a:r>
            </a:p>
          </p:txBody>
        </p:sp>
      </p:grpSp>
      <p:grpSp>
        <p:nvGrpSpPr>
          <p:cNvPr id="24" name="Group 23">
            <a:extLst>
              <a:ext uri="{FF2B5EF4-FFF2-40B4-BE49-F238E27FC236}">
                <a16:creationId xmlns:a16="http://schemas.microsoft.com/office/drawing/2014/main" id="{39A0A4B4-B70F-1003-481C-1D4672AC0927}"/>
              </a:ext>
            </a:extLst>
          </p:cNvPr>
          <p:cNvGrpSpPr/>
          <p:nvPr/>
        </p:nvGrpSpPr>
        <p:grpSpPr>
          <a:xfrm>
            <a:off x="7551658" y="4652784"/>
            <a:ext cx="1940571" cy="1461939"/>
            <a:chOff x="7748717" y="4652784"/>
            <a:chExt cx="1940571" cy="1461939"/>
          </a:xfrm>
        </p:grpSpPr>
        <p:sp>
          <p:nvSpPr>
            <p:cNvPr id="25" name="TextBox 24">
              <a:extLst>
                <a:ext uri="{FF2B5EF4-FFF2-40B4-BE49-F238E27FC236}">
                  <a16:creationId xmlns:a16="http://schemas.microsoft.com/office/drawing/2014/main" id="{7D3A7FAB-2274-2411-0E0B-F899C2CE1E9B}"/>
                </a:ext>
              </a:extLst>
            </p:cNvPr>
            <p:cNvSpPr txBox="1"/>
            <p:nvPr/>
          </p:nvSpPr>
          <p:spPr>
            <a:xfrm>
              <a:off x="7748717" y="4652784"/>
              <a:ext cx="1472184" cy="523220"/>
            </a:xfrm>
            <a:prstGeom prst="rect">
              <a:avLst/>
            </a:prstGeom>
            <a:noFill/>
          </p:spPr>
          <p:txBody>
            <a:bodyPr wrap="square">
              <a:spAutoFit/>
            </a:bodyPr>
            <a:lstStyle/>
            <a:p>
              <a:pPr defTabSz="914486">
                <a:defRPr/>
              </a:pPr>
              <a:r>
                <a:rPr lang="en-US" sz="1400" b="1" dirty="0">
                  <a:solidFill>
                    <a:srgbClr val="005587"/>
                  </a:solidFill>
                </a:rPr>
                <a:t>Reduced manual effort</a:t>
              </a:r>
            </a:p>
          </p:txBody>
        </p:sp>
        <p:sp>
          <p:nvSpPr>
            <p:cNvPr id="26" name="TextBox 25">
              <a:extLst>
                <a:ext uri="{FF2B5EF4-FFF2-40B4-BE49-F238E27FC236}">
                  <a16:creationId xmlns:a16="http://schemas.microsoft.com/office/drawing/2014/main" id="{38C5B537-1031-7F11-E4DE-621AB16A39B7}"/>
                </a:ext>
              </a:extLst>
            </p:cNvPr>
            <p:cNvSpPr txBox="1"/>
            <p:nvPr/>
          </p:nvSpPr>
          <p:spPr>
            <a:xfrm>
              <a:off x="7748718" y="5176004"/>
              <a:ext cx="1940570" cy="938719"/>
            </a:xfrm>
            <a:prstGeom prst="rect">
              <a:avLst/>
            </a:prstGeom>
            <a:noFill/>
          </p:spPr>
          <p:txBody>
            <a:bodyPr wrap="square" rtlCol="0">
              <a:spAutoFit/>
            </a:bodyPr>
            <a:lstStyle/>
            <a:p>
              <a:r>
                <a:rPr lang="en-US" sz="1100" dirty="0"/>
                <a:t>Automation reduces dependency on manual rule creation and monitoring, freeing resources for higher-value tasks.</a:t>
              </a:r>
            </a:p>
          </p:txBody>
        </p:sp>
      </p:grpSp>
      <p:grpSp>
        <p:nvGrpSpPr>
          <p:cNvPr id="27" name="Group 26">
            <a:extLst>
              <a:ext uri="{FF2B5EF4-FFF2-40B4-BE49-F238E27FC236}">
                <a16:creationId xmlns:a16="http://schemas.microsoft.com/office/drawing/2014/main" id="{630EB257-D43D-0F5A-CC54-3D26373BE246}"/>
              </a:ext>
            </a:extLst>
          </p:cNvPr>
          <p:cNvGrpSpPr/>
          <p:nvPr/>
        </p:nvGrpSpPr>
        <p:grpSpPr>
          <a:xfrm>
            <a:off x="9881493" y="4652784"/>
            <a:ext cx="1940571" cy="1292661"/>
            <a:chOff x="9798313" y="4652784"/>
            <a:chExt cx="1940571" cy="1292661"/>
          </a:xfrm>
        </p:grpSpPr>
        <p:sp>
          <p:nvSpPr>
            <p:cNvPr id="28" name="TextBox 27">
              <a:extLst>
                <a:ext uri="{FF2B5EF4-FFF2-40B4-BE49-F238E27FC236}">
                  <a16:creationId xmlns:a16="http://schemas.microsoft.com/office/drawing/2014/main" id="{47FF33E3-9F0F-256E-8BCB-47412C25E587}"/>
                </a:ext>
              </a:extLst>
            </p:cNvPr>
            <p:cNvSpPr txBox="1"/>
            <p:nvPr/>
          </p:nvSpPr>
          <p:spPr>
            <a:xfrm>
              <a:off x="9798313" y="4652784"/>
              <a:ext cx="1472184" cy="523220"/>
            </a:xfrm>
            <a:prstGeom prst="rect">
              <a:avLst/>
            </a:prstGeom>
            <a:noFill/>
          </p:spPr>
          <p:txBody>
            <a:bodyPr wrap="square">
              <a:spAutoFit/>
            </a:bodyPr>
            <a:lstStyle/>
            <a:p>
              <a:pPr defTabSz="914486">
                <a:defRPr/>
              </a:pPr>
              <a:r>
                <a:rPr lang="en-US" sz="1400" b="1" dirty="0">
                  <a:solidFill>
                    <a:srgbClr val="005587"/>
                  </a:solidFill>
                </a:rPr>
                <a:t>Single view of data quality</a:t>
              </a:r>
            </a:p>
          </p:txBody>
        </p:sp>
        <p:sp>
          <p:nvSpPr>
            <p:cNvPr id="29" name="TextBox 28">
              <a:extLst>
                <a:ext uri="{FF2B5EF4-FFF2-40B4-BE49-F238E27FC236}">
                  <a16:creationId xmlns:a16="http://schemas.microsoft.com/office/drawing/2014/main" id="{04F66058-567A-CE0A-52EA-00136CADF158}"/>
                </a:ext>
              </a:extLst>
            </p:cNvPr>
            <p:cNvSpPr txBox="1"/>
            <p:nvPr/>
          </p:nvSpPr>
          <p:spPr>
            <a:xfrm>
              <a:off x="9798314" y="5176004"/>
              <a:ext cx="1940570" cy="769441"/>
            </a:xfrm>
            <a:prstGeom prst="rect">
              <a:avLst/>
            </a:prstGeom>
            <a:noFill/>
          </p:spPr>
          <p:txBody>
            <a:bodyPr wrap="square" rtlCol="0">
              <a:spAutoFit/>
            </a:bodyPr>
            <a:lstStyle/>
            <a:p>
              <a:r>
                <a:rPr lang="en-US" sz="1100" dirty="0"/>
                <a:t>Integration of both solutions provides unified reporting and dashboards for decision-making.</a:t>
              </a:r>
            </a:p>
          </p:txBody>
        </p:sp>
      </p:grpSp>
      <p:cxnSp>
        <p:nvCxnSpPr>
          <p:cNvPr id="30" name="Straight Connector 29">
            <a:extLst>
              <a:ext uri="{FF2B5EF4-FFF2-40B4-BE49-F238E27FC236}">
                <a16:creationId xmlns:a16="http://schemas.microsoft.com/office/drawing/2014/main" id="{E9840126-E9D6-BF1C-0242-05FA477D296F}"/>
              </a:ext>
            </a:extLst>
          </p:cNvPr>
          <p:cNvCxnSpPr>
            <a:cxnSpLocks/>
          </p:cNvCxnSpPr>
          <p:nvPr/>
        </p:nvCxnSpPr>
        <p:spPr>
          <a:xfrm>
            <a:off x="2697346" y="4652784"/>
            <a:ext cx="0" cy="1387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84214CB-B91B-F513-D7BB-BD43FBDC5D49}"/>
              </a:ext>
            </a:extLst>
          </p:cNvPr>
          <p:cNvCxnSpPr>
            <a:cxnSpLocks/>
          </p:cNvCxnSpPr>
          <p:nvPr/>
        </p:nvCxnSpPr>
        <p:spPr>
          <a:xfrm>
            <a:off x="5027185" y="4652784"/>
            <a:ext cx="0" cy="1387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9BAEB66-CA65-09C0-F00D-F77E34D7B420}"/>
              </a:ext>
            </a:extLst>
          </p:cNvPr>
          <p:cNvCxnSpPr>
            <a:cxnSpLocks/>
          </p:cNvCxnSpPr>
          <p:nvPr/>
        </p:nvCxnSpPr>
        <p:spPr>
          <a:xfrm>
            <a:off x="7357024" y="4652783"/>
            <a:ext cx="0" cy="1387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2642791-CE08-C900-0B13-B6013FD2F205}"/>
              </a:ext>
            </a:extLst>
          </p:cNvPr>
          <p:cNvCxnSpPr>
            <a:cxnSpLocks/>
          </p:cNvCxnSpPr>
          <p:nvPr/>
        </p:nvCxnSpPr>
        <p:spPr>
          <a:xfrm>
            <a:off x="9686863" y="4652782"/>
            <a:ext cx="0" cy="1387275"/>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1776F6F9-F4CB-C0CC-680B-31ED0E51C8D1}"/>
              </a:ext>
            </a:extLst>
          </p:cNvPr>
          <p:cNvSpPr txBox="1"/>
          <p:nvPr/>
        </p:nvSpPr>
        <p:spPr>
          <a:xfrm>
            <a:off x="3577209" y="1789355"/>
            <a:ext cx="700087" cy="1323439"/>
          </a:xfrm>
          <a:prstGeom prst="rect">
            <a:avLst/>
          </a:prstGeom>
          <a:noFill/>
        </p:spPr>
        <p:txBody>
          <a:bodyPr wrap="square" rtlCol="0">
            <a:spAutoFit/>
          </a:bodyPr>
          <a:lstStyle/>
          <a:p>
            <a:r>
              <a:rPr lang="en-US" sz="8000" dirty="0">
                <a:solidFill>
                  <a:srgbClr val="005587"/>
                </a:solidFill>
              </a:rPr>
              <a:t>+</a:t>
            </a:r>
          </a:p>
        </p:txBody>
      </p:sp>
      <p:sp>
        <p:nvSpPr>
          <p:cNvPr id="35" name="TextBox 34">
            <a:extLst>
              <a:ext uri="{FF2B5EF4-FFF2-40B4-BE49-F238E27FC236}">
                <a16:creationId xmlns:a16="http://schemas.microsoft.com/office/drawing/2014/main" id="{E1C13BC9-CE0C-4EE1-5594-378B38884464}"/>
              </a:ext>
            </a:extLst>
          </p:cNvPr>
          <p:cNvSpPr txBox="1"/>
          <p:nvPr/>
        </p:nvSpPr>
        <p:spPr>
          <a:xfrm>
            <a:off x="7590079" y="1921580"/>
            <a:ext cx="652113" cy="1323439"/>
          </a:xfrm>
          <a:prstGeom prst="rect">
            <a:avLst/>
          </a:prstGeom>
          <a:noFill/>
        </p:spPr>
        <p:txBody>
          <a:bodyPr wrap="square" rtlCol="0">
            <a:spAutoFit/>
          </a:bodyPr>
          <a:lstStyle/>
          <a:p>
            <a:r>
              <a:rPr lang="en-US" sz="8000" dirty="0">
                <a:solidFill>
                  <a:srgbClr val="005587"/>
                </a:solidFill>
              </a:rPr>
              <a:t>=</a:t>
            </a:r>
          </a:p>
        </p:txBody>
      </p:sp>
      <p:sp>
        <p:nvSpPr>
          <p:cNvPr id="36" name="Rectangle: Rounded Corners 35">
            <a:extLst>
              <a:ext uri="{FF2B5EF4-FFF2-40B4-BE49-F238E27FC236}">
                <a16:creationId xmlns:a16="http://schemas.microsoft.com/office/drawing/2014/main" id="{CB144B49-CD1F-8598-19EF-0F23E611C0FE}"/>
              </a:ext>
            </a:extLst>
          </p:cNvPr>
          <p:cNvSpPr/>
          <p:nvPr/>
        </p:nvSpPr>
        <p:spPr>
          <a:xfrm>
            <a:off x="8376310" y="1593045"/>
            <a:ext cx="2980073" cy="1797762"/>
          </a:xfrm>
          <a:prstGeom prst="roundRect">
            <a:avLst/>
          </a:prstGeom>
          <a:solidFill>
            <a:srgbClr val="0D8390">
              <a:alpha val="2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58312006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2"/>
          <p:cNvSpPr>
            <a:spLocks noGrp="1"/>
          </p:cNvSpPr>
          <p:nvPr>
            <p:ph type="body" sz="quarter" idx="4294967295"/>
          </p:nvPr>
        </p:nvSpPr>
        <p:spPr>
          <a:xfrm>
            <a:off x="475488" y="3255996"/>
            <a:ext cx="11192255" cy="3067166"/>
          </a:xfrm>
          <a:prstGeom prst="rect">
            <a:avLst/>
          </a:prstGeom>
        </p:spPr>
        <p:txBody>
          <a:bodyPr>
            <a:noAutofit/>
          </a:bodyPr>
          <a:lstStyle/>
          <a:p>
            <a:r>
              <a:rPr lang="en-US" sz="1000">
                <a:solidFill>
                  <a:schemeClr val="bg1"/>
                </a:solidFill>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US" sz="1000">
                <a:solidFill>
                  <a:schemeClr val="bg1"/>
                </a:solidFill>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r>
              <a:rPr lang="en-US" sz="1000">
                <a:solidFill>
                  <a:schemeClr val="bg1"/>
                </a:solidFill>
              </a:rPr>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r>
              <a:rPr lang="en-US" sz="1000">
                <a:solidFill>
                  <a:schemeClr val="bg1"/>
                </a:solidFill>
              </a:rPr>
              <a:t>©</a:t>
            </a:r>
            <a:r>
              <a:rPr lang="fr-FR" sz="1000">
                <a:solidFill>
                  <a:schemeClr val="bg1"/>
                </a:solidFill>
              </a:rPr>
              <a:t>2025 Deloitte Touche Tohmatsu India LLP</a:t>
            </a:r>
            <a:r>
              <a:rPr lang="en-US" sz="1000">
                <a:solidFill>
                  <a:schemeClr val="bg1"/>
                </a:solidFill>
              </a:rPr>
              <a:t>. Member of Deloitte Touche Tohmatsu Limited</a:t>
            </a:r>
          </a:p>
        </p:txBody>
      </p:sp>
      <p:sp>
        <p:nvSpPr>
          <p:cNvPr id="3" name="TextBox 2">
            <a:extLst>
              <a:ext uri="{FF2B5EF4-FFF2-40B4-BE49-F238E27FC236}">
                <a16:creationId xmlns:a16="http://schemas.microsoft.com/office/drawing/2014/main" id="{F838C8F6-D7B0-F554-D909-F9B6FB9047DC}"/>
              </a:ext>
            </a:extLst>
          </p:cNvPr>
          <p:cNvSpPr txBox="1"/>
          <p:nvPr/>
        </p:nvSpPr>
        <p:spPr>
          <a:xfrm>
            <a:off x="4070982" y="1839592"/>
            <a:ext cx="4805996" cy="129711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5400" b="1" kern="1200" dirty="0">
                <a:solidFill>
                  <a:schemeClr val="bg1"/>
                </a:solidFill>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405779235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g.PcF1kWQ.iz6QIC.bIUh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02FyTaD2T7yFZ8Zs0wB6Q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yNVGENC3Rr.BU9y_rnpq8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j45WPsf3SlmkngSOYhOZF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m9OSthbYRkuh.X5zutERb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whnLQwBTSFmy32SWwK4Hu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TfRkiFhQA6I9Nd2dwjGs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zKJHs8hbROSbR_bd6j2xx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CncSWjFBTyG0oma8bPNs6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MWz4lBAuRUyarAakSP5bd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3VFjbgnjQ3aVIwniBmaCI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a4pV5wDCTUquES2SPVoXi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xuMxDTBxTeOfKjEkpDXiK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1DkwDEwhQgGsaGtRXGqh6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k6Vu7peDSuGwttfmPux4m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g3o7dvzjSiy8kBgITlQ7l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ZucFSqCvQZioaLn_.5v8w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RD6gpKghSCG6RYhJshi8V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Ow4HTmAFQYalz245jCe8Z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UDXv.KYUQl6Ly74HX89jX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jW0NtlwzQhiwxI3rs5LmP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vB0C.LgeTzyLKuwecSoyl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3M7bFpYbSOO_..v_oYFOB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JHFWE4nfTiyI0SlCG5v_9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_c08YURkQjSIjoa1j3zzx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qvGzgtagS86Uc5JqxgimG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TbCF7_PERbCLTZ7hcfjvE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AzbZ6K9GSIWvP9YpsI.EA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3" id="{14194A6E-2579-BB43-B066-8829D035741C}" vid="{B1F5A58B-F479-A748-9BDB-E6B28E73C28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13375</TotalTime>
  <Words>1541</Words>
  <Application>Microsoft Office PowerPoint</Application>
  <PresentationFormat>Widescreen</PresentationFormat>
  <Paragraphs>172</Paragraphs>
  <Slides>8</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8</vt:i4>
      </vt:variant>
    </vt:vector>
  </HeadingPairs>
  <TitlesOfParts>
    <vt:vector size="20" baseType="lpstr">
      <vt:lpstr>华文细黑</vt:lpstr>
      <vt:lpstr>Aptos</vt:lpstr>
      <vt:lpstr>Aptos Display</vt:lpstr>
      <vt:lpstr>Arial</vt:lpstr>
      <vt:lpstr>Calibri</vt:lpstr>
      <vt:lpstr>Open Sans</vt:lpstr>
      <vt:lpstr>Open Sans Light</vt:lpstr>
      <vt:lpstr>Verdana</vt:lpstr>
      <vt:lpstr>Wingdings 2</vt:lpstr>
      <vt:lpstr>Office Theme</vt:lpstr>
      <vt:lpstr>4_Deloitte 16_9 onscreen</vt:lpstr>
      <vt:lpstr>think-cell Slide</vt:lpstr>
      <vt:lpstr>Introduction</vt:lpstr>
      <vt:lpstr>ACOE Governance Structure</vt:lpstr>
      <vt:lpstr>Intake Management and Demand Prioritization</vt:lpstr>
      <vt:lpstr>Change Request Management – Process Flow</vt:lpstr>
      <vt:lpstr>New Request Management – Process Set-Up</vt:lpstr>
      <vt:lpstr>AI Enabled Chatbot – Features and Benefits</vt:lpstr>
      <vt:lpstr>Data Quality Initiative – Customized Hybrid Solution (1/2)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Chaithra</dc:creator>
  <cp:lastModifiedBy>Ambatipudi, Sunil Sanjeev</cp:lastModifiedBy>
  <cp:revision>16</cp:revision>
  <dcterms:created xsi:type="dcterms:W3CDTF">2025-07-29T08:14:45Z</dcterms:created>
  <dcterms:modified xsi:type="dcterms:W3CDTF">2025-11-18T09:36:43Z</dcterms:modified>
</cp:coreProperties>
</file>